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3.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2.xml" ContentType="application/vnd.openxmlformats-officedocument.presentationml.tag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2"/>
  </p:sldMasterIdLst>
  <p:notesMasterIdLst>
    <p:notesMasterId r:id="rId65"/>
  </p:notesMasterIdLst>
  <p:sldIdLst>
    <p:sldId id="264" r:id="rId3"/>
    <p:sldId id="256" r:id="rId4"/>
    <p:sldId id="257" r:id="rId5"/>
    <p:sldId id="258" r:id="rId6"/>
    <p:sldId id="259" r:id="rId7"/>
    <p:sldId id="260" r:id="rId8"/>
    <p:sldId id="261" r:id="rId9"/>
    <p:sldId id="265" r:id="rId10"/>
    <p:sldId id="305" r:id="rId11"/>
    <p:sldId id="304" r:id="rId12"/>
    <p:sldId id="262" r:id="rId13"/>
    <p:sldId id="263"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6" r:id="rId30"/>
    <p:sldId id="310" r:id="rId31"/>
    <p:sldId id="281" r:id="rId32"/>
    <p:sldId id="296" r:id="rId33"/>
    <p:sldId id="297" r:id="rId34"/>
    <p:sldId id="295" r:id="rId35"/>
    <p:sldId id="299" r:id="rId36"/>
    <p:sldId id="282" r:id="rId37"/>
    <p:sldId id="283" r:id="rId38"/>
    <p:sldId id="284" r:id="rId39"/>
    <p:sldId id="285" r:id="rId40"/>
    <p:sldId id="302" r:id="rId41"/>
    <p:sldId id="301" r:id="rId42"/>
    <p:sldId id="306" r:id="rId43"/>
    <p:sldId id="298" r:id="rId44"/>
    <p:sldId id="307" r:id="rId45"/>
    <p:sldId id="300" r:id="rId46"/>
    <p:sldId id="287" r:id="rId47"/>
    <p:sldId id="288" r:id="rId48"/>
    <p:sldId id="313" r:id="rId49"/>
    <p:sldId id="312" r:id="rId50"/>
    <p:sldId id="289" r:id="rId51"/>
    <p:sldId id="290" r:id="rId52"/>
    <p:sldId id="291" r:id="rId53"/>
    <p:sldId id="316" r:id="rId54"/>
    <p:sldId id="319" r:id="rId55"/>
    <p:sldId id="317" r:id="rId56"/>
    <p:sldId id="314" r:id="rId57"/>
    <p:sldId id="308" r:id="rId58"/>
    <p:sldId id="315" r:id="rId59"/>
    <p:sldId id="321" r:id="rId60"/>
    <p:sldId id="292" r:id="rId61"/>
    <p:sldId id="293" r:id="rId62"/>
    <p:sldId id="294" r:id="rId63"/>
    <p:sldId id="309" r:id="rId64"/>
  </p:sldIdLst>
  <p:sldSz cx="9144000" cy="6858000" type="screen4x3"/>
  <p:notesSz cx="6858000" cy="9144000"/>
  <p:embeddedFontLst>
    <p:embeddedFont>
      <p:font typeface="Calibri" panose="020F0502020204030204" pitchFamily="34" charset="0"/>
      <p:regular r:id="rId66"/>
      <p:bold r:id="rId67"/>
      <p:italic r:id="rId68"/>
      <p:boldItalic r:id="rId69"/>
    </p:embeddedFont>
    <p:embeddedFont>
      <p:font typeface="Cambria Math" panose="02040503050406030204" pitchFamily="18" charset="0"/>
      <p:regular r:id="rId70"/>
    </p:embeddedFont>
    <p:embeddedFont>
      <p:font typeface="Lato" panose="020F0502020204030203" pitchFamily="34" charset="0"/>
      <p:regular r:id="rId71"/>
      <p:bold r:id="rId72"/>
      <p:italic r:id="rId73"/>
      <p:boldItalic r:id="rId7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C94AA5D-8D03-4AD0-AC9E-A1A30640FED9}"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3"/>
    <p:restoredTop sz="94640"/>
  </p:normalViewPr>
  <p:slideViewPr>
    <p:cSldViewPr snapToGrid="0">
      <p:cViewPr varScale="1">
        <p:scale>
          <a:sx n="87" d="100"/>
          <a:sy n="87" d="100"/>
        </p:scale>
        <p:origin x="172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font" Target="fonts/font3.fntdata"/><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font" Target="fonts/font1.fntdata"/><Relationship Id="rId74" Type="http://schemas.openxmlformats.org/officeDocument/2006/relationships/font" Target="fonts/font9.fntdata"/><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font" Target="fonts/font4.fntdata"/><Relationship Id="rId77"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7.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font" Target="fonts/font2.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font" Target="fonts/font5.fntdata"/><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notesMaster" Target="notesMasters/notesMaster1.xml"/><Relationship Id="rId73" Type="http://schemas.openxmlformats.org/officeDocument/2006/relationships/font" Target="fonts/font8.fntdata"/><Relationship Id="rId78"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font" Target="fonts/font6.fntdata"/><Relationship Id="rId2" Type="http://schemas.openxmlformats.org/officeDocument/2006/relationships/slideMaster" Target="slideMasters/slideMaster1.xml"/><Relationship Id="rId29"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 name="Google Shape;78;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 name="Google Shape;82;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876e548767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g3876e548767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876e548767_0_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g3876e548767_0_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p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8ee7f21043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8ee7f21043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g38ee7f21043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20204"/>
              <a:buNone/>
            </a:pPr>
            <a:fld id="{00000000-1234-1234-1234-123412341234}"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8ee7f21043_0_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38ee7f21043_0_5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g38ee7f21043_0_5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38ee7f21043_0_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38ee7f21043_0_9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g38ee7f21043_0_9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panose="020B0604020202020204"/>
              <a:buNone/>
            </a:pPr>
            <a:fld id="{00000000-1234-1234-1234-123412341234}" type="slidenum">
              <a:rPr lang="en-US"/>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876e548767_0_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g3876e548767_0_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3876e548767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g3876e548767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9" name="Google Shape;299;p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87331d67ba_0_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g387331d67ba_0_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87331d67ba_0_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g387331d67ba_0_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87331d67ba_0_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g387331d67ba_0_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87331d67ba_0_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g387331d67ba_0_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87331d67ba_0_4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g387331d67ba_0_4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87331d67ba_0_3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g387331d67ba_0_3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87331d67ba_0_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g387331d67ba_0_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87331d67ba_0_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g387331d67ba_0_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87331d67ba_0_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g387331d67ba_0_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8ee7f21043_0_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38ee7f21043_0_5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g38ee7f21043_0_5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87331d67ba_0_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g387331d67ba_0_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87331d67ba_0_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g387331d67ba_0_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8473cb3db5_0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g38473cb3db5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p2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0" name="Google Shape;330;p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38473cb3db5_0_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8" name="Google Shape;338;g38473cb3db5_0_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38473cb3db5_0_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8" name="Google Shape;338;g38473cb3db5_0_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3" name="Google Shape;353;p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3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38473cb3db5_0_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8" name="Google Shape;338;g38473cb3db5_0_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bg>
      <p:bgPr>
        <a:blipFill>
          <a:blip r:embed="rId2"/>
          <a:stretch>
            <a:fillRect/>
          </a:stretch>
        </a:blipFill>
        <a:effectLst/>
      </p:bgPr>
    </p:bg>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2380488" y="2365248"/>
            <a:ext cx="4383024" cy="2127504"/>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lt1"/>
              </a:buClr>
              <a:buSzPts val="4800"/>
              <a:buFont typeface="Lato" panose="020F0502020204030203"/>
              <a:buNone/>
              <a:defRPr sz="4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bg>
      <p:bgPr>
        <a:blipFill>
          <a:blip r:embed="rId2"/>
          <a:stretch>
            <a:fillRect/>
          </a:stretch>
        </a:blipFill>
        <a:effectLst/>
      </p:bgPr>
    </p:bg>
    <p:spTree>
      <p:nvGrpSpPr>
        <p:cNvPr id="1" name="Shape 1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Section Header">
  <p:cSld name="1_Section Header">
    <p:bg>
      <p:bgPr>
        <a:blipFill>
          <a:blip r:embed="rId2"/>
          <a:stretch>
            <a:fillRect/>
          </a:stretch>
        </a:blipFill>
        <a:effectLst/>
      </p:bgPr>
    </p:bg>
    <p:spTree>
      <p:nvGrpSpPr>
        <p:cNvPr id="1" name="Shape 14"/>
        <p:cNvGrpSpPr/>
        <p:nvPr/>
      </p:nvGrpSpPr>
      <p:grpSpPr>
        <a:xfrm>
          <a:off x="0" y="0"/>
          <a:ext cx="0" cy="0"/>
          <a:chOff x="0" y="0"/>
          <a:chExt cx="0" cy="0"/>
        </a:xfrm>
      </p:grpSpPr>
      <p:sp>
        <p:nvSpPr>
          <p:cNvPr id="15" name="Google Shape;15;p5"/>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6" name="Google Shape;16;p5"/>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7" name="Google Shape;17;p5"/>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t>‹#›</a:t>
            </a:fld>
            <a:endParaRPr lang="en-US"/>
          </a:p>
        </p:txBody>
      </p:sp>
      <p:sp>
        <p:nvSpPr>
          <p:cNvPr id="18" name="Google Shape;18;p5"/>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9" name="Google Shape;19;p5"/>
          <p:cNvSpPr txBox="1">
            <a:spLocks noGrp="1"/>
          </p:cNvSpPr>
          <p:nvPr>
            <p:ph type="body" idx="1"/>
          </p:nvPr>
        </p:nvSpPr>
        <p:spPr>
          <a:xfrm>
            <a:off x="235077" y="841247"/>
            <a:ext cx="8674100" cy="530339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wo Content">
  <p:cSld name="1_Two Content">
    <p:bg>
      <p:bgPr>
        <a:blipFill>
          <a:blip r:embed="rId2"/>
          <a:stretch>
            <a:fillRect/>
          </a:stretch>
        </a:blipFill>
        <a:effectLst/>
      </p:bgPr>
    </p:bg>
    <p:spTree>
      <p:nvGrpSpPr>
        <p:cNvPr id="1" name="Shape 20"/>
        <p:cNvGrpSpPr/>
        <p:nvPr/>
      </p:nvGrpSpPr>
      <p:grpSpPr>
        <a:xfrm>
          <a:off x="0" y="0"/>
          <a:ext cx="0" cy="0"/>
          <a:chOff x="0" y="0"/>
          <a:chExt cx="0" cy="0"/>
        </a:xfrm>
      </p:grpSpPr>
      <p:sp>
        <p:nvSpPr>
          <p:cNvPr id="21" name="Google Shape;21;p6"/>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22" name="Google Shape;22;p6"/>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23" name="Google Shape;23;p6"/>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i="0" u="none" strike="noStrike" cap="none">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t>‹#›</a:t>
            </a:fld>
            <a:endParaRPr lang="en-US"/>
          </a:p>
        </p:txBody>
      </p:sp>
      <p:sp>
        <p:nvSpPr>
          <p:cNvPr id="24" name="Google Shape;24;p6"/>
          <p:cNvSpPr txBox="1">
            <a:spLocks noGrp="1"/>
          </p:cNvSpPr>
          <p:nvPr>
            <p:ph type="body" idx="1"/>
          </p:nvPr>
        </p:nvSpPr>
        <p:spPr>
          <a:xfrm>
            <a:off x="528828" y="1423289"/>
            <a:ext cx="38862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25" name="Google Shape;25;p6"/>
          <p:cNvSpPr txBox="1">
            <a:spLocks noGrp="1"/>
          </p:cNvSpPr>
          <p:nvPr>
            <p:ph type="body" idx="2"/>
          </p:nvPr>
        </p:nvSpPr>
        <p:spPr>
          <a:xfrm>
            <a:off x="4572000" y="1423289"/>
            <a:ext cx="38862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26" name="Google Shape;26;p6"/>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Comparison">
  <p:cSld name="1_Comparison">
    <p:bg>
      <p:bgPr>
        <a:blipFill>
          <a:blip r:embed="rId2"/>
          <a:stretch>
            <a:fillRect/>
          </a:stretch>
        </a:blipFill>
        <a:effectLst/>
      </p:bgPr>
    </p:bg>
    <p:spTree>
      <p:nvGrpSpPr>
        <p:cNvPr id="1" name="Shape 27"/>
        <p:cNvGrpSpPr/>
        <p:nvPr/>
      </p:nvGrpSpPr>
      <p:grpSpPr>
        <a:xfrm>
          <a:off x="0" y="0"/>
          <a:ext cx="0" cy="0"/>
          <a:chOff x="0" y="0"/>
          <a:chExt cx="0" cy="0"/>
        </a:xfrm>
      </p:grpSpPr>
      <p:sp>
        <p:nvSpPr>
          <p:cNvPr id="28" name="Google Shape;28;p7"/>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29" name="Google Shape;29;p7"/>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30" name="Google Shape;30;p7"/>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t>‹#›</a:t>
            </a:fld>
            <a:endParaRPr lang="en-US"/>
          </a:p>
        </p:txBody>
      </p:sp>
      <p:sp>
        <p:nvSpPr>
          <p:cNvPr id="31" name="Google Shape;31;p7"/>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2" name="Google Shape;32;p7"/>
          <p:cNvSpPr txBox="1">
            <a:spLocks noGrp="1"/>
          </p:cNvSpPr>
          <p:nvPr>
            <p:ph type="body" idx="1"/>
          </p:nvPr>
        </p:nvSpPr>
        <p:spPr>
          <a:xfrm>
            <a:off x="234950" y="963168"/>
            <a:ext cx="8674100" cy="5132832"/>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Two Content">
  <p:cSld name="2_Two Content">
    <p:bg>
      <p:bgPr>
        <a:blipFill>
          <a:blip r:embed="rId2"/>
          <a:stretch>
            <a:fillRect/>
          </a:stretch>
        </a:blipFill>
        <a:effectLst/>
      </p:bgPr>
    </p:bg>
    <p:spTree>
      <p:nvGrpSpPr>
        <p:cNvPr id="1" name="Shape 33"/>
        <p:cNvGrpSpPr/>
        <p:nvPr/>
      </p:nvGrpSpPr>
      <p:grpSpPr>
        <a:xfrm>
          <a:off x="0" y="0"/>
          <a:ext cx="0" cy="0"/>
          <a:chOff x="0" y="0"/>
          <a:chExt cx="0" cy="0"/>
        </a:xfrm>
      </p:grpSpPr>
      <p:sp>
        <p:nvSpPr>
          <p:cNvPr id="34" name="Google Shape;34;p8"/>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35" name="Google Shape;35;p8"/>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36" name="Google Shape;36;p8"/>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t>‹#›</a:t>
            </a:fld>
            <a:endParaRPr lang="en-US"/>
          </a:p>
        </p:txBody>
      </p:sp>
      <p:sp>
        <p:nvSpPr>
          <p:cNvPr id="37" name="Google Shape;37;p8"/>
          <p:cNvSpPr txBox="1">
            <a:spLocks noGrp="1"/>
          </p:cNvSpPr>
          <p:nvPr>
            <p:ph type="body" idx="1"/>
          </p:nvPr>
        </p:nvSpPr>
        <p:spPr>
          <a:xfrm>
            <a:off x="528828" y="1423289"/>
            <a:ext cx="38862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38" name="Google Shape;38;p8"/>
          <p:cNvSpPr txBox="1">
            <a:spLocks noGrp="1"/>
          </p:cNvSpPr>
          <p:nvPr>
            <p:ph type="body" idx="2"/>
          </p:nvPr>
        </p:nvSpPr>
        <p:spPr>
          <a:xfrm>
            <a:off x="4572000" y="1423289"/>
            <a:ext cx="38862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39" name="Google Shape;39;p8"/>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Title Only">
  <p:cSld name="1_Title Only">
    <p:bg>
      <p:bgPr>
        <a:blipFill>
          <a:blip r:embed="rId2"/>
          <a:stretch>
            <a:fillRect/>
          </a:stretch>
        </a:blipFill>
        <a:effectLst/>
      </p:bgPr>
    </p:bg>
    <p:spTree>
      <p:nvGrpSpPr>
        <p:cNvPr id="1" name="Shape 40"/>
        <p:cNvGrpSpPr/>
        <p:nvPr/>
      </p:nvGrpSpPr>
      <p:grpSpPr>
        <a:xfrm>
          <a:off x="0" y="0"/>
          <a:ext cx="0" cy="0"/>
          <a:chOff x="0" y="0"/>
          <a:chExt cx="0" cy="0"/>
        </a:xfrm>
      </p:grpSpPr>
      <p:sp>
        <p:nvSpPr>
          <p:cNvPr id="41" name="Google Shape;41;p9"/>
          <p:cNvSpPr txBox="1">
            <a:spLocks noGrp="1"/>
          </p:cNvSpPr>
          <p:nvPr>
            <p:ph type="title"/>
          </p:nvPr>
        </p:nvSpPr>
        <p:spPr>
          <a:xfrm>
            <a:off x="3511295" y="224917"/>
            <a:ext cx="5397627" cy="45173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2800"/>
              <a:buFont typeface="Lato" panose="020F0502020204030203"/>
              <a:buNone/>
              <a:defRPr sz="2800" b="1" i="0" u="none" strike="noStrike" cap="none">
                <a:solidFill>
                  <a:schemeClr val="dk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9"/>
          <p:cNvSpPr txBox="1">
            <a:spLocks noGrp="1"/>
          </p:cNvSpPr>
          <p:nvPr>
            <p:ph type="body" idx="1"/>
          </p:nvPr>
        </p:nvSpPr>
        <p:spPr>
          <a:xfrm>
            <a:off x="3524251" y="1011238"/>
            <a:ext cx="5384672" cy="5529262"/>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3" name="Google Shape;43;p9"/>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a:solidFill>
                  <a:srgbClr val="F2F2F2"/>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4" name="Google Shape;44;p9"/>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5" name="Google Shape;45;p9"/>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_Blank">
  <p:cSld name="2_Blank">
    <p:bg>
      <p:bgPr>
        <a:blipFill>
          <a:blip r:embed="rId2"/>
          <a:stretch>
            <a:fillRect/>
          </a:stretch>
        </a:blipFill>
        <a:effectLst/>
      </p:bgPr>
    </p:bg>
    <p:spTree>
      <p:nvGrpSpPr>
        <p:cNvPr id="1" name="Shape 46"/>
        <p:cNvGrpSpPr/>
        <p:nvPr/>
      </p:nvGrpSpPr>
      <p:grpSpPr>
        <a:xfrm>
          <a:off x="0" y="0"/>
          <a:ext cx="0" cy="0"/>
          <a:chOff x="0" y="0"/>
          <a:chExt cx="0" cy="0"/>
        </a:xfrm>
      </p:grpSpPr>
      <p:sp>
        <p:nvSpPr>
          <p:cNvPr id="47" name="Google Shape;47;p10"/>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8" name="Google Shape;48;p10"/>
          <p:cNvSpPr txBox="1">
            <a:spLocks noGrp="1"/>
          </p:cNvSpPr>
          <p:nvPr>
            <p:ph type="body" idx="1"/>
          </p:nvPr>
        </p:nvSpPr>
        <p:spPr>
          <a:xfrm>
            <a:off x="595884" y="1533017"/>
            <a:ext cx="38862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9" name="Google Shape;49;p10"/>
          <p:cNvSpPr txBox="1">
            <a:spLocks noGrp="1"/>
          </p:cNvSpPr>
          <p:nvPr>
            <p:ph type="body" idx="2"/>
          </p:nvPr>
        </p:nvSpPr>
        <p:spPr>
          <a:xfrm>
            <a:off x="4639056" y="1533017"/>
            <a:ext cx="38862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0" name="Google Shape;50;p10"/>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a:solidFill>
                  <a:srgbClr val="1F3864"/>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1" name="Google Shape;51;p10"/>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a:solidFill>
                  <a:srgbClr val="1F3864"/>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2" name="Google Shape;52;p10"/>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a:solidFill>
                  <a:srgbClr val="1F3864"/>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a:solidFill>
                  <a:srgbClr val="1F3864"/>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a:solidFill>
                  <a:srgbClr val="1F3864"/>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a:solidFill>
                  <a:srgbClr val="1F3864"/>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a:solidFill>
                  <a:srgbClr val="1F3864"/>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a:solidFill>
                  <a:srgbClr val="1F3864"/>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a:solidFill>
                  <a:srgbClr val="1F3864"/>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a:solidFill>
                  <a:srgbClr val="1F3864"/>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a:solidFill>
                  <a:srgbClr val="1F3864"/>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2_Comparison">
  <p:cSld name="2_Comparison">
    <p:bg>
      <p:bgPr>
        <a:blipFill>
          <a:blip r:embed="rId2"/>
          <a:stretch>
            <a:fillRect/>
          </a:stretch>
        </a:blipFill>
        <a:effectLst/>
      </p:bgPr>
    </p:bg>
    <p:spTree>
      <p:nvGrpSpPr>
        <p:cNvPr id="1" name="Shape 53"/>
        <p:cNvGrpSpPr/>
        <p:nvPr/>
      </p:nvGrpSpPr>
      <p:grpSpPr>
        <a:xfrm>
          <a:off x="0" y="0"/>
          <a:ext cx="0" cy="0"/>
          <a:chOff x="0" y="0"/>
          <a:chExt cx="0" cy="0"/>
        </a:xfrm>
      </p:grpSpPr>
      <p:sp>
        <p:nvSpPr>
          <p:cNvPr id="54" name="Google Shape;54;p11"/>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5" name="Google Shape;55;p11"/>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6" name="Google Shape;56;p11"/>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t>‹#›</a:t>
            </a:fld>
            <a:endParaRPr lang="en-US"/>
          </a:p>
        </p:txBody>
      </p:sp>
      <p:sp>
        <p:nvSpPr>
          <p:cNvPr id="57" name="Google Shape;57;p11"/>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8" name="Google Shape;58;p11"/>
          <p:cNvSpPr txBox="1">
            <a:spLocks noGrp="1"/>
          </p:cNvSpPr>
          <p:nvPr>
            <p:ph type="body" idx="1"/>
          </p:nvPr>
        </p:nvSpPr>
        <p:spPr>
          <a:xfrm>
            <a:off x="234950" y="1227550"/>
            <a:ext cx="8674100" cy="4868449"/>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3_Blank">
  <p:cSld name="3_Blank">
    <p:bg>
      <p:bgPr>
        <a:blipFill>
          <a:blip r:embed="rId2"/>
          <a:stretch>
            <a:fillRect/>
          </a:stretch>
        </a:blipFill>
        <a:effectLst/>
      </p:bgPr>
    </p:bg>
    <p:spTree>
      <p:nvGrpSpPr>
        <p:cNvPr id="1" name="Shape 59"/>
        <p:cNvGrpSpPr/>
        <p:nvPr/>
      </p:nvGrpSpPr>
      <p:grpSpPr>
        <a:xfrm>
          <a:off x="0" y="0"/>
          <a:ext cx="0" cy="0"/>
          <a:chOff x="0" y="0"/>
          <a:chExt cx="0" cy="0"/>
        </a:xfrm>
      </p:grpSpPr>
      <p:sp>
        <p:nvSpPr>
          <p:cNvPr id="60" name="Google Shape;60;p12"/>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1" name="Google Shape;61;p12"/>
          <p:cNvSpPr txBox="1">
            <a:spLocks noGrp="1"/>
          </p:cNvSpPr>
          <p:nvPr>
            <p:ph type="body" idx="1"/>
          </p:nvPr>
        </p:nvSpPr>
        <p:spPr>
          <a:xfrm>
            <a:off x="595884" y="1533017"/>
            <a:ext cx="38862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62" name="Google Shape;62;p12"/>
          <p:cNvSpPr txBox="1">
            <a:spLocks noGrp="1"/>
          </p:cNvSpPr>
          <p:nvPr>
            <p:ph type="body" idx="2"/>
          </p:nvPr>
        </p:nvSpPr>
        <p:spPr>
          <a:xfrm>
            <a:off x="4639056" y="1533017"/>
            <a:ext cx="38862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63" name="Google Shape;63;p12"/>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64" name="Google Shape;64;p12"/>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65" name="Google Shape;65;p12"/>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_Comparison">
  <p:cSld name="3_Comparison">
    <p:bg>
      <p:bgPr>
        <a:blipFill>
          <a:blip r:embed="rId2"/>
          <a:stretch>
            <a:fillRect/>
          </a:stretch>
        </a:blipFill>
        <a:effectLst/>
      </p:bgPr>
    </p:bg>
    <p:spTree>
      <p:nvGrpSpPr>
        <p:cNvPr id="1" name="Shape 66"/>
        <p:cNvGrpSpPr/>
        <p:nvPr/>
      </p:nvGrpSpPr>
      <p:grpSpPr>
        <a:xfrm>
          <a:off x="0" y="0"/>
          <a:ext cx="0" cy="0"/>
          <a:chOff x="0" y="0"/>
          <a:chExt cx="0" cy="0"/>
        </a:xfrm>
      </p:grpSpPr>
      <p:sp>
        <p:nvSpPr>
          <p:cNvPr id="67" name="Google Shape;67;p13"/>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68" name="Google Shape;68;p13"/>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69" name="Google Shape;69;p13"/>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t>‹#›</a:t>
            </a:fld>
            <a:endParaRPr lang="en-US"/>
          </a:p>
        </p:txBody>
      </p:sp>
      <p:sp>
        <p:nvSpPr>
          <p:cNvPr id="70" name="Google Shape;70;p13"/>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panose="020F0502020204030203"/>
              <a:buNone/>
              <a:defRPr sz="2800" b="1" i="0" u="none" strike="noStrike" cap="none">
                <a:solidFill>
                  <a:schemeClr val="lt1"/>
                </a:solidFill>
                <a:latin typeface="Lato" panose="020F0502020204030203"/>
                <a:ea typeface="Lato" panose="020F0502020204030203"/>
                <a:cs typeface="Lato" panose="020F0502020204030203"/>
                <a:sym typeface="Lato" panose="020F0502020204030203"/>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1" name="Google Shape;71;p13"/>
          <p:cNvSpPr txBox="1">
            <a:spLocks noGrp="1"/>
          </p:cNvSpPr>
          <p:nvPr>
            <p:ph type="body" idx="1"/>
          </p:nvPr>
        </p:nvSpPr>
        <p:spPr>
          <a:xfrm>
            <a:off x="234950" y="1164920"/>
            <a:ext cx="8674100" cy="4931079"/>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Lato" panose="020F0502020204030203"/>
                <a:ea typeface="Lato" panose="020F0502020204030203"/>
                <a:cs typeface="Lato" panose="020F0502020204030203"/>
                <a:sym typeface="Lato" panose="020F0502020204030203"/>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Lato" panose="020F0502020204030203"/>
                <a:ea typeface="Lato" panose="020F0502020204030203"/>
                <a:cs typeface="Lato" panose="020F0502020204030203"/>
                <a:sym typeface="Lato" panose="020F0502020204030203"/>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Lato" panose="020F0502020204030203"/>
                <a:ea typeface="Lato" panose="020F0502020204030203"/>
                <a:cs typeface="Lato" panose="020F0502020204030203"/>
                <a:sym typeface="Lato" panose="020F0502020204030203"/>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Lato" panose="020F0502020204030203"/>
                <a:ea typeface="Lato" panose="020F0502020204030203"/>
                <a:cs typeface="Lato" panose="020F0502020204030203"/>
                <a:sym typeface="Lato" panose="020F0502020204030203"/>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Content with Caption">
  <p:cSld name="1_Content with Caption">
    <p:bg>
      <p:bgPr>
        <a:blipFill>
          <a:blip r:embed="rId2"/>
          <a:stretch>
            <a:fillRect/>
          </a:stretch>
        </a:blipFill>
        <a:effectLst/>
      </p:bgPr>
    </p:bg>
    <p:spTree>
      <p:nvGrpSpPr>
        <p:cNvPr id="1" name="Shape 72"/>
        <p:cNvGrpSpPr/>
        <p:nvPr/>
      </p:nvGrpSpPr>
      <p:grpSpPr>
        <a:xfrm>
          <a:off x="0" y="0"/>
          <a:ext cx="0" cy="0"/>
          <a:chOff x="0" y="0"/>
          <a:chExt cx="0" cy="0"/>
        </a:xfrm>
      </p:grpSpPr>
      <p:sp>
        <p:nvSpPr>
          <p:cNvPr id="73" name="Google Shape;73;p14"/>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a:solidFill>
                  <a:srgbClr val="F2F2F2"/>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4" name="Google Shape;74;p14"/>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a:solidFill>
                  <a:srgbClr val="C00000"/>
                </a:solidFill>
                <a:latin typeface="Lato" panose="020F0502020204030203"/>
                <a:ea typeface="Lato" panose="020F0502020204030203"/>
                <a:cs typeface="Lato" panose="020F0502020204030203"/>
                <a:sym typeface="Lato" panose="020F0502020204030203"/>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5" name="Google Shape;75;p14"/>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1pPr>
            <a:lvl2pPr marL="0" marR="0" lvl="1"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2pPr>
            <a:lvl3pPr marL="0" marR="0" lvl="2"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3pPr>
            <a:lvl4pPr marL="0" marR="0" lvl="3"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4pPr>
            <a:lvl5pPr marL="0" marR="0" lvl="4"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5pPr>
            <a:lvl6pPr marL="0" marR="0" lvl="5"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6pPr>
            <a:lvl7pPr marL="0" marR="0" lvl="6"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7pPr>
            <a:lvl8pPr marL="0" marR="0" lvl="7"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8pPr>
            <a:lvl9pPr marL="0" marR="0" lvl="8" indent="0" algn="r" rtl="0">
              <a:spcBef>
                <a:spcPts val="0"/>
              </a:spcBef>
              <a:buNone/>
              <a:defRPr sz="1200" b="1">
                <a:solidFill>
                  <a:srgbClr val="C00000"/>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5"/>
          <a:stretch>
            <a:fillRect/>
          </a:stretch>
        </a:blip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0.png"/><Relationship Id="rId7" Type="http://schemas.openxmlformats.org/officeDocument/2006/relationships/image" Target="../media/image23.wmf"/><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oleObject" Target="../embeddings/oleObject1.bin"/><Relationship Id="rId11" Type="http://schemas.openxmlformats.org/officeDocument/2006/relationships/image" Target="../media/image27.svg"/><Relationship Id="rId5" Type="http://schemas.openxmlformats.org/officeDocument/2006/relationships/image" Target="../media/image22.png"/><Relationship Id="rId10" Type="http://schemas.openxmlformats.org/officeDocument/2006/relationships/image" Target="../media/image26.png"/><Relationship Id="rId4" Type="http://schemas.openxmlformats.org/officeDocument/2006/relationships/image" Target="../media/image21.png"/><Relationship Id="rId9" Type="http://schemas.openxmlformats.org/officeDocument/2006/relationships/image" Target="../media/image25.sv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6.xml"/><Relationship Id="rId1" Type="http://schemas.openxmlformats.org/officeDocument/2006/relationships/tags" Target="../tags/tag1.xml"/><Relationship Id="rId6" Type="http://schemas.openxmlformats.org/officeDocument/2006/relationships/image" Target="../media/image29.png"/><Relationship Id="rId5" Type="http://schemas.openxmlformats.org/officeDocument/2006/relationships/tags" Target="../tags/tag2.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6.xml"/><Relationship Id="rId5" Type="http://schemas.openxmlformats.org/officeDocument/2006/relationships/image" Target="../media/image33.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40.png"/></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image" Target="../media/image4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image" Target="../media/image46.png"/></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5.xml"/><Relationship Id="rId1" Type="http://schemas.openxmlformats.org/officeDocument/2006/relationships/slideLayout" Target="../slideLayouts/slideLayout6.xml"/><Relationship Id="rId4" Type="http://schemas.openxmlformats.org/officeDocument/2006/relationships/image" Target="../media/image48.png"/></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6.xml"/><Relationship Id="rId1" Type="http://schemas.openxmlformats.org/officeDocument/2006/relationships/slideLayout" Target="../slideLayouts/slideLayout6.xml"/><Relationship Id="rId4" Type="http://schemas.openxmlformats.org/officeDocument/2006/relationships/image" Target="../media/image50.png"/></Relationships>
</file>

<file path=ppt/slides/_rels/slide3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7.xml"/><Relationship Id="rId1" Type="http://schemas.openxmlformats.org/officeDocument/2006/relationships/slideLayout" Target="../slideLayouts/slideLayout6.xml"/><Relationship Id="rId4" Type="http://schemas.openxmlformats.org/officeDocument/2006/relationships/image" Target="../media/image52.png"/></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8.xml"/><Relationship Id="rId1" Type="http://schemas.openxmlformats.org/officeDocument/2006/relationships/slideLayout" Target="../slideLayouts/slideLayout6.xml"/><Relationship Id="rId4" Type="http://schemas.openxmlformats.org/officeDocument/2006/relationships/image" Target="../media/image54.png"/></Relationships>
</file>

<file path=ppt/slides/_rels/slide3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9.xml"/><Relationship Id="rId1" Type="http://schemas.openxmlformats.org/officeDocument/2006/relationships/slideLayout" Target="../slideLayouts/slideLayout6.xml"/><Relationship Id="rId4" Type="http://schemas.openxmlformats.org/officeDocument/2006/relationships/image" Target="../media/image56.png"/></Relationships>
</file>

<file path=ppt/slides/_rels/slide4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0.xml"/><Relationship Id="rId1" Type="http://schemas.openxmlformats.org/officeDocument/2006/relationships/slideLayout" Target="../slideLayouts/slideLayout6.xml"/><Relationship Id="rId5" Type="http://schemas.openxmlformats.org/officeDocument/2006/relationships/image" Target="../media/image59.png"/><Relationship Id="rId4" Type="http://schemas.openxmlformats.org/officeDocument/2006/relationships/image" Target="../media/image58.png"/></Relationships>
</file>

<file path=ppt/slides/_rels/slide4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1.xml"/><Relationship Id="rId1" Type="http://schemas.openxmlformats.org/officeDocument/2006/relationships/slideLayout" Target="../slideLayouts/slideLayout6.xml"/><Relationship Id="rId5" Type="http://schemas.openxmlformats.org/officeDocument/2006/relationships/image" Target="../media/image62.png"/><Relationship Id="rId4" Type="http://schemas.openxmlformats.org/officeDocument/2006/relationships/image" Target="../media/image61.png"/></Relationships>
</file>

<file path=ppt/slides/_rels/slide4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2.xml"/><Relationship Id="rId1" Type="http://schemas.openxmlformats.org/officeDocument/2006/relationships/slideLayout" Target="../slideLayouts/slideLayout6.xml"/><Relationship Id="rId4" Type="http://schemas.openxmlformats.org/officeDocument/2006/relationships/image" Target="../media/image64.png"/></Relationships>
</file>

<file path=ppt/slides/_rels/slide43.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74.png"/><Relationship Id="rId3" Type="http://schemas.openxmlformats.org/officeDocument/2006/relationships/notesSlide" Target="../notesSlides/notesSlide43.xml"/><Relationship Id="rId7" Type="http://schemas.openxmlformats.org/officeDocument/2006/relationships/image" Target="../media/image68.png"/><Relationship Id="rId12" Type="http://schemas.openxmlformats.org/officeDocument/2006/relationships/image" Target="../media/image73.png"/><Relationship Id="rId2" Type="http://schemas.openxmlformats.org/officeDocument/2006/relationships/slideLayout" Target="../slideLayouts/slideLayout6.xml"/><Relationship Id="rId1" Type="http://schemas.openxmlformats.org/officeDocument/2006/relationships/tags" Target="../tags/tag3.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7.xml"/><Relationship Id="rId1" Type="http://schemas.openxmlformats.org/officeDocument/2006/relationships/slideLayout" Target="../slideLayouts/slideLayout6.xml"/><Relationship Id="rId4" Type="http://schemas.openxmlformats.org/officeDocument/2006/relationships/image" Target="../media/image80.png"/></Relationships>
</file>

<file path=ppt/slides/_rels/slide5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7.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6.xml"/><Relationship Id="rId1" Type="http://schemas.openxmlformats.org/officeDocument/2006/relationships/tags" Target="../tags/tag8.xml"/><Relationship Id="rId4" Type="http://schemas.openxmlformats.org/officeDocument/2006/relationships/image" Target="../media/image86.png"/></Relationships>
</file>

<file path=ppt/slides/_rels/slide5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Shape 133"/>
        <p:cNvGrpSpPr/>
        <p:nvPr/>
      </p:nvGrpSpPr>
      <p:grpSpPr>
        <a:xfrm>
          <a:off x="0" y="0"/>
          <a:ext cx="0" cy="0"/>
          <a:chOff x="0" y="0"/>
          <a:chExt cx="0" cy="0"/>
        </a:xfrm>
      </p:grpSpPr>
      <p:sp>
        <p:nvSpPr>
          <p:cNvPr id="134" name="Google Shape;134;p23"/>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a:t>
            </a:fld>
            <a:endParaRPr lang="en-US"/>
          </a:p>
        </p:txBody>
      </p:sp>
      <p:sp>
        <p:nvSpPr>
          <p:cNvPr id="135" name="Google Shape;135;p23"/>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t>2.  Giải pháp hiện tại và Hạn chế</a:t>
            </a:r>
          </a:p>
        </p:txBody>
      </p:sp>
      <p:sp>
        <p:nvSpPr>
          <p:cNvPr id="136" name="Google Shape;136;p23"/>
          <p:cNvSpPr txBox="1"/>
          <p:nvPr/>
        </p:nvSpPr>
        <p:spPr>
          <a:xfrm>
            <a:off x="234315" y="1413510"/>
            <a:ext cx="8321100" cy="4891405"/>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sz="1800" b="1">
                <a:solidFill>
                  <a:schemeClr val="dk1"/>
                </a:solidFill>
                <a:latin typeface="Times New Roman" panose="02020603050405020304"/>
                <a:ea typeface="Times New Roman" panose="02020603050405020304"/>
                <a:cs typeface="Times New Roman" panose="02020603050405020304"/>
                <a:sym typeface="Times New Roman" panose="02020603050405020304"/>
              </a:rPr>
              <a:t>Clustering-based Protocols (gom cụm):</a:t>
            </a:r>
            <a:endParaRPr sz="18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100000"/>
              </a:lnSpc>
              <a:spcBef>
                <a:spcPts val="1200"/>
              </a:spcBef>
              <a:spcAft>
                <a:spcPts val="0"/>
              </a:spcAft>
              <a:buClr>
                <a:schemeClr val="dk1"/>
              </a:buClr>
              <a:buSzPts val="1800"/>
              <a:buChar char="●"/>
            </a:pPr>
            <a:r>
              <a:rPr lang="en-US" sz="1800" b="1">
                <a:solidFill>
                  <a:schemeClr val="dk1"/>
                </a:solidFill>
                <a:latin typeface="Times New Roman" panose="02020603050405020304"/>
                <a:ea typeface="Times New Roman" panose="02020603050405020304"/>
                <a:cs typeface="Times New Roman" panose="02020603050405020304"/>
                <a:sym typeface="Times New Roman" panose="02020603050405020304"/>
              </a:rPr>
              <a:t>LEACH:</a:t>
            </a:r>
            <a:r>
              <a:rPr lang="en-US" sz="1800">
                <a:solidFill>
                  <a:schemeClr val="dk1"/>
                </a:solidFill>
                <a:latin typeface="Times New Roman" panose="02020603050405020304"/>
                <a:ea typeface="Times New Roman" panose="02020603050405020304"/>
                <a:cs typeface="Times New Roman" panose="02020603050405020304"/>
                <a:sym typeface="Times New Roman" panose="02020603050405020304"/>
              </a:rPr>
              <a:t> Cân bằng năng lượng, nhưng chọn CH ngẫu nhiên → một số nút nhanh cạn kiệt</a:t>
            </a:r>
            <a:r>
              <a:rPr lang="vi-VN" altLang="en-US" sz="1800">
                <a:solidFill>
                  <a:schemeClr val="dk1"/>
                </a:solidFill>
                <a:latin typeface="Times New Roman" panose="02020603050405020304"/>
                <a:ea typeface="Times New Roman" panose="02020603050405020304"/>
                <a:cs typeface="Times New Roman" panose="02020603050405020304"/>
                <a:sym typeface="Times New Roman" panose="02020603050405020304"/>
              </a:rPr>
              <a:t>, phân cụm không cân bằng</a:t>
            </a: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100000"/>
              </a:lnSpc>
              <a:spcBef>
                <a:spcPts val="0"/>
              </a:spcBef>
              <a:spcAft>
                <a:spcPts val="0"/>
              </a:spcAft>
              <a:buClr>
                <a:schemeClr val="dk1"/>
              </a:buClr>
              <a:buSzPts val="1800"/>
              <a:buChar char="●"/>
            </a:pPr>
            <a:r>
              <a:rPr lang="en-US" altLang="en-US" sz="1800" b="1">
                <a:solidFill>
                  <a:schemeClr val="dk1"/>
                </a:solidFill>
                <a:latin typeface="Times New Roman" panose="02020603050405020304"/>
                <a:ea typeface="Times New Roman" panose="02020603050405020304"/>
                <a:cs typeface="Times New Roman" panose="02020603050405020304"/>
                <a:sym typeface="Times New Roman" panose="02020603050405020304"/>
              </a:rPr>
              <a:t>LEACH + K-means: </a:t>
            </a:r>
            <a:r>
              <a:rPr lang="en-US" altLang="en-US" sz="1800">
                <a:solidFill>
                  <a:schemeClr val="dk1"/>
                </a:solidFill>
                <a:latin typeface="Times New Roman" panose="02020603050405020304"/>
                <a:ea typeface="Times New Roman" panose="02020603050405020304"/>
                <a:cs typeface="Times New Roman" panose="02020603050405020304"/>
                <a:sym typeface="Times New Roman" panose="02020603050405020304"/>
              </a:rPr>
              <a:t>Cân bằng năng lượng hơn LEACH nhưng cần biết trước k, cụm cố định, khó thích ứng</a:t>
            </a:r>
            <a:r>
              <a:rPr lang="vi-VN" altLang="en-US" sz="1800">
                <a:solidFill>
                  <a:schemeClr val="dk1"/>
                </a:solidFill>
                <a:latin typeface="Times New Roman" panose="02020603050405020304"/>
                <a:ea typeface="Times New Roman" panose="02020603050405020304"/>
                <a:cs typeface="Times New Roman" panose="02020603050405020304"/>
                <a:sym typeface="Times New Roman" panose="02020603050405020304"/>
              </a:rPr>
              <a:t>, phân cụm không cân bằng</a:t>
            </a:r>
            <a:endParaRPr lang="en-US" altLang="en-US"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100000"/>
              </a:lnSpc>
              <a:spcBef>
                <a:spcPts val="0"/>
              </a:spcBef>
              <a:spcAft>
                <a:spcPts val="0"/>
              </a:spcAft>
              <a:buClr>
                <a:schemeClr val="dk1"/>
              </a:buClr>
              <a:buSzPts val="1800"/>
              <a:buChar char="●"/>
            </a:pPr>
            <a:r>
              <a:rPr lang="en-US" sz="1800" b="1">
                <a:solidFill>
                  <a:schemeClr val="dk1"/>
                </a:solidFill>
                <a:latin typeface="Times New Roman" panose="02020603050405020304"/>
                <a:ea typeface="Times New Roman" panose="02020603050405020304"/>
                <a:cs typeface="Times New Roman" panose="02020603050405020304"/>
                <a:sym typeface="Times New Roman" panose="02020603050405020304"/>
              </a:rPr>
              <a:t>SBLDAR + FMSFO:</a:t>
            </a:r>
            <a:r>
              <a:rPr lang="en-US" sz="1800">
                <a:solidFill>
                  <a:schemeClr val="dk1"/>
                </a:solidFill>
                <a:latin typeface="Times New Roman" panose="02020603050405020304"/>
                <a:ea typeface="Times New Roman" panose="02020603050405020304"/>
                <a:cs typeface="Times New Roman" panose="02020603050405020304"/>
                <a:sym typeface="Times New Roman" panose="02020603050405020304"/>
              </a:rPr>
              <a:t> Định tuyến theo độ trễ, hiệu quả trong môi trường thường nhưng hạn chế ở IWSN(</a:t>
            </a:r>
            <a:r>
              <a:rPr lang="en-US" sz="1800">
                <a:solidFill>
                  <a:srgbClr val="131314"/>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mạng cảm biến không dây công nghiệp</a:t>
            </a:r>
            <a:r>
              <a:rPr lang="en-US" sz="1050">
                <a:solidFill>
                  <a:srgbClr val="131314"/>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a:t>
            </a:r>
            <a:r>
              <a:rPr lang="en-US" sz="18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1200"/>
              </a:spcBef>
              <a:spcAft>
                <a:spcPts val="0"/>
              </a:spcAft>
              <a:buSzPts val="1100"/>
              <a:buNone/>
            </a:pPr>
            <a:r>
              <a:rPr lang="en-US" sz="1800" b="1">
                <a:solidFill>
                  <a:schemeClr val="dk1"/>
                </a:solidFill>
                <a:latin typeface="Times New Roman" panose="02020603050405020304"/>
                <a:ea typeface="Times New Roman" panose="02020603050405020304"/>
                <a:cs typeface="Times New Roman" panose="02020603050405020304"/>
                <a:sym typeface="Times New Roman" panose="02020603050405020304"/>
              </a:rPr>
              <a:t>Thuật toán sinh học (bio-inspired):</a:t>
            </a:r>
            <a:endParaRPr sz="18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100000"/>
              </a:lnSpc>
              <a:spcBef>
                <a:spcPts val="1200"/>
              </a:spcBef>
              <a:spcAft>
                <a:spcPts val="0"/>
              </a:spcAft>
              <a:buClr>
                <a:schemeClr val="dk1"/>
              </a:buClr>
              <a:buSzPts val="1800"/>
              <a:buChar char="●"/>
            </a:pPr>
            <a:r>
              <a:rPr lang="en-US" sz="1800" b="1">
                <a:solidFill>
                  <a:schemeClr val="dk1"/>
                </a:solidFill>
                <a:latin typeface="Times New Roman" panose="02020603050405020304"/>
                <a:ea typeface="Times New Roman" panose="02020603050405020304"/>
                <a:cs typeface="Times New Roman" panose="02020603050405020304"/>
                <a:sym typeface="Times New Roman" panose="02020603050405020304"/>
              </a:rPr>
              <a:t>ACO, PSO, BOA…:</a:t>
            </a:r>
            <a:r>
              <a:rPr lang="en-US" sz="1800">
                <a:solidFill>
                  <a:schemeClr val="dk1"/>
                </a:solidFill>
                <a:latin typeface="Times New Roman" panose="02020603050405020304"/>
                <a:ea typeface="Times New Roman" panose="02020603050405020304"/>
                <a:cs typeface="Times New Roman" panose="02020603050405020304"/>
                <a:sym typeface="Times New Roman" panose="02020603050405020304"/>
              </a:rPr>
              <a:t> Cải thiện chọn CH và tạo cụm, tăng khả năng thích ứng động, tối ưu cân bằng tải &amp; năng lượng</a:t>
            </a:r>
            <a:r>
              <a:rPr lang="vi-VN" altLang="en-US" sz="1800">
                <a:solidFill>
                  <a:schemeClr val="dk1"/>
                </a:solidFill>
                <a:latin typeface="Times New Roman" panose="02020603050405020304"/>
                <a:ea typeface="Times New Roman" panose="02020603050405020304"/>
                <a:cs typeface="Times New Roman" panose="02020603050405020304"/>
                <a:sym typeface="Times New Roman" panose="02020603050405020304"/>
              </a:rPr>
              <a:t>, dễ rơi vào tối ưu cục bộ</a:t>
            </a: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1200"/>
              </a:spcBef>
              <a:spcAft>
                <a:spcPts val="0"/>
              </a:spcAft>
              <a:buClr>
                <a:schemeClr val="dk1"/>
              </a:buClr>
              <a:buSzPts val="1100"/>
              <a:buFont typeface="Arial" panose="020B0604020202020204"/>
              <a:buNone/>
            </a:pPr>
            <a:r>
              <a:rPr lang="en-US" sz="1800" b="1">
                <a:solidFill>
                  <a:schemeClr val="dk1"/>
                </a:solidFill>
                <a:latin typeface="Times New Roman" panose="02020603050405020304"/>
                <a:ea typeface="Times New Roman" panose="02020603050405020304"/>
                <a:cs typeface="Times New Roman" panose="02020603050405020304"/>
                <a:sym typeface="Times New Roman" panose="02020603050405020304"/>
              </a:rPr>
              <a:t>Chiến lược hỗn loạn (chaotic mapping):</a:t>
            </a:r>
            <a:endParaRPr sz="18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100000"/>
              </a:lnSpc>
              <a:spcBef>
                <a:spcPts val="1200"/>
              </a:spcBef>
              <a:spcAft>
                <a:spcPts val="0"/>
              </a:spcAft>
              <a:buClr>
                <a:schemeClr val="dk1"/>
              </a:buClr>
              <a:buSzPts val="1800"/>
              <a:buChar char="●"/>
            </a:pPr>
            <a:r>
              <a:rPr lang="en-US" sz="1800" b="1">
                <a:solidFill>
                  <a:schemeClr val="dk1"/>
                </a:solidFill>
                <a:latin typeface="Times New Roman" panose="02020603050405020304"/>
                <a:ea typeface="Times New Roman" panose="02020603050405020304"/>
                <a:cs typeface="Times New Roman" panose="02020603050405020304"/>
                <a:sym typeface="Times New Roman" panose="02020603050405020304"/>
              </a:rPr>
              <a:t>EACP-CGTOA, CZOA, CRSA…:</a:t>
            </a:r>
            <a:r>
              <a:rPr lang="en-US" sz="1800">
                <a:solidFill>
                  <a:schemeClr val="dk1"/>
                </a:solidFill>
                <a:latin typeface="Times New Roman" panose="02020603050405020304"/>
                <a:ea typeface="Times New Roman" panose="02020603050405020304"/>
                <a:cs typeface="Times New Roman" panose="02020603050405020304"/>
                <a:sym typeface="Times New Roman" panose="02020603050405020304"/>
              </a:rPr>
              <a:t> Tăng hiệu suất tìm kiếm toàn cục, tránh tối ưu cục bộ.</a:t>
            </a: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1200"/>
              </a:spcBef>
              <a:spcAft>
                <a:spcPts val="0"/>
              </a:spcAft>
              <a:buNone/>
            </a:pPr>
            <a:r>
              <a:rPr lang="vi-VN" sz="1800">
                <a:solidFill>
                  <a:schemeClr val="dk1"/>
                </a:solidFill>
                <a:latin typeface="Times New Roman" panose="02020603050405020304"/>
                <a:ea typeface="Times New Roman" panose="02020603050405020304"/>
                <a:cs typeface="Times New Roman" panose="02020603050405020304"/>
                <a:sym typeface="Times New Roman" panose="02020603050405020304"/>
              </a:rPr>
              <a:t>aco, pso có thể hỗ trợ cải tiến leach</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xfrm>
            <a:off x="2380488" y="2365248"/>
            <a:ext cx="4383024" cy="2127504"/>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4800"/>
              <a:buFont typeface="Lato" panose="020F0502020204030203"/>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p17"/>
          <p:cNvPicPr preferRelativeResize="0"/>
          <p:nvPr/>
        </p:nvPicPr>
        <p:blipFill rotWithShape="1">
          <a:blip r:embed="rId3"/>
          <a:srcRect/>
          <a:stretch>
            <a:fillRect/>
          </a:stretch>
        </p:blipFill>
        <p:spPr>
          <a:xfrm>
            <a:off x="413012" y="398419"/>
            <a:ext cx="2037225" cy="611594"/>
          </a:xfrm>
          <a:prstGeom prst="rect">
            <a:avLst/>
          </a:prstGeom>
          <a:noFill/>
          <a:ln>
            <a:noFill/>
          </a:ln>
        </p:spPr>
      </p:pic>
      <p:sp>
        <p:nvSpPr>
          <p:cNvPr id="90" name="Google Shape;90;p17"/>
          <p:cNvSpPr txBox="1"/>
          <p:nvPr/>
        </p:nvSpPr>
        <p:spPr>
          <a:xfrm>
            <a:off x="251722" y="1628521"/>
            <a:ext cx="7342482" cy="84879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C00000"/>
              </a:buClr>
              <a:buSzPts val="4000"/>
              <a:buFont typeface="Lato" panose="020F0502020204030203"/>
              <a:buNone/>
            </a:pPr>
            <a:r>
              <a:rPr lang="en-US" sz="4000" b="1" i="0" u="none" strike="noStrike" cap="none">
                <a:solidFill>
                  <a:srgbClr val="C00000"/>
                </a:solidFill>
                <a:latin typeface="Lato" panose="020F0502020204030203"/>
                <a:ea typeface="Lato" panose="020F0502020204030203"/>
                <a:cs typeface="Lato" panose="020F0502020204030203"/>
                <a:sym typeface="Lato" panose="020F0502020204030203"/>
              </a:rPr>
              <a:t>An Efficient Clustering Algorithm for Enhancing the Lifetime and Energy Efficiency of Wireless Sensor Networks</a:t>
            </a:r>
            <a:endParaRPr sz="4000" b="1" i="0" u="none" strike="noStrike" cap="none">
              <a:solidFill>
                <a:srgbClr val="C00000"/>
              </a:solidFill>
              <a:latin typeface="Lato" panose="020F0502020204030203"/>
              <a:ea typeface="Lato" panose="020F0502020204030203"/>
              <a:cs typeface="Lato" panose="020F0502020204030203"/>
              <a:sym typeface="Lato" panose="020F0502020204030203"/>
            </a:endParaRPr>
          </a:p>
        </p:txBody>
      </p:sp>
      <p:sp>
        <p:nvSpPr>
          <p:cNvPr id="91" name="Google Shape;91;p17"/>
          <p:cNvSpPr txBox="1"/>
          <p:nvPr/>
        </p:nvSpPr>
        <p:spPr>
          <a:xfrm>
            <a:off x="323477" y="4005137"/>
            <a:ext cx="7342500" cy="8487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C00000"/>
              </a:buClr>
              <a:buSzPts val="2800"/>
              <a:buFont typeface="Lato" panose="020F0502020204030203"/>
              <a:buNone/>
            </a:pPr>
            <a:r>
              <a:rPr lang="en-US" sz="2800" b="0" i="0" u="none" strike="noStrike" cap="none">
                <a:solidFill>
                  <a:srgbClr val="C00000"/>
                </a:solidFill>
                <a:latin typeface="Lato" panose="020F0502020204030203"/>
                <a:ea typeface="Lato" panose="020F0502020204030203"/>
                <a:cs typeface="Lato" panose="020F0502020204030203"/>
                <a:sym typeface="Lato" panose="020F0502020204030203"/>
              </a:rPr>
              <a:t>GV</a:t>
            </a:r>
            <a:r>
              <a:rPr lang="vi-VN" altLang="en-US" sz="2800" b="0" i="0" u="none" strike="noStrike" cap="none">
                <a:solidFill>
                  <a:srgbClr val="C00000"/>
                </a:solidFill>
                <a:latin typeface="Lato" panose="020F0502020204030203"/>
                <a:ea typeface="Lato" panose="020F0502020204030203"/>
                <a:cs typeface="Lato" panose="020F0502020204030203"/>
                <a:sym typeface="Lato" panose="020F0502020204030203"/>
              </a:rPr>
              <a:t>HD</a:t>
            </a:r>
            <a:r>
              <a:rPr lang="en-US" sz="2800" b="0" i="0" u="none" strike="noStrike" cap="none">
                <a:solidFill>
                  <a:srgbClr val="C00000"/>
                </a:solidFill>
                <a:latin typeface="Lato" panose="020F0502020204030203"/>
                <a:ea typeface="Lato" panose="020F0502020204030203"/>
                <a:cs typeface="Lato" panose="020F0502020204030203"/>
                <a:sym typeface="Lato" panose="020F0502020204030203"/>
              </a:rPr>
              <a:t>:  </a:t>
            </a:r>
            <a:r>
              <a:rPr lang="vi-VN" altLang="en-US" sz="2800" b="0" i="0" u="none" strike="noStrike" cap="none">
                <a:solidFill>
                  <a:srgbClr val="C00000"/>
                </a:solidFill>
                <a:latin typeface="Lato" panose="020F0502020204030203"/>
                <a:ea typeface="Lato" panose="020F0502020204030203"/>
                <a:cs typeface="Lato" panose="020F0502020204030203"/>
                <a:sym typeface="Lato" panose="020F0502020204030203"/>
              </a:rPr>
              <a:t>PGS. Nguyễn Thị Mỹ Bình</a:t>
            </a:r>
            <a:br>
              <a:rPr lang="vi-VN" altLang="en-US" sz="2800" b="0" i="0" u="none" strike="noStrike" cap="none">
                <a:solidFill>
                  <a:srgbClr val="C00000"/>
                </a:solidFill>
                <a:latin typeface="Lato" panose="020F0502020204030203"/>
                <a:ea typeface="Lato" panose="020F0502020204030203"/>
                <a:cs typeface="Lato" panose="020F0502020204030203"/>
                <a:sym typeface="Lato" panose="020F0502020204030203"/>
              </a:rPr>
            </a:br>
            <a:r>
              <a:rPr lang="vi-VN" altLang="en-US" sz="2800" b="0" i="0" u="none" strike="noStrike" cap="none">
                <a:solidFill>
                  <a:srgbClr val="C00000"/>
                </a:solidFill>
                <a:latin typeface="Lato" panose="020F0502020204030203"/>
                <a:ea typeface="Lato" panose="020F0502020204030203"/>
                <a:cs typeface="Lato" panose="020F0502020204030203"/>
                <a:sym typeface="Lato" panose="020F0502020204030203"/>
              </a:rPr>
              <a:t>Nhóm: 16</a:t>
            </a:r>
            <a:br>
              <a:rPr lang="vi-VN" altLang="en-US" sz="2800" b="0" i="0" u="none" strike="noStrike" cap="none">
                <a:solidFill>
                  <a:srgbClr val="C00000"/>
                </a:solidFill>
                <a:latin typeface="Lato" panose="020F0502020204030203"/>
                <a:ea typeface="Lato" panose="020F0502020204030203"/>
                <a:cs typeface="Lato" panose="020F0502020204030203"/>
                <a:sym typeface="Lato" panose="020F0502020204030203"/>
              </a:rPr>
            </a:br>
            <a:r>
              <a:rPr lang="vi-VN" altLang="en-US" sz="2800" b="0" i="0" u="none" strike="noStrike" cap="none">
                <a:solidFill>
                  <a:srgbClr val="C00000"/>
                </a:solidFill>
                <a:latin typeface="Lato" panose="020F0502020204030203"/>
                <a:ea typeface="Lato" panose="020F0502020204030203"/>
                <a:cs typeface="Lato" panose="020F0502020204030203"/>
                <a:sym typeface="Lato" panose="020F0502020204030203"/>
              </a:rPr>
              <a:t>Thành viên: Trần Bảo Long 	-20225038</a:t>
            </a:r>
          </a:p>
          <a:p>
            <a:pPr marL="1371600" marR="0" lvl="3" indent="457200" algn="l" rtl="0">
              <a:lnSpc>
                <a:spcPct val="90000"/>
              </a:lnSpc>
              <a:spcBef>
                <a:spcPts val="0"/>
              </a:spcBef>
              <a:spcAft>
                <a:spcPts val="0"/>
              </a:spcAft>
              <a:buClr>
                <a:srgbClr val="C00000"/>
              </a:buClr>
              <a:buSzPts val="2800"/>
              <a:buFont typeface="Lato" panose="020F0502020204030203"/>
              <a:buNone/>
            </a:pPr>
            <a:r>
              <a:rPr lang="vi-VN" altLang="en-US" sz="2800" b="0" i="0" u="none" strike="noStrike" cap="none">
                <a:solidFill>
                  <a:srgbClr val="C00000"/>
                </a:solidFill>
                <a:latin typeface="Lato" panose="020F0502020204030203"/>
                <a:ea typeface="Lato" panose="020F0502020204030203"/>
                <a:cs typeface="Lato" panose="020F0502020204030203"/>
                <a:sym typeface="Lato" panose="020F0502020204030203"/>
              </a:rPr>
              <a:t>Trần Quang Minh-20225047</a:t>
            </a:r>
          </a:p>
          <a:p>
            <a:pPr marL="0" marR="0" lvl="0" indent="0" algn="l" rtl="0">
              <a:lnSpc>
                <a:spcPct val="90000"/>
              </a:lnSpc>
              <a:spcBef>
                <a:spcPts val="0"/>
              </a:spcBef>
              <a:spcAft>
                <a:spcPts val="0"/>
              </a:spcAft>
              <a:buClr>
                <a:srgbClr val="C00000"/>
              </a:buClr>
              <a:buSzPts val="2800"/>
              <a:buFont typeface="Lato" panose="020F0502020204030203"/>
              <a:buNone/>
            </a:pPr>
            <a:endParaRPr lang="vi-VN" altLang="en-US" sz="2800" b="0" i="0" u="none" strike="noStrike" cap="none">
              <a:solidFill>
                <a:srgbClr val="C000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5</a:t>
            </a:fld>
            <a:endParaRPr lang="en-US"/>
          </a:p>
        </p:txBody>
      </p:sp>
      <p:sp>
        <p:nvSpPr>
          <p:cNvPr id="97" name="Google Shape;97;p18"/>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t>Nội dung </a:t>
            </a:r>
          </a:p>
        </p:txBody>
      </p:sp>
      <p:sp>
        <p:nvSpPr>
          <p:cNvPr id="98" name="Google Shape;98;p18"/>
          <p:cNvSpPr txBox="1">
            <a:spLocks noGrp="1"/>
          </p:cNvSpPr>
          <p:nvPr>
            <p:ph type="body" idx="1"/>
          </p:nvPr>
        </p:nvSpPr>
        <p:spPr>
          <a:xfrm>
            <a:off x="235077" y="841247"/>
            <a:ext cx="8674100" cy="5303393"/>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chemeClr val="dk1"/>
              </a:buClr>
              <a:buSzPts val="2800"/>
              <a:buNone/>
            </a:pPr>
            <a:endParaRPr dirty="0">
              <a:latin typeface="+mn-lt"/>
            </a:endParaRPr>
          </a:p>
          <a:p>
            <a:pPr lvl="0" indent="-457200" algn="l" rtl="0">
              <a:lnSpc>
                <a:spcPct val="160000"/>
              </a:lnSpc>
              <a:spcBef>
                <a:spcPts val="1000"/>
              </a:spcBef>
              <a:spcAft>
                <a:spcPts val="0"/>
              </a:spcAft>
              <a:buClr>
                <a:schemeClr val="dk1"/>
              </a:buClr>
              <a:buSzPts val="2800"/>
            </a:pPr>
            <a:r>
              <a:rPr lang="en-US" dirty="0" err="1">
                <a:latin typeface="+mn-lt"/>
              </a:rPr>
              <a:t>Động</a:t>
            </a:r>
            <a:r>
              <a:rPr lang="en-US" dirty="0">
                <a:latin typeface="+mn-lt"/>
              </a:rPr>
              <a:t> </a:t>
            </a:r>
            <a:r>
              <a:rPr lang="en-US" dirty="0" err="1">
                <a:latin typeface="+mn-lt"/>
              </a:rPr>
              <a:t>cơ</a:t>
            </a:r>
            <a:r>
              <a:rPr lang="en-US" dirty="0">
                <a:latin typeface="+mn-lt"/>
              </a:rPr>
              <a:t> </a:t>
            </a:r>
            <a:r>
              <a:rPr lang="en-US" dirty="0" err="1">
                <a:latin typeface="+mn-lt"/>
              </a:rPr>
              <a:t>nghiên</a:t>
            </a:r>
            <a:r>
              <a:rPr lang="en-US" dirty="0">
                <a:latin typeface="+mn-lt"/>
              </a:rPr>
              <a:t> </a:t>
            </a:r>
            <a:r>
              <a:rPr lang="en-US" dirty="0" err="1">
                <a:latin typeface="+mn-lt"/>
              </a:rPr>
              <a:t>cứu</a:t>
            </a:r>
            <a:endParaRPr lang="en-US" dirty="0">
              <a:latin typeface="+mn-lt"/>
            </a:endParaRPr>
          </a:p>
          <a:p>
            <a:pPr lvl="0" indent="-457200" algn="l" rtl="0">
              <a:lnSpc>
                <a:spcPct val="160000"/>
              </a:lnSpc>
              <a:spcBef>
                <a:spcPts val="1000"/>
              </a:spcBef>
              <a:spcAft>
                <a:spcPts val="0"/>
              </a:spcAft>
              <a:buClr>
                <a:schemeClr val="dk1"/>
              </a:buClr>
              <a:buSzPts val="2800"/>
            </a:pPr>
            <a:r>
              <a:rPr lang="vi-VN" dirty="0">
                <a:latin typeface="+mn-lt"/>
              </a:rPr>
              <a:t>Cơ sở lý thuyết </a:t>
            </a:r>
            <a:r>
              <a:rPr lang="en-US" dirty="0">
                <a:latin typeface="+mn-lt"/>
                <a:sym typeface="+mn-ea"/>
              </a:rPr>
              <a:t>&amp;</a:t>
            </a:r>
            <a:r>
              <a:rPr lang="vi-VN" dirty="0">
                <a:latin typeface="+mn-lt"/>
              </a:rPr>
              <a:t> phát biểu bài toán</a:t>
            </a:r>
          </a:p>
          <a:p>
            <a:pPr lvl="0" indent="-457200" algn="l" rtl="0">
              <a:lnSpc>
                <a:spcPct val="160000"/>
              </a:lnSpc>
              <a:spcBef>
                <a:spcPts val="1000"/>
              </a:spcBef>
              <a:spcAft>
                <a:spcPts val="0"/>
              </a:spcAft>
              <a:buClr>
                <a:schemeClr val="dk1"/>
              </a:buClr>
              <a:buSzPts val="2800"/>
            </a:pPr>
            <a:r>
              <a:rPr lang="vi-VN" altLang="en-US" dirty="0">
                <a:latin typeface="+mn-lt"/>
              </a:rPr>
              <a:t>P</a:t>
            </a:r>
            <a:r>
              <a:rPr lang="en-US" dirty="0" err="1">
                <a:latin typeface="+mn-lt"/>
              </a:rPr>
              <a:t>hương</a:t>
            </a:r>
            <a:r>
              <a:rPr lang="en-US" dirty="0">
                <a:latin typeface="+mn-lt"/>
              </a:rPr>
              <a:t> </a:t>
            </a:r>
            <a:r>
              <a:rPr lang="en-US" dirty="0" err="1">
                <a:latin typeface="+mn-lt"/>
              </a:rPr>
              <a:t>pháp</a:t>
            </a:r>
            <a:r>
              <a:rPr lang="vi-VN" altLang="en-US" dirty="0">
                <a:latin typeface="+mn-lt"/>
              </a:rPr>
              <a:t> đề xuất</a:t>
            </a:r>
            <a:r>
              <a:rPr lang="en-US" dirty="0">
                <a:latin typeface="+mn-lt"/>
              </a:rPr>
              <a:t> AC-ACO</a:t>
            </a:r>
          </a:p>
          <a:p>
            <a:pPr lvl="0" indent="-457200" algn="l" rtl="0">
              <a:lnSpc>
                <a:spcPct val="160000"/>
              </a:lnSpc>
              <a:spcBef>
                <a:spcPts val="1000"/>
              </a:spcBef>
              <a:spcAft>
                <a:spcPts val="0"/>
              </a:spcAft>
              <a:buClr>
                <a:schemeClr val="dk1"/>
              </a:buClr>
              <a:buSzPts val="2800"/>
            </a:pPr>
            <a:r>
              <a:rPr lang="en-US" dirty="0" err="1">
                <a:latin typeface="+mn-lt"/>
              </a:rPr>
              <a:t>Thí</a:t>
            </a:r>
            <a:r>
              <a:rPr lang="en-US" dirty="0">
                <a:latin typeface="+mn-lt"/>
              </a:rPr>
              <a:t> </a:t>
            </a:r>
            <a:r>
              <a:rPr lang="en-US" dirty="0" err="1">
                <a:latin typeface="+mn-lt"/>
              </a:rPr>
              <a:t>nghiệm</a:t>
            </a:r>
            <a:r>
              <a:rPr lang="en-US" dirty="0">
                <a:latin typeface="+mn-lt"/>
              </a:rPr>
              <a:t> &amp; </a:t>
            </a:r>
            <a:r>
              <a:rPr lang="en-US" dirty="0" err="1">
                <a:latin typeface="+mn-lt"/>
              </a:rPr>
              <a:t>phân</a:t>
            </a:r>
            <a:r>
              <a:rPr lang="en-US" dirty="0">
                <a:latin typeface="+mn-lt"/>
              </a:rPr>
              <a:t> </a:t>
            </a:r>
            <a:r>
              <a:rPr lang="en-US" dirty="0" err="1">
                <a:latin typeface="+mn-lt"/>
              </a:rPr>
              <a:t>tích</a:t>
            </a:r>
            <a:endParaRPr lang="en-US" dirty="0">
              <a:latin typeface="+mn-lt"/>
            </a:endParaRPr>
          </a:p>
          <a:p>
            <a:pPr lvl="0" indent="-457200" algn="l" rtl="0">
              <a:lnSpc>
                <a:spcPct val="160000"/>
              </a:lnSpc>
              <a:spcBef>
                <a:spcPts val="1000"/>
              </a:spcBef>
              <a:spcAft>
                <a:spcPts val="0"/>
              </a:spcAft>
              <a:buClr>
                <a:schemeClr val="dk1"/>
              </a:buClr>
              <a:buSzPts val="2800"/>
            </a:pPr>
            <a:r>
              <a:rPr lang="en-US" dirty="0" err="1">
                <a:latin typeface="+mn-lt"/>
              </a:rPr>
              <a:t>Kết</a:t>
            </a:r>
            <a:r>
              <a:rPr lang="en-US" dirty="0">
                <a:latin typeface="+mn-lt"/>
              </a:rPr>
              <a:t> </a:t>
            </a:r>
            <a:r>
              <a:rPr lang="en-US" dirty="0" err="1">
                <a:latin typeface="+mn-lt"/>
              </a:rPr>
              <a:t>luận</a:t>
            </a:r>
            <a:r>
              <a:rPr lang="en-US" dirty="0">
                <a:latin typeface="+mn-lt"/>
              </a:rPr>
              <a:t> &amp; </a:t>
            </a:r>
            <a:r>
              <a:rPr lang="en-US" dirty="0" err="1">
                <a:latin typeface="+mn-lt"/>
              </a:rPr>
              <a:t>hướng</a:t>
            </a:r>
            <a:r>
              <a:rPr lang="en-US" dirty="0">
                <a:latin typeface="+mn-lt"/>
              </a:rPr>
              <a:t> </a:t>
            </a:r>
            <a:r>
              <a:rPr lang="en-US" dirty="0" err="1">
                <a:latin typeface="+mn-lt"/>
              </a:rPr>
              <a:t>phát</a:t>
            </a:r>
            <a:r>
              <a:rPr lang="en-US" dirty="0">
                <a:latin typeface="+mn-lt"/>
              </a:rPr>
              <a:t> </a:t>
            </a:r>
            <a:r>
              <a:rPr lang="en-US" dirty="0" err="1">
                <a:latin typeface="+mn-lt"/>
              </a:rPr>
              <a:t>triển</a:t>
            </a:r>
            <a:endParaRPr lang="en-US" dirty="0">
              <a:latin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9"/>
          <p:cNvSpPr txBox="1">
            <a:spLocks noGrp="1"/>
          </p:cNvSpPr>
          <p:nvPr>
            <p:ph type="sldNum" idx="12"/>
          </p:nvPr>
        </p:nvSpPr>
        <p:spPr>
          <a:xfrm>
            <a:off x="6867383" y="6492878"/>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6</a:t>
            </a:fld>
            <a:endParaRPr lang="en-US"/>
          </a:p>
        </p:txBody>
      </p:sp>
      <p:sp>
        <p:nvSpPr>
          <p:cNvPr id="104" name="Google Shape;104;p19"/>
          <p:cNvSpPr txBox="1">
            <a:spLocks noGrp="1"/>
          </p:cNvSpPr>
          <p:nvPr>
            <p:ph type="title"/>
          </p:nvPr>
        </p:nvSpPr>
        <p:spPr>
          <a:xfrm>
            <a:off x="254052" y="112543"/>
            <a:ext cx="8635896" cy="436098"/>
          </a:xfrm>
          <a:prstGeom prst="rect">
            <a:avLst/>
          </a:prstGeom>
          <a:noFill/>
          <a:ln>
            <a:noFill/>
          </a:ln>
        </p:spPr>
        <p:txBody>
          <a:bodyPr spcFirstLastPara="1" wrap="square" lIns="91425" tIns="45700" rIns="91425" bIns="45700" anchor="t" anchorCtr="0">
            <a:noAutofit/>
          </a:bodyPr>
          <a:lstStyle/>
          <a:p>
            <a:pPr marL="457200" lvl="0" indent="-406400" algn="l" rtl="0">
              <a:lnSpc>
                <a:spcPct val="90000"/>
              </a:lnSpc>
              <a:spcBef>
                <a:spcPts val="0"/>
              </a:spcBef>
              <a:spcAft>
                <a:spcPts val="0"/>
              </a:spcAft>
              <a:buSzPts val="2800"/>
              <a:buAutoNum type="arabicPeriod"/>
            </a:pPr>
            <a:r>
              <a:rPr lang="en-US"/>
              <a:t>Động cơ nghiên cứu</a:t>
            </a:r>
          </a:p>
        </p:txBody>
      </p:sp>
      <p:sp>
        <p:nvSpPr>
          <p:cNvPr id="105" name="Google Shape;105;p19"/>
          <p:cNvSpPr txBox="1"/>
          <p:nvPr/>
        </p:nvSpPr>
        <p:spPr>
          <a:xfrm>
            <a:off x="468600" y="900199"/>
            <a:ext cx="8206800" cy="3054985"/>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Clr>
                <a:schemeClr val="dk1"/>
              </a:buClr>
              <a:buSzPts val="1100"/>
              <a:buFont typeface="Arial" panose="020B0604020202020204"/>
              <a:buNone/>
            </a:pPr>
            <a:r>
              <a:rPr lang="en-US" sz="1800" b="1" dirty="0" err="1">
                <a:solidFill>
                  <a:schemeClr val="dk1"/>
                </a:solidFill>
              </a:rPr>
              <a:t>Định</a:t>
            </a:r>
            <a:r>
              <a:rPr lang="en-US" sz="1800" b="1" dirty="0">
                <a:solidFill>
                  <a:schemeClr val="dk1"/>
                </a:solidFill>
              </a:rPr>
              <a:t> </a:t>
            </a:r>
            <a:r>
              <a:rPr lang="en-US" sz="1800" b="1" dirty="0" err="1">
                <a:solidFill>
                  <a:schemeClr val="dk1"/>
                </a:solidFill>
              </a:rPr>
              <a:t>nghĩa</a:t>
            </a:r>
            <a:r>
              <a:rPr lang="en-US" sz="1800" b="1" dirty="0">
                <a:solidFill>
                  <a:schemeClr val="dk1"/>
                </a:solidFill>
              </a:rPr>
              <a:t>:</a:t>
            </a:r>
            <a:r>
              <a:rPr lang="en-US" sz="1800" dirty="0">
                <a:solidFill>
                  <a:schemeClr val="dk1"/>
                </a:solidFill>
              </a:rPr>
              <a:t> WSN </a:t>
            </a:r>
            <a:r>
              <a:rPr lang="en-US" sz="1800" dirty="0" err="1">
                <a:solidFill>
                  <a:schemeClr val="dk1"/>
                </a:solidFill>
              </a:rPr>
              <a:t>là</a:t>
            </a:r>
            <a:r>
              <a:rPr lang="en-US" sz="1800" dirty="0">
                <a:solidFill>
                  <a:schemeClr val="dk1"/>
                </a:solidFill>
              </a:rPr>
              <a:t> </a:t>
            </a:r>
            <a:r>
              <a:rPr lang="en-US" sz="1800" dirty="0" err="1">
                <a:solidFill>
                  <a:schemeClr val="dk1"/>
                </a:solidFill>
              </a:rPr>
              <a:t>mạng</a:t>
            </a:r>
            <a:r>
              <a:rPr lang="en-US" sz="1800" dirty="0">
                <a:solidFill>
                  <a:schemeClr val="dk1"/>
                </a:solidFill>
              </a:rPr>
              <a:t> </a:t>
            </a:r>
            <a:r>
              <a:rPr lang="en-US" sz="1800" dirty="0" err="1">
                <a:solidFill>
                  <a:schemeClr val="dk1"/>
                </a:solidFill>
              </a:rPr>
              <a:t>tự</a:t>
            </a:r>
            <a:r>
              <a:rPr lang="en-US" sz="1800" dirty="0">
                <a:solidFill>
                  <a:schemeClr val="dk1"/>
                </a:solidFill>
              </a:rPr>
              <a:t> </a:t>
            </a:r>
            <a:r>
              <a:rPr lang="en-US" sz="1800" dirty="0" err="1">
                <a:solidFill>
                  <a:schemeClr val="dk1"/>
                </a:solidFill>
              </a:rPr>
              <a:t>tổ</a:t>
            </a:r>
            <a:r>
              <a:rPr lang="en-US" sz="1800" dirty="0">
                <a:solidFill>
                  <a:schemeClr val="dk1"/>
                </a:solidFill>
              </a:rPr>
              <a:t> </a:t>
            </a:r>
            <a:r>
              <a:rPr lang="en-US" sz="1800" dirty="0" err="1">
                <a:solidFill>
                  <a:schemeClr val="dk1"/>
                </a:solidFill>
              </a:rPr>
              <a:t>chức</a:t>
            </a:r>
            <a:r>
              <a:rPr lang="en-US" sz="1800" dirty="0">
                <a:solidFill>
                  <a:schemeClr val="dk1"/>
                </a:solidFill>
              </a:rPr>
              <a:t> </a:t>
            </a:r>
            <a:r>
              <a:rPr lang="en-US" sz="1800" dirty="0" err="1">
                <a:solidFill>
                  <a:schemeClr val="dk1"/>
                </a:solidFill>
              </a:rPr>
              <a:t>gồm</a:t>
            </a:r>
            <a:r>
              <a:rPr lang="en-US" sz="1800" dirty="0">
                <a:solidFill>
                  <a:schemeClr val="dk1"/>
                </a:solidFill>
              </a:rPr>
              <a:t> </a:t>
            </a:r>
            <a:r>
              <a:rPr lang="en-US" sz="1800" dirty="0" err="1">
                <a:solidFill>
                  <a:schemeClr val="dk1"/>
                </a:solidFill>
              </a:rPr>
              <a:t>nhiều</a:t>
            </a:r>
            <a:r>
              <a:rPr lang="en-US" sz="1800" dirty="0">
                <a:solidFill>
                  <a:schemeClr val="dk1"/>
                </a:solidFill>
              </a:rPr>
              <a:t> </a:t>
            </a:r>
            <a:r>
              <a:rPr lang="en-US" sz="1800" dirty="0" err="1">
                <a:solidFill>
                  <a:schemeClr val="dk1"/>
                </a:solidFill>
              </a:rPr>
              <a:t>nút</a:t>
            </a:r>
            <a:r>
              <a:rPr lang="en-US" sz="1800" dirty="0">
                <a:solidFill>
                  <a:schemeClr val="dk1"/>
                </a:solidFill>
              </a:rPr>
              <a:t> </a:t>
            </a:r>
            <a:r>
              <a:rPr lang="en-US" sz="1800" dirty="0" err="1">
                <a:solidFill>
                  <a:schemeClr val="dk1"/>
                </a:solidFill>
              </a:rPr>
              <a:t>cảm</a:t>
            </a:r>
            <a:r>
              <a:rPr lang="en-US" sz="1800" dirty="0">
                <a:solidFill>
                  <a:schemeClr val="dk1"/>
                </a:solidFill>
              </a:rPr>
              <a:t> </a:t>
            </a:r>
            <a:r>
              <a:rPr lang="en-US" sz="1800" dirty="0" err="1">
                <a:solidFill>
                  <a:schemeClr val="dk1"/>
                </a:solidFill>
              </a:rPr>
              <a:t>biến</a:t>
            </a:r>
            <a:r>
              <a:rPr lang="en-US" sz="1800" dirty="0">
                <a:solidFill>
                  <a:schemeClr val="dk1"/>
                </a:solidFill>
              </a:rPr>
              <a:t> </a:t>
            </a:r>
            <a:r>
              <a:rPr lang="en-US" sz="1800" dirty="0" err="1">
                <a:solidFill>
                  <a:schemeClr val="dk1"/>
                </a:solidFill>
              </a:rPr>
              <a:t>nhỏ</a:t>
            </a:r>
            <a:r>
              <a:rPr lang="en-US" sz="1800" dirty="0">
                <a:solidFill>
                  <a:schemeClr val="dk1"/>
                </a:solidFill>
              </a:rPr>
              <a:t>, </a:t>
            </a:r>
            <a:r>
              <a:rPr lang="en-US" sz="1800" dirty="0" err="1">
                <a:solidFill>
                  <a:schemeClr val="dk1"/>
                </a:solidFill>
              </a:rPr>
              <a:t>công</a:t>
            </a:r>
            <a:r>
              <a:rPr lang="en-US" sz="1800" dirty="0">
                <a:solidFill>
                  <a:schemeClr val="dk1"/>
                </a:solidFill>
              </a:rPr>
              <a:t> </a:t>
            </a:r>
            <a:r>
              <a:rPr lang="en-US" sz="1800" dirty="0" err="1">
                <a:solidFill>
                  <a:schemeClr val="dk1"/>
                </a:solidFill>
              </a:rPr>
              <a:t>suất</a:t>
            </a:r>
            <a:r>
              <a:rPr lang="en-US" sz="1800" dirty="0">
                <a:solidFill>
                  <a:schemeClr val="dk1"/>
                </a:solidFill>
              </a:rPr>
              <a:t> </a:t>
            </a:r>
            <a:r>
              <a:rPr lang="en-US" sz="1800" dirty="0" err="1">
                <a:solidFill>
                  <a:schemeClr val="dk1"/>
                </a:solidFill>
              </a:rPr>
              <a:t>thấp</a:t>
            </a:r>
            <a:r>
              <a:rPr lang="en-US" sz="1800" dirty="0">
                <a:solidFill>
                  <a:schemeClr val="dk1"/>
                </a:solidFill>
              </a:rPr>
              <a:t>, </a:t>
            </a:r>
            <a:r>
              <a:rPr lang="en-US" sz="1800" dirty="0" err="1">
                <a:solidFill>
                  <a:schemeClr val="dk1"/>
                </a:solidFill>
              </a:rPr>
              <a:t>tích</a:t>
            </a:r>
            <a:r>
              <a:rPr lang="en-US" sz="1800" dirty="0">
                <a:solidFill>
                  <a:schemeClr val="dk1"/>
                </a:solidFill>
              </a:rPr>
              <a:t> </a:t>
            </a:r>
            <a:r>
              <a:rPr lang="en-US" sz="1800" dirty="0" err="1">
                <a:solidFill>
                  <a:schemeClr val="dk1"/>
                </a:solidFill>
              </a:rPr>
              <a:t>hợp</a:t>
            </a:r>
            <a:r>
              <a:rPr lang="en-US" sz="1800" dirty="0">
                <a:solidFill>
                  <a:schemeClr val="dk1"/>
                </a:solidFill>
              </a:rPr>
              <a:t> </a:t>
            </a:r>
            <a:r>
              <a:rPr lang="en-US" sz="1800" dirty="0" err="1">
                <a:solidFill>
                  <a:schemeClr val="dk1"/>
                </a:solidFill>
              </a:rPr>
              <a:t>truyền</a:t>
            </a:r>
            <a:r>
              <a:rPr lang="en-US" sz="1800" dirty="0">
                <a:solidFill>
                  <a:schemeClr val="dk1"/>
                </a:solidFill>
              </a:rPr>
              <a:t> </a:t>
            </a:r>
            <a:r>
              <a:rPr lang="en-US" sz="1800" dirty="0" err="1">
                <a:solidFill>
                  <a:schemeClr val="dk1"/>
                </a:solidFill>
              </a:rPr>
              <a:t>thông</a:t>
            </a:r>
            <a:r>
              <a:rPr lang="en-US" sz="1800" dirty="0">
                <a:solidFill>
                  <a:schemeClr val="dk1"/>
                </a:solidFill>
              </a:rPr>
              <a:t> </a:t>
            </a:r>
            <a:r>
              <a:rPr lang="en-US" sz="1800" dirty="0" err="1">
                <a:solidFill>
                  <a:schemeClr val="dk1"/>
                </a:solidFill>
              </a:rPr>
              <a:t>không</a:t>
            </a:r>
            <a:r>
              <a:rPr lang="en-US" sz="1800" dirty="0">
                <a:solidFill>
                  <a:schemeClr val="dk1"/>
                </a:solidFill>
              </a:rPr>
              <a:t> </a:t>
            </a:r>
            <a:r>
              <a:rPr lang="en-US" sz="1800" dirty="0" err="1">
                <a:solidFill>
                  <a:schemeClr val="dk1"/>
                </a:solidFill>
              </a:rPr>
              <a:t>dây</a:t>
            </a:r>
            <a:r>
              <a:rPr lang="en-US" sz="1800" dirty="0">
                <a:solidFill>
                  <a:schemeClr val="dk1"/>
                </a:solidFill>
              </a:rPr>
              <a:t>, </a:t>
            </a:r>
            <a:r>
              <a:rPr lang="en-US" sz="1800" dirty="0" err="1">
                <a:solidFill>
                  <a:schemeClr val="dk1"/>
                </a:solidFill>
              </a:rPr>
              <a:t>cảm</a:t>
            </a:r>
            <a:r>
              <a:rPr lang="en-US" sz="1800" dirty="0">
                <a:solidFill>
                  <a:schemeClr val="dk1"/>
                </a:solidFill>
              </a:rPr>
              <a:t> </a:t>
            </a:r>
            <a:r>
              <a:rPr lang="en-US" sz="1800" dirty="0" err="1">
                <a:solidFill>
                  <a:schemeClr val="dk1"/>
                </a:solidFill>
              </a:rPr>
              <a:t>biến</a:t>
            </a:r>
            <a:r>
              <a:rPr lang="en-US" sz="1800" dirty="0">
                <a:solidFill>
                  <a:schemeClr val="dk1"/>
                </a:solidFill>
              </a:rPr>
              <a:t> </a:t>
            </a:r>
            <a:r>
              <a:rPr lang="en-US" sz="1800" dirty="0" err="1">
                <a:solidFill>
                  <a:schemeClr val="dk1"/>
                </a:solidFill>
              </a:rPr>
              <a:t>môi</a:t>
            </a:r>
            <a:r>
              <a:rPr lang="en-US" sz="1800" dirty="0">
                <a:solidFill>
                  <a:schemeClr val="dk1"/>
                </a:solidFill>
              </a:rPr>
              <a:t> </a:t>
            </a:r>
            <a:r>
              <a:rPr lang="en-US" sz="1800" dirty="0" err="1">
                <a:solidFill>
                  <a:schemeClr val="dk1"/>
                </a:solidFill>
              </a:rPr>
              <a:t>trường</a:t>
            </a:r>
            <a:r>
              <a:rPr lang="en-US" sz="1800" dirty="0">
                <a:solidFill>
                  <a:schemeClr val="dk1"/>
                </a:solidFill>
              </a:rPr>
              <a:t>, </a:t>
            </a:r>
            <a:r>
              <a:rPr lang="en-US" sz="1800" dirty="0" err="1">
                <a:solidFill>
                  <a:schemeClr val="dk1"/>
                </a:solidFill>
              </a:rPr>
              <a:t>tính</a:t>
            </a:r>
            <a:r>
              <a:rPr lang="en-US" sz="1800" dirty="0">
                <a:solidFill>
                  <a:schemeClr val="dk1"/>
                </a:solidFill>
              </a:rPr>
              <a:t> </a:t>
            </a:r>
            <a:r>
              <a:rPr lang="en-US" sz="1800" dirty="0" err="1">
                <a:solidFill>
                  <a:schemeClr val="dk1"/>
                </a:solidFill>
              </a:rPr>
              <a:t>toán</a:t>
            </a:r>
            <a:r>
              <a:rPr lang="en-US" sz="1800" dirty="0">
                <a:solidFill>
                  <a:schemeClr val="dk1"/>
                </a:solidFill>
              </a:rPr>
              <a:t> </a:t>
            </a:r>
            <a:r>
              <a:rPr lang="en-US" sz="1800" dirty="0" err="1">
                <a:solidFill>
                  <a:schemeClr val="dk1"/>
                </a:solidFill>
              </a:rPr>
              <a:t>và</a:t>
            </a:r>
            <a:r>
              <a:rPr lang="en-US" sz="1800" dirty="0">
                <a:solidFill>
                  <a:schemeClr val="dk1"/>
                </a:solidFill>
              </a:rPr>
              <a:t> </a:t>
            </a:r>
            <a:r>
              <a:rPr lang="en-US" sz="1800" dirty="0" err="1">
                <a:solidFill>
                  <a:schemeClr val="dk1"/>
                </a:solidFill>
              </a:rPr>
              <a:t>lưu</a:t>
            </a:r>
            <a:r>
              <a:rPr lang="en-US" sz="1800" dirty="0">
                <a:solidFill>
                  <a:schemeClr val="dk1"/>
                </a:solidFill>
              </a:rPr>
              <a:t> </a:t>
            </a:r>
            <a:r>
              <a:rPr lang="en-US" sz="1800" dirty="0" err="1">
                <a:solidFill>
                  <a:schemeClr val="dk1"/>
                </a:solidFill>
              </a:rPr>
              <a:t>trữ</a:t>
            </a:r>
            <a:r>
              <a:rPr lang="en-US" sz="1800" dirty="0">
                <a:solidFill>
                  <a:schemeClr val="dk1"/>
                </a:solidFill>
              </a:rPr>
              <a:t> </a:t>
            </a:r>
            <a:r>
              <a:rPr lang="en-US" sz="1800" dirty="0" err="1">
                <a:solidFill>
                  <a:schemeClr val="dk1"/>
                </a:solidFill>
              </a:rPr>
              <a:t>dữ</a:t>
            </a:r>
            <a:r>
              <a:rPr lang="en-US" sz="1800" dirty="0">
                <a:solidFill>
                  <a:schemeClr val="dk1"/>
                </a:solidFill>
              </a:rPr>
              <a:t> </a:t>
            </a:r>
            <a:r>
              <a:rPr lang="en-US" sz="1800" dirty="0" err="1">
                <a:solidFill>
                  <a:schemeClr val="dk1"/>
                </a:solidFill>
              </a:rPr>
              <a:t>liệu</a:t>
            </a:r>
            <a:r>
              <a:rPr lang="en-US" sz="1800" dirty="0">
                <a:solidFill>
                  <a:schemeClr val="dk1"/>
                </a:solidFill>
              </a:rPr>
              <a:t>.</a:t>
            </a:r>
            <a:endParaRPr sz="1800" dirty="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20204"/>
              <a:buNone/>
            </a:pPr>
            <a:r>
              <a:rPr lang="en-US" sz="1800" b="1" dirty="0" err="1">
                <a:solidFill>
                  <a:schemeClr val="dk1"/>
                </a:solidFill>
              </a:rPr>
              <a:t>Đặc</a:t>
            </a:r>
            <a:r>
              <a:rPr lang="en-US" sz="1800" b="1" dirty="0">
                <a:solidFill>
                  <a:schemeClr val="dk1"/>
                </a:solidFill>
              </a:rPr>
              <a:t> </a:t>
            </a:r>
            <a:r>
              <a:rPr lang="en-US" sz="1800" b="1" dirty="0" err="1">
                <a:solidFill>
                  <a:schemeClr val="dk1"/>
                </a:solidFill>
              </a:rPr>
              <a:t>điểm</a:t>
            </a:r>
            <a:r>
              <a:rPr lang="en-US" sz="1800" b="1" dirty="0">
                <a:solidFill>
                  <a:schemeClr val="dk1"/>
                </a:solidFill>
              </a:rPr>
              <a:t>:</a:t>
            </a:r>
            <a:r>
              <a:rPr lang="en-US" sz="1800" dirty="0">
                <a:solidFill>
                  <a:schemeClr val="dk1"/>
                </a:solidFill>
              </a:rPr>
              <a:t> </a:t>
            </a:r>
            <a:r>
              <a:rPr lang="en-US" sz="1800" dirty="0" err="1">
                <a:solidFill>
                  <a:schemeClr val="dk1"/>
                </a:solidFill>
              </a:rPr>
              <a:t>Triển</a:t>
            </a:r>
            <a:r>
              <a:rPr lang="en-US" sz="1800" dirty="0">
                <a:solidFill>
                  <a:schemeClr val="dk1"/>
                </a:solidFill>
              </a:rPr>
              <a:t> </a:t>
            </a:r>
            <a:r>
              <a:rPr lang="en-US" sz="1800" dirty="0" err="1">
                <a:solidFill>
                  <a:schemeClr val="dk1"/>
                </a:solidFill>
              </a:rPr>
              <a:t>khai</a:t>
            </a:r>
            <a:r>
              <a:rPr lang="en-US" sz="1800" dirty="0">
                <a:solidFill>
                  <a:schemeClr val="dk1"/>
                </a:solidFill>
              </a:rPr>
              <a:t> </a:t>
            </a:r>
            <a:r>
              <a:rPr lang="en-US" sz="1800" dirty="0" err="1">
                <a:solidFill>
                  <a:schemeClr val="dk1"/>
                </a:solidFill>
              </a:rPr>
              <a:t>linh</a:t>
            </a:r>
            <a:r>
              <a:rPr lang="en-US" sz="1800" dirty="0">
                <a:solidFill>
                  <a:schemeClr val="dk1"/>
                </a:solidFill>
              </a:rPr>
              <a:t> </a:t>
            </a:r>
            <a:r>
              <a:rPr lang="en-US" sz="1800" dirty="0" err="1">
                <a:solidFill>
                  <a:schemeClr val="dk1"/>
                </a:solidFill>
              </a:rPr>
              <a:t>hoạt</a:t>
            </a:r>
            <a:r>
              <a:rPr lang="en-US" sz="1800" dirty="0">
                <a:solidFill>
                  <a:schemeClr val="dk1"/>
                </a:solidFill>
              </a:rPr>
              <a:t>, chi </a:t>
            </a:r>
            <a:r>
              <a:rPr lang="en-US" sz="1800" dirty="0" err="1">
                <a:solidFill>
                  <a:schemeClr val="dk1"/>
                </a:solidFill>
              </a:rPr>
              <a:t>phí</a:t>
            </a:r>
            <a:r>
              <a:rPr lang="en-US" sz="1800" dirty="0">
                <a:solidFill>
                  <a:schemeClr val="dk1"/>
                </a:solidFill>
              </a:rPr>
              <a:t> </a:t>
            </a:r>
            <a:r>
              <a:rPr lang="en-US" sz="1800" dirty="0" err="1">
                <a:solidFill>
                  <a:schemeClr val="dk1"/>
                </a:solidFill>
              </a:rPr>
              <a:t>thấp</a:t>
            </a:r>
            <a:r>
              <a:rPr lang="en-US" sz="1800" dirty="0">
                <a:solidFill>
                  <a:schemeClr val="dk1"/>
                </a:solidFill>
              </a:rPr>
              <a:t>, </a:t>
            </a:r>
            <a:r>
              <a:rPr lang="en-US" sz="1800" dirty="0" err="1">
                <a:solidFill>
                  <a:schemeClr val="dk1"/>
                </a:solidFill>
              </a:rPr>
              <a:t>độ</a:t>
            </a:r>
            <a:r>
              <a:rPr lang="en-US" sz="1800" dirty="0">
                <a:solidFill>
                  <a:schemeClr val="dk1"/>
                </a:solidFill>
              </a:rPr>
              <a:t> tin </a:t>
            </a:r>
            <a:r>
              <a:rPr lang="en-US" sz="1800" dirty="0" err="1">
                <a:solidFill>
                  <a:schemeClr val="dk1"/>
                </a:solidFill>
              </a:rPr>
              <a:t>cậy</a:t>
            </a:r>
            <a:r>
              <a:rPr lang="en-US" sz="1800" dirty="0">
                <a:solidFill>
                  <a:schemeClr val="dk1"/>
                </a:solidFill>
              </a:rPr>
              <a:t> </a:t>
            </a:r>
            <a:r>
              <a:rPr lang="en-US" sz="1800" dirty="0" err="1">
                <a:solidFill>
                  <a:schemeClr val="dk1"/>
                </a:solidFill>
              </a:rPr>
              <a:t>cao</a:t>
            </a:r>
            <a:r>
              <a:rPr lang="en-US" sz="1800" dirty="0">
                <a:solidFill>
                  <a:schemeClr val="dk1"/>
                </a:solidFill>
              </a:rPr>
              <a:t>.</a:t>
            </a:r>
            <a:endParaRPr sz="1800" dirty="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20204"/>
              <a:buNone/>
            </a:pPr>
            <a:r>
              <a:rPr lang="en-US" sz="1800" b="1" dirty="0" err="1">
                <a:solidFill>
                  <a:schemeClr val="dk1"/>
                </a:solidFill>
              </a:rPr>
              <a:t>Thách</a:t>
            </a:r>
            <a:r>
              <a:rPr lang="en-US" sz="1800" b="1" dirty="0">
                <a:solidFill>
                  <a:schemeClr val="dk1"/>
                </a:solidFill>
              </a:rPr>
              <a:t> </a:t>
            </a:r>
            <a:r>
              <a:rPr lang="en-US" sz="1800" b="1" dirty="0" err="1">
                <a:solidFill>
                  <a:schemeClr val="dk1"/>
                </a:solidFill>
              </a:rPr>
              <a:t>thức</a:t>
            </a:r>
            <a:r>
              <a:rPr lang="en-US" sz="1800" b="1" dirty="0">
                <a:solidFill>
                  <a:schemeClr val="dk1"/>
                </a:solidFill>
              </a:rPr>
              <a:t>:</a:t>
            </a:r>
            <a:r>
              <a:rPr lang="en-US" sz="1800" dirty="0">
                <a:solidFill>
                  <a:schemeClr val="dk1"/>
                </a:solidFill>
              </a:rPr>
              <a:t> </a:t>
            </a:r>
            <a:r>
              <a:rPr lang="en-US" sz="1800" dirty="0" err="1">
                <a:solidFill>
                  <a:schemeClr val="dk1"/>
                </a:solidFill>
              </a:rPr>
              <a:t>Nút</a:t>
            </a:r>
            <a:r>
              <a:rPr lang="en-US" sz="1800" dirty="0">
                <a:solidFill>
                  <a:schemeClr val="dk1"/>
                </a:solidFill>
              </a:rPr>
              <a:t> </a:t>
            </a:r>
            <a:r>
              <a:rPr lang="en-US" sz="1800" dirty="0" err="1">
                <a:solidFill>
                  <a:schemeClr val="dk1"/>
                </a:solidFill>
              </a:rPr>
              <a:t>cảm</a:t>
            </a:r>
            <a:r>
              <a:rPr lang="en-US" sz="1800" dirty="0">
                <a:solidFill>
                  <a:schemeClr val="dk1"/>
                </a:solidFill>
              </a:rPr>
              <a:t> </a:t>
            </a:r>
            <a:r>
              <a:rPr lang="en-US" sz="1800" dirty="0" err="1">
                <a:solidFill>
                  <a:schemeClr val="dk1"/>
                </a:solidFill>
              </a:rPr>
              <a:t>biến</a:t>
            </a:r>
            <a:r>
              <a:rPr lang="en-US" sz="1800" dirty="0">
                <a:solidFill>
                  <a:schemeClr val="dk1"/>
                </a:solidFill>
              </a:rPr>
              <a:t> </a:t>
            </a:r>
            <a:r>
              <a:rPr lang="en-US" sz="1800" dirty="0" err="1">
                <a:solidFill>
                  <a:schemeClr val="dk1"/>
                </a:solidFill>
              </a:rPr>
              <a:t>hạn</a:t>
            </a:r>
            <a:r>
              <a:rPr lang="en-US" sz="1800" dirty="0">
                <a:solidFill>
                  <a:schemeClr val="dk1"/>
                </a:solidFill>
              </a:rPr>
              <a:t> </a:t>
            </a:r>
            <a:r>
              <a:rPr lang="en-US" sz="1800" dirty="0" err="1">
                <a:solidFill>
                  <a:schemeClr val="dk1"/>
                </a:solidFill>
              </a:rPr>
              <a:t>chế</a:t>
            </a:r>
            <a:r>
              <a:rPr lang="en-US" sz="1800" dirty="0">
                <a:solidFill>
                  <a:schemeClr val="dk1"/>
                </a:solidFill>
              </a:rPr>
              <a:t> </a:t>
            </a:r>
            <a:r>
              <a:rPr lang="en-US" sz="1800" dirty="0" err="1">
                <a:solidFill>
                  <a:schemeClr val="dk1"/>
                </a:solidFill>
              </a:rPr>
              <a:t>tài</a:t>
            </a:r>
            <a:r>
              <a:rPr lang="en-US" sz="1800" dirty="0">
                <a:solidFill>
                  <a:schemeClr val="dk1"/>
                </a:solidFill>
              </a:rPr>
              <a:t> </a:t>
            </a:r>
            <a:r>
              <a:rPr lang="en-US" sz="1800" dirty="0" err="1">
                <a:solidFill>
                  <a:schemeClr val="dk1"/>
                </a:solidFill>
              </a:rPr>
              <a:t>nguyên</a:t>
            </a:r>
            <a:r>
              <a:rPr lang="en-US" sz="1800" dirty="0">
                <a:solidFill>
                  <a:schemeClr val="dk1"/>
                </a:solidFill>
              </a:rPr>
              <a:t>, </a:t>
            </a:r>
            <a:r>
              <a:rPr lang="en-US" sz="1800" dirty="0" err="1">
                <a:solidFill>
                  <a:schemeClr val="dk1"/>
                </a:solidFill>
              </a:rPr>
              <a:t>mạng</a:t>
            </a:r>
            <a:r>
              <a:rPr lang="en-US" sz="1800" dirty="0">
                <a:solidFill>
                  <a:schemeClr val="dk1"/>
                </a:solidFill>
              </a:rPr>
              <a:t> </a:t>
            </a:r>
            <a:r>
              <a:rPr lang="en-US" sz="1800" dirty="0" err="1">
                <a:solidFill>
                  <a:schemeClr val="dk1"/>
                </a:solidFill>
              </a:rPr>
              <a:t>thay</a:t>
            </a:r>
            <a:r>
              <a:rPr lang="en-US" sz="1800" dirty="0">
                <a:solidFill>
                  <a:schemeClr val="dk1"/>
                </a:solidFill>
              </a:rPr>
              <a:t> </a:t>
            </a:r>
            <a:r>
              <a:rPr lang="en-US" sz="1800" dirty="0" err="1">
                <a:solidFill>
                  <a:schemeClr val="dk1"/>
                </a:solidFill>
              </a:rPr>
              <a:t>đổi</a:t>
            </a:r>
            <a:r>
              <a:rPr lang="en-US" sz="1800" dirty="0">
                <a:solidFill>
                  <a:schemeClr val="dk1"/>
                </a:solidFill>
              </a:rPr>
              <a:t> </a:t>
            </a:r>
            <a:r>
              <a:rPr lang="en-US" sz="1800" dirty="0" err="1">
                <a:solidFill>
                  <a:schemeClr val="dk1"/>
                </a:solidFill>
              </a:rPr>
              <a:t>động</a:t>
            </a:r>
            <a:r>
              <a:rPr lang="en-US" sz="1800" dirty="0">
                <a:solidFill>
                  <a:schemeClr val="dk1"/>
                </a:solidFill>
              </a:rPr>
              <a:t>, </a:t>
            </a:r>
            <a:r>
              <a:rPr lang="en-US" sz="1800" dirty="0" err="1">
                <a:solidFill>
                  <a:schemeClr val="dk1"/>
                </a:solidFill>
              </a:rPr>
              <a:t>khiến</a:t>
            </a:r>
            <a:r>
              <a:rPr lang="en-US" sz="1800" dirty="0">
                <a:solidFill>
                  <a:schemeClr val="dk1"/>
                </a:solidFill>
              </a:rPr>
              <a:t> </a:t>
            </a:r>
            <a:r>
              <a:rPr lang="en-US" sz="1800" dirty="0" err="1">
                <a:solidFill>
                  <a:schemeClr val="dk1"/>
                </a:solidFill>
              </a:rPr>
              <a:t>giao</a:t>
            </a:r>
            <a:r>
              <a:rPr lang="en-US" sz="1800" dirty="0">
                <a:solidFill>
                  <a:schemeClr val="dk1"/>
                </a:solidFill>
              </a:rPr>
              <a:t> </a:t>
            </a:r>
            <a:r>
              <a:rPr lang="en-US" sz="1800" dirty="0" err="1">
                <a:solidFill>
                  <a:schemeClr val="dk1"/>
                </a:solidFill>
              </a:rPr>
              <a:t>thức</a:t>
            </a:r>
            <a:r>
              <a:rPr lang="en-US" sz="1800" dirty="0">
                <a:solidFill>
                  <a:schemeClr val="dk1"/>
                </a:solidFill>
              </a:rPr>
              <a:t> </a:t>
            </a:r>
            <a:r>
              <a:rPr lang="en-US" sz="1800" dirty="0" err="1">
                <a:solidFill>
                  <a:schemeClr val="dk1"/>
                </a:solidFill>
              </a:rPr>
              <a:t>định</a:t>
            </a:r>
            <a:r>
              <a:rPr lang="en-US" sz="1800" dirty="0">
                <a:solidFill>
                  <a:schemeClr val="dk1"/>
                </a:solidFill>
              </a:rPr>
              <a:t> </a:t>
            </a:r>
            <a:r>
              <a:rPr lang="en-US" sz="1800" dirty="0" err="1">
                <a:solidFill>
                  <a:schemeClr val="dk1"/>
                </a:solidFill>
              </a:rPr>
              <a:t>tuyến</a:t>
            </a:r>
            <a:r>
              <a:rPr lang="en-US" sz="1800" dirty="0">
                <a:solidFill>
                  <a:schemeClr val="dk1"/>
                </a:solidFill>
              </a:rPr>
              <a:t> </a:t>
            </a:r>
            <a:r>
              <a:rPr lang="en-US" sz="1800" dirty="0" err="1">
                <a:solidFill>
                  <a:schemeClr val="dk1"/>
                </a:solidFill>
              </a:rPr>
              <a:t>truyền</a:t>
            </a:r>
            <a:r>
              <a:rPr lang="en-US" sz="1800" dirty="0">
                <a:solidFill>
                  <a:schemeClr val="dk1"/>
                </a:solidFill>
              </a:rPr>
              <a:t> </a:t>
            </a:r>
            <a:r>
              <a:rPr lang="en-US" sz="1800" dirty="0" err="1">
                <a:solidFill>
                  <a:schemeClr val="dk1"/>
                </a:solidFill>
              </a:rPr>
              <a:t>thống</a:t>
            </a:r>
            <a:r>
              <a:rPr lang="en-US" sz="1800" dirty="0">
                <a:solidFill>
                  <a:schemeClr val="dk1"/>
                </a:solidFill>
              </a:rPr>
              <a:t> </a:t>
            </a:r>
            <a:r>
              <a:rPr lang="en-US" sz="1800" dirty="0" err="1">
                <a:solidFill>
                  <a:schemeClr val="dk1"/>
                </a:solidFill>
              </a:rPr>
              <a:t>kém</a:t>
            </a:r>
            <a:r>
              <a:rPr lang="en-US" sz="1800" dirty="0">
                <a:solidFill>
                  <a:schemeClr val="dk1"/>
                </a:solidFill>
              </a:rPr>
              <a:t> </a:t>
            </a:r>
            <a:r>
              <a:rPr lang="en-US" sz="1800" dirty="0" err="1">
                <a:solidFill>
                  <a:schemeClr val="dk1"/>
                </a:solidFill>
              </a:rPr>
              <a:t>hiệu</a:t>
            </a:r>
            <a:r>
              <a:rPr lang="en-US" sz="1800" dirty="0">
                <a:solidFill>
                  <a:schemeClr val="dk1"/>
                </a:solidFill>
              </a:rPr>
              <a:t> </a:t>
            </a:r>
            <a:r>
              <a:rPr lang="en-US" sz="1800" dirty="0" err="1">
                <a:solidFill>
                  <a:schemeClr val="dk1"/>
                </a:solidFill>
              </a:rPr>
              <a:t>quả</a:t>
            </a:r>
            <a:r>
              <a:rPr lang="en-US" sz="1800" dirty="0">
                <a:solidFill>
                  <a:schemeClr val="dk1"/>
                </a:solidFill>
              </a:rPr>
              <a:t>, </a:t>
            </a:r>
            <a:r>
              <a:rPr lang="en-US" sz="1800" dirty="0" err="1">
                <a:solidFill>
                  <a:schemeClr val="dk1"/>
                </a:solidFill>
              </a:rPr>
              <a:t>Mục</a:t>
            </a:r>
            <a:r>
              <a:rPr lang="en-US" sz="1800" dirty="0">
                <a:solidFill>
                  <a:schemeClr val="dk1"/>
                </a:solidFill>
              </a:rPr>
              <a:t> </a:t>
            </a:r>
            <a:r>
              <a:rPr lang="en-US" sz="1800" dirty="0" err="1">
                <a:solidFill>
                  <a:schemeClr val="dk1"/>
                </a:solidFill>
              </a:rPr>
              <a:t>tiêu</a:t>
            </a:r>
            <a:r>
              <a:rPr lang="en-US" sz="1800" dirty="0">
                <a:solidFill>
                  <a:schemeClr val="dk1"/>
                </a:solidFill>
              </a:rPr>
              <a:t> </a:t>
            </a:r>
            <a:r>
              <a:rPr lang="en-US" sz="1800" dirty="0" err="1">
                <a:solidFill>
                  <a:schemeClr val="dk1"/>
                </a:solidFill>
              </a:rPr>
              <a:t>là</a:t>
            </a:r>
            <a:r>
              <a:rPr lang="en-US" sz="1800" dirty="0">
                <a:solidFill>
                  <a:schemeClr val="dk1"/>
                </a:solidFill>
              </a:rPr>
              <a:t> </a:t>
            </a:r>
            <a:r>
              <a:rPr lang="en-US" sz="1800" dirty="0" err="1">
                <a:solidFill>
                  <a:schemeClr val="dk1"/>
                </a:solidFill>
              </a:rPr>
              <a:t>phát</a:t>
            </a:r>
            <a:r>
              <a:rPr lang="en-US" sz="1800" dirty="0">
                <a:solidFill>
                  <a:schemeClr val="dk1"/>
                </a:solidFill>
              </a:rPr>
              <a:t> </a:t>
            </a:r>
            <a:r>
              <a:rPr lang="en-US" sz="1800" dirty="0" err="1">
                <a:solidFill>
                  <a:schemeClr val="dk1"/>
                </a:solidFill>
              </a:rPr>
              <a:t>triển</a:t>
            </a:r>
            <a:r>
              <a:rPr lang="en-US" sz="1800" dirty="0">
                <a:solidFill>
                  <a:schemeClr val="dk1"/>
                </a:solidFill>
              </a:rPr>
              <a:t> </a:t>
            </a:r>
            <a:r>
              <a:rPr lang="en-US" sz="1800" dirty="0" err="1">
                <a:solidFill>
                  <a:schemeClr val="dk1"/>
                </a:solidFill>
              </a:rPr>
              <a:t>giao</a:t>
            </a:r>
            <a:r>
              <a:rPr lang="en-US" sz="1800" dirty="0">
                <a:solidFill>
                  <a:schemeClr val="dk1"/>
                </a:solidFill>
              </a:rPr>
              <a:t> </a:t>
            </a:r>
            <a:r>
              <a:rPr lang="en-US" sz="1800" dirty="0" err="1">
                <a:solidFill>
                  <a:schemeClr val="dk1"/>
                </a:solidFill>
              </a:rPr>
              <a:t>thức</a:t>
            </a:r>
            <a:r>
              <a:rPr lang="en-US" sz="1800" dirty="0">
                <a:solidFill>
                  <a:schemeClr val="dk1"/>
                </a:solidFill>
              </a:rPr>
              <a:t> </a:t>
            </a:r>
            <a:r>
              <a:rPr lang="en-US" sz="1800" dirty="0" err="1">
                <a:solidFill>
                  <a:schemeClr val="dk1"/>
                </a:solidFill>
              </a:rPr>
              <a:t>nhận</a:t>
            </a:r>
            <a:r>
              <a:rPr lang="en-US" sz="1800" dirty="0">
                <a:solidFill>
                  <a:schemeClr val="dk1"/>
                </a:solidFill>
              </a:rPr>
              <a:t> </a:t>
            </a:r>
            <a:r>
              <a:rPr lang="en-US" sz="1800" dirty="0" err="1">
                <a:solidFill>
                  <a:schemeClr val="dk1"/>
                </a:solidFill>
              </a:rPr>
              <a:t>biết</a:t>
            </a:r>
            <a:r>
              <a:rPr lang="en-US" sz="1800" dirty="0">
                <a:solidFill>
                  <a:schemeClr val="dk1"/>
                </a:solidFill>
              </a:rPr>
              <a:t> </a:t>
            </a:r>
            <a:r>
              <a:rPr lang="en-US" sz="1800" dirty="0" err="1">
                <a:solidFill>
                  <a:schemeClr val="dk1"/>
                </a:solidFill>
              </a:rPr>
              <a:t>tài</a:t>
            </a:r>
            <a:r>
              <a:rPr lang="en-US" sz="1800" dirty="0">
                <a:solidFill>
                  <a:schemeClr val="dk1"/>
                </a:solidFill>
              </a:rPr>
              <a:t> </a:t>
            </a:r>
            <a:r>
              <a:rPr lang="en-US" sz="1800" dirty="0" err="1">
                <a:solidFill>
                  <a:schemeClr val="dk1"/>
                </a:solidFill>
              </a:rPr>
              <a:t>nguyên</a:t>
            </a:r>
            <a:r>
              <a:rPr lang="en-US" sz="1800" dirty="0">
                <a:solidFill>
                  <a:schemeClr val="dk1"/>
                </a:solidFill>
              </a:rPr>
              <a:t> </a:t>
            </a:r>
            <a:r>
              <a:rPr lang="en-US" sz="1800" dirty="0" err="1">
                <a:solidFill>
                  <a:schemeClr val="dk1"/>
                </a:solidFill>
              </a:rPr>
              <a:t>để</a:t>
            </a:r>
            <a:r>
              <a:rPr lang="en-US" sz="1800" dirty="0">
                <a:solidFill>
                  <a:schemeClr val="dk1"/>
                </a:solidFill>
              </a:rPr>
              <a:t> </a:t>
            </a:r>
            <a:r>
              <a:rPr lang="en-US" sz="1800" dirty="0" err="1">
                <a:solidFill>
                  <a:schemeClr val="dk1"/>
                </a:solidFill>
              </a:rPr>
              <a:t>kéo</a:t>
            </a:r>
            <a:r>
              <a:rPr lang="en-US" sz="1800" dirty="0">
                <a:solidFill>
                  <a:schemeClr val="dk1"/>
                </a:solidFill>
              </a:rPr>
              <a:t> </a:t>
            </a:r>
            <a:r>
              <a:rPr lang="en-US" sz="1800" dirty="0" err="1">
                <a:solidFill>
                  <a:schemeClr val="dk1"/>
                </a:solidFill>
              </a:rPr>
              <a:t>dài</a:t>
            </a:r>
            <a:r>
              <a:rPr lang="en-US" sz="1800" dirty="0">
                <a:solidFill>
                  <a:schemeClr val="dk1"/>
                </a:solidFill>
              </a:rPr>
              <a:t> </a:t>
            </a:r>
            <a:r>
              <a:rPr lang="en-US" sz="1800" dirty="0" err="1">
                <a:solidFill>
                  <a:schemeClr val="dk1"/>
                </a:solidFill>
              </a:rPr>
              <a:t>tuổi</a:t>
            </a:r>
            <a:r>
              <a:rPr lang="en-US" sz="1800" dirty="0">
                <a:solidFill>
                  <a:schemeClr val="dk1"/>
                </a:solidFill>
              </a:rPr>
              <a:t> </a:t>
            </a:r>
            <a:r>
              <a:rPr lang="en-US" sz="1800" dirty="0" err="1">
                <a:solidFill>
                  <a:schemeClr val="dk1"/>
                </a:solidFill>
              </a:rPr>
              <a:t>thọ</a:t>
            </a:r>
            <a:r>
              <a:rPr lang="en-US" sz="1800" dirty="0">
                <a:solidFill>
                  <a:schemeClr val="dk1"/>
                </a:solidFill>
              </a:rPr>
              <a:t> </a:t>
            </a:r>
            <a:r>
              <a:rPr lang="en-US" sz="1800" dirty="0" err="1">
                <a:solidFill>
                  <a:schemeClr val="dk1"/>
                </a:solidFill>
              </a:rPr>
              <a:t>mạng</a:t>
            </a:r>
            <a:r>
              <a:rPr lang="en-US" sz="1800" dirty="0">
                <a:solidFill>
                  <a:schemeClr val="dk1"/>
                </a:solidFill>
              </a:rPr>
              <a:t>.</a:t>
            </a:r>
            <a:endParaRPr sz="1800" dirty="0">
              <a:solidFill>
                <a:schemeClr val="dk1"/>
              </a:solidFill>
            </a:endParaRPr>
          </a:p>
          <a:p>
            <a:pPr marL="0" marR="0" lvl="0" indent="0" algn="l" rtl="0">
              <a:spcBef>
                <a:spcPts val="1200"/>
              </a:spcBef>
              <a:spcAft>
                <a:spcPts val="0"/>
              </a:spcAft>
              <a:buNone/>
            </a:pPr>
            <a:endParaRPr sz="1800" dirty="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06" name="Google Shape;106;p19" title="1681192674066.jpeg"/>
          <p:cNvPicPr preferRelativeResize="0"/>
          <p:nvPr/>
        </p:nvPicPr>
        <p:blipFill rotWithShape="1">
          <a:blip r:embed="rId3"/>
          <a:srcRect r="-6643" b="-8813"/>
          <a:stretch>
            <a:fillRect/>
          </a:stretch>
        </p:blipFill>
        <p:spPr>
          <a:xfrm>
            <a:off x="3657600" y="3677625"/>
            <a:ext cx="5110149" cy="2743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0"/>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7</a:t>
            </a:fld>
            <a:endParaRPr lang="en-US"/>
          </a:p>
        </p:txBody>
      </p:sp>
      <p:sp>
        <p:nvSpPr>
          <p:cNvPr id="112" name="Google Shape;112;p20"/>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457200" lvl="0" indent="-406400" algn="l" rtl="0">
              <a:lnSpc>
                <a:spcPct val="90000"/>
              </a:lnSpc>
              <a:spcBef>
                <a:spcPts val="0"/>
              </a:spcBef>
              <a:spcAft>
                <a:spcPts val="0"/>
              </a:spcAft>
              <a:buSzPts val="2800"/>
              <a:buAutoNum type="arabicPeriod"/>
            </a:pPr>
            <a:r>
              <a:rPr lang="en-US"/>
              <a:t>Động cơ nghiên cứu</a:t>
            </a:r>
          </a:p>
        </p:txBody>
      </p:sp>
      <p:sp>
        <p:nvSpPr>
          <p:cNvPr id="113" name="Google Shape;113;p20"/>
          <p:cNvSpPr txBox="1"/>
          <p:nvPr/>
        </p:nvSpPr>
        <p:spPr>
          <a:xfrm>
            <a:off x="503555" y="1210310"/>
            <a:ext cx="4562475" cy="3558540"/>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1800" dirty="0">
                <a:solidFill>
                  <a:schemeClr val="dk1"/>
                </a:solidFill>
                <a:latin typeface="Calibri" panose="020F0502020204030204"/>
                <a:ea typeface="Calibri" panose="020F0502020204030204"/>
                <a:cs typeface="Calibri" panose="020F0502020204030204"/>
                <a:sym typeface="Calibri" panose="020F0502020204030204"/>
              </a:rPr>
              <a:t>Ba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mâu</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thuẫn</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cốt</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lõi</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của</a:t>
            </a:r>
            <a:r>
              <a:rPr lang="en-US" sz="1800" dirty="0">
                <a:solidFill>
                  <a:schemeClr val="dk1"/>
                </a:solidFill>
                <a:latin typeface="Calibri" panose="020F0502020204030204"/>
                <a:ea typeface="Calibri" panose="020F0502020204030204"/>
                <a:cs typeface="Calibri" panose="020F0502020204030204"/>
                <a:sym typeface="Calibri" panose="020F0502020204030204"/>
              </a:rPr>
              <a:t> WSN:</a:t>
            </a:r>
            <a:endParaRPr sz="180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US" sz="1800" dirty="0">
                <a:solidFill>
                  <a:schemeClr val="dk1"/>
                </a:solidFill>
                <a:latin typeface="Calibri" panose="020F0502020204030204"/>
                <a:ea typeface="Calibri" panose="020F0502020204030204"/>
                <a:cs typeface="Calibri" panose="020F0502020204030204"/>
                <a:sym typeface="Calibri" panose="020F0502020204030204"/>
              </a:rPr>
              <a:t>    1.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Xung</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đột</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giữa</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yêu</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cầu</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triển</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khai</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mật</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độ</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cao</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và</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trữ</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lượng</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năng</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lượng</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hạn</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chế</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của</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các</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nút</a:t>
            </a:r>
            <a:r>
              <a:rPr lang="en-US" sz="1800" dirty="0">
                <a:solidFill>
                  <a:schemeClr val="dk1"/>
                </a:solidFill>
                <a:latin typeface="Calibri" panose="020F0502020204030204"/>
                <a:ea typeface="Calibri" panose="020F0502020204030204"/>
                <a:cs typeface="Calibri" panose="020F0502020204030204"/>
                <a:sym typeface="Calibri" panose="020F0502020204030204"/>
              </a:rPr>
              <a:t>.</a:t>
            </a:r>
            <a:endParaRPr sz="180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endParaRPr sz="180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US" sz="1800" dirty="0">
                <a:solidFill>
                  <a:schemeClr val="dk1"/>
                </a:solidFill>
                <a:latin typeface="Calibri" panose="020F0502020204030204"/>
                <a:ea typeface="Calibri" panose="020F0502020204030204"/>
                <a:cs typeface="Calibri" panose="020F0502020204030204"/>
                <a:sym typeface="Calibri" panose="020F0502020204030204"/>
              </a:rPr>
              <a:t>    2.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Xung</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đột</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giữa</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tốc</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độ</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truyền</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dữ</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liệu</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giới</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hạn</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và</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yêu</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cầu</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về</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chất</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lượng</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dịch</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vụ</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cho</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việc</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giám</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sát</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thời</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gian</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thực</a:t>
            </a:r>
            <a:r>
              <a:rPr lang="en-US" sz="1800" dirty="0">
                <a:solidFill>
                  <a:schemeClr val="dk1"/>
                </a:solidFill>
                <a:latin typeface="Calibri" panose="020F0502020204030204"/>
                <a:ea typeface="Calibri" panose="020F0502020204030204"/>
                <a:cs typeface="Calibri" panose="020F0502020204030204"/>
                <a:sym typeface="Calibri" panose="020F0502020204030204"/>
              </a:rPr>
              <a:t>.</a:t>
            </a:r>
            <a:endParaRPr sz="180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endParaRPr sz="1800" dirty="0">
              <a:solidFill>
                <a:schemeClr val="dk1"/>
              </a:solidFill>
              <a:latin typeface="+mn-lt"/>
              <a:ea typeface="Calibri" panose="020F0502020204030204"/>
              <a:cs typeface="Calibri" panose="020F0502020204030204"/>
              <a:sym typeface="Calibri" panose="020F0502020204030204"/>
            </a:endParaRPr>
          </a:p>
          <a:p>
            <a:pPr marL="0" marR="0" lvl="0" indent="0" algn="just" rtl="0">
              <a:spcBef>
                <a:spcPts val="0"/>
              </a:spcBef>
              <a:spcAft>
                <a:spcPts val="0"/>
              </a:spcAft>
              <a:buNone/>
            </a:pPr>
            <a:r>
              <a:rPr lang="en-US" sz="1800" dirty="0">
                <a:solidFill>
                  <a:schemeClr val="dk1"/>
                </a:solidFill>
                <a:latin typeface="Calibri" panose="020F0502020204030204"/>
                <a:ea typeface="Calibri" panose="020F0502020204030204"/>
                <a:cs typeface="Calibri" panose="020F0502020204030204"/>
                <a:sym typeface="Calibri" panose="020F0502020204030204"/>
              </a:rPr>
              <a:t>    3.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Xung</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đột</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về</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khả</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năng</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thích</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ứng</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giữa</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các</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giao</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thức</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tĩnh</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được</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xác</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định</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trước</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và</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môi</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trường</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mạng</a:t>
            </a:r>
            <a:r>
              <a:rPr lang="en-US" sz="1800" dirty="0">
                <a:solidFill>
                  <a:schemeClr val="dk1"/>
                </a:solidFill>
                <a:latin typeface="Calibri" panose="020F0502020204030204"/>
                <a:ea typeface="Calibri" panose="020F0502020204030204"/>
                <a:cs typeface="Calibri" panose="020F0502020204030204"/>
                <a:sym typeface="Calibri" panose="020F0502020204030204"/>
              </a:rPr>
              <a:t> </a:t>
            </a:r>
            <a:r>
              <a:rPr lang="en-US" sz="1800" dirty="0" err="1">
                <a:solidFill>
                  <a:schemeClr val="dk1"/>
                </a:solidFill>
                <a:latin typeface="Calibri" panose="020F0502020204030204"/>
                <a:ea typeface="Calibri" panose="020F0502020204030204"/>
                <a:cs typeface="Calibri" panose="020F0502020204030204"/>
                <a:sym typeface="Calibri" panose="020F0502020204030204"/>
              </a:rPr>
              <a:t>động</a:t>
            </a:r>
            <a:r>
              <a:rPr lang="en-US" sz="1800" dirty="0">
                <a:solidFill>
                  <a:schemeClr val="dk1"/>
                </a:solidFill>
                <a:latin typeface="Calibri" panose="020F0502020204030204"/>
                <a:ea typeface="Calibri" panose="020F0502020204030204"/>
                <a:cs typeface="Calibri" panose="020F0502020204030204"/>
                <a:sym typeface="Calibri" panose="020F0502020204030204"/>
              </a:rPr>
              <a:t>.</a:t>
            </a:r>
            <a:endParaRPr sz="180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endParaRPr sz="180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just" rtl="0">
              <a:spcBef>
                <a:spcPts val="0"/>
              </a:spcBef>
              <a:spcAft>
                <a:spcPts val="0"/>
              </a:spcAft>
              <a:buNone/>
            </a:pPr>
            <a:endParaRPr sz="1800"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5" name="Google Shape;115;p20"/>
          <p:cNvSpPr txBox="1"/>
          <p:nvPr/>
        </p:nvSpPr>
        <p:spPr>
          <a:xfrm>
            <a:off x="503555" y="4886960"/>
            <a:ext cx="8269605" cy="119888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dirty="0" err="1">
                <a:solidFill>
                  <a:schemeClr val="dk1"/>
                </a:solidFill>
                <a:latin typeface="+mn-lt"/>
                <a:ea typeface="Calibri" panose="020F0502020204030204"/>
                <a:cs typeface="Calibri" panose="020F0502020204030204"/>
                <a:sym typeface="Calibri" panose="020F0502020204030204"/>
              </a:rPr>
              <a:t>Giải</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pháp</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Các</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công</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nghệ</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trí</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tuệ</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tính</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toán</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đặc</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biệt</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là</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kiến</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trúc</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giao</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thức</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dựa</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trên</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phân</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cụm</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sử</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dụng</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các</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kỹ</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thuật</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như</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mạng</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nơ-ron</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học</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tăng</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cường</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và</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trí</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tuệ</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bầy</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đàn</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để</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tối</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ưu</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hóa</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việc</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lựa</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chọn</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trưởng</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cụm</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và</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phân</a:t>
            </a:r>
            <a:r>
              <a:rPr lang="en-US" sz="1800" dirty="0">
                <a:solidFill>
                  <a:schemeClr val="dk1"/>
                </a:solidFill>
                <a:latin typeface="+mn-lt"/>
                <a:ea typeface="Calibri" panose="020F0502020204030204"/>
                <a:cs typeface="Calibri" panose="020F0502020204030204"/>
                <a:sym typeface="Calibri" panose="020F0502020204030204"/>
              </a:rPr>
              <a:t> </a:t>
            </a:r>
            <a:r>
              <a:rPr lang="en-US" sz="1800" dirty="0" err="1">
                <a:solidFill>
                  <a:schemeClr val="dk1"/>
                </a:solidFill>
                <a:latin typeface="+mn-lt"/>
                <a:ea typeface="Calibri" panose="020F0502020204030204"/>
                <a:cs typeface="Calibri" panose="020F0502020204030204"/>
                <a:sym typeface="Calibri" panose="020F0502020204030204"/>
              </a:rPr>
              <a:t>cụm</a:t>
            </a:r>
            <a:r>
              <a:rPr lang="en-US" sz="1800" dirty="0">
                <a:solidFill>
                  <a:schemeClr val="dk1"/>
                </a:solidFill>
                <a:latin typeface="+mn-lt"/>
                <a:ea typeface="Calibri" panose="020F0502020204030204"/>
                <a:cs typeface="Calibri" panose="020F0502020204030204"/>
                <a:sym typeface="Calibri" panose="020F0502020204030204"/>
              </a:rPr>
              <a:t>.</a:t>
            </a:r>
            <a:endParaRPr sz="1800" dirty="0">
              <a:solidFill>
                <a:schemeClr val="dk1"/>
              </a:solidFill>
              <a:latin typeface="+mn-lt"/>
              <a:ea typeface="Calibri" panose="020F0502020204030204"/>
              <a:cs typeface="Calibri" panose="020F0502020204030204"/>
              <a:sym typeface="Calibri" panose="020F0502020204030204"/>
            </a:endParaRPr>
          </a:p>
          <a:p>
            <a:pPr marL="0" marR="0" lvl="0" indent="0" algn="just" rtl="0">
              <a:spcBef>
                <a:spcPts val="0"/>
              </a:spcBef>
              <a:spcAft>
                <a:spcPts val="0"/>
              </a:spcAft>
              <a:buNone/>
            </a:pPr>
            <a:endParaRPr sz="1800" dirty="0">
              <a:solidFill>
                <a:schemeClr val="dk1"/>
              </a:solidFill>
              <a:latin typeface="+mn-lt"/>
              <a:ea typeface="Calibri" panose="020F0502020204030204"/>
              <a:cs typeface="Calibri" panose="020F0502020204030204"/>
              <a:sym typeface="Calibri" panose="020F0502020204030204"/>
            </a:endParaRPr>
          </a:p>
        </p:txBody>
      </p:sp>
      <p:pic>
        <p:nvPicPr>
          <p:cNvPr id="2" name="Picture 1" descr="WSN-Wireless-Sensor-Network.DU_POrWZ"/>
          <p:cNvPicPr>
            <a:picLocks noChangeAspect="1"/>
          </p:cNvPicPr>
          <p:nvPr/>
        </p:nvPicPr>
        <p:blipFill>
          <a:blip r:embed="rId3"/>
          <a:stretch>
            <a:fillRect/>
          </a:stretch>
        </p:blipFill>
        <p:spPr>
          <a:xfrm>
            <a:off x="5363845" y="1052830"/>
            <a:ext cx="3409315" cy="27508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4"/>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8</a:t>
            </a:fld>
            <a:endParaRPr lang="en-US"/>
          </a:p>
        </p:txBody>
      </p:sp>
      <p:sp>
        <p:nvSpPr>
          <p:cNvPr id="142" name="Google Shape;142;p24"/>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vi-VN" altLang="en-US">
                <a:sym typeface="+mn-ea"/>
              </a:rPr>
              <a:t>1. </a:t>
            </a:r>
            <a:r>
              <a:rPr lang="en-US">
                <a:sym typeface="+mn-ea"/>
              </a:rPr>
              <a:t>Động cơ nghiên cứu</a:t>
            </a:r>
            <a:endParaRPr lang="en-US"/>
          </a:p>
        </p:txBody>
      </p:sp>
      <p:sp>
        <p:nvSpPr>
          <p:cNvPr id="143" name="Google Shape;143;p24"/>
          <p:cNvSpPr txBox="1">
            <a:spLocks noGrp="1"/>
          </p:cNvSpPr>
          <p:nvPr>
            <p:ph type="body" idx="1"/>
          </p:nvPr>
        </p:nvSpPr>
        <p:spPr>
          <a:xfrm>
            <a:off x="234950" y="748442"/>
            <a:ext cx="8673846" cy="5735196"/>
          </a:xfrm>
          <a:prstGeom prst="rect">
            <a:avLst/>
          </a:prstGeom>
          <a:noFill/>
          <a:ln>
            <a:noFill/>
          </a:ln>
        </p:spPr>
        <p:txBody>
          <a:bodyPr spcFirstLastPara="1" wrap="square" lIns="91425" tIns="45700" rIns="91425" bIns="45700" anchor="t" anchorCtr="0">
            <a:noAutofit/>
          </a:bodyPr>
          <a:lstStyle/>
          <a:p>
            <a:pPr marL="0" lvl="0" indent="0" algn="just" rtl="0">
              <a:lnSpc>
                <a:spcPct val="60000"/>
              </a:lnSpc>
              <a:spcBef>
                <a:spcPts val="0"/>
              </a:spcBef>
              <a:spcAft>
                <a:spcPts val="0"/>
              </a:spcAft>
              <a:buClr>
                <a:schemeClr val="dk1"/>
              </a:buClr>
              <a:buSzPts val="1100"/>
              <a:buFont typeface="Arial" panose="020B0604020202020204"/>
              <a:buNone/>
            </a:pPr>
            <a:endParaRPr lang="en-US" altLang="en-US" sz="1800" dirty="0">
              <a:latin typeface="+mn-lt"/>
              <a:ea typeface="Times New Roman" panose="02020603050405020304"/>
              <a:cs typeface="Times New Roman" panose="02020603050405020304"/>
              <a:sym typeface="Times New Roman" panose="02020603050405020304"/>
            </a:endParaRPr>
          </a:p>
          <a:p>
            <a:pPr marL="0" lvl="0" indent="0" algn="just" rtl="0">
              <a:spcBef>
                <a:spcPts val="0"/>
              </a:spcBef>
              <a:spcAft>
                <a:spcPts val="0"/>
              </a:spcAft>
              <a:buClr>
                <a:schemeClr val="lt1"/>
              </a:buClr>
              <a:buSzPts val="2800"/>
              <a:buFont typeface="Lato" panose="020F0502020204030203"/>
              <a:buNone/>
            </a:pPr>
            <a:r>
              <a:rPr lang="en-US" sz="1800" dirty="0" err="1">
                <a:latin typeface="+mn-lt"/>
                <a:cs typeface="Times New Roman" panose="02020603050405020304" charset="0"/>
                <a:sym typeface="+mn-ea"/>
              </a:rPr>
              <a:t>Giải</a:t>
            </a:r>
            <a:r>
              <a:rPr lang="en-US" sz="1800" dirty="0">
                <a:latin typeface="+mn-lt"/>
                <a:cs typeface="Times New Roman" panose="02020603050405020304" charset="0"/>
                <a:sym typeface="+mn-ea"/>
              </a:rPr>
              <a:t> </a:t>
            </a:r>
            <a:r>
              <a:rPr lang="en-US" sz="1800" dirty="0" err="1">
                <a:latin typeface="+mn-lt"/>
                <a:cs typeface="Times New Roman" panose="02020603050405020304" charset="0"/>
                <a:sym typeface="+mn-ea"/>
              </a:rPr>
              <a:t>pháp</a:t>
            </a:r>
            <a:r>
              <a:rPr lang="en-US" sz="1800" dirty="0">
                <a:latin typeface="+mn-lt"/>
                <a:cs typeface="Times New Roman" panose="02020603050405020304" charset="0"/>
                <a:sym typeface="+mn-ea"/>
              </a:rPr>
              <a:t> </a:t>
            </a:r>
            <a:r>
              <a:rPr lang="en-US" sz="1800" dirty="0" err="1">
                <a:latin typeface="+mn-lt"/>
                <a:cs typeface="Times New Roman" panose="02020603050405020304" charset="0"/>
                <a:sym typeface="+mn-ea"/>
              </a:rPr>
              <a:t>hiện</a:t>
            </a:r>
            <a:r>
              <a:rPr lang="en-US" sz="1800" dirty="0">
                <a:latin typeface="+mn-lt"/>
                <a:cs typeface="Times New Roman" panose="02020603050405020304" charset="0"/>
                <a:sym typeface="+mn-ea"/>
              </a:rPr>
              <a:t> </a:t>
            </a:r>
            <a:r>
              <a:rPr lang="en-US" sz="1800" dirty="0" err="1">
                <a:latin typeface="+mn-lt"/>
                <a:cs typeface="Times New Roman" panose="02020603050405020304" charset="0"/>
                <a:sym typeface="+mn-ea"/>
              </a:rPr>
              <a:t>tại</a:t>
            </a:r>
            <a:r>
              <a:rPr lang="en-US" sz="1800" dirty="0">
                <a:latin typeface="+mn-lt"/>
                <a:cs typeface="Times New Roman" panose="02020603050405020304" charset="0"/>
                <a:sym typeface="+mn-ea"/>
              </a:rPr>
              <a:t> </a:t>
            </a:r>
            <a:r>
              <a:rPr lang="en-US" sz="1800" dirty="0" err="1">
                <a:latin typeface="+mn-lt"/>
                <a:cs typeface="Times New Roman" panose="02020603050405020304" charset="0"/>
                <a:sym typeface="+mn-ea"/>
              </a:rPr>
              <a:t>và</a:t>
            </a:r>
            <a:r>
              <a:rPr lang="en-US" sz="1800" dirty="0">
                <a:latin typeface="+mn-lt"/>
                <a:cs typeface="Times New Roman" panose="02020603050405020304" charset="0"/>
                <a:sym typeface="+mn-ea"/>
              </a:rPr>
              <a:t> </a:t>
            </a:r>
            <a:r>
              <a:rPr lang="en-US" sz="1800" dirty="0" err="1">
                <a:latin typeface="+mn-lt"/>
                <a:cs typeface="Times New Roman" panose="02020603050405020304" charset="0"/>
                <a:sym typeface="+mn-ea"/>
              </a:rPr>
              <a:t>Hạn</a:t>
            </a:r>
            <a:r>
              <a:rPr lang="en-US" sz="1800" dirty="0">
                <a:latin typeface="+mn-lt"/>
                <a:cs typeface="Times New Roman" panose="02020603050405020304" charset="0"/>
                <a:sym typeface="+mn-ea"/>
              </a:rPr>
              <a:t> </a:t>
            </a:r>
            <a:r>
              <a:rPr lang="en-US" sz="1800" dirty="0" err="1">
                <a:latin typeface="+mn-lt"/>
                <a:cs typeface="Times New Roman" panose="02020603050405020304" charset="0"/>
                <a:sym typeface="+mn-ea"/>
              </a:rPr>
              <a:t>chế</a:t>
            </a:r>
            <a:endParaRPr lang="en-US" altLang="en-US" sz="1800" dirty="0">
              <a:latin typeface="+mn-lt"/>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Clr>
                <a:schemeClr val="dk1"/>
              </a:buClr>
              <a:buSzPts val="1100"/>
              <a:buFont typeface="Arial" panose="020B0604020202020204"/>
              <a:buNone/>
            </a:pPr>
            <a:endParaRPr lang="en-US" altLang="en-US" sz="1800" dirty="0">
              <a:latin typeface="+mn-lt"/>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Clr>
                <a:schemeClr val="dk1"/>
              </a:buClr>
              <a:buSzPts val="1100"/>
              <a:buFont typeface="Arial" panose="020B0604020202020204"/>
              <a:buNone/>
            </a:pPr>
            <a:r>
              <a:rPr lang="en-US" altLang="en-US" sz="1800" dirty="0">
                <a:latin typeface="+mn-lt"/>
                <a:ea typeface="Times New Roman" panose="02020603050405020304"/>
                <a:cs typeface="Times New Roman" panose="02020603050405020304"/>
                <a:sym typeface="Times New Roman" panose="02020603050405020304"/>
              </a:rPr>
              <a:t>Clustering-based Protocols (</a:t>
            </a:r>
            <a:r>
              <a:rPr lang="en-US" altLang="en-US" sz="1800" dirty="0" err="1">
                <a:latin typeface="+mn-lt"/>
                <a:ea typeface="Times New Roman" panose="02020603050405020304"/>
                <a:cs typeface="Times New Roman" panose="02020603050405020304"/>
                <a:sym typeface="Times New Roman" panose="02020603050405020304"/>
              </a:rPr>
              <a:t>Gom</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cụm</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trong</a:t>
            </a:r>
            <a:r>
              <a:rPr lang="en-US" altLang="en-US" sz="1800" dirty="0">
                <a:latin typeface="+mn-lt"/>
                <a:ea typeface="Times New Roman" panose="02020603050405020304"/>
                <a:cs typeface="Times New Roman" panose="02020603050405020304"/>
                <a:sym typeface="Times New Roman" panose="02020603050405020304"/>
              </a:rPr>
              <a:t> WSNs)</a:t>
            </a:r>
            <a:endParaRPr lang="en-US" altLang="en-US" sz="1800" dirty="0">
              <a:solidFill>
                <a:schemeClr val="dk1"/>
              </a:solidFill>
              <a:latin typeface="+mn-lt"/>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Clr>
                <a:schemeClr val="dk1"/>
              </a:buClr>
              <a:buSzPts val="1100"/>
              <a:buFont typeface="Arial" panose="020B0604020202020204"/>
              <a:buNone/>
            </a:pPr>
            <a:endParaRPr lang="en-US" altLang="en-US" sz="1800" dirty="0">
              <a:solidFill>
                <a:schemeClr val="dk1"/>
              </a:solidFill>
              <a:latin typeface="+mn-lt"/>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Clr>
                <a:schemeClr val="dk1"/>
              </a:buClr>
              <a:buSzPts val="1100"/>
              <a:buFont typeface="Arial" panose="020B0604020202020204"/>
              <a:buNone/>
            </a:pPr>
            <a:r>
              <a:rPr lang="zh-CN" altLang="en-US" sz="1800" dirty="0">
                <a:latin typeface="+mn-lt"/>
                <a:ea typeface="Times New Roman" panose="02020603050405020304"/>
                <a:cs typeface="Times New Roman" panose="02020603050405020304"/>
                <a:sym typeface="Times New Roman" panose="02020603050405020304"/>
              </a:rPr>
              <a:t>🔹</a:t>
            </a:r>
            <a:r>
              <a:rPr lang="en-US" altLang="en-US" sz="1800" dirty="0">
                <a:latin typeface="+mn-lt"/>
                <a:ea typeface="Times New Roman" panose="02020603050405020304"/>
                <a:cs typeface="Times New Roman" panose="02020603050405020304"/>
                <a:sym typeface="Times New Roman" panose="02020603050405020304"/>
              </a:rPr>
              <a:t> LEACH (Low-Energy Adaptive Clustering Hierarchy)</a:t>
            </a:r>
            <a:endParaRPr lang="en-US" altLang="en-US" sz="1800" dirty="0">
              <a:solidFill>
                <a:schemeClr val="dk1"/>
              </a:solidFill>
              <a:latin typeface="+mn-lt"/>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Clr>
                <a:schemeClr val="dk1"/>
              </a:buClr>
              <a:buSzPts val="1100"/>
              <a:buFont typeface="Arial" panose="020B0604020202020204"/>
              <a:buNone/>
            </a:pPr>
            <a:endParaRPr lang="en-US" altLang="en-US" sz="1800" dirty="0">
              <a:latin typeface="+mn-lt"/>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Clr>
                <a:schemeClr val="dk1"/>
              </a:buClr>
              <a:buSzPts val="1100"/>
              <a:buFont typeface="Arial" panose="020B0604020202020204"/>
              <a:buNone/>
            </a:pPr>
            <a:endParaRPr lang="en-US" altLang="en-US" sz="1800" dirty="0">
              <a:latin typeface="+mn-lt"/>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Clr>
                <a:schemeClr val="dk1"/>
              </a:buClr>
              <a:buSzPts val="1100"/>
              <a:buFont typeface="Arial" panose="020B0604020202020204"/>
              <a:buNone/>
            </a:pP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Cơ</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chế</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Chọn</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trưởng</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cụm</a:t>
            </a:r>
            <a:r>
              <a:rPr lang="en-US" altLang="en-US" sz="1800" dirty="0">
                <a:latin typeface="+mn-lt"/>
                <a:ea typeface="Times New Roman" panose="02020603050405020304"/>
                <a:cs typeface="Times New Roman" panose="02020603050405020304"/>
                <a:sym typeface="Times New Roman" panose="02020603050405020304"/>
              </a:rPr>
              <a:t> (CH) </a:t>
            </a:r>
            <a:r>
              <a:rPr lang="en-US" altLang="en-US" sz="1800" dirty="0" err="1">
                <a:latin typeface="+mn-lt"/>
                <a:ea typeface="Times New Roman" panose="02020603050405020304"/>
                <a:cs typeface="Times New Roman" panose="02020603050405020304"/>
                <a:sym typeface="Times New Roman" panose="02020603050405020304"/>
              </a:rPr>
              <a:t>ngẫu</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nhiên</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định</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kỳ</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giúp</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phân</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phối</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tải</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năng</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lượng</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giữa</a:t>
            </a:r>
            <a:r>
              <a:rPr lang="en-US" altLang="en-US" sz="1800" dirty="0">
                <a:latin typeface="+mn-lt"/>
                <a:ea typeface="Times New Roman" panose="02020603050405020304"/>
                <a:cs typeface="Times New Roman" panose="02020603050405020304"/>
                <a:sym typeface="Times New Roman" panose="02020603050405020304"/>
              </a:rPr>
              <a:t> </a:t>
            </a:r>
            <a:r>
              <a:rPr lang="vi-VN" altLang="en-US" sz="1800" dirty="0">
                <a:latin typeface="+mn-lt"/>
                <a:ea typeface="Times New Roman" panose="02020603050405020304"/>
                <a:cs typeface="Times New Roman" panose="02020603050405020304"/>
                <a:sym typeface="Times New Roman" panose="02020603050405020304"/>
              </a:rPr>
              <a:t>c</a:t>
            </a:r>
            <a:r>
              <a:rPr lang="en-US" altLang="en-US" sz="1800" dirty="0" err="1">
                <a:latin typeface="+mn-lt"/>
                <a:ea typeface="Times New Roman" panose="02020603050405020304"/>
                <a:cs typeface="Times New Roman" panose="02020603050405020304"/>
                <a:sym typeface="Times New Roman" panose="02020603050405020304"/>
              </a:rPr>
              <a:t>ác</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nút</a:t>
            </a:r>
            <a:endParaRPr lang="en-US" altLang="en-US" sz="1800" dirty="0">
              <a:latin typeface="+mn-lt"/>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Clr>
                <a:schemeClr val="dk1"/>
              </a:buClr>
              <a:buSzPts val="1100"/>
              <a:buFont typeface="Arial" panose="020B0604020202020204"/>
              <a:buNone/>
            </a:pPr>
            <a:endParaRPr lang="en-US" altLang="en-US" sz="1800" dirty="0">
              <a:latin typeface="+mn-lt"/>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Clr>
                <a:schemeClr val="dk1"/>
              </a:buClr>
              <a:buSzPts val="1100"/>
              <a:buFont typeface="Arial" panose="020B0604020202020204"/>
              <a:buNone/>
            </a:pP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Ưu</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điểm</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Dễ</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triển</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khai</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giảm</a:t>
            </a:r>
            <a:r>
              <a:rPr lang="en-US" altLang="en-US" sz="1800" dirty="0">
                <a:latin typeface="+mn-lt"/>
                <a:ea typeface="Times New Roman" panose="02020603050405020304"/>
                <a:cs typeface="Times New Roman" panose="02020603050405020304"/>
                <a:sym typeface="Times New Roman" panose="02020603050405020304"/>
              </a:rPr>
              <a:t> chi </a:t>
            </a:r>
            <a:r>
              <a:rPr lang="en-US" altLang="en-US" sz="1800" dirty="0" err="1">
                <a:latin typeface="+mn-lt"/>
                <a:ea typeface="Times New Roman" panose="02020603050405020304"/>
                <a:cs typeface="Times New Roman" panose="02020603050405020304"/>
                <a:sym typeface="Times New Roman" panose="02020603050405020304"/>
              </a:rPr>
              <a:t>phí</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truyền</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thông</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đến</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trạm</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gốc</a:t>
            </a:r>
            <a:r>
              <a:rPr lang="en-US" altLang="en-US" sz="1800" dirty="0">
                <a:latin typeface="+mn-lt"/>
                <a:ea typeface="Times New Roman" panose="02020603050405020304"/>
                <a:cs typeface="Times New Roman" panose="02020603050405020304"/>
                <a:sym typeface="Times New Roman" panose="02020603050405020304"/>
              </a:rPr>
              <a:t>.</a:t>
            </a:r>
            <a:endParaRPr lang="en-US" altLang="en-US" sz="1800" dirty="0">
              <a:solidFill>
                <a:schemeClr val="dk1"/>
              </a:solidFill>
              <a:latin typeface="+mn-lt"/>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Clr>
                <a:schemeClr val="dk1"/>
              </a:buClr>
              <a:buSzPts val="1100"/>
              <a:buFont typeface="Arial" panose="020B0604020202020204"/>
              <a:buNone/>
            </a:pPr>
            <a:endParaRPr lang="en-US" altLang="en-US" sz="1800" dirty="0">
              <a:latin typeface="+mn-lt"/>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Clr>
                <a:schemeClr val="dk1"/>
              </a:buClr>
              <a:buSzPts val="1100"/>
              <a:buFont typeface="Arial" panose="020B0604020202020204"/>
              <a:buNone/>
            </a:pP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Nhược</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điểm</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Chọn</a:t>
            </a:r>
            <a:r>
              <a:rPr lang="en-US" altLang="en-US" sz="1800" dirty="0">
                <a:latin typeface="+mn-lt"/>
                <a:ea typeface="Times New Roman" panose="02020603050405020304"/>
                <a:cs typeface="Times New Roman" panose="02020603050405020304"/>
                <a:sym typeface="Times New Roman" panose="02020603050405020304"/>
              </a:rPr>
              <a:t> CH </a:t>
            </a:r>
            <a:r>
              <a:rPr lang="en-US" altLang="en-US" sz="1800" dirty="0" err="1">
                <a:latin typeface="+mn-lt"/>
                <a:ea typeface="Times New Roman" panose="02020603050405020304"/>
                <a:cs typeface="Times New Roman" panose="02020603050405020304"/>
                <a:sym typeface="Times New Roman" panose="02020603050405020304"/>
              </a:rPr>
              <a:t>ngẫu</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nhiên</a:t>
            </a:r>
            <a:r>
              <a:rPr lang="en-US" altLang="en-US" sz="1800" dirty="0">
                <a:latin typeface="+mn-lt"/>
                <a:ea typeface="Times New Roman" panose="02020603050405020304"/>
                <a:cs typeface="Times New Roman" panose="02020603050405020304"/>
                <a:sym typeface="Times New Roman" panose="02020603050405020304"/>
              </a:rPr>
              <a:t> → </a:t>
            </a:r>
            <a:r>
              <a:rPr lang="en-US" altLang="en-US" sz="1800" dirty="0" err="1">
                <a:latin typeface="+mn-lt"/>
                <a:ea typeface="Times New Roman" panose="02020603050405020304"/>
                <a:cs typeface="Times New Roman" panose="02020603050405020304"/>
                <a:sym typeface="Times New Roman" panose="02020603050405020304"/>
              </a:rPr>
              <a:t>phân</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cụm</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không</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cân</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bằng</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một</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số</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nút</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nhanh</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cạn</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năng</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lượng</a:t>
            </a:r>
            <a:r>
              <a:rPr lang="en-US" altLang="en-US" sz="1800" dirty="0">
                <a:latin typeface="+mn-lt"/>
                <a:ea typeface="Times New Roman" panose="02020603050405020304"/>
                <a:cs typeface="Times New Roman" panose="02020603050405020304"/>
                <a:sym typeface="Times New Roman" panose="02020603050405020304"/>
              </a:rPr>
              <a:t> → </a:t>
            </a:r>
            <a:r>
              <a:rPr lang="en-US" altLang="en-US" sz="1800" dirty="0" err="1">
                <a:latin typeface="+mn-lt"/>
                <a:ea typeface="Times New Roman" panose="02020603050405020304"/>
                <a:cs typeface="Times New Roman" panose="02020603050405020304"/>
                <a:sym typeface="Times New Roman" panose="02020603050405020304"/>
              </a:rPr>
              <a:t>giảm</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tuổi</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thọ</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mạng</a:t>
            </a:r>
            <a:r>
              <a:rPr lang="en-US" altLang="en-US" sz="1800" dirty="0">
                <a:latin typeface="+mn-lt"/>
                <a:ea typeface="Times New Roman" panose="02020603050405020304"/>
                <a:cs typeface="Times New Roman" panose="02020603050405020304"/>
                <a:sym typeface="Times New Roman" panose="02020603050405020304"/>
              </a:rPr>
              <a:t>.</a:t>
            </a:r>
            <a:endParaRPr lang="en-US" altLang="en-US" sz="1800" dirty="0">
              <a:solidFill>
                <a:schemeClr val="dk1"/>
              </a:solidFill>
              <a:latin typeface="+mn-lt"/>
              <a:ea typeface="Times New Roman" panose="02020603050405020304"/>
              <a:cs typeface="Times New Roman" panose="02020603050405020304"/>
              <a:sym typeface="Times New Roman" panose="02020603050405020304"/>
            </a:endParaRPr>
          </a:p>
          <a:p>
            <a:pPr marL="1371600" lvl="2" indent="457200" algn="just" rtl="0">
              <a:lnSpc>
                <a:spcPct val="60000"/>
              </a:lnSpc>
              <a:spcBef>
                <a:spcPts val="0"/>
              </a:spcBef>
              <a:spcAft>
                <a:spcPts val="0"/>
              </a:spcAft>
              <a:buClr>
                <a:schemeClr val="dk1"/>
              </a:buClr>
              <a:buSzPts val="1100"/>
              <a:buFont typeface="Arial" panose="020B0604020202020204"/>
              <a:buNone/>
            </a:pPr>
            <a:endParaRPr lang="en-US" altLang="en-US" sz="1800" dirty="0">
              <a:solidFill>
                <a:schemeClr val="dk1"/>
              </a:solidFill>
              <a:latin typeface="+mn-lt"/>
              <a:ea typeface="Times New Roman" panose="02020603050405020304"/>
              <a:cs typeface="Times New Roman" panose="02020603050405020304"/>
              <a:sym typeface="Times New Roman" panose="02020603050405020304"/>
            </a:endParaRPr>
          </a:p>
          <a:p>
            <a:pPr marL="1371600" lvl="2" indent="457200" algn="just" rtl="0">
              <a:lnSpc>
                <a:spcPct val="60000"/>
              </a:lnSpc>
              <a:spcBef>
                <a:spcPts val="0"/>
              </a:spcBef>
              <a:spcAft>
                <a:spcPts val="0"/>
              </a:spcAft>
              <a:buClr>
                <a:schemeClr val="dk1"/>
              </a:buClr>
              <a:buSzPts val="1100"/>
              <a:buFont typeface="Arial" panose="020B0604020202020204"/>
              <a:buNone/>
            </a:pPr>
            <a:endParaRPr lang="en-US" altLang="en-US" sz="1800" dirty="0">
              <a:solidFill>
                <a:schemeClr val="dk1"/>
              </a:solidFill>
              <a:latin typeface="+mn-lt"/>
              <a:ea typeface="Times New Roman" panose="02020603050405020304"/>
              <a:cs typeface="Times New Roman" panose="02020603050405020304"/>
              <a:sym typeface="Times New Roman" panose="02020603050405020304"/>
            </a:endParaRPr>
          </a:p>
          <a:p>
            <a:pPr marL="1371600" lvl="2" indent="457200" algn="just" rtl="0">
              <a:lnSpc>
                <a:spcPct val="60000"/>
              </a:lnSpc>
              <a:spcBef>
                <a:spcPts val="0"/>
              </a:spcBef>
              <a:spcAft>
                <a:spcPts val="0"/>
              </a:spcAft>
              <a:buClr>
                <a:schemeClr val="dk1"/>
              </a:buClr>
              <a:buSzPts val="1100"/>
              <a:buFont typeface="Arial" panose="020B0604020202020204"/>
              <a:buNone/>
            </a:pPr>
            <a:endParaRPr lang="en-US" altLang="en-US" sz="1800" dirty="0">
              <a:solidFill>
                <a:schemeClr val="dk1"/>
              </a:solidFill>
              <a:latin typeface="+mn-lt"/>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Clr>
                <a:schemeClr val="dk1"/>
              </a:buClr>
              <a:buSzPts val="1100"/>
              <a:buFont typeface="Arial" panose="020B0604020202020204"/>
              <a:buNone/>
            </a:pPr>
            <a:r>
              <a:rPr lang="zh-CN" altLang="en-US" sz="1800" dirty="0">
                <a:latin typeface="+mn-lt"/>
                <a:ea typeface="Times New Roman" panose="02020603050405020304"/>
                <a:cs typeface="Times New Roman" panose="02020603050405020304"/>
                <a:sym typeface="Times New Roman" panose="02020603050405020304"/>
              </a:rPr>
              <a:t>🔹</a:t>
            </a:r>
            <a:r>
              <a:rPr lang="en-US" altLang="en-US" sz="1800" dirty="0">
                <a:latin typeface="+mn-lt"/>
                <a:ea typeface="Times New Roman" panose="02020603050405020304"/>
                <a:cs typeface="Times New Roman" panose="02020603050405020304"/>
                <a:sym typeface="Times New Roman" panose="02020603050405020304"/>
              </a:rPr>
              <a:t> LEACH + K-means</a:t>
            </a:r>
          </a:p>
          <a:p>
            <a:pPr marL="0" lvl="0" indent="0" algn="just" rtl="0">
              <a:lnSpc>
                <a:spcPct val="60000"/>
              </a:lnSpc>
              <a:spcBef>
                <a:spcPts val="0"/>
              </a:spcBef>
              <a:spcAft>
                <a:spcPts val="0"/>
              </a:spcAft>
              <a:buClr>
                <a:schemeClr val="dk1"/>
              </a:buClr>
              <a:buSzPts val="1100"/>
              <a:buFont typeface="Arial" panose="020B0604020202020204"/>
              <a:buNone/>
            </a:pPr>
            <a:endParaRPr lang="en-US" altLang="en-US" sz="1800" dirty="0">
              <a:latin typeface="+mn-lt"/>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Clr>
                <a:schemeClr val="dk1"/>
              </a:buClr>
              <a:buSzPts val="1100"/>
              <a:buFont typeface="Arial" panose="020B0604020202020204"/>
              <a:buNone/>
            </a:pPr>
            <a:r>
              <a:rPr lang="en-US" altLang="en-US" sz="1800" dirty="0">
                <a:latin typeface="+mn-lt"/>
                <a:ea typeface="Times New Roman" panose="02020603050405020304"/>
                <a:cs typeface="Times New Roman" panose="02020603050405020304"/>
                <a:sym typeface="Times New Roman" panose="02020603050405020304"/>
              </a:rPr>
              <a:t> </a:t>
            </a:r>
          </a:p>
          <a:p>
            <a:pPr marL="0" lvl="0" indent="0" algn="just" rtl="0">
              <a:lnSpc>
                <a:spcPct val="60000"/>
              </a:lnSpc>
              <a:spcBef>
                <a:spcPts val="0"/>
              </a:spcBef>
              <a:spcAft>
                <a:spcPts val="0"/>
              </a:spcAft>
              <a:buClr>
                <a:schemeClr val="dk1"/>
              </a:buClr>
              <a:buSzPts val="1100"/>
              <a:buFont typeface="Arial" panose="020B0604020202020204"/>
              <a:buNone/>
            </a:pP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Cơ</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chế</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Kết</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hợp</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thuật</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toán</a:t>
            </a:r>
            <a:r>
              <a:rPr lang="en-US" altLang="en-US" sz="1800" dirty="0">
                <a:latin typeface="+mn-lt"/>
                <a:ea typeface="Times New Roman" panose="02020603050405020304"/>
                <a:cs typeface="Times New Roman" panose="02020603050405020304"/>
                <a:sym typeface="Times New Roman" panose="02020603050405020304"/>
              </a:rPr>
              <a:t> K-means clustering </a:t>
            </a:r>
            <a:r>
              <a:rPr lang="en-US" altLang="en-US" sz="1800" dirty="0" err="1">
                <a:latin typeface="+mn-lt"/>
                <a:ea typeface="Times New Roman" panose="02020603050405020304"/>
                <a:cs typeface="Times New Roman" panose="02020603050405020304"/>
                <a:sym typeface="Times New Roman" panose="02020603050405020304"/>
              </a:rPr>
              <a:t>để</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chọn</a:t>
            </a:r>
            <a:r>
              <a:rPr lang="en-US" altLang="en-US" sz="1800" dirty="0">
                <a:latin typeface="+mn-lt"/>
                <a:ea typeface="Times New Roman" panose="02020603050405020304"/>
                <a:cs typeface="Times New Roman" panose="02020603050405020304"/>
                <a:sym typeface="Times New Roman" panose="02020603050405020304"/>
              </a:rPr>
              <a:t> CH </a:t>
            </a:r>
            <a:r>
              <a:rPr lang="en-US" altLang="en-US" sz="1800" dirty="0" err="1">
                <a:latin typeface="+mn-lt"/>
                <a:ea typeface="Times New Roman" panose="02020603050405020304"/>
                <a:cs typeface="Times New Roman" panose="02020603050405020304"/>
                <a:sym typeface="Times New Roman" panose="02020603050405020304"/>
              </a:rPr>
              <a:t>gần</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trung</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tâm</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cụm</a:t>
            </a:r>
            <a:r>
              <a:rPr lang="en-US" altLang="en-US" sz="1800" dirty="0">
                <a:latin typeface="+mn-lt"/>
                <a:ea typeface="Times New Roman" panose="02020603050405020304"/>
                <a:cs typeface="Times New Roman" panose="02020603050405020304"/>
                <a:sym typeface="Times New Roman" panose="02020603050405020304"/>
              </a:rPr>
              <a:t> → </a:t>
            </a:r>
            <a:r>
              <a:rPr lang="en-US" altLang="en-US" sz="1800" dirty="0" err="1">
                <a:latin typeface="+mn-lt"/>
                <a:ea typeface="Times New Roman" panose="02020603050405020304"/>
                <a:cs typeface="Times New Roman" panose="02020603050405020304"/>
                <a:sym typeface="Times New Roman" panose="02020603050405020304"/>
              </a:rPr>
              <a:t>tối</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ưu</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vị</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trí</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cụm</a:t>
            </a:r>
            <a:r>
              <a:rPr lang="en-US" altLang="en-US" sz="1800" dirty="0">
                <a:latin typeface="+mn-lt"/>
                <a:ea typeface="Times New Roman" panose="02020603050405020304"/>
                <a:cs typeface="Times New Roman" panose="02020603050405020304"/>
                <a:sym typeface="Times New Roman" panose="02020603050405020304"/>
              </a:rPr>
              <a:t>.</a:t>
            </a:r>
            <a:endParaRPr lang="en-US" altLang="en-US" sz="1800" dirty="0">
              <a:solidFill>
                <a:schemeClr val="dk1"/>
              </a:solidFill>
              <a:latin typeface="+mn-lt"/>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Clr>
                <a:schemeClr val="dk1"/>
              </a:buClr>
              <a:buSzPts val="1100"/>
              <a:buFont typeface="Arial" panose="020B0604020202020204"/>
              <a:buNone/>
            </a:pPr>
            <a:endParaRPr lang="en-US" altLang="en-US" sz="1800" dirty="0">
              <a:latin typeface="+mn-lt"/>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Clr>
                <a:schemeClr val="dk1"/>
              </a:buClr>
              <a:buSzPts val="1100"/>
              <a:buFont typeface="Arial" panose="020B0604020202020204"/>
              <a:buNone/>
            </a:pP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Ưu</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điểm</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Giảm</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mất</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cân</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bằng</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năng</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lượng</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phân</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cụm</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hợp</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lý</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hơn</a:t>
            </a:r>
            <a:r>
              <a:rPr lang="en-US" altLang="en-US" sz="1800" dirty="0">
                <a:latin typeface="+mn-lt"/>
                <a:ea typeface="Times New Roman" panose="02020603050405020304"/>
                <a:cs typeface="Times New Roman" panose="02020603050405020304"/>
                <a:sym typeface="Times New Roman" panose="02020603050405020304"/>
              </a:rPr>
              <a:t> LEACH.</a:t>
            </a:r>
            <a:endParaRPr lang="en-US" altLang="en-US" sz="1800" dirty="0">
              <a:solidFill>
                <a:schemeClr val="dk1"/>
              </a:solidFill>
              <a:latin typeface="+mn-lt"/>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Clr>
                <a:schemeClr val="dk1"/>
              </a:buClr>
              <a:buSzPts val="1100"/>
              <a:buFont typeface="Arial" panose="020B0604020202020204"/>
              <a:buNone/>
            </a:pPr>
            <a:endParaRPr lang="en-US" altLang="en-US" sz="1800" dirty="0">
              <a:latin typeface="+mn-lt"/>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Clr>
                <a:schemeClr val="dk1"/>
              </a:buClr>
              <a:buSzPts val="1100"/>
              <a:buFont typeface="Arial" panose="020B0604020202020204"/>
              <a:buNone/>
            </a:pP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Nhược</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điểm</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Cần</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biết</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trước</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số</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cụm</a:t>
            </a:r>
            <a:r>
              <a:rPr lang="en-US" altLang="en-US" sz="1800" dirty="0">
                <a:latin typeface="+mn-lt"/>
                <a:ea typeface="Times New Roman" panose="02020603050405020304"/>
                <a:cs typeface="Times New Roman" panose="02020603050405020304"/>
                <a:sym typeface="Times New Roman" panose="02020603050405020304"/>
              </a:rPr>
              <a:t> k, </a:t>
            </a:r>
            <a:r>
              <a:rPr lang="en-US" altLang="en-US" sz="1800" dirty="0" err="1">
                <a:latin typeface="+mn-lt"/>
                <a:ea typeface="Times New Roman" panose="02020603050405020304"/>
                <a:cs typeface="Times New Roman" panose="02020603050405020304"/>
                <a:sym typeface="Times New Roman" panose="02020603050405020304"/>
              </a:rPr>
              <a:t>cụm</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cố</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định</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thiếu</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thích</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ứng</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khi</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mạng</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thay</a:t>
            </a:r>
            <a:r>
              <a:rPr lang="en-US" altLang="en-US" sz="1800" dirty="0">
                <a:latin typeface="+mn-lt"/>
                <a:ea typeface="Times New Roman" panose="02020603050405020304"/>
                <a:cs typeface="Times New Roman" panose="02020603050405020304"/>
                <a:sym typeface="Times New Roman" panose="02020603050405020304"/>
              </a:rPr>
              <a:t> </a:t>
            </a:r>
          </a:p>
          <a:p>
            <a:pPr marL="0" lvl="0" indent="0" algn="just" rtl="0">
              <a:lnSpc>
                <a:spcPct val="60000"/>
              </a:lnSpc>
              <a:spcBef>
                <a:spcPts val="0"/>
              </a:spcBef>
              <a:spcAft>
                <a:spcPts val="0"/>
              </a:spcAft>
              <a:buClr>
                <a:schemeClr val="dk1"/>
              </a:buClr>
              <a:buSzPts val="1100"/>
              <a:buFont typeface="Arial" panose="020B0604020202020204"/>
              <a:buNone/>
            </a:pPr>
            <a:r>
              <a:rPr lang="en-US" altLang="en-US" sz="1800" dirty="0" err="1">
                <a:latin typeface="+mn-lt"/>
                <a:ea typeface="Times New Roman" panose="02020603050405020304"/>
                <a:cs typeface="Times New Roman" panose="02020603050405020304"/>
                <a:sym typeface="Times New Roman" panose="02020603050405020304"/>
              </a:rPr>
              <a:t>đổi</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hoặc</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nút</a:t>
            </a:r>
            <a:r>
              <a:rPr lang="en-US" altLang="en-US" sz="1800" dirty="0">
                <a:latin typeface="+mn-lt"/>
                <a:ea typeface="Times New Roman" panose="02020603050405020304"/>
                <a:cs typeface="Times New Roman" panose="02020603050405020304"/>
                <a:sym typeface="Times New Roman" panose="02020603050405020304"/>
              </a:rPr>
              <a:t> </a:t>
            </a:r>
            <a:r>
              <a:rPr lang="en-US" altLang="en-US" sz="1800" dirty="0" err="1">
                <a:latin typeface="+mn-lt"/>
                <a:ea typeface="Times New Roman" panose="02020603050405020304"/>
                <a:cs typeface="Times New Roman" panose="02020603050405020304"/>
                <a:sym typeface="Times New Roman" panose="02020603050405020304"/>
              </a:rPr>
              <a:t>chết</a:t>
            </a:r>
            <a:r>
              <a:rPr lang="en-US" altLang="en-US" sz="1800" dirty="0">
                <a:latin typeface="+mn-lt"/>
                <a:ea typeface="Times New Roman" panose="02020603050405020304"/>
                <a:cs typeface="Times New Roman" panose="02020603050405020304"/>
                <a:sym typeface="Times New Roman" panose="02020603050405020304"/>
              </a:rPr>
              <a:t>.</a:t>
            </a:r>
            <a:endParaRPr lang="en-US" altLang="en-US" sz="1800" dirty="0">
              <a:solidFill>
                <a:schemeClr val="dk1"/>
              </a:solidFill>
              <a:latin typeface="+mn-lt"/>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Clr>
                <a:schemeClr val="dk1"/>
              </a:buClr>
              <a:buSzPts val="1100"/>
              <a:buFont typeface="Arial" panose="020B0604020202020204"/>
              <a:buNone/>
            </a:pPr>
            <a:endParaRPr lang="en-US" altLang="en-US" sz="1800" dirty="0">
              <a:solidFill>
                <a:schemeClr val="dk1"/>
              </a:solidFill>
              <a:latin typeface="+mn-lt"/>
              <a:ea typeface="Times New Roman" panose="02020603050405020304"/>
              <a:cs typeface="Times New Roman" panose="02020603050405020304"/>
              <a:sym typeface="Times New Roman" panose="02020603050405020304"/>
            </a:endParaRPr>
          </a:p>
          <a:p>
            <a:pPr marL="0" lvl="0" indent="0" algn="just" rtl="0">
              <a:lnSpc>
                <a:spcPct val="60000"/>
              </a:lnSpc>
              <a:spcBef>
                <a:spcPts val="0"/>
              </a:spcBef>
              <a:spcAft>
                <a:spcPts val="0"/>
              </a:spcAft>
              <a:buClr>
                <a:schemeClr val="dk1"/>
              </a:buClr>
              <a:buSzPts val="1100"/>
              <a:buFont typeface="Arial" panose="020B0604020202020204"/>
              <a:buNone/>
            </a:pPr>
            <a:endParaRPr sz="1800" dirty="0">
              <a:latin typeface="+mn-lt"/>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4"/>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9</a:t>
            </a:fld>
            <a:endParaRPr lang="en-US"/>
          </a:p>
        </p:txBody>
      </p:sp>
      <p:sp>
        <p:nvSpPr>
          <p:cNvPr id="142" name="Google Shape;142;p24"/>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vi-VN" altLang="en-US">
                <a:sym typeface="+mn-ea"/>
              </a:rPr>
              <a:t>1. </a:t>
            </a:r>
            <a:r>
              <a:rPr lang="en-US">
                <a:sym typeface="+mn-ea"/>
              </a:rPr>
              <a:t>Động cơ nghiên cứu</a:t>
            </a:r>
            <a:endParaRPr lang="en-US"/>
          </a:p>
        </p:txBody>
      </p:sp>
      <p:sp>
        <p:nvSpPr>
          <p:cNvPr id="143" name="Google Shape;143;p24"/>
          <p:cNvSpPr txBox="1">
            <a:spLocks noGrp="1"/>
          </p:cNvSpPr>
          <p:nvPr>
            <p:ph type="body" idx="1"/>
          </p:nvPr>
        </p:nvSpPr>
        <p:spPr>
          <a:xfrm>
            <a:off x="234950" y="836930"/>
            <a:ext cx="9005570" cy="513270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1"/>
              </a:buClr>
              <a:buSzPts val="2800"/>
              <a:buFont typeface="Lato" panose="020F0502020204030203"/>
              <a:buNone/>
            </a:pPr>
            <a:endParaRPr lang="en-US" sz="1800">
              <a:sym typeface="+mn-ea"/>
            </a:endParaRPr>
          </a:p>
          <a:p>
            <a:pPr marL="0" lvl="0" indent="0" algn="l" rtl="0">
              <a:spcBef>
                <a:spcPts val="0"/>
              </a:spcBef>
              <a:spcAft>
                <a:spcPts val="0"/>
              </a:spcAft>
              <a:buClr>
                <a:schemeClr val="lt1"/>
              </a:buClr>
              <a:buSzPts val="2800"/>
              <a:buFont typeface="Lato" panose="020F0502020204030203"/>
              <a:buNone/>
            </a:pPr>
            <a:r>
              <a:rPr lang="en-US" sz="1800">
                <a:latin typeface="Times New Roman" panose="02020603050405020304" charset="0"/>
                <a:cs typeface="Times New Roman" panose="02020603050405020304" charset="0"/>
                <a:sym typeface="+mn-ea"/>
              </a:rPr>
              <a:t>Giải pháp hiện tại và Hạn chế</a:t>
            </a:r>
            <a:endParaRPr lang="en-US" sz="1800">
              <a:latin typeface="Times New Roman" panose="02020603050405020304" charset="0"/>
              <a:cs typeface="Times New Roman" panose="02020603050405020304" charset="0"/>
            </a:endParaRPr>
          </a:p>
          <a:p>
            <a:pPr marL="0" lvl="0" indent="0" algn="l" rtl="0">
              <a:lnSpc>
                <a:spcPct val="90000"/>
              </a:lnSpc>
              <a:spcBef>
                <a:spcPts val="0"/>
              </a:spcBef>
              <a:spcAft>
                <a:spcPts val="0"/>
              </a:spcAft>
              <a:buClr>
                <a:schemeClr val="lt1"/>
              </a:buClr>
              <a:buSzPts val="2800"/>
              <a:buFont typeface="Lato" panose="020F0502020204030203"/>
              <a:buNone/>
            </a:pPr>
            <a:endParaRPr lang="en-US" altLang="en-US"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0000"/>
              </a:lnSpc>
              <a:spcBef>
                <a:spcPts val="0"/>
              </a:spcBef>
              <a:spcAft>
                <a:spcPts val="0"/>
              </a:spcAft>
              <a:buClr>
                <a:schemeClr val="dk1"/>
              </a:buClr>
              <a:buSzPts val="1100"/>
              <a:buFont typeface="Arial" panose="020B0604020202020204"/>
              <a:buNone/>
            </a:pPr>
            <a:r>
              <a:rPr lang="en-US" altLang="en-US" sz="1800">
                <a:latin typeface="Times New Roman" panose="02020603050405020304"/>
                <a:ea typeface="Times New Roman" panose="02020603050405020304"/>
                <a:cs typeface="Times New Roman" panose="02020603050405020304"/>
                <a:sym typeface="Times New Roman" panose="02020603050405020304"/>
              </a:rPr>
              <a:t>Bio-inspired Algorithms (Thuật toán sinh học)</a:t>
            </a:r>
          </a:p>
          <a:p>
            <a:pPr marL="0" lvl="0" indent="0" algn="l" rtl="0">
              <a:lnSpc>
                <a:spcPct val="110000"/>
              </a:lnSpc>
              <a:spcBef>
                <a:spcPts val="0"/>
              </a:spcBef>
              <a:spcAft>
                <a:spcPts val="0"/>
              </a:spcAft>
              <a:buClr>
                <a:schemeClr val="dk1"/>
              </a:buClr>
              <a:buSzPts val="1100"/>
              <a:buFont typeface="Arial" panose="020B0604020202020204"/>
              <a:buNone/>
            </a:pPr>
            <a:r>
              <a:rPr lang="zh-CN" altLang="en-US" sz="1800">
                <a:latin typeface="Times New Roman" panose="02020603050405020304"/>
                <a:ea typeface="Times New Roman" panose="02020603050405020304"/>
                <a:cs typeface="Times New Roman" panose="02020603050405020304"/>
                <a:sym typeface="Times New Roman" panose="02020603050405020304"/>
              </a:rPr>
              <a:t>🔹</a:t>
            </a:r>
            <a:r>
              <a:rPr lang="en-US" altLang="en-US" sz="1800">
                <a:latin typeface="Times New Roman" panose="02020603050405020304"/>
                <a:ea typeface="Times New Roman" panose="02020603050405020304"/>
                <a:cs typeface="Times New Roman" panose="02020603050405020304"/>
                <a:sym typeface="Times New Roman" panose="02020603050405020304"/>
              </a:rPr>
              <a:t> ACO, PSO, BOA,… (Ant Colony, Particle Swarm, Butterfly Optimization)</a:t>
            </a:r>
          </a:p>
          <a:p>
            <a:pPr marL="0" lvl="0" indent="0" algn="l" rtl="0">
              <a:lnSpc>
                <a:spcPct val="110000"/>
              </a:lnSpc>
              <a:spcBef>
                <a:spcPts val="0"/>
              </a:spcBef>
              <a:spcAft>
                <a:spcPts val="0"/>
              </a:spcAft>
              <a:buClr>
                <a:schemeClr val="dk1"/>
              </a:buClr>
              <a:buSzPts val="1100"/>
              <a:buFont typeface="Arial" panose="020B0604020202020204"/>
              <a:buNone/>
            </a:pPr>
            <a:r>
              <a:rPr lang="en-US" altLang="en-US" sz="1800">
                <a:latin typeface="Times New Roman" panose="02020603050405020304"/>
                <a:ea typeface="Times New Roman" panose="02020603050405020304"/>
                <a:cs typeface="Times New Roman" panose="02020603050405020304"/>
                <a:sym typeface="Times New Roman" panose="02020603050405020304"/>
              </a:rPr>
              <a:t> Cơ chế: Mô phỏng hành vi tự nhiên (kiến tìm đường, bầy đàn, bướm tìm thức ăn) để tối ưu </a:t>
            </a:r>
          </a:p>
          <a:p>
            <a:pPr lvl="1" indent="457200" algn="l" rtl="0">
              <a:lnSpc>
                <a:spcPct val="110000"/>
              </a:lnSpc>
              <a:spcBef>
                <a:spcPts val="0"/>
              </a:spcBef>
              <a:spcAft>
                <a:spcPts val="0"/>
              </a:spcAft>
              <a:buClr>
                <a:schemeClr val="dk1"/>
              </a:buClr>
              <a:buSzPts val="1100"/>
              <a:buFont typeface="Arial" panose="020B0604020202020204"/>
              <a:buNone/>
            </a:pPr>
            <a:r>
              <a:rPr lang="en-US" altLang="en-US" sz="1800">
                <a:latin typeface="Times New Roman" panose="02020603050405020304"/>
                <a:ea typeface="Times New Roman" panose="02020603050405020304"/>
                <a:cs typeface="Times New Roman" panose="02020603050405020304"/>
                <a:sym typeface="Times New Roman" panose="02020603050405020304"/>
              </a:rPr>
              <a:t>chọn CH và tạo cụm động.</a:t>
            </a:r>
          </a:p>
          <a:p>
            <a:pPr marL="0" lvl="0" indent="0" algn="l" rtl="0">
              <a:lnSpc>
                <a:spcPct val="110000"/>
              </a:lnSpc>
              <a:spcBef>
                <a:spcPts val="0"/>
              </a:spcBef>
              <a:spcAft>
                <a:spcPts val="0"/>
              </a:spcAft>
              <a:buClr>
                <a:schemeClr val="dk1"/>
              </a:buClr>
              <a:buSzPts val="1100"/>
              <a:buFont typeface="Arial" panose="020B0604020202020204"/>
              <a:buNone/>
            </a:pPr>
            <a:r>
              <a:rPr lang="en-US" altLang="en-US" sz="1800">
                <a:latin typeface="Times New Roman" panose="02020603050405020304"/>
                <a:ea typeface="Times New Roman" panose="02020603050405020304"/>
                <a:cs typeface="Times New Roman" panose="02020603050405020304"/>
                <a:sym typeface="Times New Roman" panose="02020603050405020304"/>
              </a:rPr>
              <a:t> Ưu điểm: Thích ứng động tốt, tối ưu năng lượng &amp; cân bằng tải.</a:t>
            </a:r>
          </a:p>
          <a:p>
            <a:pPr marL="0" lvl="0" indent="0" algn="l" rtl="0">
              <a:lnSpc>
                <a:spcPct val="110000"/>
              </a:lnSpc>
              <a:spcBef>
                <a:spcPts val="0"/>
              </a:spcBef>
              <a:spcAft>
                <a:spcPts val="0"/>
              </a:spcAft>
              <a:buClr>
                <a:schemeClr val="dk1"/>
              </a:buClr>
              <a:buSzPts val="1100"/>
              <a:buFont typeface="Arial" panose="020B0604020202020204"/>
              <a:buNone/>
            </a:pPr>
            <a:r>
              <a:rPr lang="en-US" altLang="en-US" sz="1800">
                <a:latin typeface="Times New Roman" panose="02020603050405020304"/>
                <a:ea typeface="Times New Roman" panose="02020603050405020304"/>
                <a:cs typeface="Times New Roman" panose="02020603050405020304"/>
                <a:sym typeface="Times New Roman" panose="02020603050405020304"/>
              </a:rPr>
              <a:t> Nhược điểm: Dễ rơi vào tối ưu cục bộ, phụ thuộc vào tham số điều chỉnh (pheromone, trọng số quán tính,...).</a:t>
            </a:r>
          </a:p>
          <a:p>
            <a:pPr marL="0" lvl="0" indent="0" algn="l" rtl="0">
              <a:lnSpc>
                <a:spcPct val="110000"/>
              </a:lnSpc>
              <a:spcBef>
                <a:spcPts val="0"/>
              </a:spcBef>
              <a:spcAft>
                <a:spcPts val="0"/>
              </a:spcAft>
              <a:buClr>
                <a:schemeClr val="dk1"/>
              </a:buClr>
              <a:buSzPts val="1100"/>
              <a:buFont typeface="Arial" panose="020B0604020202020204"/>
              <a:buNone/>
            </a:pPr>
            <a:r>
              <a:rPr lang="en-US" altLang="en-US" sz="1800">
                <a:latin typeface="Times New Roman" panose="02020603050405020304"/>
                <a:ea typeface="Times New Roman" panose="02020603050405020304"/>
                <a:cs typeface="Times New Roman" panose="02020603050405020304"/>
                <a:sym typeface="Times New Roman" panose="02020603050405020304"/>
              </a:rPr>
              <a:t> Ứng dụng: Có thể kết hợp với LEACH → cải tiến chọn CH (ví dụ: ACO-LEACH, PSO-LEACH) giúp mạng ổn định và bền hơn.</a:t>
            </a:r>
          </a:p>
          <a:p>
            <a:pPr marL="0" lvl="0" indent="0" algn="l" rtl="0">
              <a:lnSpc>
                <a:spcPct val="100000"/>
              </a:lnSpc>
              <a:spcBef>
                <a:spcPts val="0"/>
              </a:spcBef>
              <a:spcAft>
                <a:spcPts val="0"/>
              </a:spcAft>
              <a:buClr>
                <a:schemeClr val="dk1"/>
              </a:buClr>
              <a:buSzPts val="1100"/>
              <a:buFont typeface="Arial" panose="020B0604020202020204"/>
              <a:buNone/>
            </a:pPr>
            <a:endParaRPr lang="en-US" altLang="en-US" sz="18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4"/>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10</a:t>
            </a:fld>
            <a:endParaRPr lang="en-US"/>
          </a:p>
        </p:txBody>
      </p:sp>
      <p:sp>
        <p:nvSpPr>
          <p:cNvPr id="142" name="Google Shape;142;p24"/>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vi-VN" altLang="en-US">
                <a:sym typeface="+mn-ea"/>
              </a:rPr>
              <a:t>1. </a:t>
            </a:r>
            <a:r>
              <a:rPr lang="en-US">
                <a:sym typeface="+mn-ea"/>
              </a:rPr>
              <a:t>Động cơ nghiên cứu</a:t>
            </a:r>
            <a:endParaRPr lang="en-US"/>
          </a:p>
        </p:txBody>
      </p:sp>
      <p:sp>
        <p:nvSpPr>
          <p:cNvPr id="143" name="Google Shape;143;p24"/>
          <p:cNvSpPr txBox="1">
            <a:spLocks noGrp="1"/>
          </p:cNvSpPr>
          <p:nvPr>
            <p:ph type="body" idx="1"/>
          </p:nvPr>
        </p:nvSpPr>
        <p:spPr>
          <a:xfrm>
            <a:off x="234950" y="963168"/>
            <a:ext cx="8674100" cy="513283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sz="1800" b="1">
                <a:latin typeface="Times New Roman" panose="02020603050405020304"/>
                <a:ea typeface="Times New Roman" panose="02020603050405020304"/>
                <a:cs typeface="Times New Roman" panose="02020603050405020304"/>
                <a:sym typeface="Times New Roman" panose="02020603050405020304"/>
              </a:rPr>
              <a:t>Hạn chế:</a:t>
            </a:r>
            <a:endParaRPr sz="1800" b="1">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Các thuật toán truyền thống (ACO, PSO, GA) có xu hướng bị mắc kẹt ở các cực tiểu cục bộ (local optima) và tốc độ hội tụ chậm.</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Nhiều phương pháp chưa xem xét đầy đủ các yếu tố quan trọng như năng lượng còn lại của nút, khoảng cách trong cụm, và khoảng cách đến trạm gốc.</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Clr>
                <a:schemeClr val="dk1"/>
              </a:buClr>
              <a:buSzPts val="1100"/>
              <a:buFont typeface="Arial" panose="020B0604020202020204"/>
              <a:buNone/>
            </a:pPr>
            <a:r>
              <a:rPr lang="en-US" sz="1800">
                <a:latin typeface="Times New Roman" panose="02020603050405020304"/>
                <a:ea typeface="Times New Roman" panose="02020603050405020304"/>
                <a:cs typeface="Times New Roman" panose="02020603050405020304"/>
                <a:sym typeface="Times New Roman" panose="02020603050405020304"/>
              </a:rPr>
              <a:t>→ </a:t>
            </a:r>
            <a:r>
              <a:rPr lang="en-US" sz="1800" b="1">
                <a:latin typeface="Times New Roman" panose="02020603050405020304"/>
                <a:ea typeface="Times New Roman" panose="02020603050405020304"/>
                <a:cs typeface="Times New Roman" panose="02020603050405020304"/>
                <a:sym typeface="Times New Roman" panose="02020603050405020304"/>
              </a:rPr>
              <a:t>Cần một hướng tiếp cận mới</a:t>
            </a:r>
            <a:r>
              <a:rPr lang="en-US" sz="1800">
                <a:latin typeface="Times New Roman" panose="02020603050405020304"/>
                <a:ea typeface="Times New Roman" panose="02020603050405020304"/>
                <a:cs typeface="Times New Roman" panose="02020603050405020304"/>
                <a:sym typeface="Times New Roman" panose="02020603050405020304"/>
              </a:rPr>
              <a:t>:</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Chiến lược hỗn loạn giúp khắc phục hạn chế, nâng cao hiệu quả tối ưu hóa định tuyến WSN.</a:t>
            </a:r>
            <a:endParaRPr sz="18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Shape 119"/>
        <p:cNvGrpSpPr/>
        <p:nvPr/>
      </p:nvGrpSpPr>
      <p:grpSpPr>
        <a:xfrm>
          <a:off x="0" y="0"/>
          <a:ext cx="0" cy="0"/>
          <a:chOff x="0" y="0"/>
          <a:chExt cx="0" cy="0"/>
        </a:xfrm>
      </p:grpSpPr>
      <p:sp>
        <p:nvSpPr>
          <p:cNvPr id="120" name="Google Shape;120;p21"/>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11</a:t>
            </a:fld>
            <a:endParaRPr lang="en-US"/>
          </a:p>
        </p:txBody>
      </p:sp>
      <p:sp>
        <p:nvSpPr>
          <p:cNvPr id="121" name="Google Shape;121;p21"/>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457200" lvl="0" indent="-406400" algn="l" rtl="0">
              <a:lnSpc>
                <a:spcPct val="90000"/>
              </a:lnSpc>
              <a:spcBef>
                <a:spcPts val="0"/>
              </a:spcBef>
              <a:spcAft>
                <a:spcPts val="0"/>
              </a:spcAft>
              <a:buSzPts val="2800"/>
              <a:buAutoNum type="arabicPeriod"/>
            </a:pPr>
            <a:r>
              <a:rPr lang="en-US"/>
              <a:t>Động cơ nghiên cứu</a:t>
            </a:r>
          </a:p>
        </p:txBody>
      </p:sp>
      <p:sp>
        <p:nvSpPr>
          <p:cNvPr id="122" name="Google Shape;122;p21"/>
          <p:cNvSpPr txBox="1"/>
          <p:nvPr/>
        </p:nvSpPr>
        <p:spPr>
          <a:xfrm>
            <a:off x="484187" y="530352"/>
            <a:ext cx="8175625" cy="355854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panose="020B0604020202020204"/>
              <a:buNone/>
            </a:pPr>
            <a:r>
              <a:rPr lang="en-US" sz="1800" b="1" dirty="0" err="1">
                <a:solidFill>
                  <a:schemeClr val="dk1"/>
                </a:solidFill>
              </a:rPr>
              <a:t>Sự</a:t>
            </a:r>
            <a:r>
              <a:rPr lang="en-US" sz="1800" b="1" dirty="0">
                <a:solidFill>
                  <a:schemeClr val="dk1"/>
                </a:solidFill>
              </a:rPr>
              <a:t> </a:t>
            </a:r>
            <a:r>
              <a:rPr lang="en-US" sz="1800" b="1" dirty="0" err="1">
                <a:solidFill>
                  <a:schemeClr val="dk1"/>
                </a:solidFill>
              </a:rPr>
              <a:t>phù</a:t>
            </a:r>
            <a:r>
              <a:rPr lang="en-US" sz="1800" b="1" dirty="0">
                <a:solidFill>
                  <a:schemeClr val="dk1"/>
                </a:solidFill>
              </a:rPr>
              <a:t> </a:t>
            </a:r>
            <a:r>
              <a:rPr lang="en-US" sz="1800" b="1" dirty="0" err="1">
                <a:solidFill>
                  <a:schemeClr val="dk1"/>
                </a:solidFill>
              </a:rPr>
              <a:t>hợp</a:t>
            </a:r>
            <a:r>
              <a:rPr lang="en-US" sz="1800" b="1" dirty="0">
                <a:solidFill>
                  <a:schemeClr val="dk1"/>
                </a:solidFill>
              </a:rPr>
              <a:t> </a:t>
            </a:r>
            <a:r>
              <a:rPr lang="en-US" sz="1800" b="1" dirty="0" err="1">
                <a:solidFill>
                  <a:schemeClr val="dk1"/>
                </a:solidFill>
              </a:rPr>
              <a:t>của</a:t>
            </a:r>
            <a:r>
              <a:rPr lang="en-US" sz="1800" b="1" dirty="0">
                <a:solidFill>
                  <a:schemeClr val="dk1"/>
                </a:solidFill>
              </a:rPr>
              <a:t> </a:t>
            </a:r>
            <a:r>
              <a:rPr lang="en-US" sz="1800" b="1" dirty="0" err="1">
                <a:solidFill>
                  <a:schemeClr val="dk1"/>
                </a:solidFill>
              </a:rPr>
              <a:t>các</a:t>
            </a:r>
            <a:r>
              <a:rPr lang="en-US" sz="1800" b="1" dirty="0">
                <a:solidFill>
                  <a:schemeClr val="dk1"/>
                </a:solidFill>
              </a:rPr>
              <a:t> </a:t>
            </a:r>
            <a:r>
              <a:rPr lang="en-US" sz="1800" b="1" dirty="0" err="1">
                <a:solidFill>
                  <a:schemeClr val="dk1"/>
                </a:solidFill>
              </a:rPr>
              <a:t>thuật</a:t>
            </a:r>
            <a:r>
              <a:rPr lang="en-US" sz="1800" b="1" dirty="0">
                <a:solidFill>
                  <a:schemeClr val="dk1"/>
                </a:solidFill>
              </a:rPr>
              <a:t> </a:t>
            </a:r>
            <a:r>
              <a:rPr lang="en-US" sz="1800" b="1" dirty="0" err="1">
                <a:solidFill>
                  <a:schemeClr val="dk1"/>
                </a:solidFill>
              </a:rPr>
              <a:t>toán</a:t>
            </a:r>
            <a:r>
              <a:rPr lang="en-US" sz="1800" b="1" dirty="0">
                <a:solidFill>
                  <a:schemeClr val="dk1"/>
                </a:solidFill>
              </a:rPr>
              <a:t> </a:t>
            </a:r>
            <a:r>
              <a:rPr lang="en-US" sz="1800" b="1" dirty="0" err="1">
                <a:solidFill>
                  <a:schemeClr val="dk1"/>
                </a:solidFill>
              </a:rPr>
              <a:t>trí</a:t>
            </a:r>
            <a:r>
              <a:rPr lang="en-US" sz="1800" b="1" dirty="0">
                <a:solidFill>
                  <a:schemeClr val="dk1"/>
                </a:solidFill>
              </a:rPr>
              <a:t> </a:t>
            </a:r>
            <a:r>
              <a:rPr lang="en-US" sz="1800" b="1" dirty="0" err="1">
                <a:solidFill>
                  <a:schemeClr val="dk1"/>
                </a:solidFill>
              </a:rPr>
              <a:t>tuệ</a:t>
            </a:r>
            <a:r>
              <a:rPr lang="en-US" sz="1800" b="1" dirty="0">
                <a:solidFill>
                  <a:schemeClr val="dk1"/>
                </a:solidFill>
              </a:rPr>
              <a:t> </a:t>
            </a:r>
            <a:r>
              <a:rPr lang="en-US" sz="1800" b="1" dirty="0" err="1">
                <a:solidFill>
                  <a:schemeClr val="dk1"/>
                </a:solidFill>
              </a:rPr>
              <a:t>bầy</a:t>
            </a:r>
            <a:r>
              <a:rPr lang="en-US" sz="1800" b="1" dirty="0">
                <a:solidFill>
                  <a:schemeClr val="dk1"/>
                </a:solidFill>
              </a:rPr>
              <a:t> </a:t>
            </a:r>
            <a:r>
              <a:rPr lang="en-US" sz="1800" b="1" dirty="0" err="1">
                <a:solidFill>
                  <a:schemeClr val="dk1"/>
                </a:solidFill>
              </a:rPr>
              <a:t>đàn</a:t>
            </a:r>
            <a:r>
              <a:rPr lang="en-US" sz="1800" b="1" dirty="0">
                <a:solidFill>
                  <a:schemeClr val="dk1"/>
                </a:solidFill>
              </a:rPr>
              <a:t> </a:t>
            </a:r>
            <a:r>
              <a:rPr lang="en-US" sz="1800" b="1" dirty="0" err="1">
                <a:solidFill>
                  <a:schemeClr val="dk1"/>
                </a:solidFill>
              </a:rPr>
              <a:t>trong</a:t>
            </a:r>
            <a:r>
              <a:rPr lang="en-US" sz="1800" b="1" dirty="0">
                <a:solidFill>
                  <a:schemeClr val="dk1"/>
                </a:solidFill>
              </a:rPr>
              <a:t> WSN</a:t>
            </a:r>
            <a:endParaRPr sz="1800" b="1" dirty="0">
              <a:solidFill>
                <a:schemeClr val="dk1"/>
              </a:solidFill>
            </a:endParaRPr>
          </a:p>
          <a:p>
            <a:pPr marL="457200" lvl="0" indent="-342900" algn="l" rtl="0">
              <a:lnSpc>
                <a:spcPct val="115000"/>
              </a:lnSpc>
              <a:spcBef>
                <a:spcPts val="1200"/>
              </a:spcBef>
              <a:spcAft>
                <a:spcPts val="0"/>
              </a:spcAft>
              <a:buClr>
                <a:schemeClr val="dk1"/>
              </a:buClr>
              <a:buSzPts val="1800"/>
              <a:buChar char="●"/>
            </a:pPr>
            <a:r>
              <a:rPr lang="en-US" sz="1800" b="1" dirty="0" err="1">
                <a:solidFill>
                  <a:schemeClr val="dk1"/>
                </a:solidFill>
              </a:rPr>
              <a:t>Hạn</a:t>
            </a:r>
            <a:r>
              <a:rPr lang="en-US" sz="1800" b="1" dirty="0">
                <a:solidFill>
                  <a:schemeClr val="dk1"/>
                </a:solidFill>
              </a:rPr>
              <a:t> </a:t>
            </a:r>
            <a:r>
              <a:rPr lang="en-US" sz="1800" b="1" dirty="0" err="1">
                <a:solidFill>
                  <a:schemeClr val="dk1"/>
                </a:solidFill>
              </a:rPr>
              <a:t>chế</a:t>
            </a:r>
            <a:r>
              <a:rPr lang="en-US" sz="1800" b="1" dirty="0">
                <a:solidFill>
                  <a:schemeClr val="dk1"/>
                </a:solidFill>
              </a:rPr>
              <a:t> </a:t>
            </a:r>
            <a:r>
              <a:rPr lang="en-US" sz="1800" b="1" dirty="0" err="1">
                <a:solidFill>
                  <a:schemeClr val="dk1"/>
                </a:solidFill>
              </a:rPr>
              <a:t>phương</a:t>
            </a:r>
            <a:r>
              <a:rPr lang="en-US" sz="1800" b="1" dirty="0">
                <a:solidFill>
                  <a:schemeClr val="dk1"/>
                </a:solidFill>
              </a:rPr>
              <a:t> </a:t>
            </a:r>
            <a:r>
              <a:rPr lang="en-US" sz="1800" b="1" dirty="0" err="1">
                <a:solidFill>
                  <a:schemeClr val="dk1"/>
                </a:solidFill>
              </a:rPr>
              <a:t>pháp</a:t>
            </a:r>
            <a:r>
              <a:rPr lang="en-US" sz="1800" b="1" dirty="0">
                <a:solidFill>
                  <a:schemeClr val="dk1"/>
                </a:solidFill>
              </a:rPr>
              <a:t> </a:t>
            </a:r>
            <a:r>
              <a:rPr lang="en-US" sz="1800" b="1" dirty="0" err="1">
                <a:solidFill>
                  <a:schemeClr val="dk1"/>
                </a:solidFill>
              </a:rPr>
              <a:t>truyền</a:t>
            </a:r>
            <a:r>
              <a:rPr lang="en-US" sz="1800" b="1" dirty="0">
                <a:solidFill>
                  <a:schemeClr val="dk1"/>
                </a:solidFill>
              </a:rPr>
              <a:t> </a:t>
            </a:r>
            <a:r>
              <a:rPr lang="en-US" sz="1800" b="1" dirty="0" err="1">
                <a:solidFill>
                  <a:schemeClr val="dk1"/>
                </a:solidFill>
              </a:rPr>
              <a:t>thống</a:t>
            </a:r>
            <a:r>
              <a:rPr lang="en-US" sz="1800" b="1" dirty="0">
                <a:solidFill>
                  <a:schemeClr val="dk1"/>
                </a:solidFill>
              </a:rPr>
              <a:t>:</a:t>
            </a:r>
            <a:r>
              <a:rPr lang="en-US" sz="1800" dirty="0">
                <a:solidFill>
                  <a:schemeClr val="dk1"/>
                </a:solidFill>
              </a:rPr>
              <a:t> </a:t>
            </a:r>
            <a:r>
              <a:rPr lang="en-US" sz="1800" dirty="0" err="1">
                <a:solidFill>
                  <a:schemeClr val="dk1"/>
                </a:solidFill>
              </a:rPr>
              <a:t>Quy</a:t>
            </a:r>
            <a:r>
              <a:rPr lang="en-US" sz="1800" dirty="0">
                <a:solidFill>
                  <a:schemeClr val="dk1"/>
                </a:solidFill>
              </a:rPr>
              <a:t> </a:t>
            </a:r>
            <a:r>
              <a:rPr lang="en-US" sz="1800" dirty="0" err="1">
                <a:solidFill>
                  <a:schemeClr val="dk1"/>
                </a:solidFill>
              </a:rPr>
              <a:t>tắc</a:t>
            </a:r>
            <a:r>
              <a:rPr lang="en-US" sz="1800" dirty="0">
                <a:solidFill>
                  <a:schemeClr val="dk1"/>
                </a:solidFill>
              </a:rPr>
              <a:t> </a:t>
            </a:r>
            <a:r>
              <a:rPr lang="en-US" sz="1800" dirty="0" err="1">
                <a:solidFill>
                  <a:schemeClr val="dk1"/>
                </a:solidFill>
              </a:rPr>
              <a:t>định</a:t>
            </a:r>
            <a:r>
              <a:rPr lang="en-US" sz="1800" dirty="0">
                <a:solidFill>
                  <a:schemeClr val="dk1"/>
                </a:solidFill>
              </a:rPr>
              <a:t> </a:t>
            </a:r>
            <a:r>
              <a:rPr lang="en-US" sz="1800" dirty="0" err="1">
                <a:solidFill>
                  <a:schemeClr val="dk1"/>
                </a:solidFill>
              </a:rPr>
              <a:t>sẵn</a:t>
            </a:r>
            <a:r>
              <a:rPr lang="en-US" sz="1800" dirty="0">
                <a:solidFill>
                  <a:schemeClr val="dk1"/>
                </a:solidFill>
              </a:rPr>
              <a:t> </a:t>
            </a:r>
            <a:r>
              <a:rPr lang="en-US" sz="1800" dirty="0" err="1">
                <a:solidFill>
                  <a:schemeClr val="dk1"/>
                </a:solidFill>
              </a:rPr>
              <a:t>không</a:t>
            </a:r>
            <a:r>
              <a:rPr lang="en-US" sz="1800" dirty="0">
                <a:solidFill>
                  <a:schemeClr val="dk1"/>
                </a:solidFill>
              </a:rPr>
              <a:t> </a:t>
            </a:r>
            <a:r>
              <a:rPr lang="en-US" sz="1800" dirty="0" err="1">
                <a:solidFill>
                  <a:schemeClr val="dk1"/>
                </a:solidFill>
              </a:rPr>
              <a:t>còn</a:t>
            </a:r>
            <a:r>
              <a:rPr lang="en-US" sz="1800" dirty="0">
                <a:solidFill>
                  <a:schemeClr val="dk1"/>
                </a:solidFill>
              </a:rPr>
              <a:t> </a:t>
            </a:r>
            <a:r>
              <a:rPr lang="en-US" sz="1800" dirty="0" err="1">
                <a:solidFill>
                  <a:schemeClr val="dk1"/>
                </a:solidFill>
              </a:rPr>
              <a:t>phù</a:t>
            </a:r>
            <a:r>
              <a:rPr lang="en-US" sz="1800" dirty="0">
                <a:solidFill>
                  <a:schemeClr val="dk1"/>
                </a:solidFill>
              </a:rPr>
              <a:t> </a:t>
            </a:r>
            <a:r>
              <a:rPr lang="en-US" sz="1800" dirty="0" err="1">
                <a:solidFill>
                  <a:schemeClr val="dk1"/>
                </a:solidFill>
              </a:rPr>
              <a:t>hợp</a:t>
            </a:r>
            <a:r>
              <a:rPr lang="en-US" sz="1800" dirty="0">
                <a:solidFill>
                  <a:schemeClr val="dk1"/>
                </a:solidFill>
              </a:rPr>
              <a:t> do </a:t>
            </a:r>
            <a:r>
              <a:rPr lang="en-US" sz="1800" dirty="0" err="1">
                <a:solidFill>
                  <a:schemeClr val="dk1"/>
                </a:solidFill>
              </a:rPr>
              <a:t>sự</a:t>
            </a:r>
            <a:r>
              <a:rPr lang="en-US" sz="1800" dirty="0">
                <a:solidFill>
                  <a:schemeClr val="dk1"/>
                </a:solidFill>
              </a:rPr>
              <a:t> </a:t>
            </a:r>
            <a:r>
              <a:rPr lang="en-US" sz="1800" dirty="0" err="1">
                <a:solidFill>
                  <a:schemeClr val="dk1"/>
                </a:solidFill>
              </a:rPr>
              <a:t>phụ</a:t>
            </a:r>
            <a:r>
              <a:rPr lang="en-US" sz="1800" dirty="0">
                <a:solidFill>
                  <a:schemeClr val="dk1"/>
                </a:solidFill>
              </a:rPr>
              <a:t> </a:t>
            </a:r>
            <a:r>
              <a:rPr lang="en-US" sz="1800" dirty="0" err="1">
                <a:solidFill>
                  <a:schemeClr val="dk1"/>
                </a:solidFill>
              </a:rPr>
              <a:t>thuộc</a:t>
            </a:r>
            <a:r>
              <a:rPr lang="en-US" sz="1800" dirty="0">
                <a:solidFill>
                  <a:schemeClr val="dk1"/>
                </a:solidFill>
              </a:rPr>
              <a:t> </a:t>
            </a:r>
            <a:r>
              <a:rPr lang="en-US" sz="1800" dirty="0" err="1">
                <a:solidFill>
                  <a:schemeClr val="dk1"/>
                </a:solidFill>
              </a:rPr>
              <a:t>giữa</a:t>
            </a:r>
            <a:r>
              <a:rPr lang="en-US" sz="1800" dirty="0">
                <a:solidFill>
                  <a:schemeClr val="dk1"/>
                </a:solidFill>
              </a:rPr>
              <a:t> </a:t>
            </a:r>
            <a:r>
              <a:rPr lang="en-US" sz="1800" dirty="0" err="1">
                <a:solidFill>
                  <a:schemeClr val="dk1"/>
                </a:solidFill>
              </a:rPr>
              <a:t>các</a:t>
            </a:r>
            <a:r>
              <a:rPr lang="en-US" sz="1800" dirty="0">
                <a:solidFill>
                  <a:schemeClr val="dk1"/>
                </a:solidFill>
              </a:rPr>
              <a:t> </a:t>
            </a:r>
            <a:r>
              <a:rPr lang="en-US" sz="1800" dirty="0" err="1">
                <a:solidFill>
                  <a:schemeClr val="dk1"/>
                </a:solidFill>
              </a:rPr>
              <a:t>nút</a:t>
            </a:r>
            <a:r>
              <a:rPr lang="en-US" sz="1800" dirty="0">
                <a:solidFill>
                  <a:schemeClr val="dk1"/>
                </a:solidFill>
              </a:rPr>
              <a:t> </a:t>
            </a:r>
            <a:r>
              <a:rPr lang="en-US" sz="1800" dirty="0" err="1">
                <a:solidFill>
                  <a:schemeClr val="dk1"/>
                </a:solidFill>
              </a:rPr>
              <a:t>và</a:t>
            </a:r>
            <a:r>
              <a:rPr lang="en-US" sz="1800" dirty="0">
                <a:solidFill>
                  <a:schemeClr val="dk1"/>
                </a:solidFill>
              </a:rPr>
              <a:t> </a:t>
            </a:r>
            <a:r>
              <a:rPr lang="en-US" sz="1800" dirty="0" err="1">
                <a:solidFill>
                  <a:schemeClr val="dk1"/>
                </a:solidFill>
              </a:rPr>
              <a:t>tính</a:t>
            </a:r>
            <a:r>
              <a:rPr lang="en-US" sz="1800" dirty="0">
                <a:solidFill>
                  <a:schemeClr val="dk1"/>
                </a:solidFill>
              </a:rPr>
              <a:t> </a:t>
            </a:r>
            <a:r>
              <a:rPr lang="en-US" sz="1800" dirty="0" err="1">
                <a:solidFill>
                  <a:schemeClr val="dk1"/>
                </a:solidFill>
              </a:rPr>
              <a:t>động</a:t>
            </a:r>
            <a:r>
              <a:rPr lang="en-US" sz="1800" dirty="0">
                <a:solidFill>
                  <a:schemeClr val="dk1"/>
                </a:solidFill>
              </a:rPr>
              <a:t> </a:t>
            </a:r>
            <a:r>
              <a:rPr lang="en-US" sz="1800" dirty="0" err="1">
                <a:solidFill>
                  <a:schemeClr val="dk1"/>
                </a:solidFill>
              </a:rPr>
              <a:t>của</a:t>
            </a:r>
            <a:r>
              <a:rPr lang="en-US" sz="1800" dirty="0">
                <a:solidFill>
                  <a:schemeClr val="dk1"/>
                </a:solidFill>
              </a:rPr>
              <a:t> </a:t>
            </a:r>
            <a:r>
              <a:rPr lang="en-US" sz="1800" dirty="0" err="1">
                <a:solidFill>
                  <a:schemeClr val="dk1"/>
                </a:solidFill>
              </a:rPr>
              <a:t>môi</a:t>
            </a:r>
            <a:r>
              <a:rPr lang="en-US" sz="1800" dirty="0">
                <a:solidFill>
                  <a:schemeClr val="dk1"/>
                </a:solidFill>
              </a:rPr>
              <a:t> </a:t>
            </a:r>
            <a:r>
              <a:rPr lang="en-US" sz="1800" dirty="0" err="1">
                <a:solidFill>
                  <a:schemeClr val="dk1"/>
                </a:solidFill>
              </a:rPr>
              <a:t>trường</a:t>
            </a:r>
            <a:r>
              <a:rPr lang="en-US" sz="1800" dirty="0">
                <a:solidFill>
                  <a:schemeClr val="dk1"/>
                </a:solidFill>
              </a:rPr>
              <a:t>.</a:t>
            </a:r>
            <a:br>
              <a:rPr lang="en-US" sz="1800" dirty="0">
                <a:solidFill>
                  <a:schemeClr val="dk1"/>
                </a:solidFill>
              </a:rPr>
            </a:br>
            <a:endParaRPr sz="18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n-US" sz="1800" b="1" dirty="0" err="1">
                <a:solidFill>
                  <a:schemeClr val="dk1"/>
                </a:solidFill>
              </a:rPr>
              <a:t>Ưu</a:t>
            </a:r>
            <a:r>
              <a:rPr lang="en-US" sz="1800" b="1" dirty="0">
                <a:solidFill>
                  <a:schemeClr val="dk1"/>
                </a:solidFill>
              </a:rPr>
              <a:t> </a:t>
            </a:r>
            <a:r>
              <a:rPr lang="en-US" sz="1800" b="1" dirty="0" err="1">
                <a:solidFill>
                  <a:schemeClr val="dk1"/>
                </a:solidFill>
              </a:rPr>
              <a:t>điểm</a:t>
            </a:r>
            <a:r>
              <a:rPr lang="en-US" sz="1800" b="1" dirty="0">
                <a:solidFill>
                  <a:schemeClr val="dk1"/>
                </a:solidFill>
              </a:rPr>
              <a:t> </a:t>
            </a:r>
            <a:r>
              <a:rPr lang="en-US" sz="1800" b="1" dirty="0" err="1">
                <a:solidFill>
                  <a:schemeClr val="dk1"/>
                </a:solidFill>
              </a:rPr>
              <a:t>của</a:t>
            </a:r>
            <a:r>
              <a:rPr lang="en-US" sz="1800" b="1" dirty="0">
                <a:solidFill>
                  <a:schemeClr val="dk1"/>
                </a:solidFill>
              </a:rPr>
              <a:t> </a:t>
            </a:r>
            <a:r>
              <a:rPr lang="en-US" sz="1800" b="1" dirty="0" err="1">
                <a:solidFill>
                  <a:schemeClr val="dk1"/>
                </a:solidFill>
              </a:rPr>
              <a:t>trí</a:t>
            </a:r>
            <a:r>
              <a:rPr lang="en-US" sz="1800" b="1" dirty="0">
                <a:solidFill>
                  <a:schemeClr val="dk1"/>
                </a:solidFill>
              </a:rPr>
              <a:t> </a:t>
            </a:r>
            <a:r>
              <a:rPr lang="en-US" sz="1800" b="1" dirty="0" err="1">
                <a:solidFill>
                  <a:schemeClr val="dk1"/>
                </a:solidFill>
              </a:rPr>
              <a:t>tuệ</a:t>
            </a:r>
            <a:r>
              <a:rPr lang="en-US" sz="1800" b="1" dirty="0">
                <a:solidFill>
                  <a:schemeClr val="dk1"/>
                </a:solidFill>
              </a:rPr>
              <a:t> </a:t>
            </a:r>
            <a:r>
              <a:rPr lang="en-US" sz="1800" b="1" dirty="0" err="1">
                <a:solidFill>
                  <a:schemeClr val="dk1"/>
                </a:solidFill>
              </a:rPr>
              <a:t>bầy</a:t>
            </a:r>
            <a:r>
              <a:rPr lang="en-US" sz="1800" b="1" dirty="0">
                <a:solidFill>
                  <a:schemeClr val="dk1"/>
                </a:solidFill>
              </a:rPr>
              <a:t> </a:t>
            </a:r>
            <a:r>
              <a:rPr lang="en-US" sz="1800" b="1" dirty="0" err="1">
                <a:solidFill>
                  <a:schemeClr val="dk1"/>
                </a:solidFill>
              </a:rPr>
              <a:t>đàn</a:t>
            </a:r>
            <a:r>
              <a:rPr lang="en-US" sz="1800" b="1" dirty="0">
                <a:solidFill>
                  <a:schemeClr val="dk1"/>
                </a:solidFill>
              </a:rPr>
              <a:t>:</a:t>
            </a:r>
            <a:br>
              <a:rPr lang="en-US" sz="1800" b="1" dirty="0">
                <a:solidFill>
                  <a:schemeClr val="dk1"/>
                </a:solidFill>
              </a:rPr>
            </a:br>
            <a:endParaRPr sz="1800" b="1" dirty="0">
              <a:solidFill>
                <a:schemeClr val="dk1"/>
              </a:solidFill>
            </a:endParaRPr>
          </a:p>
          <a:p>
            <a:pPr marL="914400" lvl="1" indent="-342900" algn="l" rtl="0">
              <a:lnSpc>
                <a:spcPct val="115000"/>
              </a:lnSpc>
              <a:spcBef>
                <a:spcPts val="0"/>
              </a:spcBef>
              <a:spcAft>
                <a:spcPts val="0"/>
              </a:spcAft>
              <a:buClr>
                <a:schemeClr val="dk1"/>
              </a:buClr>
              <a:buSzPts val="1800"/>
              <a:buChar char="○"/>
            </a:pPr>
            <a:r>
              <a:rPr lang="en-US" sz="1800" b="1" dirty="0" err="1">
                <a:solidFill>
                  <a:schemeClr val="dk1"/>
                </a:solidFill>
              </a:rPr>
              <a:t>Thuật</a:t>
            </a:r>
            <a:r>
              <a:rPr lang="en-US" sz="1800" b="1" dirty="0">
                <a:solidFill>
                  <a:schemeClr val="dk1"/>
                </a:solidFill>
              </a:rPr>
              <a:t> </a:t>
            </a:r>
            <a:r>
              <a:rPr lang="en-US" sz="1800" b="1" dirty="0" err="1">
                <a:solidFill>
                  <a:schemeClr val="dk1"/>
                </a:solidFill>
              </a:rPr>
              <a:t>toán</a:t>
            </a:r>
            <a:r>
              <a:rPr lang="en-US" sz="1800" b="1" dirty="0">
                <a:solidFill>
                  <a:schemeClr val="dk1"/>
                </a:solidFill>
              </a:rPr>
              <a:t> </a:t>
            </a:r>
            <a:r>
              <a:rPr lang="en-US" sz="1800" b="1" dirty="0" err="1">
                <a:solidFill>
                  <a:schemeClr val="dk1"/>
                </a:solidFill>
              </a:rPr>
              <a:t>bầy</a:t>
            </a:r>
            <a:r>
              <a:rPr lang="en-US" sz="1800" b="1" dirty="0">
                <a:solidFill>
                  <a:schemeClr val="dk1"/>
                </a:solidFill>
              </a:rPr>
              <a:t> </a:t>
            </a:r>
            <a:r>
              <a:rPr lang="en-US" sz="1800" b="1" dirty="0" err="1">
                <a:solidFill>
                  <a:schemeClr val="dk1"/>
                </a:solidFill>
              </a:rPr>
              <a:t>kiến</a:t>
            </a:r>
            <a:r>
              <a:rPr lang="en-US" sz="1800" b="1" dirty="0">
                <a:solidFill>
                  <a:schemeClr val="dk1"/>
                </a:solidFill>
              </a:rPr>
              <a:t> (ACO):</a:t>
            </a:r>
            <a:r>
              <a:rPr lang="en-US" sz="1800" dirty="0">
                <a:solidFill>
                  <a:schemeClr val="dk1"/>
                </a:solidFill>
              </a:rPr>
              <a:t> </a:t>
            </a:r>
            <a:r>
              <a:rPr lang="en-US" sz="1800" dirty="0" err="1">
                <a:solidFill>
                  <a:schemeClr val="dk1"/>
                </a:solidFill>
              </a:rPr>
              <a:t>Mô</a:t>
            </a:r>
            <a:r>
              <a:rPr lang="en-US" sz="1800" dirty="0">
                <a:solidFill>
                  <a:schemeClr val="dk1"/>
                </a:solidFill>
              </a:rPr>
              <a:t> </a:t>
            </a:r>
            <a:r>
              <a:rPr lang="en-US" sz="1800" dirty="0" err="1">
                <a:solidFill>
                  <a:schemeClr val="dk1"/>
                </a:solidFill>
              </a:rPr>
              <a:t>phỏng</a:t>
            </a:r>
            <a:r>
              <a:rPr lang="en-US" sz="1800" dirty="0">
                <a:solidFill>
                  <a:schemeClr val="dk1"/>
                </a:solidFill>
              </a:rPr>
              <a:t> </a:t>
            </a:r>
            <a:r>
              <a:rPr lang="en-US" sz="1800" dirty="0" err="1">
                <a:solidFill>
                  <a:schemeClr val="dk1"/>
                </a:solidFill>
              </a:rPr>
              <a:t>cơ</a:t>
            </a:r>
            <a:r>
              <a:rPr lang="en-US" sz="1800" dirty="0">
                <a:solidFill>
                  <a:schemeClr val="dk1"/>
                </a:solidFill>
              </a:rPr>
              <a:t> </a:t>
            </a:r>
            <a:r>
              <a:rPr lang="en-US" sz="1800" dirty="0" err="1">
                <a:solidFill>
                  <a:schemeClr val="dk1"/>
                </a:solidFill>
              </a:rPr>
              <a:t>chế</a:t>
            </a:r>
            <a:r>
              <a:rPr lang="en-US" sz="1800" dirty="0">
                <a:solidFill>
                  <a:schemeClr val="dk1"/>
                </a:solidFill>
              </a:rPr>
              <a:t> </a:t>
            </a:r>
            <a:r>
              <a:rPr lang="en-US" sz="1800" dirty="0" err="1">
                <a:solidFill>
                  <a:schemeClr val="dk1"/>
                </a:solidFill>
              </a:rPr>
              <a:t>tìm</a:t>
            </a:r>
            <a:r>
              <a:rPr lang="en-US" sz="1800" dirty="0">
                <a:solidFill>
                  <a:schemeClr val="dk1"/>
                </a:solidFill>
              </a:rPr>
              <a:t> </a:t>
            </a:r>
            <a:r>
              <a:rPr lang="en-US" sz="1800" dirty="0" err="1">
                <a:solidFill>
                  <a:schemeClr val="dk1"/>
                </a:solidFill>
              </a:rPr>
              <a:t>đường</a:t>
            </a:r>
            <a:r>
              <a:rPr lang="en-US" sz="1800" dirty="0">
                <a:solidFill>
                  <a:schemeClr val="dk1"/>
                </a:solidFill>
              </a:rPr>
              <a:t> </a:t>
            </a:r>
            <a:r>
              <a:rPr lang="en-US" sz="1800" dirty="0" err="1">
                <a:solidFill>
                  <a:schemeClr val="dk1"/>
                </a:solidFill>
              </a:rPr>
              <a:t>tối</a:t>
            </a:r>
            <a:r>
              <a:rPr lang="en-US" sz="1800" dirty="0">
                <a:solidFill>
                  <a:schemeClr val="dk1"/>
                </a:solidFill>
              </a:rPr>
              <a:t> </a:t>
            </a:r>
            <a:r>
              <a:rPr lang="en-US" sz="1800" dirty="0" err="1">
                <a:solidFill>
                  <a:schemeClr val="dk1"/>
                </a:solidFill>
              </a:rPr>
              <a:t>ưu</a:t>
            </a:r>
            <a:r>
              <a:rPr lang="en-US" sz="1800" dirty="0">
                <a:solidFill>
                  <a:schemeClr val="dk1"/>
                </a:solidFill>
              </a:rPr>
              <a:t>, </a:t>
            </a:r>
            <a:r>
              <a:rPr lang="en-US" sz="1800" dirty="0" err="1">
                <a:solidFill>
                  <a:schemeClr val="dk1"/>
                </a:solidFill>
              </a:rPr>
              <a:t>cập</a:t>
            </a:r>
            <a:r>
              <a:rPr lang="en-US" sz="1800" dirty="0">
                <a:solidFill>
                  <a:schemeClr val="dk1"/>
                </a:solidFill>
              </a:rPr>
              <a:t> </a:t>
            </a:r>
            <a:r>
              <a:rPr lang="en-US" sz="1800" dirty="0" err="1">
                <a:solidFill>
                  <a:schemeClr val="dk1"/>
                </a:solidFill>
              </a:rPr>
              <a:t>nhật</a:t>
            </a:r>
            <a:r>
              <a:rPr lang="en-US" sz="1800" dirty="0">
                <a:solidFill>
                  <a:schemeClr val="dk1"/>
                </a:solidFill>
              </a:rPr>
              <a:t> pheromone </a:t>
            </a:r>
            <a:r>
              <a:rPr lang="en-US" sz="1800" dirty="0" err="1">
                <a:solidFill>
                  <a:schemeClr val="dk1"/>
                </a:solidFill>
              </a:rPr>
              <a:t>theo</a:t>
            </a:r>
            <a:r>
              <a:rPr lang="en-US" sz="1800" dirty="0">
                <a:solidFill>
                  <a:schemeClr val="dk1"/>
                </a:solidFill>
              </a:rPr>
              <a:t> </a:t>
            </a:r>
            <a:r>
              <a:rPr lang="en-US" sz="1800" dirty="0" err="1">
                <a:solidFill>
                  <a:schemeClr val="dk1"/>
                </a:solidFill>
              </a:rPr>
              <a:t>phản</a:t>
            </a:r>
            <a:r>
              <a:rPr lang="en-US" sz="1800" dirty="0">
                <a:solidFill>
                  <a:schemeClr val="dk1"/>
                </a:solidFill>
              </a:rPr>
              <a:t> </a:t>
            </a:r>
            <a:r>
              <a:rPr lang="en-US" sz="1800" dirty="0" err="1">
                <a:solidFill>
                  <a:schemeClr val="dk1"/>
                </a:solidFill>
              </a:rPr>
              <a:t>hồi</a:t>
            </a:r>
            <a:r>
              <a:rPr lang="en-US" sz="1800" dirty="0">
                <a:solidFill>
                  <a:schemeClr val="dk1"/>
                </a:solidFill>
              </a:rPr>
              <a:t> </a:t>
            </a:r>
            <a:r>
              <a:rPr lang="en-US" sz="1800" dirty="0" err="1">
                <a:solidFill>
                  <a:schemeClr val="dk1"/>
                </a:solidFill>
              </a:rPr>
              <a:t>tích</a:t>
            </a:r>
            <a:r>
              <a:rPr lang="en-US" sz="1800" dirty="0">
                <a:solidFill>
                  <a:schemeClr val="dk1"/>
                </a:solidFill>
              </a:rPr>
              <a:t> </a:t>
            </a:r>
            <a:r>
              <a:rPr lang="en-US" sz="1800" dirty="0" err="1">
                <a:solidFill>
                  <a:schemeClr val="dk1"/>
                </a:solidFill>
              </a:rPr>
              <a:t>cực</a:t>
            </a:r>
            <a:r>
              <a:rPr lang="en-US" sz="1800" dirty="0">
                <a:solidFill>
                  <a:schemeClr val="dk1"/>
                </a:solidFill>
              </a:rPr>
              <a:t>, </a:t>
            </a:r>
            <a:r>
              <a:rPr lang="en-US" sz="1800" dirty="0" err="1">
                <a:solidFill>
                  <a:schemeClr val="dk1"/>
                </a:solidFill>
              </a:rPr>
              <a:t>giúp</a:t>
            </a:r>
            <a:r>
              <a:rPr lang="en-US" sz="1800" dirty="0">
                <a:solidFill>
                  <a:schemeClr val="dk1"/>
                </a:solidFill>
              </a:rPr>
              <a:t> </a:t>
            </a:r>
            <a:r>
              <a:rPr lang="en-US" sz="1800" dirty="0" err="1">
                <a:solidFill>
                  <a:schemeClr val="dk1"/>
                </a:solidFill>
              </a:rPr>
              <a:t>cân</a:t>
            </a:r>
            <a:r>
              <a:rPr lang="en-US" sz="1800" dirty="0">
                <a:solidFill>
                  <a:schemeClr val="dk1"/>
                </a:solidFill>
              </a:rPr>
              <a:t> </a:t>
            </a:r>
            <a:r>
              <a:rPr lang="en-US" sz="1800" dirty="0" err="1">
                <a:solidFill>
                  <a:schemeClr val="dk1"/>
                </a:solidFill>
              </a:rPr>
              <a:t>bằng</a:t>
            </a:r>
            <a:r>
              <a:rPr lang="en-US" sz="1800" dirty="0">
                <a:solidFill>
                  <a:schemeClr val="dk1"/>
                </a:solidFill>
              </a:rPr>
              <a:t> </a:t>
            </a:r>
            <a:r>
              <a:rPr lang="en-US" sz="1800" dirty="0" err="1">
                <a:solidFill>
                  <a:schemeClr val="dk1"/>
                </a:solidFill>
              </a:rPr>
              <a:t>năng</a:t>
            </a:r>
            <a:r>
              <a:rPr lang="en-US" sz="1800" dirty="0">
                <a:solidFill>
                  <a:schemeClr val="dk1"/>
                </a:solidFill>
              </a:rPr>
              <a:t> </a:t>
            </a:r>
            <a:r>
              <a:rPr lang="en-US" sz="1800" dirty="0" err="1">
                <a:solidFill>
                  <a:schemeClr val="dk1"/>
                </a:solidFill>
              </a:rPr>
              <a:t>lượng</a:t>
            </a:r>
            <a:r>
              <a:rPr lang="en-US" sz="1800" dirty="0">
                <a:solidFill>
                  <a:schemeClr val="dk1"/>
                </a:solidFill>
              </a:rPr>
              <a:t> </a:t>
            </a:r>
            <a:r>
              <a:rPr lang="en-US" sz="1800" dirty="0" err="1">
                <a:solidFill>
                  <a:schemeClr val="dk1"/>
                </a:solidFill>
              </a:rPr>
              <a:t>trong</a:t>
            </a:r>
            <a:r>
              <a:rPr lang="en-US" sz="1800" dirty="0">
                <a:solidFill>
                  <a:schemeClr val="dk1"/>
                </a:solidFill>
              </a:rPr>
              <a:t> </a:t>
            </a:r>
            <a:r>
              <a:rPr lang="en-US" sz="1800" dirty="0" err="1">
                <a:solidFill>
                  <a:schemeClr val="dk1"/>
                </a:solidFill>
              </a:rPr>
              <a:t>truyền</a:t>
            </a:r>
            <a:r>
              <a:rPr lang="en-US" sz="1800" dirty="0">
                <a:solidFill>
                  <a:schemeClr val="dk1"/>
                </a:solidFill>
              </a:rPr>
              <a:t> </a:t>
            </a:r>
            <a:r>
              <a:rPr lang="en-US" sz="1800" dirty="0" err="1">
                <a:solidFill>
                  <a:schemeClr val="dk1"/>
                </a:solidFill>
              </a:rPr>
              <a:t>dữ</a:t>
            </a:r>
            <a:r>
              <a:rPr lang="en-US" sz="1800" dirty="0">
                <a:solidFill>
                  <a:schemeClr val="dk1"/>
                </a:solidFill>
              </a:rPr>
              <a:t> </a:t>
            </a:r>
            <a:r>
              <a:rPr lang="en-US" sz="1800" dirty="0" err="1">
                <a:solidFill>
                  <a:schemeClr val="dk1"/>
                </a:solidFill>
              </a:rPr>
              <a:t>liệu</a:t>
            </a:r>
            <a:r>
              <a:rPr lang="en-US" sz="1800" dirty="0">
                <a:solidFill>
                  <a:schemeClr val="dk1"/>
                </a:solidFill>
              </a:rPr>
              <a:t>.</a:t>
            </a:r>
            <a:br>
              <a:rPr lang="en-US" sz="1800" dirty="0">
                <a:solidFill>
                  <a:schemeClr val="dk1"/>
                </a:solidFill>
              </a:rPr>
            </a:br>
            <a:endParaRPr sz="1800" dirty="0">
              <a:solidFill>
                <a:schemeClr val="dk1"/>
              </a:solidFill>
            </a:endParaRPr>
          </a:p>
          <a:p>
            <a:pPr marL="914400" lvl="1" indent="-342900" algn="l" rtl="0">
              <a:lnSpc>
                <a:spcPct val="115000"/>
              </a:lnSpc>
              <a:spcBef>
                <a:spcPts val="0"/>
              </a:spcBef>
              <a:spcAft>
                <a:spcPts val="0"/>
              </a:spcAft>
              <a:buClr>
                <a:schemeClr val="dk1"/>
              </a:buClr>
              <a:buSzPts val="1800"/>
              <a:buChar char="○"/>
            </a:pPr>
            <a:r>
              <a:rPr lang="en-US" sz="1800" b="1" dirty="0" err="1">
                <a:solidFill>
                  <a:schemeClr val="dk1"/>
                </a:solidFill>
              </a:rPr>
              <a:t>Tối</a:t>
            </a:r>
            <a:r>
              <a:rPr lang="en-US" sz="1800" b="1" dirty="0">
                <a:solidFill>
                  <a:schemeClr val="dk1"/>
                </a:solidFill>
              </a:rPr>
              <a:t> </a:t>
            </a:r>
            <a:r>
              <a:rPr lang="en-US" sz="1800" b="1" dirty="0" err="1">
                <a:solidFill>
                  <a:schemeClr val="dk1"/>
                </a:solidFill>
              </a:rPr>
              <a:t>ưu</a:t>
            </a:r>
            <a:r>
              <a:rPr lang="en-US" sz="1800" b="1" dirty="0">
                <a:solidFill>
                  <a:schemeClr val="dk1"/>
                </a:solidFill>
              </a:rPr>
              <a:t> </a:t>
            </a:r>
            <a:r>
              <a:rPr lang="en-US" sz="1800" b="1" dirty="0" err="1">
                <a:solidFill>
                  <a:schemeClr val="dk1"/>
                </a:solidFill>
              </a:rPr>
              <a:t>hóa</a:t>
            </a:r>
            <a:r>
              <a:rPr lang="en-US" sz="1800" b="1" dirty="0">
                <a:solidFill>
                  <a:schemeClr val="dk1"/>
                </a:solidFill>
              </a:rPr>
              <a:t> </a:t>
            </a:r>
            <a:r>
              <a:rPr lang="en-US" sz="1800" b="1" dirty="0" err="1">
                <a:solidFill>
                  <a:schemeClr val="dk1"/>
                </a:solidFill>
              </a:rPr>
              <a:t>bầy</a:t>
            </a:r>
            <a:r>
              <a:rPr lang="en-US" sz="1800" b="1" dirty="0">
                <a:solidFill>
                  <a:schemeClr val="dk1"/>
                </a:solidFill>
              </a:rPr>
              <a:t> </a:t>
            </a:r>
            <a:r>
              <a:rPr lang="en-US" sz="1800" b="1" dirty="0" err="1">
                <a:solidFill>
                  <a:schemeClr val="dk1"/>
                </a:solidFill>
              </a:rPr>
              <a:t>đàn</a:t>
            </a:r>
            <a:r>
              <a:rPr lang="en-US" sz="1800" b="1" dirty="0">
                <a:solidFill>
                  <a:schemeClr val="dk1"/>
                </a:solidFill>
              </a:rPr>
              <a:t> </a:t>
            </a:r>
            <a:r>
              <a:rPr lang="en-US" sz="1800" b="1" dirty="0" err="1">
                <a:solidFill>
                  <a:schemeClr val="dk1"/>
                </a:solidFill>
              </a:rPr>
              <a:t>hạt</a:t>
            </a:r>
            <a:r>
              <a:rPr lang="en-US" sz="1800" b="1" dirty="0">
                <a:solidFill>
                  <a:schemeClr val="dk1"/>
                </a:solidFill>
              </a:rPr>
              <a:t> (PSO):</a:t>
            </a:r>
            <a:r>
              <a:rPr lang="en-US" sz="1800" dirty="0">
                <a:solidFill>
                  <a:schemeClr val="dk1"/>
                </a:solidFill>
              </a:rPr>
              <a:t> </a:t>
            </a:r>
            <a:r>
              <a:rPr lang="en-US" sz="1800" dirty="0" err="1">
                <a:solidFill>
                  <a:schemeClr val="dk1"/>
                </a:solidFill>
              </a:rPr>
              <a:t>Khả</a:t>
            </a:r>
            <a:r>
              <a:rPr lang="en-US" sz="1800" dirty="0">
                <a:solidFill>
                  <a:schemeClr val="dk1"/>
                </a:solidFill>
              </a:rPr>
              <a:t> </a:t>
            </a:r>
            <a:r>
              <a:rPr lang="en-US" sz="1800" dirty="0" err="1">
                <a:solidFill>
                  <a:schemeClr val="dk1"/>
                </a:solidFill>
              </a:rPr>
              <a:t>năng</a:t>
            </a:r>
            <a:r>
              <a:rPr lang="en-US" sz="1800" dirty="0">
                <a:solidFill>
                  <a:schemeClr val="dk1"/>
                </a:solidFill>
              </a:rPr>
              <a:t> </a:t>
            </a:r>
            <a:r>
              <a:rPr lang="en-US" sz="1800" dirty="0" err="1">
                <a:solidFill>
                  <a:schemeClr val="dk1"/>
                </a:solidFill>
              </a:rPr>
              <a:t>tìm</a:t>
            </a:r>
            <a:r>
              <a:rPr lang="en-US" sz="1800" dirty="0">
                <a:solidFill>
                  <a:schemeClr val="dk1"/>
                </a:solidFill>
              </a:rPr>
              <a:t> </a:t>
            </a:r>
            <a:r>
              <a:rPr lang="en-US" sz="1800" dirty="0" err="1">
                <a:solidFill>
                  <a:schemeClr val="dk1"/>
                </a:solidFill>
              </a:rPr>
              <a:t>kiếm</a:t>
            </a:r>
            <a:r>
              <a:rPr lang="en-US" sz="1800" dirty="0">
                <a:solidFill>
                  <a:schemeClr val="dk1"/>
                </a:solidFill>
              </a:rPr>
              <a:t> </a:t>
            </a:r>
            <a:r>
              <a:rPr lang="en-US" sz="1800" dirty="0" err="1">
                <a:solidFill>
                  <a:schemeClr val="dk1"/>
                </a:solidFill>
              </a:rPr>
              <a:t>toàn</a:t>
            </a:r>
            <a:r>
              <a:rPr lang="en-US" sz="1800" dirty="0">
                <a:solidFill>
                  <a:schemeClr val="dk1"/>
                </a:solidFill>
              </a:rPr>
              <a:t> </a:t>
            </a:r>
            <a:r>
              <a:rPr lang="en-US" sz="1800" dirty="0" err="1">
                <a:solidFill>
                  <a:schemeClr val="dk1"/>
                </a:solidFill>
              </a:rPr>
              <a:t>cục</a:t>
            </a:r>
            <a:r>
              <a:rPr lang="en-US" sz="1800" dirty="0">
                <a:solidFill>
                  <a:schemeClr val="dk1"/>
                </a:solidFill>
              </a:rPr>
              <a:t> </a:t>
            </a:r>
            <a:r>
              <a:rPr lang="en-US" sz="1800" dirty="0" err="1">
                <a:solidFill>
                  <a:schemeClr val="dk1"/>
                </a:solidFill>
              </a:rPr>
              <a:t>mạnh</a:t>
            </a:r>
            <a:r>
              <a:rPr lang="en-US" sz="1800" dirty="0">
                <a:solidFill>
                  <a:schemeClr val="dk1"/>
                </a:solidFill>
              </a:rPr>
              <a:t>, </a:t>
            </a:r>
            <a:r>
              <a:rPr lang="en-US" sz="1800" dirty="0" err="1">
                <a:solidFill>
                  <a:schemeClr val="dk1"/>
                </a:solidFill>
              </a:rPr>
              <a:t>hỗ</a:t>
            </a:r>
            <a:r>
              <a:rPr lang="en-US" sz="1800" dirty="0">
                <a:solidFill>
                  <a:schemeClr val="dk1"/>
                </a:solidFill>
              </a:rPr>
              <a:t> </a:t>
            </a:r>
            <a:r>
              <a:rPr lang="en-US" sz="1800" dirty="0" err="1">
                <a:solidFill>
                  <a:schemeClr val="dk1"/>
                </a:solidFill>
              </a:rPr>
              <a:t>trợ</a:t>
            </a:r>
            <a:r>
              <a:rPr lang="en-US" sz="1800" dirty="0">
                <a:solidFill>
                  <a:schemeClr val="dk1"/>
                </a:solidFill>
              </a:rPr>
              <a:t> </a:t>
            </a:r>
            <a:r>
              <a:rPr lang="en-US" sz="1800" dirty="0" err="1">
                <a:solidFill>
                  <a:schemeClr val="dk1"/>
                </a:solidFill>
              </a:rPr>
              <a:t>lựa</a:t>
            </a:r>
            <a:r>
              <a:rPr lang="en-US" sz="1800" dirty="0">
                <a:solidFill>
                  <a:schemeClr val="dk1"/>
                </a:solidFill>
              </a:rPr>
              <a:t> </a:t>
            </a:r>
            <a:r>
              <a:rPr lang="en-US" sz="1800" dirty="0" err="1">
                <a:solidFill>
                  <a:schemeClr val="dk1"/>
                </a:solidFill>
              </a:rPr>
              <a:t>chọn</a:t>
            </a:r>
            <a:r>
              <a:rPr lang="en-US" sz="1800" dirty="0">
                <a:solidFill>
                  <a:schemeClr val="dk1"/>
                </a:solidFill>
              </a:rPr>
              <a:t> </a:t>
            </a:r>
            <a:r>
              <a:rPr lang="en-US" sz="1800" dirty="0" err="1">
                <a:solidFill>
                  <a:schemeClr val="dk1"/>
                </a:solidFill>
              </a:rPr>
              <a:t>trưởng</a:t>
            </a:r>
            <a:r>
              <a:rPr lang="en-US" sz="1800" dirty="0">
                <a:solidFill>
                  <a:schemeClr val="dk1"/>
                </a:solidFill>
              </a:rPr>
              <a:t> </a:t>
            </a:r>
            <a:r>
              <a:rPr lang="en-US" sz="1800" dirty="0" err="1">
                <a:solidFill>
                  <a:schemeClr val="dk1"/>
                </a:solidFill>
              </a:rPr>
              <a:t>cụm</a:t>
            </a:r>
            <a:r>
              <a:rPr lang="en-US" sz="1800" dirty="0">
                <a:solidFill>
                  <a:schemeClr val="dk1"/>
                </a:solidFill>
              </a:rPr>
              <a:t> </a:t>
            </a:r>
            <a:r>
              <a:rPr lang="en-US" sz="1800" dirty="0" err="1">
                <a:solidFill>
                  <a:schemeClr val="dk1"/>
                </a:solidFill>
              </a:rPr>
              <a:t>tối</a:t>
            </a:r>
            <a:r>
              <a:rPr lang="en-US" sz="1800" dirty="0">
                <a:solidFill>
                  <a:schemeClr val="dk1"/>
                </a:solidFill>
              </a:rPr>
              <a:t> </a:t>
            </a:r>
            <a:r>
              <a:rPr lang="en-US" sz="1800" dirty="0" err="1">
                <a:solidFill>
                  <a:schemeClr val="dk1"/>
                </a:solidFill>
              </a:rPr>
              <a:t>ưu</a:t>
            </a:r>
            <a:r>
              <a:rPr lang="en-US" sz="1800" dirty="0">
                <a:solidFill>
                  <a:schemeClr val="dk1"/>
                </a:solidFill>
              </a:rPr>
              <a:t> </a:t>
            </a:r>
            <a:r>
              <a:rPr lang="en-US" sz="1800" dirty="0" err="1">
                <a:solidFill>
                  <a:schemeClr val="dk1"/>
                </a:solidFill>
              </a:rPr>
              <a:t>trong</a:t>
            </a:r>
            <a:r>
              <a:rPr lang="en-US" sz="1800" dirty="0">
                <a:solidFill>
                  <a:schemeClr val="dk1"/>
                </a:solidFill>
              </a:rPr>
              <a:t> </a:t>
            </a:r>
            <a:r>
              <a:rPr lang="en-US" sz="1800" dirty="0" err="1">
                <a:solidFill>
                  <a:schemeClr val="dk1"/>
                </a:solidFill>
              </a:rPr>
              <a:t>mạng</a:t>
            </a:r>
            <a:r>
              <a:rPr lang="en-US" sz="1800" dirty="0">
                <a:solidFill>
                  <a:schemeClr val="dk1"/>
                </a:solidFill>
              </a:rPr>
              <a:t> </a:t>
            </a:r>
            <a:r>
              <a:rPr lang="en-US" sz="1800" dirty="0" err="1">
                <a:solidFill>
                  <a:schemeClr val="dk1"/>
                </a:solidFill>
              </a:rPr>
              <a:t>động</a:t>
            </a:r>
            <a:r>
              <a:rPr lang="en-US" sz="1800" dirty="0">
                <a:solidFill>
                  <a:schemeClr val="dk1"/>
                </a:solidFill>
              </a:rPr>
              <a:t>.</a:t>
            </a:r>
            <a:br>
              <a:rPr lang="en-US" sz="1800" dirty="0">
                <a:solidFill>
                  <a:schemeClr val="dk1"/>
                </a:solidFill>
              </a:rPr>
            </a:br>
            <a:endParaRPr sz="18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n-US" sz="1800" b="1" dirty="0" err="1">
                <a:solidFill>
                  <a:schemeClr val="dk1"/>
                </a:solidFill>
              </a:rPr>
              <a:t>Hiệu</a:t>
            </a:r>
            <a:r>
              <a:rPr lang="en-US" sz="1800" b="1" dirty="0">
                <a:solidFill>
                  <a:schemeClr val="dk1"/>
                </a:solidFill>
              </a:rPr>
              <a:t> </a:t>
            </a:r>
            <a:r>
              <a:rPr lang="en-US" sz="1800" b="1" dirty="0" err="1">
                <a:solidFill>
                  <a:schemeClr val="dk1"/>
                </a:solidFill>
              </a:rPr>
              <a:t>quả</a:t>
            </a:r>
            <a:r>
              <a:rPr lang="en-US" sz="1800" b="1" dirty="0">
                <a:solidFill>
                  <a:schemeClr val="dk1"/>
                </a:solidFill>
              </a:rPr>
              <a:t>:</a:t>
            </a:r>
            <a:r>
              <a:rPr lang="en-US" sz="1800" dirty="0">
                <a:solidFill>
                  <a:schemeClr val="dk1"/>
                </a:solidFill>
              </a:rPr>
              <a:t> </a:t>
            </a:r>
            <a:r>
              <a:rPr lang="en-US" sz="1800" dirty="0" err="1">
                <a:solidFill>
                  <a:schemeClr val="dk1"/>
                </a:solidFill>
              </a:rPr>
              <a:t>Các</a:t>
            </a:r>
            <a:r>
              <a:rPr lang="en-US" sz="1800" dirty="0">
                <a:solidFill>
                  <a:schemeClr val="dk1"/>
                </a:solidFill>
              </a:rPr>
              <a:t> </a:t>
            </a:r>
            <a:r>
              <a:rPr lang="en-US" sz="1800" dirty="0" err="1">
                <a:solidFill>
                  <a:schemeClr val="dk1"/>
                </a:solidFill>
              </a:rPr>
              <a:t>giao</a:t>
            </a:r>
            <a:r>
              <a:rPr lang="en-US" sz="1800" dirty="0">
                <a:solidFill>
                  <a:schemeClr val="dk1"/>
                </a:solidFill>
              </a:rPr>
              <a:t> </a:t>
            </a:r>
            <a:r>
              <a:rPr lang="en-US" sz="1800" dirty="0" err="1">
                <a:solidFill>
                  <a:schemeClr val="dk1"/>
                </a:solidFill>
              </a:rPr>
              <a:t>thức</a:t>
            </a:r>
            <a:r>
              <a:rPr lang="en-US" sz="1800" dirty="0">
                <a:solidFill>
                  <a:schemeClr val="dk1"/>
                </a:solidFill>
              </a:rPr>
              <a:t> </a:t>
            </a:r>
            <a:r>
              <a:rPr lang="en-US" sz="1800" dirty="0" err="1">
                <a:solidFill>
                  <a:schemeClr val="dk1"/>
                </a:solidFill>
              </a:rPr>
              <a:t>định</a:t>
            </a:r>
            <a:r>
              <a:rPr lang="en-US" sz="1800" dirty="0">
                <a:solidFill>
                  <a:schemeClr val="dk1"/>
                </a:solidFill>
              </a:rPr>
              <a:t> </a:t>
            </a:r>
            <a:r>
              <a:rPr lang="en-US" sz="1800" dirty="0" err="1">
                <a:solidFill>
                  <a:schemeClr val="dk1"/>
                </a:solidFill>
              </a:rPr>
              <a:t>tuyến</a:t>
            </a:r>
            <a:r>
              <a:rPr lang="en-US" sz="1800" dirty="0">
                <a:solidFill>
                  <a:schemeClr val="dk1"/>
                </a:solidFill>
              </a:rPr>
              <a:t> </a:t>
            </a:r>
            <a:r>
              <a:rPr lang="en-US" sz="1800" dirty="0" err="1">
                <a:solidFill>
                  <a:schemeClr val="dk1"/>
                </a:solidFill>
              </a:rPr>
              <a:t>dựa</a:t>
            </a:r>
            <a:r>
              <a:rPr lang="en-US" sz="1800" dirty="0">
                <a:solidFill>
                  <a:schemeClr val="dk1"/>
                </a:solidFill>
              </a:rPr>
              <a:t> </a:t>
            </a:r>
            <a:r>
              <a:rPr lang="en-US" sz="1800" dirty="0" err="1">
                <a:solidFill>
                  <a:schemeClr val="dk1"/>
                </a:solidFill>
              </a:rPr>
              <a:t>trên</a:t>
            </a:r>
            <a:r>
              <a:rPr lang="en-US" sz="1800" dirty="0">
                <a:solidFill>
                  <a:schemeClr val="dk1"/>
                </a:solidFill>
              </a:rPr>
              <a:t> </a:t>
            </a:r>
            <a:r>
              <a:rPr lang="en-US" sz="1800" dirty="0" err="1">
                <a:solidFill>
                  <a:schemeClr val="dk1"/>
                </a:solidFill>
              </a:rPr>
              <a:t>trí</a:t>
            </a:r>
            <a:r>
              <a:rPr lang="en-US" sz="1800" dirty="0">
                <a:solidFill>
                  <a:schemeClr val="dk1"/>
                </a:solidFill>
              </a:rPr>
              <a:t> </a:t>
            </a:r>
            <a:r>
              <a:rPr lang="en-US" sz="1800" dirty="0" err="1">
                <a:solidFill>
                  <a:schemeClr val="dk1"/>
                </a:solidFill>
              </a:rPr>
              <a:t>tuệ</a:t>
            </a:r>
            <a:r>
              <a:rPr lang="en-US" sz="1800" dirty="0">
                <a:solidFill>
                  <a:schemeClr val="dk1"/>
                </a:solidFill>
              </a:rPr>
              <a:t> </a:t>
            </a:r>
            <a:r>
              <a:rPr lang="en-US" sz="1800" dirty="0" err="1">
                <a:solidFill>
                  <a:schemeClr val="dk1"/>
                </a:solidFill>
              </a:rPr>
              <a:t>bầy</a:t>
            </a:r>
            <a:r>
              <a:rPr lang="en-US" sz="1800" dirty="0">
                <a:solidFill>
                  <a:schemeClr val="dk1"/>
                </a:solidFill>
              </a:rPr>
              <a:t> </a:t>
            </a:r>
            <a:r>
              <a:rPr lang="en-US" sz="1800" dirty="0" err="1">
                <a:solidFill>
                  <a:schemeClr val="dk1"/>
                </a:solidFill>
              </a:rPr>
              <a:t>đàn</a:t>
            </a:r>
            <a:r>
              <a:rPr lang="en-US" sz="1800" dirty="0">
                <a:solidFill>
                  <a:schemeClr val="dk1"/>
                </a:solidFill>
              </a:rPr>
              <a:t> </a:t>
            </a:r>
            <a:r>
              <a:rPr lang="en-US" sz="1800" dirty="0" err="1">
                <a:solidFill>
                  <a:schemeClr val="dk1"/>
                </a:solidFill>
              </a:rPr>
              <a:t>có</a:t>
            </a:r>
            <a:r>
              <a:rPr lang="en-US" sz="1800" dirty="0">
                <a:solidFill>
                  <a:schemeClr val="dk1"/>
                </a:solidFill>
              </a:rPr>
              <a:t> </a:t>
            </a:r>
            <a:r>
              <a:rPr lang="en-US" sz="1800" dirty="0" err="1">
                <a:solidFill>
                  <a:schemeClr val="dk1"/>
                </a:solidFill>
              </a:rPr>
              <a:t>thể</a:t>
            </a:r>
            <a:r>
              <a:rPr lang="en-US" sz="1800" dirty="0">
                <a:solidFill>
                  <a:schemeClr val="dk1"/>
                </a:solidFill>
              </a:rPr>
              <a:t> </a:t>
            </a:r>
            <a:r>
              <a:rPr lang="en-US" sz="1800" dirty="0" err="1">
                <a:solidFill>
                  <a:schemeClr val="dk1"/>
                </a:solidFill>
              </a:rPr>
              <a:t>kéo</a:t>
            </a:r>
            <a:r>
              <a:rPr lang="en-US" sz="1800" dirty="0">
                <a:solidFill>
                  <a:schemeClr val="dk1"/>
                </a:solidFill>
              </a:rPr>
              <a:t> </a:t>
            </a:r>
            <a:r>
              <a:rPr lang="en-US" sz="1800" dirty="0" err="1">
                <a:solidFill>
                  <a:schemeClr val="dk1"/>
                </a:solidFill>
              </a:rPr>
              <a:t>dài</a:t>
            </a:r>
            <a:r>
              <a:rPr lang="en-US" sz="1800" dirty="0">
                <a:solidFill>
                  <a:schemeClr val="dk1"/>
                </a:solidFill>
              </a:rPr>
              <a:t> </a:t>
            </a:r>
            <a:r>
              <a:rPr lang="en-US" sz="1800" dirty="0" err="1">
                <a:solidFill>
                  <a:schemeClr val="dk1"/>
                </a:solidFill>
              </a:rPr>
              <a:t>tuổi</a:t>
            </a:r>
            <a:r>
              <a:rPr lang="en-US" sz="1800" dirty="0">
                <a:solidFill>
                  <a:schemeClr val="dk1"/>
                </a:solidFill>
              </a:rPr>
              <a:t> </a:t>
            </a:r>
            <a:r>
              <a:rPr lang="en-US" sz="1800" dirty="0" err="1">
                <a:solidFill>
                  <a:schemeClr val="dk1"/>
                </a:solidFill>
              </a:rPr>
              <a:t>thọ</a:t>
            </a:r>
            <a:r>
              <a:rPr lang="en-US" sz="1800" dirty="0">
                <a:solidFill>
                  <a:schemeClr val="dk1"/>
                </a:solidFill>
              </a:rPr>
              <a:t> </a:t>
            </a:r>
            <a:r>
              <a:rPr lang="en-US" sz="1800" dirty="0" err="1">
                <a:solidFill>
                  <a:schemeClr val="dk1"/>
                </a:solidFill>
              </a:rPr>
              <a:t>mạng</a:t>
            </a:r>
            <a:r>
              <a:rPr lang="en-US" sz="1800" dirty="0">
                <a:solidFill>
                  <a:schemeClr val="dk1"/>
                </a:solidFill>
              </a:rPr>
              <a:t> </a:t>
            </a:r>
            <a:r>
              <a:rPr lang="en-US" sz="1800" dirty="0" err="1">
                <a:solidFill>
                  <a:schemeClr val="dk1"/>
                </a:solidFill>
              </a:rPr>
              <a:t>thêm</a:t>
            </a:r>
            <a:r>
              <a:rPr lang="en-US" sz="1800" dirty="0">
                <a:solidFill>
                  <a:schemeClr val="dk1"/>
                </a:solidFill>
              </a:rPr>
              <a:t> </a:t>
            </a:r>
            <a:r>
              <a:rPr lang="en-US" sz="1800" b="1" dirty="0">
                <a:solidFill>
                  <a:schemeClr val="dk1"/>
                </a:solidFill>
              </a:rPr>
              <a:t>30%–45%</a:t>
            </a:r>
            <a:r>
              <a:rPr lang="en-US" sz="1800" dirty="0">
                <a:solidFill>
                  <a:schemeClr val="dk1"/>
                </a:solidFill>
              </a:rPr>
              <a:t> </a:t>
            </a:r>
            <a:r>
              <a:rPr lang="en-US" sz="1800" dirty="0" err="1">
                <a:solidFill>
                  <a:schemeClr val="dk1"/>
                </a:solidFill>
              </a:rPr>
              <a:t>và</a:t>
            </a:r>
            <a:r>
              <a:rPr lang="en-US" sz="1800" dirty="0">
                <a:solidFill>
                  <a:schemeClr val="dk1"/>
                </a:solidFill>
              </a:rPr>
              <a:t> </a:t>
            </a:r>
            <a:r>
              <a:rPr lang="en-US" sz="1800" dirty="0" err="1">
                <a:solidFill>
                  <a:schemeClr val="dk1"/>
                </a:solidFill>
              </a:rPr>
              <a:t>giảm</a:t>
            </a:r>
            <a:r>
              <a:rPr lang="en-US" sz="1800" dirty="0">
                <a:solidFill>
                  <a:schemeClr val="dk1"/>
                </a:solidFill>
              </a:rPr>
              <a:t> </a:t>
            </a:r>
            <a:r>
              <a:rPr lang="en-US" sz="1800" dirty="0" err="1">
                <a:solidFill>
                  <a:schemeClr val="dk1"/>
                </a:solidFill>
              </a:rPr>
              <a:t>độ</a:t>
            </a:r>
            <a:r>
              <a:rPr lang="en-US" sz="1800" dirty="0">
                <a:solidFill>
                  <a:schemeClr val="dk1"/>
                </a:solidFill>
              </a:rPr>
              <a:t> </a:t>
            </a:r>
            <a:r>
              <a:rPr lang="en-US" sz="1800" dirty="0" err="1">
                <a:solidFill>
                  <a:schemeClr val="dk1"/>
                </a:solidFill>
              </a:rPr>
              <a:t>trễ</a:t>
            </a:r>
            <a:r>
              <a:rPr lang="en-US" sz="1800" dirty="0">
                <a:solidFill>
                  <a:schemeClr val="dk1"/>
                </a:solidFill>
              </a:rPr>
              <a:t> </a:t>
            </a:r>
            <a:r>
              <a:rPr lang="en-US" sz="1800" dirty="0" err="1">
                <a:solidFill>
                  <a:schemeClr val="dk1"/>
                </a:solidFill>
              </a:rPr>
              <a:t>truyền</a:t>
            </a:r>
            <a:r>
              <a:rPr lang="en-US" sz="1800" dirty="0">
                <a:solidFill>
                  <a:schemeClr val="dk1"/>
                </a:solidFill>
              </a:rPr>
              <a:t> </a:t>
            </a:r>
            <a:r>
              <a:rPr lang="en-US" sz="1800" dirty="0" err="1">
                <a:solidFill>
                  <a:schemeClr val="dk1"/>
                </a:solidFill>
              </a:rPr>
              <a:t>khoảng</a:t>
            </a:r>
            <a:r>
              <a:rPr lang="en-US" sz="1800" dirty="0">
                <a:solidFill>
                  <a:schemeClr val="dk1"/>
                </a:solidFill>
              </a:rPr>
              <a:t> </a:t>
            </a:r>
            <a:r>
              <a:rPr lang="en-US" sz="1800" b="1" dirty="0">
                <a:solidFill>
                  <a:schemeClr val="dk1"/>
                </a:solidFill>
              </a:rPr>
              <a:t>25%</a:t>
            </a:r>
            <a:r>
              <a:rPr lang="en-US" sz="1800" dirty="0">
                <a:solidFill>
                  <a:schemeClr val="dk1"/>
                </a:solidFill>
              </a:rPr>
              <a:t>.</a:t>
            </a:r>
            <a:br>
              <a:rPr lang="en-US" sz="1800" dirty="0">
                <a:solidFill>
                  <a:schemeClr val="dk1"/>
                </a:solidFill>
              </a:rPr>
            </a:br>
            <a:endParaRPr sz="1800" dirty="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20204"/>
              <a:buNone/>
            </a:pPr>
            <a:endParaRPr sz="1800" dirty="0">
              <a:solidFill>
                <a:schemeClr val="dk1"/>
              </a:solidFill>
            </a:endParaRPr>
          </a:p>
          <a:p>
            <a:pPr marL="0" marR="0" lvl="0" indent="0" algn="l" rtl="0">
              <a:spcBef>
                <a:spcPts val="1200"/>
              </a:spcBef>
              <a:spcAft>
                <a:spcPts val="0"/>
              </a:spcAft>
              <a:buNone/>
            </a:pPr>
            <a:endParaRPr sz="1800" dirty="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2"/>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12</a:t>
            </a:fld>
            <a:endParaRPr lang="en-US"/>
          </a:p>
        </p:txBody>
      </p:sp>
      <p:sp>
        <p:nvSpPr>
          <p:cNvPr id="128" name="Google Shape;128;p22"/>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457200" lvl="0" indent="-406400" algn="l" rtl="0">
              <a:spcBef>
                <a:spcPts val="0"/>
              </a:spcBef>
              <a:spcAft>
                <a:spcPts val="0"/>
              </a:spcAft>
              <a:buSzPts val="2800"/>
              <a:buAutoNum type="arabicPeriod"/>
            </a:pPr>
            <a:r>
              <a:rPr lang="en-US"/>
              <a:t>Động cơ nghiên cứu</a:t>
            </a:r>
          </a:p>
          <a:p>
            <a:pPr marL="0" lvl="0" indent="0" algn="l" rtl="0">
              <a:lnSpc>
                <a:spcPct val="90000"/>
              </a:lnSpc>
              <a:spcBef>
                <a:spcPts val="0"/>
              </a:spcBef>
              <a:spcAft>
                <a:spcPts val="0"/>
              </a:spcAft>
              <a:buClr>
                <a:schemeClr val="lt1"/>
              </a:buClr>
              <a:buSzPts val="2800"/>
              <a:buFont typeface="Lato" panose="020F0502020204030203"/>
              <a:buNone/>
            </a:pPr>
            <a:endParaRPr lang="en-US"/>
          </a:p>
        </p:txBody>
      </p:sp>
      <p:sp>
        <p:nvSpPr>
          <p:cNvPr id="129" name="Google Shape;129;p22"/>
          <p:cNvSpPr txBox="1">
            <a:spLocks noGrp="1"/>
          </p:cNvSpPr>
          <p:nvPr>
            <p:ph type="body" idx="1"/>
          </p:nvPr>
        </p:nvSpPr>
        <p:spPr>
          <a:xfrm>
            <a:off x="234950" y="963168"/>
            <a:ext cx="8674100" cy="513283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Bối cảnh: WSN có triển vọng ứng dụng rộng rãi, nhưng các vấn đề về hiệu quả năng lượng, tuổi thọ mạng và độ tin cậy truyền dữ liệu vẫn là tâm điểm chú ý.</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Các giải pháp hiện có: Nhiều giao thức phân cụm và thuật toán tối ưu hóa đã được đề xuất. Trong số đó, các thuật toán lấy cảm hứng từ sinh học (bio-inspired) được áp dụng rộng rãi do khả năng tìm kiếm toàn cục và khả năng thích ứng tuyệt vời.</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200"/>
              </a:spcBef>
              <a:spcAft>
                <a:spcPts val="0"/>
              </a:spcAft>
              <a:buClr>
                <a:schemeClr val="dk1"/>
              </a:buClr>
              <a:buSzPts val="1100"/>
              <a:buNone/>
            </a:pPr>
            <a:r>
              <a:rPr lang="en-US" sz="1800">
                <a:latin typeface="Times New Roman" panose="02020603050405020304"/>
                <a:ea typeface="Times New Roman" panose="02020603050405020304"/>
                <a:cs typeface="Times New Roman" panose="02020603050405020304"/>
                <a:sym typeface="Times New Roman" panose="02020603050405020304"/>
              </a:rPr>
              <a:t>Hạn chế: Thuật toán sinh học truyền thống còn hội tụ chậm và dễ mắc kẹt tối ưu cục bộ.</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200"/>
              </a:spcBef>
              <a:spcAft>
                <a:spcPts val="0"/>
              </a:spcAft>
              <a:buClr>
                <a:schemeClr val="dk1"/>
              </a:buClr>
              <a:buSzPts val="1100"/>
              <a:buNone/>
            </a:pPr>
            <a:r>
              <a:rPr lang="en-US" sz="1800">
                <a:latin typeface="Times New Roman" panose="02020603050405020304"/>
                <a:ea typeface="Times New Roman" panose="02020603050405020304"/>
                <a:cs typeface="Times New Roman" panose="02020603050405020304"/>
                <a:sym typeface="Times New Roman" panose="02020603050405020304"/>
              </a:rPr>
              <a:t>Hướng cải tiến: Ứng dụng toán tử thích ứng, ánh xạ hỗn loạn, chiến lược tinh hoa để nâng cao hiệu suất.</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2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5"/>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1"/>
              </a:buClr>
              <a:buSzPts val="2800"/>
              <a:buFont typeface="Lato" panose="020F0502020204030203"/>
              <a:buNone/>
            </a:pPr>
            <a:r>
              <a:rPr lang="en-US" altLang="en-US"/>
              <a:t>1. Động cơ nghiên cứu</a:t>
            </a:r>
            <a:br>
              <a:rPr lang="en-US" altLang="en-US"/>
            </a:br>
            <a:endParaRPr lang="en-US" altLang="en-US"/>
          </a:p>
        </p:txBody>
      </p:sp>
      <p:sp>
        <p:nvSpPr>
          <p:cNvPr id="149" name="Google Shape;149;p25"/>
          <p:cNvSpPr txBox="1">
            <a:spLocks noGrp="1"/>
          </p:cNvSpPr>
          <p:nvPr>
            <p:ph type="body" idx="1"/>
          </p:nvPr>
        </p:nvSpPr>
        <p:spPr>
          <a:xfrm>
            <a:off x="317575" y="806451"/>
            <a:ext cx="8674200" cy="57657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None/>
            </a:pPr>
            <a:endParaRPr sz="1800" b="1">
              <a:solidFill>
                <a:srgbClr val="131314"/>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400"/>
              </a:spcBef>
              <a:spcAft>
                <a:spcPts val="0"/>
              </a:spcAft>
              <a:buNone/>
            </a:pPr>
            <a:r>
              <a:rPr lang="en-US" sz="1800" b="1">
                <a:solidFill>
                  <a:srgbClr val="131314"/>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Hai khía cạnh chính của ứng dụng lý thuyết hỗn loạn:</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200"/>
              </a:spcBef>
              <a:spcAft>
                <a:spcPts val="0"/>
              </a:spcAft>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200"/>
              </a:spcBef>
              <a:spcAft>
                <a:spcPts val="0"/>
              </a:spcAft>
              <a:buNone/>
            </a:pPr>
            <a:r>
              <a:rPr lang="en-US" sz="1800">
                <a:latin typeface="Times New Roman" panose="02020603050405020304"/>
                <a:ea typeface="Times New Roman" panose="02020603050405020304"/>
                <a:cs typeface="Times New Roman" panose="02020603050405020304"/>
                <a:sym typeface="Times New Roman" panose="02020603050405020304"/>
              </a:rPr>
              <a:t>Chiến lược này mang lại hiệu suất toàn diện vượt trội cho WSN, chủ yếu nhờ vào việc giới thiệu cơ chế ánh xạ hỗn loạn.</a:t>
            </a:r>
            <a:endParaRPr sz="180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115000"/>
              </a:lnSpc>
              <a:spcBef>
                <a:spcPts val="1200"/>
              </a:spcBef>
              <a:spcAft>
                <a:spcPts val="0"/>
              </a:spcAft>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115000"/>
              </a:lnSpc>
              <a:spcBef>
                <a:spcPts val="1200"/>
              </a:spcBef>
              <a:spcAft>
                <a:spcPts val="0"/>
              </a:spcAft>
              <a:buSzPts val="1800"/>
              <a:buFont typeface="Times New Roman" panose="02020603050405020304"/>
              <a:buChar char="●"/>
            </a:pPr>
            <a:r>
              <a:rPr lang="en-US" sz="1800">
                <a:latin typeface="Times New Roman" panose="02020603050405020304"/>
                <a:ea typeface="Times New Roman" panose="02020603050405020304"/>
                <a:cs typeface="Times New Roman" panose="02020603050405020304"/>
                <a:sym typeface="Times New Roman" panose="02020603050405020304"/>
              </a:rPr>
              <a:t>Tăng cường: Nâng cao tính mạnh mẽ và khả năng thích ứng của mạng.</a:t>
            </a:r>
            <a:endParaRPr sz="180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115000"/>
              </a:lnSpc>
              <a:spcBef>
                <a:spcPts val="1200"/>
              </a:spcBef>
              <a:spcAft>
                <a:spcPts val="0"/>
              </a:spcAft>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115000"/>
              </a:lnSpc>
              <a:spcBef>
                <a:spcPts val="1200"/>
              </a:spcBef>
              <a:spcAft>
                <a:spcPts val="0"/>
              </a:spcAft>
              <a:buSzPts val="1800"/>
              <a:buFont typeface="Times New Roman" panose="02020603050405020304"/>
              <a:buChar char="●"/>
            </a:pPr>
            <a:r>
              <a:rPr lang="en-US" sz="1800">
                <a:latin typeface="Times New Roman" panose="02020603050405020304"/>
                <a:ea typeface="Times New Roman" panose="02020603050405020304"/>
                <a:cs typeface="Times New Roman" panose="02020603050405020304"/>
                <a:sym typeface="Times New Roman" panose="02020603050405020304"/>
              </a:rPr>
              <a:t>Tối ưu hóa: Cải thiện khả năng tìm kiếm toàn cục của thuật toán, dẫn đến tối ưu hóa tốt hơn về:Tiêu thụ năng lượng, Ổn định truyền dữ liệu, Kéo dài tuổi thọ mạng</a:t>
            </a:r>
            <a:endParaRPr sz="1800">
              <a:latin typeface="Times New Roman" panose="02020603050405020304"/>
              <a:ea typeface="Times New Roman" panose="02020603050405020304"/>
              <a:cs typeface="Times New Roman" panose="02020603050405020304"/>
              <a:sym typeface="Times New Roman" panose="02020603050405020304"/>
            </a:endParaRPr>
          </a:p>
          <a:p>
            <a:pPr marL="228600" lvl="0" indent="0" algn="l" rtl="0">
              <a:lnSpc>
                <a:spcPct val="90000"/>
              </a:lnSpc>
              <a:spcBef>
                <a:spcPts val="1200"/>
              </a:spcBef>
              <a:spcAft>
                <a:spcPts val="0"/>
              </a:spcAft>
              <a:buNone/>
            </a:pPr>
            <a:endParaRPr sz="1800">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p25"/>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13</a:t>
            </a:fld>
            <a:endParaRPr 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6"/>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14</a:t>
            </a:fld>
            <a:endParaRPr lang="en-US"/>
          </a:p>
        </p:txBody>
      </p:sp>
      <p:sp>
        <p:nvSpPr>
          <p:cNvPr id="156" name="Google Shape;156;p26"/>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1"/>
              </a:buClr>
              <a:buSzPts val="2800"/>
              <a:buFont typeface="Lato" panose="020F0502020204030203"/>
              <a:buNone/>
            </a:pPr>
            <a:r>
              <a:rPr lang="en-US" altLang="en-US"/>
              <a:t>1. Động cơ nghiên cứu</a:t>
            </a:r>
            <a:br>
              <a:rPr lang="en-US" altLang="en-US"/>
            </a:br>
            <a:endParaRPr lang="en-US" altLang="en-US"/>
          </a:p>
        </p:txBody>
      </p:sp>
      <p:sp>
        <p:nvSpPr>
          <p:cNvPr id="157" name="Google Shape;157;p26"/>
          <p:cNvSpPr txBox="1"/>
          <p:nvPr/>
        </p:nvSpPr>
        <p:spPr>
          <a:xfrm>
            <a:off x="303530" y="989330"/>
            <a:ext cx="8512810" cy="355854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panose="020B0604020202020204"/>
              <a:buNone/>
            </a:pPr>
            <a:r>
              <a:rPr lang="en-US" sz="1800" b="1">
                <a:solidFill>
                  <a:schemeClr val="dk1"/>
                </a:solidFill>
                <a:latin typeface="Times New Roman" panose="02020603050405020304"/>
                <a:ea typeface="Times New Roman" panose="02020603050405020304"/>
                <a:cs typeface="Times New Roman" panose="02020603050405020304"/>
                <a:sym typeface="Times New Roman" panose="02020603050405020304"/>
              </a:rPr>
              <a:t>Lợi ích của chiến lược hỗn loạn trong tối ưu hóa định tuyến WSN</a:t>
            </a:r>
            <a:endParaRPr sz="18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115000"/>
              </a:lnSpc>
              <a:spcBef>
                <a:spcPts val="1200"/>
              </a:spcBef>
              <a:spcAft>
                <a:spcPts val="0"/>
              </a:spcAft>
              <a:buClr>
                <a:schemeClr val="dk1"/>
              </a:buClr>
              <a:buSzPts val="1800"/>
              <a:buFont typeface="Times New Roman" panose="02020603050405020304"/>
              <a:buChar char="●"/>
            </a:pPr>
            <a:r>
              <a:rPr lang="en-US" sz="1800" b="1">
                <a:solidFill>
                  <a:schemeClr val="dk1"/>
                </a:solidFill>
                <a:latin typeface="Times New Roman" panose="02020603050405020304"/>
                <a:ea typeface="Times New Roman" panose="02020603050405020304"/>
                <a:cs typeface="Times New Roman" panose="02020603050405020304"/>
                <a:sym typeface="Times New Roman" panose="02020603050405020304"/>
              </a:rPr>
              <a:t>Tối ưu hóa định tuyến:</a:t>
            </a:r>
            <a:br>
              <a:rPr lang="en-US" sz="1800" b="1">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8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115000"/>
              </a:lnSpc>
              <a:spcBef>
                <a:spcPts val="0"/>
              </a:spcBef>
              <a:spcAft>
                <a:spcPts val="0"/>
              </a:spcAft>
              <a:buClr>
                <a:schemeClr val="dk1"/>
              </a:buClr>
              <a:buSzPts val="1800"/>
              <a:buFont typeface="Times New Roman" panose="02020603050405020304"/>
              <a:buChar char="○"/>
            </a:pPr>
            <a:r>
              <a:rPr lang="en-US" sz="1800">
                <a:solidFill>
                  <a:schemeClr val="dk1"/>
                </a:solidFill>
                <a:latin typeface="Times New Roman" panose="02020603050405020304"/>
                <a:ea typeface="Times New Roman" panose="02020603050405020304"/>
                <a:cs typeface="Times New Roman" panose="02020603050405020304"/>
                <a:sym typeface="Times New Roman" panose="02020603050405020304"/>
              </a:rPr>
              <a:t>Cho phép mạng linh hoạt lựa chọn đường truyền theo phân phối năng lượng và nhu cầu lưu lượng.</a:t>
            </a:r>
            <a:br>
              <a:rPr lang="en-US" sz="180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115000"/>
              </a:lnSpc>
              <a:spcBef>
                <a:spcPts val="0"/>
              </a:spcBef>
              <a:spcAft>
                <a:spcPts val="0"/>
              </a:spcAft>
              <a:buClr>
                <a:schemeClr val="dk1"/>
              </a:buClr>
              <a:buSzPts val="1800"/>
              <a:buChar char="○"/>
            </a:pPr>
            <a:r>
              <a:rPr lang="en-US" sz="1800" b="1">
                <a:solidFill>
                  <a:schemeClr val="dk1"/>
                </a:solidFill>
                <a:latin typeface="Times New Roman" panose="02020603050405020304"/>
                <a:ea typeface="Times New Roman" panose="02020603050405020304"/>
                <a:cs typeface="Times New Roman" panose="02020603050405020304"/>
                <a:sym typeface="Times New Roman" panose="02020603050405020304"/>
              </a:rPr>
              <a:t>Lưu lượng thấp:</a:t>
            </a:r>
            <a:r>
              <a:rPr lang="en-US" sz="1800">
                <a:solidFill>
                  <a:schemeClr val="dk1"/>
                </a:solidFill>
                <a:latin typeface="Times New Roman" panose="02020603050405020304"/>
                <a:ea typeface="Times New Roman" panose="02020603050405020304"/>
                <a:cs typeface="Times New Roman" panose="02020603050405020304"/>
                <a:sym typeface="Times New Roman" panose="02020603050405020304"/>
              </a:rPr>
              <a:t> duy trì cân bằng tiêu thụ năng lượng.</a:t>
            </a:r>
            <a:br>
              <a:rPr lang="en-US" sz="180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115000"/>
              </a:lnSpc>
              <a:spcBef>
                <a:spcPts val="0"/>
              </a:spcBef>
              <a:spcAft>
                <a:spcPts val="0"/>
              </a:spcAft>
              <a:buClr>
                <a:schemeClr val="dk1"/>
              </a:buClr>
              <a:buSzPts val="1800"/>
              <a:buChar char="○"/>
            </a:pPr>
            <a:r>
              <a:rPr lang="en-US" sz="1800" b="1">
                <a:solidFill>
                  <a:schemeClr val="dk1"/>
                </a:solidFill>
                <a:latin typeface="Times New Roman" panose="02020603050405020304"/>
                <a:ea typeface="Times New Roman" panose="02020603050405020304"/>
                <a:cs typeface="Times New Roman" panose="02020603050405020304"/>
                <a:sym typeface="Times New Roman" panose="02020603050405020304"/>
              </a:rPr>
              <a:t>Lưu lượng cao:</a:t>
            </a:r>
            <a:r>
              <a:rPr lang="en-US" sz="1800">
                <a:solidFill>
                  <a:schemeClr val="dk1"/>
                </a:solidFill>
                <a:latin typeface="Times New Roman" panose="02020603050405020304"/>
                <a:ea typeface="Times New Roman" panose="02020603050405020304"/>
                <a:cs typeface="Times New Roman" panose="02020603050405020304"/>
                <a:sym typeface="Times New Roman" panose="02020603050405020304"/>
              </a:rPr>
              <a:t> tự động phân phối tải, đảm bảo hiệu quả truyền dữ liệu.</a:t>
            </a:r>
            <a:br>
              <a:rPr lang="en-US" sz="1800">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115000"/>
              </a:lnSpc>
              <a:spcBef>
                <a:spcPts val="0"/>
              </a:spcBef>
              <a:spcAft>
                <a:spcPts val="0"/>
              </a:spcAft>
              <a:buClr>
                <a:schemeClr val="dk1"/>
              </a:buClr>
              <a:buSzPts val="1800"/>
              <a:buFont typeface="Times New Roman" panose="02020603050405020304"/>
              <a:buChar char="●"/>
            </a:pPr>
            <a:r>
              <a:rPr lang="en-US" sz="1800" b="1">
                <a:solidFill>
                  <a:schemeClr val="dk1"/>
                </a:solidFill>
                <a:latin typeface="Times New Roman" panose="02020603050405020304"/>
                <a:ea typeface="Times New Roman" panose="02020603050405020304"/>
                <a:cs typeface="Times New Roman" panose="02020603050405020304"/>
                <a:sym typeface="Times New Roman" panose="02020603050405020304"/>
              </a:rPr>
              <a:t>So sánh với phương pháp truyền thống:</a:t>
            </a:r>
            <a:br>
              <a:rPr lang="en-US" sz="1800" b="1">
                <a:solidFill>
                  <a:schemeClr val="dk1"/>
                </a:solidFill>
                <a:latin typeface="Times New Roman" panose="02020603050405020304"/>
                <a:ea typeface="Times New Roman" panose="02020603050405020304"/>
                <a:cs typeface="Times New Roman" panose="02020603050405020304"/>
                <a:sym typeface="Times New Roman" panose="02020603050405020304"/>
              </a:rPr>
            </a:br>
            <a:endParaRPr sz="1800" b="1">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115000"/>
              </a:lnSpc>
              <a:spcBef>
                <a:spcPts val="0"/>
              </a:spcBef>
              <a:spcAft>
                <a:spcPts val="0"/>
              </a:spcAft>
              <a:buClr>
                <a:schemeClr val="dk1"/>
              </a:buClr>
              <a:buSzPts val="1800"/>
              <a:buChar char="○"/>
            </a:pPr>
            <a:r>
              <a:rPr lang="en-US" sz="1800">
                <a:solidFill>
                  <a:schemeClr val="dk1"/>
                </a:solidFill>
                <a:latin typeface="Times New Roman" panose="02020603050405020304"/>
                <a:ea typeface="Times New Roman" panose="02020603050405020304"/>
                <a:cs typeface="Times New Roman" panose="02020603050405020304"/>
                <a:sym typeface="Times New Roman" panose="02020603050405020304"/>
              </a:rPr>
              <a:t>So với ACO và PSO, chiến lược hỗn loạn </a:t>
            </a:r>
            <a:r>
              <a:rPr lang="en-US" sz="1800" b="1">
                <a:solidFill>
                  <a:schemeClr val="dk1"/>
                </a:solidFill>
                <a:latin typeface="Times New Roman" panose="02020603050405020304"/>
                <a:ea typeface="Times New Roman" panose="02020603050405020304"/>
                <a:cs typeface="Times New Roman" panose="02020603050405020304"/>
                <a:sym typeface="Times New Roman" panose="02020603050405020304"/>
              </a:rPr>
              <a:t>hội tụ nhanh hơn, ổn định hơn</a:t>
            </a:r>
            <a:r>
              <a:rPr lang="en-US" sz="1800">
                <a:solidFill>
                  <a:schemeClr val="dk1"/>
                </a:solidFill>
                <a:latin typeface="Times New Roman" panose="02020603050405020304"/>
                <a:ea typeface="Times New Roman" panose="02020603050405020304"/>
                <a:cs typeface="Times New Roman" panose="02020603050405020304"/>
                <a:sym typeface="Times New Roman" panose="02020603050405020304"/>
              </a:rPr>
              <a:t>, đồng thời </a:t>
            </a:r>
            <a:r>
              <a:rPr lang="en-US" sz="1800" b="1">
                <a:solidFill>
                  <a:schemeClr val="dk1"/>
                </a:solidFill>
                <a:latin typeface="Times New Roman" panose="02020603050405020304"/>
                <a:ea typeface="Times New Roman" panose="02020603050405020304"/>
                <a:cs typeface="Times New Roman" panose="02020603050405020304"/>
                <a:sym typeface="Times New Roman" panose="02020603050405020304"/>
              </a:rPr>
              <a:t>không làm tăng chi phí tính toán</a:t>
            </a:r>
            <a:r>
              <a:rPr lang="en-US" sz="1800">
                <a:solidFill>
                  <a:schemeClr val="dk1"/>
                </a:solidFill>
                <a:latin typeface="Times New Roman" panose="02020603050405020304"/>
                <a:ea typeface="Times New Roman" panose="02020603050405020304"/>
                <a:cs typeface="Times New Roman" panose="02020603050405020304"/>
                <a:sym typeface="Times New Roman" panose="02020603050405020304"/>
              </a:rPr>
              <a:t>.</a:t>
            </a: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1200"/>
              </a:spcBef>
              <a:spcAft>
                <a:spcPts val="0"/>
              </a:spcAft>
              <a:buNone/>
            </a:pPr>
            <a:endParaRPr sz="18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Shape 161"/>
        <p:cNvGrpSpPr/>
        <p:nvPr/>
      </p:nvGrpSpPr>
      <p:grpSpPr>
        <a:xfrm>
          <a:off x="0" y="0"/>
          <a:ext cx="0" cy="0"/>
          <a:chOff x="0" y="0"/>
          <a:chExt cx="0" cy="0"/>
        </a:xfrm>
      </p:grpSpPr>
      <p:sp>
        <p:nvSpPr>
          <p:cNvPr id="162" name="Google Shape;162;p27"/>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1"/>
              </a:buClr>
              <a:buSzPts val="2800"/>
              <a:buFont typeface="Lato" panose="020F0502020204030203"/>
              <a:buNone/>
            </a:pPr>
            <a:r>
              <a:rPr lang="en-US" altLang="en-US"/>
              <a:t>1. Động cơ nghiên cứu</a:t>
            </a:r>
            <a:br>
              <a:rPr lang="en-US" altLang="en-US"/>
            </a:br>
            <a:endParaRPr lang="en-US" altLang="en-US"/>
          </a:p>
        </p:txBody>
      </p:sp>
      <p:sp>
        <p:nvSpPr>
          <p:cNvPr id="163" name="Google Shape;163;p27"/>
          <p:cNvSpPr txBox="1">
            <a:spLocks noGrp="1"/>
          </p:cNvSpPr>
          <p:nvPr>
            <p:ph type="body" idx="1"/>
          </p:nvPr>
        </p:nvSpPr>
        <p:spPr>
          <a:xfrm>
            <a:off x="317575" y="806451"/>
            <a:ext cx="8674200" cy="57657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None/>
            </a:pPr>
            <a:r>
              <a:rPr lang="en-US" sz="1800" b="1">
                <a:latin typeface="Times New Roman" panose="02020603050405020304"/>
                <a:ea typeface="Times New Roman" panose="02020603050405020304"/>
                <a:cs typeface="Times New Roman" panose="02020603050405020304"/>
                <a:sym typeface="Times New Roman" panose="02020603050405020304"/>
              </a:rPr>
              <a:t>Hướng Phát Triển Tương Lai</a:t>
            </a:r>
            <a:endParaRPr sz="1800" b="1">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400"/>
              </a:spcBef>
              <a:spcAft>
                <a:spcPts val="0"/>
              </a:spcAft>
              <a:buClr>
                <a:schemeClr val="dk1"/>
              </a:buClr>
              <a:buSzPts val="1100"/>
              <a:buFont typeface="Arial" panose="020B0604020202020204"/>
              <a:buNone/>
            </a:pPr>
            <a:endParaRPr sz="1800" b="1">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200"/>
              </a:spcBef>
              <a:spcAft>
                <a:spcPts val="0"/>
              </a:spcAft>
              <a:buClr>
                <a:schemeClr val="dk1"/>
              </a:buClr>
              <a:buSzPts val="1100"/>
              <a:buFont typeface="Arial" panose="020B0604020202020204"/>
              <a:buNone/>
            </a:pPr>
            <a:r>
              <a:rPr lang="en-US" sz="1800">
                <a:latin typeface="Times New Roman" panose="02020603050405020304"/>
                <a:ea typeface="Times New Roman" panose="02020603050405020304"/>
                <a:cs typeface="Times New Roman" panose="02020603050405020304"/>
                <a:sym typeface="Times New Roman" panose="02020603050405020304"/>
              </a:rPr>
              <a:t>Tiềm năng lớn nhất là việc kết hợp chiến lược này với các công nghệ tiên tiến để mở rộng khả năng ứng dụng.</a:t>
            </a:r>
            <a:endParaRPr sz="180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115000"/>
              </a:lnSpc>
              <a:spcBef>
                <a:spcPts val="1200"/>
              </a:spcBef>
              <a:spcAft>
                <a:spcPts val="0"/>
              </a:spcAft>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115000"/>
              </a:lnSpc>
              <a:spcBef>
                <a:spcPts val="1200"/>
              </a:spcBef>
              <a:spcAft>
                <a:spcPts val="0"/>
              </a:spcAft>
              <a:buSzPts val="1800"/>
              <a:buFont typeface="Times New Roman" panose="02020603050405020304"/>
              <a:buChar char="●"/>
            </a:pPr>
            <a:r>
              <a:rPr lang="en-US" sz="1800">
                <a:latin typeface="Times New Roman" panose="02020603050405020304"/>
                <a:ea typeface="Times New Roman" panose="02020603050405020304"/>
                <a:cs typeface="Times New Roman" panose="02020603050405020304"/>
                <a:sym typeface="Times New Roman" panose="02020603050405020304"/>
              </a:rPr>
              <a:t>Tích hợp với: Học tăng cường sâu (Deep Reinforcement Learning) hoặc các phương pháp tối ưu hóa phân tán.</a:t>
            </a:r>
            <a:endParaRPr sz="180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115000"/>
              </a:lnSpc>
              <a:spcBef>
                <a:spcPts val="1200"/>
              </a:spcBef>
              <a:spcAft>
                <a:spcPts val="0"/>
              </a:spcAft>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115000"/>
              </a:lnSpc>
              <a:spcBef>
                <a:spcPts val="1200"/>
              </a:spcBef>
              <a:spcAft>
                <a:spcPts val="0"/>
              </a:spcAft>
              <a:buSzPts val="1800"/>
              <a:buFont typeface="Times New Roman" panose="02020603050405020304"/>
              <a:buChar char="●"/>
            </a:pPr>
            <a:r>
              <a:rPr lang="en-US" sz="1800">
                <a:latin typeface="Times New Roman" panose="02020603050405020304"/>
                <a:ea typeface="Times New Roman" panose="02020603050405020304"/>
                <a:cs typeface="Times New Roman" panose="02020603050405020304"/>
                <a:sym typeface="Times New Roman" panose="02020603050405020304"/>
              </a:rPr>
              <a:t>Mục tiêu: Nâng cao khả năng ứng dụng trong các mạng không đồng nhất quy mô lớn, từ đó cung cấp các giải pháp thông minh hiệu quả hơn cho việc tối ưu hóa WSN.</a:t>
            </a:r>
            <a:endParaRPr sz="1800" b="1">
              <a:solidFill>
                <a:srgbClr val="131314"/>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p:txBody>
      </p:sp>
      <p:sp>
        <p:nvSpPr>
          <p:cNvPr id="164" name="Google Shape;164;p27"/>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15</a:t>
            </a:fld>
            <a:endParaRPr 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8"/>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16</a:t>
            </a:fld>
            <a:endParaRPr lang="en-US"/>
          </a:p>
        </p:txBody>
      </p:sp>
      <p:sp>
        <p:nvSpPr>
          <p:cNvPr id="170" name="Google Shape;170;p28"/>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vi-VN">
                <a:sym typeface="+mn-ea"/>
              </a:rPr>
              <a:t>2. Cơ sở lý thuyết </a:t>
            </a:r>
            <a:r>
              <a:rPr lang="en-US">
                <a:sym typeface="+mn-ea"/>
              </a:rPr>
              <a:t>&amp;</a:t>
            </a:r>
            <a:r>
              <a:rPr lang="vi-VN">
                <a:sym typeface="+mn-ea"/>
              </a:rPr>
              <a:t> phát biểu bài toán</a:t>
            </a:r>
          </a:p>
        </p:txBody>
      </p:sp>
      <p:sp>
        <p:nvSpPr>
          <p:cNvPr id="171" name="Google Shape;171;p28"/>
          <p:cNvSpPr txBox="1">
            <a:spLocks noGrp="1"/>
          </p:cNvSpPr>
          <p:nvPr>
            <p:ph type="body" idx="1"/>
          </p:nvPr>
        </p:nvSpPr>
        <p:spPr>
          <a:xfrm>
            <a:off x="234950" y="963168"/>
            <a:ext cx="8674100" cy="513283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Khoảng trống nghiên cứu: Các tài liệu hiện có thường không xem xét đầy đủ các yếu tố quan trọng như năng lượng còn lại của nút, khoảng cách trong cụm và khoảng cách đến trạm gốc, tất cả đều ảnh hưởng đáng kể đến hiệu suất phân cụm của WSN.</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Đề xuất của bài báo: Một mô hình phân cụm mới cho WSN</a:t>
            </a:r>
            <a:r>
              <a:rPr lang="vi-VN" altLang="en-US" sz="1800">
                <a:latin typeface="Times New Roman" panose="02020603050405020304"/>
                <a:ea typeface="Times New Roman" panose="02020603050405020304"/>
                <a:cs typeface="Times New Roman" panose="02020603050405020304"/>
                <a:sym typeface="Times New Roman" panose="02020603050405020304"/>
              </a:rPr>
              <a:t> với cơ chế multi-hop</a:t>
            </a:r>
            <a:r>
              <a:rPr lang="en-US" sz="1800">
                <a:latin typeface="Times New Roman" panose="02020603050405020304"/>
                <a:ea typeface="Times New Roman" panose="02020603050405020304"/>
                <a:cs typeface="Times New Roman" panose="02020603050405020304"/>
                <a:sym typeface="Times New Roman" panose="02020603050405020304"/>
              </a:rPr>
              <a:t> và phát triển một phương pháp phân cụm lấy cảm hứng từ sinh học mới kết hợp các chiến lược hỗn loạn thích ứng, nhằm đạt được các giải pháp phân cụm tối ưu.</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Mục tiêu nghiên cứu:</a:t>
            </a:r>
            <a:endParaRPr sz="1800">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90000"/>
              </a:lnSpc>
              <a:spcBef>
                <a:spcPts val="1000"/>
              </a:spcBef>
              <a:spcAft>
                <a:spcPts val="0"/>
              </a:spcAft>
              <a:buSzPts val="1800"/>
              <a:buFont typeface="Times New Roman" panose="02020603050405020304"/>
              <a:buChar char="•"/>
            </a:pPr>
            <a:r>
              <a:rPr lang="en-US" sz="1800">
                <a:latin typeface="Times New Roman" panose="02020603050405020304"/>
                <a:ea typeface="Times New Roman" panose="02020603050405020304"/>
                <a:cs typeface="Times New Roman" panose="02020603050405020304"/>
                <a:sym typeface="Times New Roman" panose="02020603050405020304"/>
              </a:rPr>
              <a:t>cải thiện hiệu quả tìm kiếm và chất lượng giải pháp của thuật toán, qua đó đẩy nhanh tốc độ hội tụ của nó. </a:t>
            </a:r>
            <a:endParaRPr sz="1800">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90000"/>
              </a:lnSpc>
              <a:spcBef>
                <a:spcPts val="0"/>
              </a:spcBef>
              <a:spcAft>
                <a:spcPts val="0"/>
              </a:spcAft>
              <a:buSzPts val="1800"/>
              <a:buFont typeface="Times New Roman" panose="02020603050405020304"/>
              <a:buChar char="•"/>
            </a:pPr>
            <a:r>
              <a:rPr lang="en-US" sz="1800">
                <a:latin typeface="Times New Roman" panose="02020603050405020304"/>
                <a:ea typeface="Times New Roman" panose="02020603050405020304"/>
                <a:cs typeface="Times New Roman" panose="02020603050405020304"/>
                <a:sym typeface="Times New Roman" panose="02020603050405020304"/>
              </a:rPr>
              <a:t>tối ưu hóa hiệu quả năng lượng của WSN và kéo dài đáng kể tuổi thọ hoạt động của chúng trong các hệ thống lưới điện.</a:t>
            </a:r>
            <a:endParaRPr sz="18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9"/>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17</a:t>
            </a:fld>
            <a:endParaRPr lang="en-US"/>
          </a:p>
        </p:txBody>
      </p:sp>
      <p:sp>
        <p:nvSpPr>
          <p:cNvPr id="177" name="Google Shape;177;p29"/>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vi-VN">
                <a:sym typeface="+mn-ea"/>
              </a:rPr>
              <a:t>2. Cơ sở lý thuyết </a:t>
            </a:r>
            <a:r>
              <a:rPr lang="en-US">
                <a:sym typeface="+mn-ea"/>
              </a:rPr>
              <a:t>&amp;</a:t>
            </a:r>
            <a:r>
              <a:rPr lang="vi-VN">
                <a:sym typeface="+mn-ea"/>
              </a:rPr>
              <a:t> phát biểu bài toán</a:t>
            </a:r>
            <a:endParaRPr lang="en-US"/>
          </a:p>
        </p:txBody>
      </p:sp>
      <p:sp>
        <p:nvSpPr>
          <p:cNvPr id="178" name="Google Shape;178;p29"/>
          <p:cNvSpPr txBox="1">
            <a:spLocks noGrp="1"/>
          </p:cNvSpPr>
          <p:nvPr>
            <p:ph type="body" idx="1"/>
          </p:nvPr>
        </p:nvSpPr>
        <p:spPr>
          <a:xfrm>
            <a:off x="234950" y="963168"/>
            <a:ext cx="8674100" cy="513283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Đề xuất nghiên cứu: Nghiên cứu này đề xuất một phương pháp phân cụm hiệu quả kết hợp chiến lược hỗn loạn thích ứng với thuật toán ACO để giải quyết các thách thức về hiệu quả năng lượng trong WSN</a:t>
            </a:r>
            <a:r>
              <a:rPr lang="vi-VN" altLang="en-US" sz="1800">
                <a:latin typeface="Times New Roman" panose="02020603050405020304"/>
                <a:ea typeface="Times New Roman" panose="02020603050405020304"/>
                <a:cs typeface="Times New Roman" panose="02020603050405020304"/>
                <a:sym typeface="Times New Roman" panose="02020603050405020304"/>
              </a:rPr>
              <a:t> với cơ chế multi-hop</a:t>
            </a:r>
            <a:r>
              <a:rPr lang="en-US" sz="1800">
                <a:latin typeface="Times New Roman" panose="02020603050405020304"/>
                <a:ea typeface="Times New Roman" panose="02020603050405020304"/>
                <a:cs typeface="Times New Roman" panose="02020603050405020304"/>
                <a:sym typeface="Times New Roman" panose="02020603050405020304"/>
              </a:rPr>
              <a:t>.</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Đóng góp 1: Cơ chế lựa chọn Trưởng cụm Hỗn loạn Thích ứng:</a:t>
            </a:r>
            <a:endParaRPr sz="180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Tính năng: Dùng hỗn loạn thích ứng để tăng cường tìm kiếm toàn cục.</a:t>
            </a:r>
            <a:endParaRPr sz="180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Lợi ích: Lựa chọn Trưởng cụm (CH) cân bằng, kéo dài tuổi thọ mạng.</a:t>
            </a:r>
            <a:endParaRPr sz="180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Đóng góp 2: Chiến lược Tổng hợp Dữ liệu Trong cụm dựa trên Hỗn loạn:</a:t>
            </a:r>
            <a:endParaRPr sz="180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Tính năng: Áp dụng yếu tố hỗn loạn vào quy trình tổng hợp dữ liệu.</a:t>
            </a:r>
            <a:endParaRPr sz="180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Lợi ích: Cải thiện hiệu suất nén, tiết kiệm năng lượng truyền dữ liệu.</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Đóng góp 3: Đề xuất một Thuật toán Phân cụm Hiệu quả:</a:t>
            </a:r>
            <a:endParaRPr sz="180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Tính năng:Kết hợp Cơ chế chọn CH Hỗn loạn và Tổng hợp Dữ liệu Hỗn loạn với ACO.</a:t>
            </a:r>
            <a:endParaRPr sz="180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Lợi ích: Giải pháp toàn diện đạt được phân cụm cân bằng năng lượng và tăng cường hiệu suất WSN.</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a:t>
            </a:r>
            <a:endParaRPr sz="18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0"/>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18</a:t>
            </a:fld>
            <a:endParaRPr lang="en-US"/>
          </a:p>
        </p:txBody>
      </p:sp>
      <p:sp>
        <p:nvSpPr>
          <p:cNvPr id="184" name="Google Shape;184;p30"/>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vi-VN">
                <a:sym typeface="+mn-ea"/>
              </a:rPr>
              <a:t>2. Cơ sở lý thuyết </a:t>
            </a:r>
            <a:r>
              <a:rPr lang="en-US">
                <a:sym typeface="+mn-ea"/>
              </a:rPr>
              <a:t>&amp;</a:t>
            </a:r>
            <a:r>
              <a:rPr lang="vi-VN">
                <a:sym typeface="+mn-ea"/>
              </a:rPr>
              <a:t> phát biểu bài toán</a:t>
            </a:r>
            <a:endParaRPr lang="en-US"/>
          </a:p>
        </p:txBody>
      </p:sp>
      <p:sp>
        <p:nvSpPr>
          <p:cNvPr id="185" name="Google Shape;185;p30"/>
          <p:cNvSpPr txBox="1">
            <a:spLocks noGrp="1"/>
          </p:cNvSpPr>
          <p:nvPr>
            <p:ph type="body" idx="1"/>
          </p:nvPr>
        </p:nvSpPr>
        <p:spPr>
          <a:xfrm>
            <a:off x="234950" y="963168"/>
            <a:ext cx="8674100" cy="513283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Thuật toán ACO được chọn làm nền tảng và tại sao cần phải cải tiến nó.</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Tại sao chọn ACO: bản chất là một bài toán tối ưu hóa đường đi. ACO có những ưu điểm vốn có trong việc lập kế hoạch đường đi. </a:t>
            </a:r>
            <a:endParaRPr sz="1800">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90000"/>
              </a:lnSpc>
              <a:spcBef>
                <a:spcPts val="1000"/>
              </a:spcBef>
              <a:spcAft>
                <a:spcPts val="0"/>
              </a:spcAft>
              <a:buSzPts val="1800"/>
              <a:buFont typeface="Times New Roman" panose="02020603050405020304"/>
              <a:buChar char="•"/>
            </a:pPr>
            <a:r>
              <a:rPr lang="en-US" sz="1800">
                <a:latin typeface="Times New Roman" panose="02020603050405020304"/>
                <a:ea typeface="Times New Roman" panose="02020603050405020304"/>
                <a:cs typeface="Times New Roman" panose="02020603050405020304"/>
                <a:sym typeface="Times New Roman" panose="02020603050405020304"/>
              </a:rPr>
              <a:t>Cơ chế cập nhật pheromone của nó tự động thích ứng với những thay đổi trong cấu trúc mạng và mức năng lượng của nút, cung cấp khả năng tìm kiếm toàn cục và tinh chỉnh cục bộ mạnh mẽ. </a:t>
            </a:r>
            <a:endParaRPr sz="1800">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90000"/>
              </a:lnSpc>
              <a:spcBef>
                <a:spcPts val="0"/>
              </a:spcBef>
              <a:spcAft>
                <a:spcPts val="0"/>
              </a:spcAft>
              <a:buSzPts val="1800"/>
              <a:buFont typeface="Times New Roman" panose="02020603050405020304"/>
              <a:buChar char="•"/>
            </a:pPr>
            <a:r>
              <a:rPr lang="en-US" sz="1800">
                <a:latin typeface="Times New Roman" panose="02020603050405020304"/>
                <a:ea typeface="Times New Roman" panose="02020603050405020304"/>
                <a:cs typeface="Times New Roman" panose="02020603050405020304"/>
                <a:sym typeface="Times New Roman" panose="02020603050405020304"/>
              </a:rPr>
              <a:t>Nó phù hợp với việc triển khai phân tán với chi phí tính toán thấp, đặc biệt thích hợp cho môi trường WSN bị hạn chế về tài nguyên.</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Tại sao cần cải tiến ACO: </a:t>
            </a:r>
            <a:endParaRPr sz="1800">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90000"/>
              </a:lnSpc>
              <a:spcBef>
                <a:spcPts val="1000"/>
              </a:spcBef>
              <a:spcAft>
                <a:spcPts val="0"/>
              </a:spcAft>
              <a:buSzPts val="1800"/>
              <a:buFont typeface="Times New Roman" panose="02020603050405020304"/>
              <a:buChar char="•"/>
            </a:pPr>
            <a:r>
              <a:rPr lang="en-US" sz="1800">
                <a:latin typeface="Times New Roman" panose="02020603050405020304"/>
                <a:ea typeface="Times New Roman" panose="02020603050405020304"/>
                <a:cs typeface="Times New Roman" panose="02020603050405020304"/>
                <a:sym typeface="Times New Roman" panose="02020603050405020304"/>
              </a:rPr>
              <a:t>TT ACO thông thường có xu hướng rơi vào các tối ưu cục bộ trong không gian tìm kiếm phức tạp, </a:t>
            </a:r>
            <a:endParaRPr sz="1800">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90000"/>
              </a:lnSpc>
              <a:spcBef>
                <a:spcPts val="0"/>
              </a:spcBef>
              <a:spcAft>
                <a:spcPts val="0"/>
              </a:spcAft>
              <a:buSzPts val="1800"/>
              <a:buFont typeface="Times New Roman" panose="02020603050405020304"/>
              <a:buChar char="•"/>
            </a:pPr>
            <a:r>
              <a:rPr lang="en-US" sz="1800">
                <a:latin typeface="Times New Roman" panose="02020603050405020304"/>
                <a:ea typeface="Times New Roman" panose="02020603050405020304"/>
                <a:cs typeface="Times New Roman" panose="02020603050405020304"/>
                <a:sym typeface="Times New Roman" panose="02020603050405020304"/>
              </a:rPr>
              <a:t>Hạn chế khả năng đạt được tối ưu hóa toàn cục trong các quyết định phân cụm và định tuyến. </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Do đó, cần có những cải tiến để nâng cao hiệu suất tìm kiếm và khả năng thích ứng của thuật toán.</a:t>
            </a:r>
            <a:endParaRPr sz="18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1"/>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19</a:t>
            </a:fld>
            <a:endParaRPr lang="en-US"/>
          </a:p>
        </p:txBody>
      </p:sp>
      <p:sp>
        <p:nvSpPr>
          <p:cNvPr id="191" name="Google Shape;191;p31"/>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vi-VN">
                <a:sym typeface="+mn-ea"/>
              </a:rPr>
              <a:t>2. Cơ sở lý thuyết </a:t>
            </a:r>
            <a:r>
              <a:rPr lang="en-US">
                <a:sym typeface="+mn-ea"/>
              </a:rPr>
              <a:t>&amp;</a:t>
            </a:r>
            <a:r>
              <a:rPr lang="vi-VN">
                <a:sym typeface="+mn-ea"/>
              </a:rPr>
              <a:t> phát biểu bài toán</a:t>
            </a:r>
            <a:endParaRPr lang="en-US"/>
          </a:p>
        </p:txBody>
      </p:sp>
      <p:sp>
        <p:nvSpPr>
          <p:cNvPr id="192" name="Google Shape;192;p31"/>
          <p:cNvSpPr txBox="1">
            <a:spLocks noGrp="1"/>
          </p:cNvSpPr>
          <p:nvPr>
            <p:ph type="body" idx="1"/>
          </p:nvPr>
        </p:nvSpPr>
        <p:spPr>
          <a:xfrm>
            <a:off x="234950" y="963168"/>
            <a:ext cx="8674100" cy="513283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Giới thiệu AC-ACO: Để cải thiện hiệu quả năng lượng của WSN</a:t>
            </a:r>
            <a:r>
              <a:rPr lang="vi-VN" altLang="en-US" sz="1800">
                <a:latin typeface="Times New Roman" panose="02020603050405020304"/>
                <a:ea typeface="Times New Roman" panose="02020603050405020304"/>
                <a:cs typeface="Times New Roman" panose="02020603050405020304"/>
                <a:sym typeface="Times New Roman" panose="02020603050405020304"/>
              </a:rPr>
              <a:t> với cơ chế multi-hop</a:t>
            </a:r>
            <a:r>
              <a:rPr lang="en-US" sz="1800">
                <a:latin typeface="Times New Roman" panose="02020603050405020304"/>
                <a:ea typeface="Times New Roman" panose="02020603050405020304"/>
                <a:cs typeface="Times New Roman" panose="02020603050405020304"/>
                <a:sym typeface="Times New Roman" panose="02020603050405020304"/>
              </a:rPr>
              <a:t> và cân bằng tải mạng, bài báo đề xuất thuật toán AC-ACO để tối ưu hóa cấu trúc cụm và đường truyền dữ liệu.</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Cơ chế hoạt động:</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 Bằng cách giới thiệu một chiến lược hỗn loạn thích ứng, thuật toán duy trì khả năng tìm kiếm toàn cục của ACO.</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 Đồng thời, tận dụng các đặc tính nhiễu loạn ngẫu nhiên của ánh xạ hỗn loạn để nâng cao khả năng thoát khỏi các tối ưu cục bộ của thuật toán.</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 Điều này giúp cải thiện tính hợp lý của việc lựa chọn trưởng cụm và tối ưu hóa đường truyền dữ liệu.</a:t>
            </a:r>
            <a:endParaRPr sz="18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196"/>
        <p:cNvGrpSpPr/>
        <p:nvPr/>
      </p:nvGrpSpPr>
      <p:grpSpPr>
        <a:xfrm>
          <a:off x="0" y="0"/>
          <a:ext cx="0" cy="0"/>
          <a:chOff x="0" y="0"/>
          <a:chExt cx="0" cy="0"/>
        </a:xfrm>
      </p:grpSpPr>
      <p:sp>
        <p:nvSpPr>
          <p:cNvPr id="197" name="Google Shape;197;p32"/>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20</a:t>
            </a:fld>
            <a:endParaRPr lang="en-US"/>
          </a:p>
        </p:txBody>
      </p:sp>
      <p:sp>
        <p:nvSpPr>
          <p:cNvPr id="198" name="Google Shape;198;p32"/>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vi-VN">
                <a:sym typeface="+mn-ea"/>
              </a:rPr>
              <a:t>2. Cơ sở lý thuyết </a:t>
            </a:r>
            <a:r>
              <a:rPr lang="en-US">
                <a:sym typeface="+mn-ea"/>
              </a:rPr>
              <a:t>&amp;</a:t>
            </a:r>
            <a:r>
              <a:rPr lang="vi-VN">
                <a:sym typeface="+mn-ea"/>
              </a:rPr>
              <a:t> phát biểu bài toán</a:t>
            </a:r>
            <a:endParaRPr lang="en-US"/>
          </a:p>
        </p:txBody>
      </p:sp>
      <p:sp>
        <p:nvSpPr>
          <p:cNvPr id="199" name="Google Shape;199;p32"/>
          <p:cNvSpPr txBox="1">
            <a:spLocks noGrp="1"/>
          </p:cNvSpPr>
          <p:nvPr>
            <p:ph type="body" idx="1"/>
          </p:nvPr>
        </p:nvSpPr>
        <p:spPr>
          <a:xfrm>
            <a:off x="234950" y="963168"/>
            <a:ext cx="8674100" cy="513283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AC-ACO: Thuật toán Tối ưu hóa Bầy kiến Hỗn loạn Thích ứng (Adaptive Chaotic Ant Colony Optimization)</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Mục tiêu: Tối ưu hóa việc chọn trưởng cụm và đường truyền dữ liệu để giải quyết các thách thức của WSN.</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Cơ chế:</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 Kết hợp sức mạnh của Thuật toán Đàn kiến (ACO) trong việc lập kế hoạch đường đi với các đặc tính động của ánh xạ hỗn loạn (chaotic mapping).</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 Giới thiệu một cơ chế thích ứng để điều chỉnh động các chiến lược tối ưu hóa theo sự thay đổi trạng thái của mạng.</a:t>
            </a:r>
            <a:endParaRPr sz="18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Shape 203"/>
        <p:cNvGrpSpPr/>
        <p:nvPr/>
      </p:nvGrpSpPr>
      <p:grpSpPr>
        <a:xfrm>
          <a:off x="0" y="0"/>
          <a:ext cx="0" cy="0"/>
          <a:chOff x="0" y="0"/>
          <a:chExt cx="0" cy="0"/>
        </a:xfrm>
      </p:grpSpPr>
      <p:sp>
        <p:nvSpPr>
          <p:cNvPr id="204" name="Google Shape;204;p33"/>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21</a:t>
            </a:fld>
            <a:endParaRPr lang="en-US"/>
          </a:p>
        </p:txBody>
      </p:sp>
      <p:sp>
        <p:nvSpPr>
          <p:cNvPr id="205" name="Google Shape;205;p33"/>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vi-VN">
                <a:sym typeface="+mn-ea"/>
              </a:rPr>
              <a:t>2. Cơ sở lý thuyết </a:t>
            </a:r>
            <a:r>
              <a:rPr lang="en-US">
                <a:sym typeface="+mn-ea"/>
              </a:rPr>
              <a:t>&amp;</a:t>
            </a:r>
            <a:r>
              <a:rPr lang="vi-VN">
                <a:sym typeface="+mn-ea"/>
              </a:rPr>
              <a:t> phát biểu bài toán</a:t>
            </a:r>
            <a:endParaRPr lang="en-US"/>
          </a:p>
        </p:txBody>
      </p:sp>
      <p:sp>
        <p:nvSpPr>
          <p:cNvPr id="206" name="Google Shape;206;p33"/>
          <p:cNvSpPr txBox="1">
            <a:spLocks noGrp="1"/>
          </p:cNvSpPr>
          <p:nvPr>
            <p:ph type="body" idx="1"/>
          </p:nvPr>
        </p:nvSpPr>
        <p:spPr>
          <a:xfrm>
            <a:off x="234950" y="963168"/>
            <a:ext cx="8674100" cy="513283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Đóng góp chính:</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1. Cơ chế chọn Trưởng cụm Hỗn loạn Thích ứng: Sử dụng ánh xạ hỗn loạn để trọng số hóa các yếu tố như năng lượng còn lại, chi phí truyền thông, vị trí và tải của nút, </a:t>
            </a:r>
            <a:r>
              <a:rPr lang="en-US" sz="1050">
                <a:solidFill>
                  <a:srgbClr val="131314"/>
                </a:solidFill>
                <a:highlight>
                  <a:srgbClr val="FFFFFF"/>
                </a:highlight>
                <a:latin typeface="Arial" panose="020B0604020202020204"/>
                <a:ea typeface="Arial" panose="020B0604020202020204"/>
                <a:cs typeface="Arial" panose="020B0604020202020204"/>
                <a:sym typeface="Arial" panose="020B0604020202020204"/>
              </a:rPr>
              <a:t> </a:t>
            </a:r>
            <a:r>
              <a:rPr lang="en-US" sz="1800">
                <a:solidFill>
                  <a:srgbClr val="131314"/>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Sử dụng tính ngẫu nhiên và ergodic của ánh xạ hỗn loạn</a:t>
            </a:r>
            <a:r>
              <a:rPr lang="en-US" sz="1050">
                <a:solidFill>
                  <a:srgbClr val="131314"/>
                </a:solidFill>
                <a:highlight>
                  <a:srgbClr val="FFFFFF"/>
                </a:highlight>
                <a:latin typeface="Arial" panose="020B0604020202020204"/>
                <a:ea typeface="Arial" panose="020B0604020202020204"/>
                <a:cs typeface="Arial" panose="020B0604020202020204"/>
                <a:sym typeface="Arial" panose="020B0604020202020204"/>
              </a:rPr>
              <a:t> </a:t>
            </a:r>
            <a:r>
              <a:rPr lang="en-US" sz="1800">
                <a:latin typeface="Times New Roman" panose="02020603050405020304"/>
                <a:ea typeface="Times New Roman" panose="02020603050405020304"/>
                <a:cs typeface="Times New Roman" panose="02020603050405020304"/>
                <a:sym typeface="Times New Roman" panose="02020603050405020304"/>
              </a:rPr>
              <a:t>giúp tránh các cực tiểu cục bộ.</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2. Chiến lược Tổng hợp Dữ liệu trong Cụm dựa trên Hỗn loạn: Sử dụng ngưỡng động được tạo ra thông qua ánh xạ hỗn loạn để giảm việc truyền dữ liệu thừa.</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3. Thuật toán Gom cụm Hiệu quả: </a:t>
            </a:r>
            <a:r>
              <a:rPr lang="en-US" sz="1800">
                <a:solidFill>
                  <a:srgbClr val="131314"/>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Bằng cách ánh xạ hành vi khám phá đường đi của kiến với việc tiêu thụ năng lượng của nút, AC-ACO đạt được sự</a:t>
            </a:r>
            <a:r>
              <a:rPr lang="en-US" sz="1050">
                <a:solidFill>
                  <a:srgbClr val="131314"/>
                </a:solidFill>
                <a:highlight>
                  <a:srgbClr val="FFFFFF"/>
                </a:highlight>
                <a:latin typeface="Arial" panose="020B0604020202020204"/>
                <a:ea typeface="Arial" panose="020B0604020202020204"/>
                <a:cs typeface="Arial" panose="020B0604020202020204"/>
                <a:sym typeface="Arial" panose="020B0604020202020204"/>
              </a:rPr>
              <a:t> </a:t>
            </a:r>
            <a:r>
              <a:rPr lang="en-US" sz="1800">
                <a:latin typeface="Times New Roman" panose="02020603050405020304"/>
                <a:ea typeface="Times New Roman" panose="02020603050405020304"/>
                <a:cs typeface="Times New Roman" panose="02020603050405020304"/>
                <a:sym typeface="Times New Roman" panose="02020603050405020304"/>
              </a:rPr>
              <a:t> cân bằng đa mục tiêu giữa tiêu thụ năng lượng, cân bằng tải và tuổi thọ mạng.</a:t>
            </a:r>
            <a:endParaRPr sz="18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4"/>
          <p:cNvSpPr txBox="1">
            <a:spLocks noGrp="1"/>
          </p:cNvSpPr>
          <p:nvPr>
            <p:ph type="sldNum" idx="12"/>
          </p:nvPr>
        </p:nvSpPr>
        <p:spPr>
          <a:xfrm>
            <a:off x="6867383" y="6572126"/>
            <a:ext cx="2057400" cy="3651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Clr>
                <a:srgbClr val="000000"/>
              </a:buClr>
              <a:buFont typeface="Arial" panose="020B0604020202020204"/>
              <a:buNone/>
            </a:pPr>
            <a:fld id="{00000000-1234-1234-1234-123412341234}" type="slidenum">
              <a:rPr lang="en-US"/>
              <a:t>22</a:t>
            </a:fld>
            <a:endParaRPr lang="en-US"/>
          </a:p>
        </p:txBody>
      </p:sp>
      <p:sp>
        <p:nvSpPr>
          <p:cNvPr id="213" name="Google Shape;213;p34"/>
          <p:cNvSpPr txBox="1">
            <a:spLocks noGrp="1"/>
          </p:cNvSpPr>
          <p:nvPr>
            <p:ph type="title"/>
          </p:nvPr>
        </p:nvSpPr>
        <p:spPr>
          <a:xfrm>
            <a:off x="235077" y="78613"/>
            <a:ext cx="8673900" cy="451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a:sym typeface="+mn-ea"/>
              </a:rPr>
              <a:t>2. Cơ sở lý thuyết </a:t>
            </a:r>
            <a:r>
              <a:rPr lang="en-US">
                <a:sym typeface="+mn-ea"/>
              </a:rPr>
              <a:t>&amp;</a:t>
            </a:r>
            <a:r>
              <a:rPr lang="vi-VN">
                <a:sym typeface="+mn-ea"/>
              </a:rPr>
              <a:t> phát biểu bài toán</a:t>
            </a:r>
          </a:p>
        </p:txBody>
      </p:sp>
      <mc:AlternateContent xmlns:mc="http://schemas.openxmlformats.org/markup-compatibility/2006" xmlns:a14="http://schemas.microsoft.com/office/drawing/2010/main">
        <mc:Choice Requires="a14">
          <p:sp>
            <p:nvSpPr>
              <p:cNvPr id="214" name="Google Shape;214;p34"/>
              <p:cNvSpPr txBox="1">
                <a:spLocks noGrp="1"/>
              </p:cNvSpPr>
              <p:nvPr>
                <p:ph type="body" idx="1"/>
              </p:nvPr>
            </p:nvSpPr>
            <p:spPr>
              <a:xfrm>
                <a:off x="234950" y="963176"/>
                <a:ext cx="9035400" cy="5894700"/>
              </a:xfrm>
              <a:prstGeom prst="rect">
                <a:avLst/>
              </a:prstGeom>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US" sz="1800" dirty="0">
                    <a:latin typeface="Times New Roman" panose="02020603050405020304"/>
                    <a:ea typeface="Times New Roman" panose="02020603050405020304"/>
                    <a:cs typeface="Times New Roman" panose="02020603050405020304"/>
                    <a:sym typeface="Times New Roman" panose="02020603050405020304"/>
                  </a:rPr>
                  <a:t>CÁC CÔNG THỨC TRONG WSN (Wireless Sensor Network)</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None/>
                </a:pP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None/>
                </a:pP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Clr>
                    <a:schemeClr val="dk1"/>
                  </a:buClr>
                  <a:buSzPts val="1100"/>
                  <a:buFont typeface="Arial" panose="020B0604020202020204"/>
                  <a:buNone/>
                </a:pPr>
                <a:r>
                  <a:rPr lang="en-US" sz="1800" dirty="0" err="1">
                    <a:latin typeface="Times New Roman" panose="02020603050405020304"/>
                    <a:ea typeface="Times New Roman" panose="02020603050405020304"/>
                    <a:cs typeface="Times New Roman" panose="02020603050405020304"/>
                    <a:sym typeface="Times New Roman" panose="02020603050405020304"/>
                  </a:rPr>
                  <a:t>Tổng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lượng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tiêu</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thụ</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của</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một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nút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khi</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truyền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nhận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và</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xử</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lý</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dữ</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liệu</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1371600" lvl="0" indent="457200" algn="l" rtl="0">
                  <a:spcBef>
                    <a:spcPts val="1000"/>
                  </a:spcBef>
                  <a:spcAft>
                    <a:spcPts val="0"/>
                  </a:spcAft>
                  <a:buNone/>
                </a:pPr>
                <a:r>
                  <a:rPr lang="en-US" sz="1800" b="1" dirty="0">
                    <a:latin typeface="Times New Roman" panose="02020603050405020304"/>
                    <a:ea typeface="Times New Roman" panose="02020603050405020304"/>
                    <a:cs typeface="Times New Roman" panose="02020603050405020304"/>
                    <a:sym typeface="Times New Roman" panose="02020603050405020304"/>
                  </a:rPr>
                  <a:t>(1)</a:t>
                </a:r>
                <a:r>
                  <a:rPr lang="en-US" sz="1800" dirty="0">
                    <a:latin typeface="Times New Roman" panose="02020603050405020304"/>
                    <a:ea typeface="Times New Roman" panose="02020603050405020304"/>
                    <a:cs typeface="Times New Roman" panose="02020603050405020304"/>
                    <a:sym typeface="Times New Roman" panose="02020603050405020304"/>
                  </a:rPr>
                  <a:t> Em=</a:t>
                </a:r>
                <a:r>
                  <a:rPr lang="en-US" sz="1800" dirty="0" err="1">
                    <a:latin typeface="Times New Roman" panose="02020603050405020304"/>
                    <a:ea typeface="Times New Roman" panose="02020603050405020304"/>
                    <a:cs typeface="Times New Roman" panose="02020603050405020304"/>
                    <a:sym typeface="Times New Roman" panose="02020603050405020304"/>
                  </a:rPr>
                  <a:t>ETx</a:t>
                </a:r>
                <a:r>
                  <a:rPr lang="en-US" sz="1800" dirty="0">
                    <a:latin typeface="Times New Roman" panose="02020603050405020304"/>
                    <a:ea typeface="Times New Roman" panose="02020603050405020304"/>
                    <a:cs typeface="Times New Roman" panose="02020603050405020304"/>
                    <a:sym typeface="Times New Roman" panose="02020603050405020304"/>
                  </a:rPr>
                  <a:t>(</a:t>
                </a:r>
                <a:r>
                  <a:rPr lang="en-US" sz="1800" dirty="0" err="1">
                    <a:latin typeface="Times New Roman" panose="02020603050405020304"/>
                    <a:ea typeface="Times New Roman" panose="02020603050405020304"/>
                    <a:cs typeface="Times New Roman" panose="02020603050405020304"/>
                    <a:sym typeface="Times New Roman" panose="02020603050405020304"/>
                  </a:rPr>
                  <a:t>k,d</a:t>
                </a:r>
                <a:r>
                  <a:rPr lang="en-US" sz="1800" dirty="0">
                    <a:latin typeface="Times New Roman" panose="02020603050405020304"/>
                    <a:ea typeface="Times New Roman" panose="02020603050405020304"/>
                    <a:cs typeface="Times New Roman" panose="02020603050405020304"/>
                    <a:sym typeface="Times New Roman" panose="02020603050405020304"/>
                  </a:rPr>
                  <a:t>)+</a:t>
                </a:r>
                <a:r>
                  <a:rPr lang="en-US" sz="1800" dirty="0" err="1">
                    <a:latin typeface="Times New Roman" panose="02020603050405020304"/>
                    <a:ea typeface="Times New Roman" panose="02020603050405020304"/>
                    <a:cs typeface="Times New Roman" panose="02020603050405020304"/>
                    <a:sym typeface="Times New Roman" panose="02020603050405020304"/>
                  </a:rPr>
                  <a:t>ERx</a:t>
                </a:r>
                <a:r>
                  <a:rPr lang="en-US" sz="1800" dirty="0">
                    <a:latin typeface="Times New Roman" panose="02020603050405020304"/>
                    <a:ea typeface="Times New Roman" panose="02020603050405020304"/>
                    <a:cs typeface="Times New Roman" panose="02020603050405020304"/>
                    <a:sym typeface="Times New Roman" panose="02020603050405020304"/>
                  </a:rPr>
                  <a:t>(k)+EDA(k)		(J)</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None/>
                </a:pPr>
                <a:r>
                  <a:rPr 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lượng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truyền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gồm</a:t>
                </a:r>
                <a:r>
                  <a:rPr lang="en-US" sz="1800" dirty="0">
                    <a:latin typeface="Times New Roman" panose="02020603050405020304"/>
                    <a:ea typeface="Times New Roman" panose="02020603050405020304"/>
                    <a:cs typeface="Times New Roman" panose="02020603050405020304"/>
                    <a:sym typeface="Times New Roman" panose="02020603050405020304"/>
                  </a:rPr>
                  <a:t> 2 </a:t>
                </a:r>
                <a:r>
                  <a:rPr lang="en-US" sz="1800" dirty="0" err="1">
                    <a:latin typeface="Times New Roman" panose="02020603050405020304"/>
                    <a:ea typeface="Times New Roman" panose="02020603050405020304"/>
                    <a:cs typeface="Times New Roman" panose="02020603050405020304"/>
                    <a:sym typeface="Times New Roman" panose="02020603050405020304"/>
                  </a:rPr>
                  <a:t>phần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mạch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và</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khuếch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đại</a:t>
                </a:r>
                <a:br>
                  <a:rPr lang="en-US" sz="1800" dirty="0">
                    <a:latin typeface="Times New Roman" panose="02020603050405020304"/>
                    <a:ea typeface="Times New Roman" panose="02020603050405020304"/>
                    <a:cs typeface="Times New Roman" panose="02020603050405020304"/>
                    <a:sym typeface="Times New Roman" panose="02020603050405020304"/>
                  </a:rPr>
                </a:br>
                <a:br>
                  <a:rPr lang="en-US" sz="1800" dirty="0">
                    <a:latin typeface="Times New Roman" panose="02020603050405020304"/>
                    <a:ea typeface="Times New Roman" panose="02020603050405020304"/>
                    <a:cs typeface="Times New Roman" panose="02020603050405020304"/>
                    <a:sym typeface="Times New Roman" panose="02020603050405020304"/>
                  </a:rPr>
                </a:b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a:latin typeface="Times New Roman" panose="02020603050405020304"/>
                    <a:ea typeface="Times New Roman" panose="02020603050405020304"/>
                    <a:cs typeface="Times New Roman" panose="02020603050405020304"/>
                    <a:sym typeface="Times New Roman" panose="02020603050405020304"/>
                  </a:rPr>
                  <a:t>(2)</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ETx</a:t>
                </a:r>
                <a:r>
                  <a:rPr lang="en-US" sz="1800" dirty="0">
                    <a:latin typeface="Times New Roman" panose="02020603050405020304"/>
                    <a:ea typeface="Times New Roman" panose="02020603050405020304"/>
                    <a:cs typeface="Times New Roman" panose="02020603050405020304"/>
                    <a:sym typeface="Times New Roman" panose="02020603050405020304"/>
                  </a:rPr>
                  <a:t>(</a:t>
                </a:r>
                <a:r>
                  <a:rPr lang="en-US" sz="1800" dirty="0" err="1">
                    <a:latin typeface="Times New Roman" panose="02020603050405020304"/>
                    <a:ea typeface="Times New Roman" panose="02020603050405020304"/>
                    <a:cs typeface="Times New Roman" panose="02020603050405020304"/>
                    <a:sym typeface="Times New Roman" panose="02020603050405020304"/>
                  </a:rPr>
                  <a:t>k,d</a:t>
                </a:r>
                <a:r>
                  <a:rPr lang="en-US" sz="1800" dirty="0">
                    <a:latin typeface="Times New Roman" panose="02020603050405020304"/>
                    <a:ea typeface="Times New Roman" panose="02020603050405020304"/>
                    <a:cs typeface="Times New Roman" panose="02020603050405020304"/>
                    <a:sym typeface="Times New Roman" panose="02020603050405020304"/>
                  </a:rPr>
                  <a:t>)=</a:t>
                </a:r>
                <a:r>
                  <a:rPr lang="en-US" sz="1800" dirty="0" err="1">
                    <a:latin typeface="Times New Roman" panose="02020603050405020304"/>
                    <a:ea typeface="Times New Roman" panose="02020603050405020304"/>
                    <a:cs typeface="Times New Roman" panose="02020603050405020304"/>
                    <a:sym typeface="Times New Roman" panose="02020603050405020304"/>
                  </a:rPr>
                  <a:t>ETx</a:t>
                </a:r>
                <a:r>
                  <a:rPr lang="en-US" sz="1800" dirty="0">
                    <a:latin typeface="Times New Roman" panose="02020603050405020304"/>
                    <a:ea typeface="Times New Roman" panose="02020603050405020304"/>
                    <a:cs typeface="Times New Roman" panose="02020603050405020304"/>
                    <a:sym typeface="Times New Roman" panose="02020603050405020304"/>
                  </a:rPr>
                  <a:t>−dec(k)+</a:t>
                </a:r>
                <a:r>
                  <a:rPr lang="en-US" sz="1800" dirty="0" err="1">
                    <a:latin typeface="Times New Roman" panose="02020603050405020304"/>
                    <a:ea typeface="Times New Roman" panose="02020603050405020304"/>
                    <a:cs typeface="Times New Roman" panose="02020603050405020304"/>
                    <a:sym typeface="Times New Roman" panose="02020603050405020304"/>
                  </a:rPr>
                  <a:t>ETx</a:t>
                </a:r>
                <a:r>
                  <a:rPr lang="en-US" sz="1800" dirty="0">
                    <a:latin typeface="Times New Roman" panose="02020603050405020304"/>
                    <a:ea typeface="Times New Roman" panose="02020603050405020304"/>
                    <a:cs typeface="Times New Roman" panose="02020603050405020304"/>
                    <a:sym typeface="Times New Roman" panose="02020603050405020304"/>
                  </a:rPr>
                  <a:t>−amp(</a:t>
                </a:r>
                <a:r>
                  <a:rPr lang="en-US" sz="1800" dirty="0" err="1">
                    <a:latin typeface="Times New Roman" panose="02020603050405020304"/>
                    <a:ea typeface="Times New Roman" panose="02020603050405020304"/>
                    <a:cs typeface="Times New Roman" panose="02020603050405020304"/>
                    <a:sym typeface="Times New Roman" panose="02020603050405020304"/>
                  </a:rPr>
                  <a:t>k,d</a:t>
                </a:r>
                <a:r>
                  <a:rPr lang="en-US" sz="1800" dirty="0">
                    <a:latin typeface="Times New Roman" panose="02020603050405020304"/>
                    <a:ea typeface="Times New Roman" panose="02020603050405020304"/>
                    <a:cs typeface="Times New Roman" panose="02020603050405020304"/>
                    <a:sym typeface="Times New Roman" panose="02020603050405020304"/>
                  </a:rPr>
                  <a:t>)	(J)</a:t>
                </a:r>
                <a:r>
                  <a:rPr lang="en-US" sz="1800" b="1" dirty="0">
                    <a:latin typeface="Times New Roman" panose="02020603050405020304"/>
                    <a:ea typeface="Times New Roman" panose="02020603050405020304"/>
                    <a:cs typeface="Times New Roman" panose="02020603050405020304"/>
                    <a:sym typeface="Times New Roman" panose="02020603050405020304"/>
                  </a:rPr>
                  <a:t>					</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None/>
                </a:pPr>
                <a:r>
                  <a:rPr 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lượng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nhận</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None/>
                </a:pP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a:latin typeface="Times New Roman" panose="02020603050405020304"/>
                    <a:ea typeface="Times New Roman" panose="02020603050405020304"/>
                    <a:cs typeface="Times New Roman" panose="02020603050405020304"/>
                    <a:sym typeface="Times New Roman" panose="02020603050405020304"/>
                  </a:rPr>
                  <a:t>(5) 	</a:t>
                </a:r>
                <a:r>
                  <a:rPr lang="en-US" sz="1800" dirty="0" err="1">
                    <a:latin typeface="Times New Roman" panose="02020603050405020304"/>
                    <a:ea typeface="Times New Roman" panose="02020603050405020304"/>
                    <a:cs typeface="Times New Roman" panose="02020603050405020304"/>
                    <a:sym typeface="Times New Roman" panose="02020603050405020304"/>
                  </a:rPr>
                  <a:t>ERx</a:t>
                </a:r>
                <a:r>
                  <a:rPr lang="en-US" sz="1800" dirty="0">
                    <a:latin typeface="Times New Roman" panose="02020603050405020304"/>
                    <a:ea typeface="Times New Roman" panose="02020603050405020304"/>
                    <a:cs typeface="Times New Roman" panose="02020603050405020304"/>
                    <a:sym typeface="Times New Roman" panose="02020603050405020304"/>
                  </a:rPr>
                  <a:t>​(k)= </a:t>
                </a:r>
                <a:r>
                  <a:rPr lang="en-US" sz="1800" dirty="0" err="1">
                    <a:latin typeface="Times New Roman" panose="02020603050405020304"/>
                    <a:ea typeface="Times New Roman" panose="02020603050405020304"/>
                    <a:cs typeface="Times New Roman" panose="02020603050405020304"/>
                    <a:sym typeface="Times New Roman" panose="02020603050405020304"/>
                  </a:rPr>
                  <a:t>kEelec</a:t>
                </a:r>
                <a:r>
                  <a:rPr lang="en-US" sz="1800" dirty="0">
                    <a:latin typeface="Times New Roman" panose="02020603050405020304"/>
                    <a:ea typeface="Times New Roman" panose="02020603050405020304"/>
                    <a:cs typeface="Times New Roman" panose="02020603050405020304"/>
                    <a:sym typeface="Times New Roman" panose="02020603050405020304"/>
                  </a:rPr>
                  <a:t>​</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None/>
                </a:pPr>
                <a:endParaRPr lang="en-US"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None/>
                </a:pPr>
                <a14:m>
                  <m:oMath xmlns:m="http://schemas.openxmlformats.org/officeDocument/2006/math">
                    <m:sSub>
                      <m:sSubPr>
                        <m:ctrlPr>
                          <a:rPr lang="en-US" sz="1800" i="1" smtClean="0">
                            <a:latin typeface="Cambria Math" panose="02040503050406030204" pitchFamily="18" charset="0"/>
                            <a:cs typeface="Times New Roman" panose="02020603050405020304"/>
                            <a:sym typeface="Times New Roman" panose="02020603050405020304"/>
                          </a:rPr>
                        </m:ctrlPr>
                      </m:sSubPr>
                      <m:e>
                        <m:r>
                          <m:rPr>
                            <m:sty m:val="p"/>
                          </m:rPr>
                          <a:rPr lang="vi-VN" sz="1800" b="0" i="1" smtClean="0">
                            <a:latin typeface="Cambria Math" panose="02040503050406030204" pitchFamily="18" charset="0"/>
                            <a:cs typeface="Times New Roman" panose="02020603050405020304"/>
                            <a:sym typeface="Times New Roman" panose="02020603050405020304"/>
                          </a:rPr>
                          <m:t>E</m:t>
                        </m:r>
                      </m:e>
                      <m:sub>
                        <m:r>
                          <m:rPr>
                            <m:sty m:val="p"/>
                          </m:rPr>
                          <a:rPr lang="vi-VN" sz="1800" b="0" i="1" smtClean="0">
                            <a:latin typeface="Cambria Math" panose="02040503050406030204" pitchFamily="18" charset="0"/>
                            <a:cs typeface="Times New Roman" panose="02020603050405020304"/>
                            <a:sym typeface="Times New Roman" panose="02020603050405020304"/>
                          </a:rPr>
                          <m:t>m</m:t>
                        </m:r>
                      </m:sub>
                    </m:sSub>
                  </m:oMath>
                </a14:m>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Tổng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lượng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tiêu</a:t>
                </a:r>
                <a:r>
                  <a:rPr lang="en-US" sz="1800" dirty="0">
                    <a:latin typeface="Times New Roman" panose="02020603050405020304"/>
                    <a:ea typeface="Times New Roman" panose="02020603050405020304"/>
                    <a:cs typeface="Times New Roman" panose="02020603050405020304"/>
                    <a:sym typeface="Times New Roman" panose="02020603050405020304"/>
                  </a:rPr>
                  <a:t> hao </a:t>
                </a:r>
                <a:r>
                  <a:rPr lang="en-US" sz="1800" dirty="0" err="1">
                    <a:latin typeface="Times New Roman" panose="02020603050405020304"/>
                    <a:ea typeface="Times New Roman" panose="02020603050405020304"/>
                    <a:cs typeface="Times New Roman" panose="02020603050405020304"/>
                    <a:sym typeface="Times New Roman" panose="02020603050405020304"/>
                  </a:rPr>
                  <a:t>của</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nút</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None/>
                </a:pPr>
                <a14:m>
                  <m:oMath xmlns:m="http://schemas.openxmlformats.org/officeDocument/2006/math">
                    <m:sSub>
                      <m:sSubPr>
                        <m:ctrlPr>
                          <a:rPr lang="en-US" sz="1800" i="1" dirty="0" smtClean="0">
                            <a:latin typeface="Cambria Math" panose="02040503050406030204" pitchFamily="18" charset="0"/>
                            <a:cs typeface="Times New Roman" panose="02020603050405020304"/>
                            <a:sym typeface="Times New Roman" panose="02020603050405020304"/>
                          </a:rPr>
                        </m:ctrlPr>
                      </m:sSubPr>
                      <m:e>
                        <m:r>
                          <m:rPr>
                            <m:sty m:val="p"/>
                          </m:rPr>
                          <a:rPr lang="vi-VN" sz="1800" b="0" i="1" dirty="0" smtClean="0">
                            <a:latin typeface="Cambria Math" panose="02040503050406030204" pitchFamily="18" charset="0"/>
                            <a:cs typeface="Times New Roman" panose="02020603050405020304"/>
                            <a:sym typeface="Times New Roman" panose="02020603050405020304"/>
                          </a:rPr>
                          <m:t>E</m:t>
                        </m:r>
                      </m:e>
                      <m:sub>
                        <m:r>
                          <m:rPr>
                            <m:sty m:val="p"/>
                          </m:rPr>
                          <a:rPr lang="vi-VN" sz="1800" b="0" i="1" dirty="0" smtClean="0">
                            <a:latin typeface="Cambria Math" panose="02040503050406030204" pitchFamily="18" charset="0"/>
                            <a:cs typeface="Times New Roman" panose="02020603050405020304"/>
                            <a:sym typeface="Times New Roman" panose="02020603050405020304"/>
                          </a:rPr>
                          <m:t>Tx</m:t>
                        </m:r>
                      </m:sub>
                    </m:sSub>
                    <m:r>
                      <a:rPr lang="vi-VN" sz="1800" b="0" i="1" dirty="0" smtClean="0">
                        <a:latin typeface="Cambria Math" panose="02040503050406030204" pitchFamily="18" charset="0"/>
                        <a:cs typeface="Times New Roman" panose="02020603050405020304"/>
                        <a:sym typeface="Times New Roman" panose="02020603050405020304"/>
                      </a:rPr>
                      <m:t>(</m:t>
                    </m:r>
                    <m:r>
                      <m:rPr>
                        <m:sty m:val="p"/>
                      </m:rPr>
                      <a:rPr lang="vi-VN" sz="1800" b="0" i="1" dirty="0" smtClean="0">
                        <a:latin typeface="Cambria Math" panose="02040503050406030204" pitchFamily="18" charset="0"/>
                        <a:cs typeface="Times New Roman" panose="02020603050405020304"/>
                        <a:sym typeface="Times New Roman" panose="02020603050405020304"/>
                      </a:rPr>
                      <m:t>k</m:t>
                    </m:r>
                    <m:r>
                      <a:rPr lang="vi-VN" sz="1800" b="0" i="1" dirty="0" smtClean="0">
                        <a:latin typeface="Cambria Math" panose="02040503050406030204" pitchFamily="18" charset="0"/>
                        <a:cs typeface="Times New Roman" panose="02020603050405020304"/>
                        <a:sym typeface="Times New Roman" panose="02020603050405020304"/>
                      </a:rPr>
                      <m:t>,</m:t>
                    </m:r>
                    <m:r>
                      <m:rPr>
                        <m:sty m:val="p"/>
                      </m:rPr>
                      <a:rPr lang="vi-VN" sz="1800" b="0" i="1" dirty="0" smtClean="0">
                        <a:latin typeface="Cambria Math" panose="02040503050406030204" pitchFamily="18" charset="0"/>
                        <a:cs typeface="Times New Roman" panose="02020603050405020304"/>
                        <a:sym typeface="Times New Roman" panose="02020603050405020304"/>
                      </a:rPr>
                      <m:t>d</m:t>
                    </m:r>
                    <m:r>
                      <a:rPr lang="vi-VN" sz="1800" b="0" i="1" dirty="0" smtClean="0">
                        <a:latin typeface="Cambria Math" panose="02040503050406030204" pitchFamily="18" charset="0"/>
                        <a:cs typeface="Times New Roman" panose="02020603050405020304"/>
                        <a:sym typeface="Times New Roman" panose="02020603050405020304"/>
                      </a:rPr>
                      <m:t>)</m:t>
                    </m:r>
                  </m:oMath>
                </a14:m>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lượng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truyền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gói</a:t>
                </a:r>
                <a:r>
                  <a:rPr lang="en-US" sz="1800" dirty="0">
                    <a:latin typeface="Times New Roman" panose="02020603050405020304"/>
                    <a:ea typeface="Times New Roman" panose="02020603050405020304"/>
                    <a:cs typeface="Times New Roman" panose="02020603050405020304"/>
                    <a:sym typeface="Times New Roman" panose="02020603050405020304"/>
                  </a:rPr>
                  <a:t> tin </a:t>
                </a:r>
                <a:r>
                  <a:rPr lang="en-US" sz="1800" dirty="0" err="1">
                    <a:latin typeface="Times New Roman" panose="02020603050405020304"/>
                    <a:ea typeface="Times New Roman" panose="02020603050405020304"/>
                    <a:cs typeface="Times New Roman" panose="02020603050405020304"/>
                    <a:sym typeface="Times New Roman" panose="02020603050405020304"/>
                  </a:rPr>
                  <a:t>kích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thước</a:t>
                </a:r>
                <a:r>
                  <a:rPr lang="en-US" sz="1800" dirty="0">
                    <a:latin typeface="Times New Roman" panose="02020603050405020304"/>
                    <a:ea typeface="Times New Roman" panose="02020603050405020304"/>
                    <a:cs typeface="Times New Roman" panose="02020603050405020304"/>
                    <a:sym typeface="Times New Roman" panose="02020603050405020304"/>
                  </a:rPr>
                  <a:t> k qua </a:t>
                </a:r>
                <a:r>
                  <a:rPr lang="en-US" sz="1800" dirty="0" err="1">
                    <a:latin typeface="Times New Roman" panose="02020603050405020304"/>
                    <a:ea typeface="Times New Roman" panose="02020603050405020304"/>
                    <a:cs typeface="Times New Roman" panose="02020603050405020304"/>
                    <a:sym typeface="Times New Roman" panose="02020603050405020304"/>
                  </a:rPr>
                  <a:t>khoảng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cách</a:t>
                </a:r>
                <a:r>
                  <a:rPr lang="en-US" sz="1800" dirty="0">
                    <a:latin typeface="Times New Roman" panose="02020603050405020304"/>
                    <a:ea typeface="Times New Roman" panose="02020603050405020304"/>
                    <a:cs typeface="Times New Roman" panose="02020603050405020304"/>
                    <a:sym typeface="Times New Roman" panose="02020603050405020304"/>
                  </a:rPr>
                  <a:t> d</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nSpc>
                    <a:spcPct val="100000"/>
                  </a:lnSpc>
                  <a:spcBef>
                    <a:spcPts val="0"/>
                  </a:spcBef>
                  <a:buNone/>
                </a:pPr>
                <a14:m>
                  <m:oMath xmlns:m="http://schemas.openxmlformats.org/officeDocument/2006/math">
                    <m:sSub>
                      <m:sSubPr>
                        <m:ctrlPr>
                          <a:rPr lang="en-US" sz="1800" i="1" dirty="0">
                            <a:latin typeface="Cambria Math" panose="02040503050406030204" pitchFamily="18" charset="0"/>
                            <a:cs typeface="Times New Roman" panose="02020603050405020304"/>
                            <a:sym typeface="Times New Roman" panose="02020603050405020304"/>
                          </a:rPr>
                        </m:ctrlPr>
                      </m:sSubPr>
                      <m:e>
                        <m:r>
                          <m:rPr>
                            <m:sty m:val="p"/>
                          </m:rPr>
                          <a:rPr lang="vi-VN" sz="1800" i="1" dirty="0">
                            <a:latin typeface="Cambria Math" panose="02040503050406030204" pitchFamily="18" charset="0"/>
                            <a:cs typeface="Times New Roman" panose="02020603050405020304"/>
                            <a:sym typeface="Times New Roman" panose="02020603050405020304"/>
                          </a:rPr>
                          <m:t>E</m:t>
                        </m:r>
                      </m:e>
                      <m:sub>
                        <m:r>
                          <m:rPr>
                            <m:sty m:val="p"/>
                          </m:rPr>
                          <a:rPr lang="vi-VN" sz="1800" b="0" i="1" dirty="0" smtClean="0">
                            <a:latin typeface="Cambria Math" panose="02040503050406030204" pitchFamily="18" charset="0"/>
                            <a:cs typeface="Times New Roman" panose="02020603050405020304"/>
                            <a:sym typeface="Times New Roman" panose="02020603050405020304"/>
                          </a:rPr>
                          <m:t>R</m:t>
                        </m:r>
                        <m:r>
                          <m:rPr>
                            <m:sty m:val="p"/>
                          </m:rPr>
                          <a:rPr lang="vi-VN" sz="1800" i="1" dirty="0">
                            <a:latin typeface="Cambria Math" panose="02040503050406030204" pitchFamily="18" charset="0"/>
                            <a:cs typeface="Times New Roman" panose="02020603050405020304"/>
                            <a:sym typeface="Times New Roman" panose="02020603050405020304"/>
                          </a:rPr>
                          <m:t>x</m:t>
                        </m:r>
                      </m:sub>
                    </m:sSub>
                    <m:r>
                      <a:rPr lang="vi-VN" sz="1800" i="1" dirty="0">
                        <a:latin typeface="Cambria Math" panose="02040503050406030204" pitchFamily="18" charset="0"/>
                        <a:cs typeface="Times New Roman" panose="02020603050405020304"/>
                        <a:sym typeface="Times New Roman" panose="02020603050405020304"/>
                      </a:rPr>
                      <m:t>(</m:t>
                    </m:r>
                    <m:r>
                      <m:rPr>
                        <m:sty m:val="p"/>
                      </m:rPr>
                      <a:rPr lang="vi-VN" sz="1800" i="1" dirty="0">
                        <a:latin typeface="Cambria Math" panose="02040503050406030204" pitchFamily="18" charset="0"/>
                        <a:cs typeface="Times New Roman" panose="02020603050405020304"/>
                        <a:sym typeface="Times New Roman" panose="02020603050405020304"/>
                      </a:rPr>
                      <m:t>k</m:t>
                    </m:r>
                    <m:r>
                      <a:rPr lang="vi-VN" sz="1800" i="1" dirty="0">
                        <a:latin typeface="Cambria Math" panose="02040503050406030204" pitchFamily="18" charset="0"/>
                        <a:cs typeface="Times New Roman" panose="02020603050405020304"/>
                        <a:sym typeface="Times New Roman" panose="02020603050405020304"/>
                      </a:rPr>
                      <m:t>) </m:t>
                    </m:r>
                  </m:oMath>
                </a14:m>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lượng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nhận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gói</a:t>
                </a:r>
                <a:r>
                  <a:rPr lang="en-US" sz="1800" dirty="0">
                    <a:latin typeface="Times New Roman" panose="02020603050405020304"/>
                    <a:ea typeface="Times New Roman" panose="02020603050405020304"/>
                    <a:cs typeface="Times New Roman" panose="02020603050405020304"/>
                    <a:sym typeface="Times New Roman" panose="02020603050405020304"/>
                  </a:rPr>
                  <a:t> tin </a:t>
                </a:r>
                <a:r>
                  <a:rPr lang="en-US" sz="1800" dirty="0" err="1">
                    <a:latin typeface="Times New Roman" panose="02020603050405020304"/>
                    <a:ea typeface="Times New Roman" panose="02020603050405020304"/>
                    <a:cs typeface="Times New Roman" panose="02020603050405020304"/>
                    <a:sym typeface="Times New Roman" panose="02020603050405020304"/>
                  </a:rPr>
                  <a:t>kích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thước</a:t>
                </a:r>
                <a:r>
                  <a:rPr lang="en-US" sz="1800" dirty="0">
                    <a:latin typeface="Times New Roman" panose="02020603050405020304"/>
                    <a:ea typeface="Times New Roman" panose="02020603050405020304"/>
                    <a:cs typeface="Times New Roman" panose="02020603050405020304"/>
                    <a:sym typeface="Times New Roman" panose="02020603050405020304"/>
                  </a:rPr>
                  <a:t> k</a:t>
                </a:r>
                <a14:m>
                  <m:oMath xmlns:m="http://schemas.openxmlformats.org/officeDocument/2006/math">
                    <a:fld id="{825F15A7-03F4-43D7-82C5-3E23DA2F108C}" type="mathplaceholder">
                      <a:rPr lang="en-US" sz="1800" i="1" smtClean="0">
                        <a:latin typeface="Cambria Math" panose="02040503050406030204" pitchFamily="18" charset="0"/>
                        <a:cs typeface="Times New Roman" panose="02020603050405020304"/>
                        <a:sym typeface="Times New Roman" panose="02020603050405020304"/>
                      </a:rPr>
                      <a:t>Type equation here.</a:t>
                    </a:fld>
                  </m:oMath>
                </a14:m>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nSpc>
                    <a:spcPct val="100000"/>
                  </a:lnSpc>
                  <a:spcBef>
                    <a:spcPts val="0"/>
                  </a:spcBef>
                  <a:buNone/>
                </a:pPr>
                <a14:m>
                  <m:oMath xmlns:m="http://schemas.openxmlformats.org/officeDocument/2006/math">
                    <m:sSub>
                      <m:sSubPr>
                        <m:ctrlPr>
                          <a:rPr lang="en-US" sz="1800" i="1" dirty="0">
                            <a:latin typeface="Cambria Math" panose="02040503050406030204" pitchFamily="18" charset="0"/>
                            <a:cs typeface="Times New Roman" panose="02020603050405020304"/>
                            <a:sym typeface="Times New Roman" panose="02020603050405020304"/>
                          </a:rPr>
                        </m:ctrlPr>
                      </m:sSubPr>
                      <m:e>
                        <m:r>
                          <m:rPr>
                            <m:sty m:val="p"/>
                          </m:rPr>
                          <a:rPr lang="vi-VN" sz="1800" i="1" dirty="0">
                            <a:latin typeface="Cambria Math" panose="02040503050406030204" pitchFamily="18" charset="0"/>
                            <a:cs typeface="Times New Roman" panose="02020603050405020304"/>
                            <a:sym typeface="Times New Roman" panose="02020603050405020304"/>
                          </a:rPr>
                          <m:t>E</m:t>
                        </m:r>
                      </m:e>
                      <m:sub>
                        <m:r>
                          <m:rPr>
                            <m:sty m:val="p"/>
                          </m:rPr>
                          <a:rPr lang="vi-VN" sz="1800" b="0" i="1" dirty="0" smtClean="0">
                            <a:latin typeface="Cambria Math" panose="02040503050406030204" pitchFamily="18" charset="0"/>
                            <a:cs typeface="Times New Roman" panose="02020603050405020304"/>
                            <a:sym typeface="Times New Roman" panose="02020603050405020304"/>
                          </a:rPr>
                          <m:t>DA</m:t>
                        </m:r>
                      </m:sub>
                    </m:sSub>
                    <m:r>
                      <a:rPr lang="vi-VN" sz="1800" i="1" dirty="0">
                        <a:latin typeface="Cambria Math" panose="02040503050406030204" pitchFamily="18" charset="0"/>
                        <a:cs typeface="Times New Roman" panose="02020603050405020304"/>
                        <a:sym typeface="Times New Roman" panose="02020603050405020304"/>
                      </a:rPr>
                      <m:t>(</m:t>
                    </m:r>
                    <m:r>
                      <m:rPr>
                        <m:sty m:val="p"/>
                      </m:rPr>
                      <a:rPr lang="vi-VN" sz="1800" i="1" dirty="0">
                        <a:latin typeface="Cambria Math" panose="02040503050406030204" pitchFamily="18" charset="0"/>
                        <a:cs typeface="Times New Roman" panose="02020603050405020304"/>
                        <a:sym typeface="Times New Roman" panose="02020603050405020304"/>
                      </a:rPr>
                      <m:t>k</m:t>
                    </m:r>
                    <m:r>
                      <a:rPr lang="vi-VN" sz="1800" i="1" dirty="0">
                        <a:latin typeface="Cambria Math" panose="02040503050406030204" pitchFamily="18" charset="0"/>
                        <a:cs typeface="Times New Roman" panose="02020603050405020304"/>
                        <a:sym typeface="Times New Roman" panose="02020603050405020304"/>
                      </a:rPr>
                      <m:t>) </m:t>
                    </m:r>
                  </m:oMath>
                </a14:m>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lượng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gộp</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dữ</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liệu</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kích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thước</a:t>
                </a:r>
                <a:r>
                  <a:rPr lang="en-US" sz="1800" dirty="0">
                    <a:latin typeface="Times New Roman" panose="02020603050405020304"/>
                    <a:ea typeface="Times New Roman" panose="02020603050405020304"/>
                    <a:cs typeface="Times New Roman" panose="02020603050405020304"/>
                    <a:sym typeface="Times New Roman" panose="02020603050405020304"/>
                  </a:rPr>
                  <a:t> k</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nSpc>
                    <a:spcPct val="100000"/>
                  </a:lnSpc>
                  <a:spcBef>
                    <a:spcPts val="0"/>
                  </a:spcBef>
                  <a:buNone/>
                </a:pPr>
                <a14:m>
                  <m:oMath xmlns:m="http://schemas.openxmlformats.org/officeDocument/2006/math">
                    <m:sSub>
                      <m:sSubPr>
                        <m:ctrlPr>
                          <a:rPr lang="en-US" sz="1800" i="1" dirty="0">
                            <a:latin typeface="Cambria Math" panose="02040503050406030204" pitchFamily="18" charset="0"/>
                            <a:cs typeface="Times New Roman" panose="02020603050405020304"/>
                            <a:sym typeface="Times New Roman" panose="02020603050405020304"/>
                          </a:rPr>
                        </m:ctrlPr>
                      </m:sSubPr>
                      <m:e>
                        <m:r>
                          <m:rPr>
                            <m:sty m:val="p"/>
                          </m:rPr>
                          <a:rPr lang="vi-VN" sz="1800" i="1" dirty="0">
                            <a:latin typeface="Cambria Math" panose="02040503050406030204" pitchFamily="18" charset="0"/>
                            <a:cs typeface="Times New Roman" panose="02020603050405020304"/>
                            <a:sym typeface="Times New Roman" panose="02020603050405020304"/>
                          </a:rPr>
                          <m:t>E</m:t>
                        </m:r>
                      </m:e>
                      <m:sub>
                        <m:r>
                          <m:rPr>
                            <m:sty m:val="p"/>
                          </m:rPr>
                          <a:rPr lang="vi-VN" sz="1800" i="1" dirty="0">
                            <a:latin typeface="Cambria Math" panose="02040503050406030204" pitchFamily="18" charset="0"/>
                            <a:cs typeface="Times New Roman" panose="02020603050405020304"/>
                            <a:sym typeface="Times New Roman" panose="02020603050405020304"/>
                          </a:rPr>
                          <m:t>Tx</m:t>
                        </m:r>
                        <m:r>
                          <a:rPr lang="vi-VN" sz="1800" b="0" i="1" dirty="0" smtClean="0">
                            <a:latin typeface="Cambria Math" panose="02040503050406030204" pitchFamily="18" charset="0"/>
                            <a:cs typeface="Times New Roman" panose="02020603050405020304"/>
                            <a:sym typeface="Times New Roman" panose="02020603050405020304"/>
                          </a:rPr>
                          <m:t>−</m:t>
                        </m:r>
                        <m:r>
                          <m:rPr>
                            <m:sty m:val="p"/>
                          </m:rPr>
                          <a:rPr lang="vi-VN" sz="1800" b="0" i="1" dirty="0" smtClean="0">
                            <a:latin typeface="Cambria Math" panose="02040503050406030204" pitchFamily="18" charset="0"/>
                            <a:cs typeface="Times New Roman" panose="02020603050405020304"/>
                            <a:sym typeface="Times New Roman" panose="02020603050405020304"/>
                          </a:rPr>
                          <m:t>dec</m:t>
                        </m:r>
                      </m:sub>
                    </m:sSub>
                    <m:r>
                      <a:rPr lang="vi-VN" sz="1800" i="1" dirty="0">
                        <a:latin typeface="Cambria Math" panose="02040503050406030204" pitchFamily="18" charset="0"/>
                        <a:cs typeface="Times New Roman" panose="02020603050405020304"/>
                        <a:sym typeface="Times New Roman" panose="02020603050405020304"/>
                      </a:rPr>
                      <m:t>(</m:t>
                    </m:r>
                    <m:r>
                      <m:rPr>
                        <m:sty m:val="p"/>
                      </m:rPr>
                      <a:rPr lang="vi-VN" sz="1800" i="1" dirty="0">
                        <a:latin typeface="Cambria Math" panose="02040503050406030204" pitchFamily="18" charset="0"/>
                        <a:cs typeface="Times New Roman" panose="02020603050405020304"/>
                        <a:sym typeface="Times New Roman" panose="02020603050405020304"/>
                      </a:rPr>
                      <m:t>k</m:t>
                    </m:r>
                    <m:r>
                      <a:rPr lang="vi-VN" sz="1800" i="1" dirty="0">
                        <a:latin typeface="Cambria Math" panose="02040503050406030204" pitchFamily="18" charset="0"/>
                        <a:cs typeface="Times New Roman" panose="02020603050405020304"/>
                        <a:sym typeface="Times New Roman" panose="02020603050405020304"/>
                      </a:rPr>
                      <m:t>) </m:t>
                    </m:r>
                  </m:oMath>
                </a14:m>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lượng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của</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mạch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điện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khi</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truyền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dữ</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liệu</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nSpc>
                    <a:spcPct val="100000"/>
                  </a:lnSpc>
                  <a:spcBef>
                    <a:spcPts val="0"/>
                  </a:spcBef>
                  <a:buSzPts val="1100"/>
                  <a:buNone/>
                </a:pPr>
                <a14:m>
                  <m:oMath xmlns:m="http://schemas.openxmlformats.org/officeDocument/2006/math">
                    <m:sSub>
                      <m:sSubPr>
                        <m:ctrlPr>
                          <a:rPr lang="en-US" sz="1800" i="1" dirty="0">
                            <a:latin typeface="Cambria Math" panose="02040503050406030204" pitchFamily="18" charset="0"/>
                            <a:cs typeface="Times New Roman" panose="02020603050405020304"/>
                            <a:sym typeface="Times New Roman" panose="02020603050405020304"/>
                          </a:rPr>
                        </m:ctrlPr>
                      </m:sSubPr>
                      <m:e>
                        <m:r>
                          <m:rPr>
                            <m:sty m:val="p"/>
                          </m:rPr>
                          <a:rPr lang="vi-VN" sz="1800" i="1" dirty="0">
                            <a:latin typeface="Cambria Math" panose="02040503050406030204" pitchFamily="18" charset="0"/>
                            <a:cs typeface="Times New Roman" panose="02020603050405020304"/>
                            <a:sym typeface="Times New Roman" panose="02020603050405020304"/>
                          </a:rPr>
                          <m:t>E</m:t>
                        </m:r>
                      </m:e>
                      <m:sub>
                        <m:r>
                          <m:rPr>
                            <m:sty m:val="p"/>
                          </m:rPr>
                          <a:rPr lang="vi-VN" sz="1800" i="1" dirty="0">
                            <a:latin typeface="Cambria Math" panose="02040503050406030204" pitchFamily="18" charset="0"/>
                            <a:cs typeface="Times New Roman" panose="02020603050405020304"/>
                            <a:sym typeface="Times New Roman" panose="02020603050405020304"/>
                          </a:rPr>
                          <m:t>Tx</m:t>
                        </m:r>
                        <m:r>
                          <a:rPr lang="vi-VN" sz="1800" i="1" dirty="0">
                            <a:latin typeface="Cambria Math" panose="02040503050406030204" pitchFamily="18" charset="0"/>
                            <a:cs typeface="Times New Roman" panose="02020603050405020304"/>
                            <a:sym typeface="Times New Roman" panose="02020603050405020304"/>
                          </a:rPr>
                          <m:t>−</m:t>
                        </m:r>
                        <m:r>
                          <m:rPr>
                            <m:sty m:val="p"/>
                          </m:rPr>
                          <a:rPr lang="vi-VN" sz="1800" b="0" i="1" dirty="0" smtClean="0">
                            <a:latin typeface="Cambria Math" panose="02040503050406030204" pitchFamily="18" charset="0"/>
                            <a:cs typeface="Times New Roman" panose="02020603050405020304"/>
                            <a:sym typeface="Times New Roman" panose="02020603050405020304"/>
                          </a:rPr>
                          <m:t>amp</m:t>
                        </m:r>
                      </m:sub>
                    </m:sSub>
                    <m:r>
                      <a:rPr lang="vi-VN" sz="1800" i="1" dirty="0">
                        <a:latin typeface="Cambria Math" panose="02040503050406030204" pitchFamily="18" charset="0"/>
                        <a:cs typeface="Times New Roman" panose="02020603050405020304"/>
                        <a:sym typeface="Times New Roman" panose="02020603050405020304"/>
                      </a:rPr>
                      <m:t>(</m:t>
                    </m:r>
                    <m:r>
                      <m:rPr>
                        <m:sty m:val="p"/>
                      </m:rPr>
                      <a:rPr lang="vi-VN" sz="1800" i="1" dirty="0">
                        <a:latin typeface="Cambria Math" panose="02040503050406030204" pitchFamily="18" charset="0"/>
                        <a:cs typeface="Times New Roman" panose="02020603050405020304"/>
                        <a:sym typeface="Times New Roman" panose="02020603050405020304"/>
                      </a:rPr>
                      <m:t>k</m:t>
                    </m:r>
                    <m:r>
                      <a:rPr lang="vi-VN" sz="1800" b="0" i="1" dirty="0" smtClean="0">
                        <a:latin typeface="Cambria Math" panose="02040503050406030204" pitchFamily="18" charset="0"/>
                        <a:cs typeface="Times New Roman" panose="02020603050405020304"/>
                        <a:sym typeface="Times New Roman" panose="02020603050405020304"/>
                      </a:rPr>
                      <m:t>,</m:t>
                    </m:r>
                    <m:r>
                      <m:rPr>
                        <m:sty m:val="p"/>
                      </m:rPr>
                      <a:rPr lang="vi-VN" sz="1800" b="0" i="1" dirty="0" smtClean="0">
                        <a:latin typeface="Cambria Math" panose="02040503050406030204" pitchFamily="18" charset="0"/>
                        <a:cs typeface="Times New Roman" panose="02020603050405020304"/>
                        <a:sym typeface="Times New Roman" panose="02020603050405020304"/>
                      </a:rPr>
                      <m:t>d</m:t>
                    </m:r>
                    <m:r>
                      <a:rPr lang="vi-VN" sz="1800" i="1" dirty="0">
                        <a:latin typeface="Cambria Math" panose="02040503050406030204" pitchFamily="18" charset="0"/>
                        <a:cs typeface="Times New Roman" panose="02020603050405020304"/>
                        <a:sym typeface="Times New Roman" panose="02020603050405020304"/>
                      </a:rPr>
                      <m:t>) </m:t>
                    </m:r>
                  </m:oMath>
                </a14:m>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lượng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khuếch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đại</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tín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hiệu</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phụ</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thuộc</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khoảng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cách</a:t>
                </a:r>
                <a:r>
                  <a:rPr lang="en-US" sz="1800" dirty="0">
                    <a:latin typeface="Times New Roman" panose="02020603050405020304"/>
                    <a:ea typeface="Times New Roman" panose="02020603050405020304"/>
                    <a:cs typeface="Times New Roman" panose="02020603050405020304"/>
                    <a:sym typeface="Times New Roman" panose="02020603050405020304"/>
                  </a:rPr>
                  <a:t> d</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None/>
                </a:pPr>
                <a:endParaRPr sz="1800" dirty="0">
                  <a:latin typeface="Times New Roman" panose="02020603050405020304"/>
                  <a:ea typeface="Times New Roman" panose="02020603050405020304"/>
                  <a:cs typeface="Times New Roman" panose="02020603050405020304"/>
                  <a:sym typeface="Times New Roman" panose="02020603050405020304"/>
                </a:endParaRPr>
              </a:p>
            </p:txBody>
          </p:sp>
        </mc:Choice>
        <mc:Fallback xmlns="">
          <p:sp>
            <p:nvSpPr>
              <p:cNvPr id="214" name="Google Shape;214;p34"/>
              <p:cNvSpPr txBox="1">
                <a:spLocks noRot="1" noChangeAspect="1" noMove="1" noResize="1" noEditPoints="1" noAdjustHandles="1" noChangeArrowheads="1" noChangeShapeType="1" noTextEdit="1"/>
              </p:cNvSpPr>
              <p:nvPr>
                <p:ph type="body" idx="1"/>
              </p:nvPr>
            </p:nvSpPr>
            <p:spPr>
              <a:xfrm>
                <a:off x="234950" y="963176"/>
                <a:ext cx="9035400" cy="5894700"/>
              </a:xfrm>
              <a:prstGeom prst="rect">
                <a:avLst/>
              </a:prstGeom>
              <a:blipFill rotWithShape="1">
                <a:blip r:embed="rId3"/>
                <a:stretch>
                  <a:fillRect t="-9" r="7" b="9"/>
                </a:stretch>
              </a:blipFill>
            </p:spPr>
            <p:txBody>
              <a:bodyPr/>
              <a:lstStyle/>
              <a:p>
                <a:r>
                  <a:rPr lang="en-US" altLang="en-US">
                    <a:noFill/>
                  </a:rPr>
                  <a:t> </a:t>
                </a:r>
              </a:p>
            </p:txBody>
          </p:sp>
        </mc:Fallback>
      </mc:AlternateContent>
      <p:graphicFrame>
        <p:nvGraphicFramePr>
          <p:cNvPr id="215" name="Google Shape;215;p34"/>
          <p:cNvGraphicFramePr/>
          <p:nvPr/>
        </p:nvGraphicFramePr>
        <p:xfrm>
          <a:off x="152400" y="152400"/>
          <a:ext cx="208250" cy="396210"/>
        </p:xfrm>
        <a:graphic>
          <a:graphicData uri="http://schemas.openxmlformats.org/drawingml/2006/table">
            <a:tbl>
              <a:tblPr>
                <a:noFill/>
                <a:tableStyleId>{2C94AA5D-8D03-4AD0-AC9E-A1A30640FED9}</a:tableStyleId>
              </a:tblPr>
              <a:tblGrid>
                <a:gridCol w="20825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0"/>
                  </a:ext>
                </a:extLst>
              </a:tr>
            </a:tbl>
          </a:graphicData>
        </a:graphic>
      </p:graphicFrame>
      <p:pic>
        <p:nvPicPr>
          <p:cNvPr id="3" name="Picture 2"/>
          <p:cNvPicPr>
            <a:picLocks noChangeAspect="1"/>
          </p:cNvPicPr>
          <p:nvPr/>
        </p:nvPicPr>
        <p:blipFill>
          <a:blip r:embed="rId4"/>
          <a:stretch>
            <a:fillRect/>
          </a:stretch>
        </p:blipFill>
        <p:spPr>
          <a:xfrm>
            <a:off x="2475615" y="2120753"/>
            <a:ext cx="3244702" cy="497172"/>
          </a:xfrm>
          <a:prstGeom prst="rect">
            <a:avLst/>
          </a:prstGeom>
        </p:spPr>
      </p:pic>
      <p:pic>
        <p:nvPicPr>
          <p:cNvPr id="4" name="Picture 3"/>
          <p:cNvPicPr>
            <a:picLocks noChangeAspect="1"/>
          </p:cNvPicPr>
          <p:nvPr/>
        </p:nvPicPr>
        <p:blipFill>
          <a:blip r:embed="rId5"/>
          <a:stretch>
            <a:fillRect/>
          </a:stretch>
        </p:blipFill>
        <p:spPr>
          <a:xfrm>
            <a:off x="2109678" y="3050688"/>
            <a:ext cx="3976576" cy="411040"/>
          </a:xfrm>
          <a:prstGeom prst="rect">
            <a:avLst/>
          </a:prstGeom>
        </p:spPr>
      </p:pic>
      <p:pic>
        <p:nvPicPr>
          <p:cNvPr id="5" name="Picture 4"/>
          <p:cNvPicPr>
            <a:picLocks noChangeAspect="1"/>
          </p:cNvPicPr>
          <p:nvPr/>
        </p:nvPicPr>
        <p:blipFill>
          <a:blip r:embed="rId6"/>
          <a:stretch>
            <a:fillRect/>
          </a:stretch>
        </p:blipFill>
        <p:spPr>
          <a:xfrm>
            <a:off x="3025996" y="3803790"/>
            <a:ext cx="1641696" cy="43932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5"/>
          <p:cNvSpPr txBox="1">
            <a:spLocks noGrp="1"/>
          </p:cNvSpPr>
          <p:nvPr>
            <p:ph type="sldNum" idx="12"/>
          </p:nvPr>
        </p:nvSpPr>
        <p:spPr>
          <a:xfrm>
            <a:off x="6867383" y="6572126"/>
            <a:ext cx="2057400" cy="3651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23</a:t>
            </a:fld>
            <a:endParaRPr lang="en-US"/>
          </a:p>
        </p:txBody>
      </p:sp>
      <p:sp>
        <p:nvSpPr>
          <p:cNvPr id="222" name="Google Shape;222;p35"/>
          <p:cNvSpPr txBox="1">
            <a:spLocks noGrp="1"/>
          </p:cNvSpPr>
          <p:nvPr>
            <p:ph type="title"/>
          </p:nvPr>
        </p:nvSpPr>
        <p:spPr>
          <a:xfrm>
            <a:off x="235077" y="78613"/>
            <a:ext cx="8673900" cy="451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a:sym typeface="+mn-ea"/>
              </a:rPr>
              <a:t>2. Cơ sở lý thuyết </a:t>
            </a:r>
            <a:r>
              <a:rPr lang="en-US">
                <a:sym typeface="+mn-ea"/>
              </a:rPr>
              <a:t>&amp;</a:t>
            </a:r>
            <a:r>
              <a:rPr lang="vi-VN">
                <a:sym typeface="+mn-ea"/>
              </a:rPr>
              <a:t> phát biểu bài toán</a:t>
            </a:r>
          </a:p>
        </p:txBody>
      </p:sp>
      <mc:AlternateContent xmlns:mc="http://schemas.openxmlformats.org/markup-compatibility/2006" xmlns:a14="http://schemas.microsoft.com/office/drawing/2010/main">
        <mc:Choice Requires="a14">
          <p:sp>
            <p:nvSpPr>
              <p:cNvPr id="223" name="Google Shape;223;p35"/>
              <p:cNvSpPr txBox="1">
                <a:spLocks noGrp="1"/>
              </p:cNvSpPr>
              <p:nvPr>
                <p:ph type="body" idx="1"/>
              </p:nvPr>
            </p:nvSpPr>
            <p:spPr>
              <a:xfrm>
                <a:off x="234950" y="963176"/>
                <a:ext cx="9035400" cy="5894700"/>
              </a:xfrm>
              <a:prstGeom prst="rect">
                <a:avLst/>
              </a:prstGeom>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US" sz="1800" dirty="0">
                    <a:latin typeface="Times New Roman" panose="02020603050405020304"/>
                    <a:ea typeface="Times New Roman" panose="02020603050405020304"/>
                    <a:cs typeface="Times New Roman" panose="02020603050405020304"/>
                    <a:sym typeface="Times New Roman" panose="02020603050405020304"/>
                  </a:rPr>
                  <a:t>CÁC CÔNG THỨC TRONG WSN (Wireless Sensor Network)</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None/>
                </a:pPr>
                <a:r>
                  <a:rPr lang="en-US" sz="1800" dirty="0" err="1">
                    <a:latin typeface="Times New Roman" panose="02020603050405020304"/>
                    <a:ea typeface="Times New Roman" panose="02020603050405020304"/>
                    <a:cs typeface="Times New Roman" panose="02020603050405020304"/>
                    <a:sym typeface="Times New Roman" panose="02020603050405020304"/>
                  </a:rPr>
                  <a:t>Mô</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hình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tiêu</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thụ</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lượng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truyền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a:latin typeface="Times New Roman" panose="02020603050405020304"/>
                    <a:ea typeface="Times New Roman" panose="02020603050405020304"/>
                    <a:cs typeface="Times New Roman" panose="02020603050405020304"/>
                    <a:sym typeface="Times New Roman" panose="02020603050405020304"/>
                  </a:rPr>
                  <a:t>Free-space</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và</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a:latin typeface="Times New Roman" panose="02020603050405020304"/>
                    <a:ea typeface="Times New Roman" panose="02020603050405020304"/>
                    <a:cs typeface="Times New Roman" panose="02020603050405020304"/>
                    <a:sym typeface="Times New Roman" panose="02020603050405020304"/>
                  </a:rPr>
                  <a:t>Multipath</a:t>
                </a:r>
                <a:br>
                  <a:rPr lang="en-US" sz="1800" dirty="0">
                    <a:latin typeface="Times New Roman" panose="02020603050405020304"/>
                    <a:ea typeface="Times New Roman" panose="02020603050405020304"/>
                    <a:cs typeface="Times New Roman" panose="02020603050405020304"/>
                    <a:sym typeface="Times New Roman" panose="02020603050405020304"/>
                  </a:rPr>
                </a:br>
                <a:endParaRPr sz="1800" dirty="0">
                  <a:latin typeface="Times New Roman" panose="02020603050405020304"/>
                  <a:ea typeface="Times New Roman" panose="02020603050405020304"/>
                  <a:cs typeface="Times New Roman" panose="02020603050405020304"/>
                  <a:sym typeface="Times New Roman" panose="02020603050405020304"/>
                </a:endParaRPr>
              </a:p>
              <a:p>
                <a:pPr marL="1371600" lvl="0" indent="457200" algn="l" rtl="0">
                  <a:spcBef>
                    <a:spcPts val="1000"/>
                  </a:spcBef>
                  <a:spcAft>
                    <a:spcPts val="0"/>
                  </a:spcAft>
                  <a:buNone/>
                </a:pPr>
                <a:r>
                  <a:rPr lang="en-US" sz="1800" b="1" dirty="0">
                    <a:latin typeface="Times New Roman" panose="02020603050405020304"/>
                    <a:ea typeface="Times New Roman" panose="02020603050405020304"/>
                    <a:cs typeface="Times New Roman" panose="02020603050405020304"/>
                    <a:sym typeface="Times New Roman" panose="02020603050405020304"/>
                  </a:rPr>
                  <a:t>(3)</a:t>
                </a:r>
                <a:r>
                  <a:rPr lang="en-US" sz="1800" dirty="0">
                    <a:latin typeface="Times New Roman" panose="02020603050405020304"/>
                    <a:ea typeface="Times New Roman" panose="02020603050405020304"/>
                    <a:cs typeface="Times New Roman" panose="02020603050405020304"/>
                    <a:sym typeface="Times New Roman" panose="02020603050405020304"/>
                  </a:rPr>
                  <a:t> 						(J)</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None/>
                </a:pPr>
                <a:endParaRPr lang="en-US"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None/>
                </a:pPr>
                <a:endParaRPr lang="en-US"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None/>
                </a:pPr>
                <a:r>
                  <a:rPr lang="en-US" sz="1800" dirty="0" err="1">
                    <a:latin typeface="Times New Roman" panose="02020603050405020304"/>
                    <a:ea typeface="Times New Roman" panose="02020603050405020304"/>
                    <a:cs typeface="Times New Roman" panose="02020603050405020304"/>
                    <a:sym typeface="Times New Roman" panose="02020603050405020304"/>
                  </a:rPr>
                  <a:t>Ngưỡng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khoảng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cách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giữa</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hai</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mô</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hình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truyền</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115000"/>
                  </a:lnSpc>
                  <a:spcBef>
                    <a:spcPts val="0"/>
                  </a:spcBef>
                  <a:spcAft>
                    <a:spcPts val="0"/>
                  </a:spcAft>
                  <a:buNone/>
                </a:pPr>
                <a:endParaRPr sz="1800" b="1"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0"/>
                  </a:spcBef>
                  <a:spcAft>
                    <a:spcPts val="0"/>
                  </a:spcAft>
                  <a:buNone/>
                </a:pPr>
                <a:r>
                  <a:rPr lang="en-US" sz="1800"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(4)</a:t>
                </a:r>
                <a:endParaRPr sz="1800" b="1"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115000"/>
                  </a:lnSpc>
                  <a:spcBef>
                    <a:spcPts val="0"/>
                  </a:spcBef>
                  <a:spcAft>
                    <a:spcPts val="0"/>
                  </a:spcAft>
                  <a:buNone/>
                </a:pPr>
                <a:endParaRPr sz="1800" b="1"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ctr" rtl="0">
                  <a:lnSpc>
                    <a:spcPct val="115000"/>
                  </a:lnSpc>
                  <a:spcBef>
                    <a:spcPts val="0"/>
                  </a:spcBef>
                  <a:spcAft>
                    <a:spcPts val="0"/>
                  </a:spcAft>
                  <a:buNone/>
                </a:pPr>
                <a:endParaRPr sz="1800" b="1"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None/>
                </a:pPr>
                <a14:m>
                  <m:oMath xmlns:m="http://schemas.openxmlformats.org/officeDocument/2006/math">
                    <m:r>
                      <a:rPr lang="en-US" sz="1800" i="1" dirty="0" smtClean="0">
                        <a:solidFill>
                          <a:srgbClr val="000000"/>
                        </a:solidFill>
                        <a:latin typeface="Cambria Math" panose="02040503050406030204" pitchFamily="18" charset="0"/>
                        <a:ea typeface="Times New Roman" panose="02020603050405020304"/>
                        <a:cs typeface="Times New Roman" panose="02020603050405020304"/>
                        <a:sym typeface="Times New Roman" panose="02020603050405020304"/>
                      </a:rPr>
                      <m:t> </m:t>
                    </m:r>
                    <m:r>
                      <a:rPr lang="en-US" sz="1800" i="1" dirty="0" smtClean="0">
                        <a:solidFill>
                          <a:srgbClr val="000000"/>
                        </a:solidFill>
                        <a:latin typeface="Cambria Math" panose="02040503050406030204" pitchFamily="18" charset="0"/>
                        <a:ea typeface="Times New Roman" panose="02020603050405020304"/>
                        <a:cs typeface="Times New Roman" panose="02020603050405020304"/>
                        <a:sym typeface="Times New Roman" panose="02020603050405020304"/>
                      </a:rPr>
                      <m:t>𝑘</m:t>
                    </m:r>
                    <m:r>
                      <a:rPr lang="en-US" sz="1800" i="1" dirty="0" smtClean="0">
                        <a:solidFill>
                          <a:srgbClr val="000000"/>
                        </a:solidFill>
                        <a:latin typeface="Cambria Math" panose="02040503050406030204" pitchFamily="18" charset="0"/>
                        <a:ea typeface="Times New Roman" panose="02020603050405020304"/>
                        <a:cs typeface="Times New Roman" panose="02020603050405020304"/>
                        <a:sym typeface="Times New Roman" panose="02020603050405020304"/>
                      </a:rPr>
                      <m:t>  </m:t>
                    </m:r>
                  </m:oMath>
                </a14:m>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Kích</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thước</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gói</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tin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số</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bit)</a:t>
                </a:r>
                <a:endParaRPr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None/>
                </a:pP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Năng</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lượng</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mạch</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điện</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tử</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truyền</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nhận</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1 bit) J/bit</a:t>
                </a:r>
                <a:endParaRPr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nSpc>
                    <a:spcPct val="100000"/>
                  </a:lnSpc>
                  <a:spcBef>
                    <a:spcPts val="0"/>
                  </a:spcBef>
                  <a:buNone/>
                </a:pPr>
                <a14:m>
                  <m:oMath xmlns:m="http://schemas.openxmlformats.org/officeDocument/2006/math">
                    <m:r>
                      <a:rPr lang="en-US" sz="1800">
                        <a:solidFill>
                          <a:srgbClr val="000000"/>
                        </a:solidFill>
                        <a:latin typeface="Cambria Math" panose="02040503050406030204" pitchFamily="18" charset="0"/>
                        <a:ea typeface="Times New Roman" panose="02020603050405020304"/>
                        <a:cs typeface="Cambria Math" panose="02040503050406030204" pitchFamily="18" charset="0"/>
                        <a:sym typeface="Times New Roman" panose="02020603050405020304"/>
                      </a:rPr>
                      <m:t> </m:t>
                    </m:r>
                    <m:sSub>
                      <m:sSubPr>
                        <m:ctrlPr>
                          <a:rPr lang="en-US" sz="1800" i="1" smtClean="0">
                            <a:solidFill>
                              <a:srgbClr val="000000"/>
                            </a:solidFill>
                            <a:latin typeface="Cambria Math" panose="02040503050406030204" pitchFamily="18" charset="0"/>
                            <a:sym typeface="Times New Roman" panose="02020603050405020304"/>
                          </a:rPr>
                        </m:ctrlPr>
                      </m:sSubPr>
                      <m:e>
                        <m:r>
                          <a:rPr lang="en-US" sz="1800">
                            <a:solidFill>
                              <a:srgbClr val="000000"/>
                            </a:solidFill>
                            <a:latin typeface="Cambria Math" panose="02040503050406030204" pitchFamily="18" charset="0"/>
                            <a:ea typeface="Times New Roman" panose="02020603050405020304"/>
                            <a:cs typeface="Cambria Math" panose="02040503050406030204" pitchFamily="18" charset="0"/>
                            <a:sym typeface="Times New Roman" panose="02020603050405020304"/>
                          </a:rPr>
                          <m:t>ℇ</m:t>
                        </m:r>
                      </m:e>
                      <m:sub>
                        <m:r>
                          <m:rPr>
                            <m:sty m:val="p"/>
                          </m:rPr>
                          <a:rPr lang="vi-VN" sz="1800" b="0" i="1" smtClean="0">
                            <a:solidFill>
                              <a:srgbClr val="000000"/>
                            </a:solidFill>
                            <a:latin typeface="Cambria Math" panose="02040503050406030204" pitchFamily="18" charset="0"/>
                            <a:sym typeface="Times New Roman" panose="02020603050405020304"/>
                          </a:rPr>
                          <m:t>fs</m:t>
                        </m:r>
                      </m:sub>
                    </m:sSub>
                    <m:r>
                      <a:rPr lang="en-US" sz="1800" smtClean="0">
                        <a:solidFill>
                          <a:srgbClr val="000000"/>
                        </a:solidFill>
                        <a:latin typeface="Cambria Math" panose="02040503050406030204" pitchFamily="18" charset="0"/>
                        <a:ea typeface="Times New Roman" panose="02020603050405020304"/>
                        <a:cs typeface="Cambria Math" panose="02040503050406030204" pitchFamily="18" charset="0"/>
                        <a:sym typeface="Times New Roman" panose="02020603050405020304"/>
                      </a:rPr>
                      <m:t>  </m:t>
                    </m:r>
                  </m:oMath>
                </a14:m>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Hệ</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số</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khuếch</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đại</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trong</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mô</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hình</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Free Space      </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J/bit/m²</a:t>
                </a:r>
                <a:endParaRPr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nSpc>
                    <a:spcPct val="100000"/>
                  </a:lnSpc>
                  <a:spcBef>
                    <a:spcPts val="0"/>
                  </a:spcBef>
                  <a:buNone/>
                </a:pP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14:m>
                  <m:oMath xmlns:m="http://schemas.openxmlformats.org/officeDocument/2006/math">
                    <m:sSub>
                      <m:sSubPr>
                        <m:ctrlPr>
                          <a:rPr lang="en-US" sz="1800" i="1">
                            <a:solidFill>
                              <a:srgbClr val="000000"/>
                            </a:solidFill>
                            <a:latin typeface="Cambria Math" panose="02040503050406030204" pitchFamily="18" charset="0"/>
                            <a:sym typeface="Times New Roman" panose="02020603050405020304"/>
                          </a:rPr>
                        </m:ctrlPr>
                      </m:sSubPr>
                      <m:e>
                        <m:r>
                          <a:rPr lang="en-US" sz="1800">
                            <a:solidFill>
                              <a:srgbClr val="000000"/>
                            </a:solidFill>
                            <a:latin typeface="Cambria Math" panose="02040503050406030204" pitchFamily="18" charset="0"/>
                            <a:ea typeface="Times New Roman" panose="02020603050405020304"/>
                            <a:cs typeface="Cambria Math" panose="02040503050406030204" pitchFamily="18" charset="0"/>
                            <a:sym typeface="Times New Roman" panose="02020603050405020304"/>
                          </a:rPr>
                          <m:t>ℇ</m:t>
                        </m:r>
                      </m:e>
                      <m:sub>
                        <m:r>
                          <m:rPr>
                            <m:sty m:val="p"/>
                          </m:rPr>
                          <a:rPr lang="vi-VN" sz="1800" b="0" i="1" smtClean="0">
                            <a:solidFill>
                              <a:srgbClr val="000000"/>
                            </a:solidFill>
                            <a:latin typeface="Cambria Math" panose="02040503050406030204" pitchFamily="18" charset="0"/>
                            <a:ea typeface="Times New Roman" panose="02020603050405020304"/>
                            <a:cs typeface="Cambria Math" panose="02040503050406030204" pitchFamily="18" charset="0"/>
                            <a:sym typeface="Times New Roman" panose="02020603050405020304"/>
                          </a:rPr>
                          <m:t>mp</m:t>
                        </m:r>
                      </m:sub>
                    </m:sSub>
                    <m:r>
                      <a:rPr lang="en-US" sz="1800">
                        <a:solidFill>
                          <a:srgbClr val="000000"/>
                        </a:solidFill>
                        <a:latin typeface="Cambria Math" panose="02040503050406030204" pitchFamily="18" charset="0"/>
                        <a:ea typeface="Times New Roman" panose="02020603050405020304"/>
                        <a:cs typeface="Cambria Math" panose="02040503050406030204" pitchFamily="18" charset="0"/>
                        <a:sym typeface="Times New Roman" panose="02020603050405020304"/>
                      </a:rPr>
                      <m:t> </m:t>
                    </m:r>
                  </m:oMath>
                </a14:m>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Hệ</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số</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khuếch</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đại</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trong</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mô</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hình</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Multipath       </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J/bit/m⁴</a:t>
                </a:r>
                <a:endParaRPr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None/>
                </a:pP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14:m>
                  <m:oMath xmlns:m="http://schemas.openxmlformats.org/officeDocument/2006/math">
                    <m:r>
                      <a:rPr lang="en-US" sz="1800" i="1" dirty="0" smtClean="0">
                        <a:solidFill>
                          <a:srgbClr val="000000"/>
                        </a:solidFill>
                        <a:latin typeface="Cambria Math" panose="02040503050406030204" pitchFamily="18" charset="0"/>
                        <a:ea typeface="Times New Roman" panose="02020603050405020304"/>
                        <a:cs typeface="Times New Roman" panose="02020603050405020304"/>
                        <a:sym typeface="Times New Roman" panose="02020603050405020304"/>
                      </a:rPr>
                      <m:t>𝑑</m:t>
                    </m:r>
                    <m:r>
                      <a:rPr lang="en-US" sz="1800" i="1" dirty="0" smtClean="0">
                        <a:solidFill>
                          <a:srgbClr val="000000"/>
                        </a:solidFill>
                        <a:latin typeface="Cambria Math" panose="02040503050406030204" pitchFamily="18" charset="0"/>
                        <a:ea typeface="Times New Roman" panose="02020603050405020304"/>
                        <a:cs typeface="Times New Roman" panose="02020603050405020304"/>
                        <a:sym typeface="Times New Roman" panose="02020603050405020304"/>
                      </a:rPr>
                      <m:t> </m:t>
                    </m:r>
                  </m:oMath>
                </a14:m>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Khoảng</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cách</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giữa</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nút</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gửi</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và</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nút</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nhận</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m</a:t>
                </a:r>
                <a:endParaRPr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None/>
                </a:pP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Ngưỡng</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khoảng</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cách</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chuyển</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đổi</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giữa</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hai</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mô</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a:t>
                </a:r>
                <a:r>
                  <a:rPr lang="en-US" sz="1800" dirty="0" err="1">
                    <a:solidFill>
                      <a:srgbClr val="000000"/>
                    </a:solidFill>
                    <a:latin typeface="Times New Roman" panose="02020603050405020304"/>
                    <a:ea typeface="Times New Roman" panose="02020603050405020304"/>
                    <a:cs typeface="Times New Roman" panose="02020603050405020304"/>
                    <a:sym typeface="Times New Roman" panose="02020603050405020304"/>
                  </a:rPr>
                  <a:t>hình</a:t>
                </a:r>
                <a:r>
                  <a:rPr lang="en-US"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   m</a:t>
                </a:r>
                <a:endParaRPr sz="18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None/>
                </a:pP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None/>
                </a:pP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None/>
                </a:pPr>
                <a:endParaRPr sz="1800" dirty="0">
                  <a:latin typeface="Times New Roman" panose="02020603050405020304"/>
                  <a:ea typeface="Times New Roman" panose="02020603050405020304"/>
                  <a:cs typeface="Times New Roman" panose="02020603050405020304"/>
                  <a:sym typeface="Times New Roman" panose="02020603050405020304"/>
                </a:endParaRPr>
              </a:p>
            </p:txBody>
          </p:sp>
        </mc:Choice>
        <mc:Fallback xmlns="">
          <p:sp>
            <p:nvSpPr>
              <p:cNvPr id="223" name="Google Shape;223;p35"/>
              <p:cNvSpPr txBox="1">
                <a:spLocks noRot="1" noChangeAspect="1" noMove="1" noResize="1" noEditPoints="1" noAdjustHandles="1" noChangeArrowheads="1" noChangeShapeType="1" noTextEdit="1"/>
              </p:cNvSpPr>
              <p:nvPr>
                <p:ph type="body" idx="1"/>
              </p:nvPr>
            </p:nvSpPr>
            <p:spPr>
              <a:xfrm>
                <a:off x="234950" y="963176"/>
                <a:ext cx="9035400" cy="5894700"/>
              </a:xfrm>
              <a:prstGeom prst="rect">
                <a:avLst/>
              </a:prstGeom>
              <a:blipFill rotWithShape="1">
                <a:blip r:embed="rId3"/>
                <a:stretch>
                  <a:fillRect t="-9" r="7" b="-6325"/>
                </a:stretch>
              </a:blipFill>
            </p:spPr>
            <p:txBody>
              <a:bodyPr/>
              <a:lstStyle/>
              <a:p>
                <a:r>
                  <a:rPr lang="en-US" altLang="en-US">
                    <a:noFill/>
                  </a:rPr>
                  <a:t> </a:t>
                </a:r>
              </a:p>
            </p:txBody>
          </p:sp>
        </mc:Fallback>
      </mc:AlternateContent>
      <p:graphicFrame>
        <p:nvGraphicFramePr>
          <p:cNvPr id="224" name="Google Shape;224;p35"/>
          <p:cNvGraphicFramePr/>
          <p:nvPr/>
        </p:nvGraphicFramePr>
        <p:xfrm>
          <a:off x="152400" y="152400"/>
          <a:ext cx="208250" cy="396210"/>
        </p:xfrm>
        <a:graphic>
          <a:graphicData uri="http://schemas.openxmlformats.org/drawingml/2006/table">
            <a:tbl>
              <a:tblPr>
                <a:noFill/>
                <a:tableStyleId>{2C94AA5D-8D03-4AD0-AC9E-A1A30640FED9}</a:tableStyleId>
              </a:tblPr>
              <a:tblGrid>
                <a:gridCol w="20825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0"/>
                  </a:ext>
                </a:extLst>
              </a:tr>
            </a:tbl>
          </a:graphicData>
        </a:graphic>
      </p:graphicFrame>
      <p:pic>
        <p:nvPicPr>
          <p:cNvPr id="225" name="Google Shape;225;p35"/>
          <p:cNvPicPr preferRelativeResize="0"/>
          <p:nvPr/>
        </p:nvPicPr>
        <p:blipFill>
          <a:blip r:embed="rId4"/>
          <a:stretch>
            <a:fillRect/>
          </a:stretch>
        </p:blipFill>
        <p:spPr>
          <a:xfrm>
            <a:off x="2716200" y="1673950"/>
            <a:ext cx="4151175" cy="1113004"/>
          </a:xfrm>
          <a:prstGeom prst="rect">
            <a:avLst/>
          </a:prstGeom>
          <a:noFill/>
          <a:ln>
            <a:noFill/>
          </a:ln>
        </p:spPr>
      </p:pic>
      <p:pic>
        <p:nvPicPr>
          <p:cNvPr id="226" name="Google Shape;226;p35"/>
          <p:cNvPicPr preferRelativeResize="0"/>
          <p:nvPr/>
        </p:nvPicPr>
        <p:blipFill>
          <a:blip r:embed="rId5"/>
          <a:stretch>
            <a:fillRect/>
          </a:stretch>
        </p:blipFill>
        <p:spPr>
          <a:xfrm>
            <a:off x="3745774" y="3428964"/>
            <a:ext cx="1910300" cy="946575"/>
          </a:xfrm>
          <a:prstGeom prst="rect">
            <a:avLst/>
          </a:prstGeom>
          <a:noFill/>
          <a:ln>
            <a:noFill/>
          </a:ln>
        </p:spPr>
      </p:pic>
      <p:graphicFrame>
        <p:nvGraphicFramePr>
          <p:cNvPr id="4" name="Object 3">
            <a:hlinkClick r:id="" action="ppaction://ole?verb=0"/>
          </p:cNvPr>
          <p:cNvGraphicFramePr>
            <a:graphicFrameLocks noChangeAspect="1"/>
          </p:cNvGraphicFramePr>
          <p:nvPr/>
        </p:nvGraphicFramePr>
        <p:xfrm>
          <a:off x="4514850" y="3321050"/>
          <a:ext cx="114300" cy="215900"/>
        </p:xfrm>
        <a:graphic>
          <a:graphicData uri="http://schemas.openxmlformats.org/presentationml/2006/ole">
            <mc:AlternateContent xmlns:mc="http://schemas.openxmlformats.org/markup-compatibility/2006">
              <mc:Choice xmlns:v="urn:schemas-microsoft-com:vml" Requires="v">
                <p:oleObj r:id="rId6" imgW="114300" imgH="215900" progId="Equation.KSEE3">
                  <p:embed/>
                </p:oleObj>
              </mc:Choice>
              <mc:Fallback>
                <p:oleObj r:id="rId6" imgW="114300" imgH="215900" progId="Equation.KSEE3">
                  <p:embed/>
                  <p:pic>
                    <p:nvPicPr>
                      <p:cNvPr id="0" name="Picture 1024"/>
                      <p:cNvPicPr/>
                      <p:nvPr/>
                    </p:nvPicPr>
                    <p:blipFill>
                      <a:blip r:embed="rId7"/>
                      <a:stretch>
                        <a:fillRect/>
                      </a:stretch>
                    </p:blipFill>
                    <p:spPr>
                      <a:xfrm>
                        <a:off x="4514850" y="3321050"/>
                        <a:ext cx="114300" cy="215900"/>
                      </a:xfrm>
                      <a:prstGeom prst="rect">
                        <a:avLst/>
                      </a:prstGeom>
                    </p:spPr>
                  </p:pic>
                </p:oleObj>
              </mc:Fallback>
            </mc:AlternateContent>
          </a:graphicData>
        </a:graphic>
      </p:graphicFrame>
      <p:pic>
        <p:nvPicPr>
          <p:cNvPr id="3" name="2384804F-3998-4D57-9195-F3826E402611-1" descr="wpp"/>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4970" y="4923790"/>
            <a:ext cx="422275" cy="255905"/>
          </a:xfrm>
          <a:prstGeom prst="rect">
            <a:avLst/>
          </a:prstGeom>
        </p:spPr>
      </p:pic>
      <p:pic>
        <p:nvPicPr>
          <p:cNvPr id="5" name="2384804F-3998-4D57-9195-F3826E402611-2" descr="wpp"/>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94970" y="6093460"/>
            <a:ext cx="278130" cy="25082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6"/>
          <p:cNvSpPr txBox="1">
            <a:spLocks noGrp="1"/>
          </p:cNvSpPr>
          <p:nvPr>
            <p:ph type="sldNum" idx="12"/>
          </p:nvPr>
        </p:nvSpPr>
        <p:spPr>
          <a:xfrm>
            <a:off x="6867383" y="6572126"/>
            <a:ext cx="2057400" cy="3651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Clr>
                <a:srgbClr val="000000"/>
              </a:buClr>
              <a:buFont typeface="Arial" panose="020B0604020202020204"/>
              <a:buNone/>
            </a:pPr>
            <a:fld id="{00000000-1234-1234-1234-123412341234}" type="slidenum">
              <a:rPr lang="en-US"/>
              <a:t>24</a:t>
            </a:fld>
            <a:endParaRPr lang="en-US"/>
          </a:p>
        </p:txBody>
      </p:sp>
      <p:sp>
        <p:nvSpPr>
          <p:cNvPr id="233" name="Google Shape;233;p36"/>
          <p:cNvSpPr txBox="1">
            <a:spLocks noGrp="1"/>
          </p:cNvSpPr>
          <p:nvPr>
            <p:ph type="title"/>
          </p:nvPr>
        </p:nvSpPr>
        <p:spPr>
          <a:xfrm>
            <a:off x="235077" y="78613"/>
            <a:ext cx="8673900" cy="451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a:sym typeface="+mn-ea"/>
              </a:rPr>
              <a:t>2. Cơ sở lý thuyết </a:t>
            </a:r>
            <a:r>
              <a:rPr lang="en-US" dirty="0">
                <a:sym typeface="+mn-ea"/>
              </a:rPr>
              <a:t>&amp;</a:t>
            </a:r>
            <a:r>
              <a:rPr lang="vi-VN" dirty="0">
                <a:sym typeface="+mn-ea"/>
              </a:rPr>
              <a:t> phát biểu bài toán</a:t>
            </a:r>
            <a:endParaRPr lang="en-US" dirty="0"/>
          </a:p>
        </p:txBody>
      </p:sp>
      <mc:AlternateContent xmlns:mc="http://schemas.openxmlformats.org/markup-compatibility/2006" xmlns:a14="http://schemas.microsoft.com/office/drawing/2010/main">
        <mc:Choice Requires="a14">
          <p:sp>
            <p:nvSpPr>
              <p:cNvPr id="234" name="Google Shape;234;p36"/>
              <p:cNvSpPr txBox="1">
                <a:spLocks noGrp="1"/>
              </p:cNvSpPr>
              <p:nvPr>
                <p:ph type="body" idx="1"/>
              </p:nvPr>
            </p:nvSpPr>
            <p:spPr>
              <a:xfrm>
                <a:off x="234950" y="963168"/>
                <a:ext cx="8674200" cy="5132700"/>
              </a:xfrm>
              <a:prstGeom prst="rect">
                <a:avLst/>
              </a:prstGeom>
            </p:spPr>
            <p:txBody>
              <a:bodyPr spcFirstLastPara="1" wrap="square" lIns="91425" tIns="45700" rIns="91425" bIns="45700" anchor="t" anchorCtr="0">
                <a:noAutofit/>
              </a:bodyPr>
              <a:lstStyle/>
              <a:p>
                <a:pPr marL="0" lvl="0" indent="0" algn="l" rtl="0">
                  <a:lnSpc>
                    <a:spcPct val="115000"/>
                  </a:lnSpc>
                  <a:spcBef>
                    <a:spcPts val="1400"/>
                  </a:spcBef>
                  <a:spcAft>
                    <a:spcPts val="0"/>
                  </a:spcAft>
                  <a:buClr>
                    <a:schemeClr val="dk1"/>
                  </a:buClr>
                  <a:buSzPts val="1100"/>
                  <a:buFont typeface="Arial" panose="020B0604020202020204"/>
                  <a:buNone/>
                </a:pPr>
                <a:r>
                  <a:rPr lang="en-US" sz="1800" dirty="0">
                    <a:latin typeface="Times New Roman" panose="02020603050405020304"/>
                    <a:ea typeface="Times New Roman" panose="02020603050405020304"/>
                    <a:cs typeface="Times New Roman" panose="02020603050405020304"/>
                    <a:sym typeface="Times New Roman" panose="02020603050405020304"/>
                  </a:rPr>
                  <a:t>CÁC CÔNG THỨC TRONG WSN (Wireless Sensor Network)</a:t>
                </a:r>
                <a:endParaRPr lang="en-US" sz="1800" b="1" dirty="0">
                  <a:latin typeface="Times New Roman" panose="02020603050405020304" charset="0"/>
                  <a:ea typeface="Arial" panose="020B0604020202020204"/>
                  <a:cs typeface="Times New Roman" panose="02020603050405020304" charset="0"/>
                  <a:sym typeface="Arial" panose="020B0604020202020204"/>
                </a:endParaRPr>
              </a:p>
              <a:p>
                <a:pPr marL="0" lvl="0" indent="0" algn="l" rtl="0">
                  <a:lnSpc>
                    <a:spcPct val="115000"/>
                  </a:lnSpc>
                  <a:spcBef>
                    <a:spcPts val="1400"/>
                  </a:spcBef>
                  <a:spcAft>
                    <a:spcPts val="0"/>
                  </a:spcAft>
                  <a:buClr>
                    <a:schemeClr val="dk1"/>
                  </a:buClr>
                  <a:buSzPts val="1100"/>
                  <a:buFont typeface="Arial" panose="020B0604020202020204"/>
                  <a:buNone/>
                </a:pPr>
                <a:r>
                  <a:rPr lang="en-US" sz="1800" b="1" dirty="0" err="1">
                    <a:latin typeface="Times New Roman" panose="02020603050405020304" charset="0"/>
                    <a:ea typeface="Arial" panose="020B0604020202020204"/>
                    <a:cs typeface="Times New Roman" panose="02020603050405020304" charset="0"/>
                    <a:sym typeface="Arial" panose="020B0604020202020204"/>
                  </a:rPr>
                  <a:t>Năng</a:t>
                </a:r>
                <a:r>
                  <a:rPr lang="en-US" sz="1800" b="1" dirty="0">
                    <a:latin typeface="Times New Roman" panose="02020603050405020304" charset="0"/>
                    <a:ea typeface="Arial" panose="020B0604020202020204"/>
                    <a:cs typeface="Times New Roman" panose="02020603050405020304" charset="0"/>
                    <a:sym typeface="Arial" panose="020B0604020202020204"/>
                  </a:rPr>
                  <a:t> </a:t>
                </a:r>
                <a:r>
                  <a:rPr lang="en-US" sz="1800" b="1" dirty="0" err="1">
                    <a:latin typeface="Times New Roman" panose="02020603050405020304" charset="0"/>
                    <a:ea typeface="Arial" panose="020B0604020202020204"/>
                    <a:cs typeface="Times New Roman" panose="02020603050405020304" charset="0"/>
                    <a:sym typeface="Arial" panose="020B0604020202020204"/>
                  </a:rPr>
                  <a:t>lượng</a:t>
                </a:r>
                <a:r>
                  <a:rPr lang="en-US" sz="1800" b="1" dirty="0">
                    <a:latin typeface="Times New Roman" panose="02020603050405020304" charset="0"/>
                    <a:ea typeface="Arial" panose="020B0604020202020204"/>
                    <a:cs typeface="Times New Roman" panose="02020603050405020304" charset="0"/>
                    <a:sym typeface="Arial" panose="020B0604020202020204"/>
                  </a:rPr>
                  <a:t> </a:t>
                </a:r>
                <a:r>
                  <a:rPr lang="en-US" sz="1800" b="1" dirty="0" err="1">
                    <a:latin typeface="Times New Roman" panose="02020603050405020304" charset="0"/>
                    <a:ea typeface="Arial" panose="020B0604020202020204"/>
                    <a:cs typeface="Times New Roman" panose="02020603050405020304" charset="0"/>
                    <a:sym typeface="Arial" panose="020B0604020202020204"/>
                  </a:rPr>
                  <a:t>gộp</a:t>
                </a:r>
                <a:r>
                  <a:rPr lang="en-US" sz="1800" b="1" dirty="0">
                    <a:latin typeface="Times New Roman" panose="02020603050405020304" charset="0"/>
                    <a:ea typeface="Arial" panose="020B0604020202020204"/>
                    <a:cs typeface="Times New Roman" panose="02020603050405020304" charset="0"/>
                    <a:sym typeface="Arial" panose="020B0604020202020204"/>
                  </a:rPr>
                  <a:t> </a:t>
                </a:r>
                <a:r>
                  <a:rPr lang="en-US" sz="1800" b="1" dirty="0" err="1">
                    <a:latin typeface="Times New Roman" panose="02020603050405020304" charset="0"/>
                    <a:ea typeface="Arial" panose="020B0604020202020204"/>
                    <a:cs typeface="Times New Roman" panose="02020603050405020304" charset="0"/>
                    <a:sym typeface="Arial" panose="020B0604020202020204"/>
                  </a:rPr>
                  <a:t>dữ</a:t>
                </a:r>
                <a:r>
                  <a:rPr lang="en-US" sz="1800" b="1" dirty="0">
                    <a:latin typeface="Times New Roman" panose="02020603050405020304" charset="0"/>
                    <a:ea typeface="Arial" panose="020B0604020202020204"/>
                    <a:cs typeface="Times New Roman" panose="02020603050405020304" charset="0"/>
                    <a:sym typeface="Arial" panose="020B0604020202020204"/>
                  </a:rPr>
                  <a:t> </a:t>
                </a:r>
                <a:r>
                  <a:rPr lang="en-US" sz="1800" b="1" dirty="0" err="1">
                    <a:latin typeface="Times New Roman" panose="02020603050405020304" charset="0"/>
                    <a:ea typeface="Arial" panose="020B0604020202020204"/>
                    <a:cs typeface="Times New Roman" panose="02020603050405020304" charset="0"/>
                    <a:sym typeface="Arial" panose="020B0604020202020204"/>
                  </a:rPr>
                  <a:t>liệu</a:t>
                </a:r>
                <a:endParaRPr lang="en-US" sz="1800" b="1" dirty="0">
                  <a:latin typeface="Times New Roman" panose="02020603050405020304" charset="0"/>
                  <a:ea typeface="Arial" panose="020B0604020202020204"/>
                  <a:cs typeface="Times New Roman" panose="02020603050405020304" charset="0"/>
                  <a:sym typeface="Arial" panose="020B0604020202020204"/>
                </a:endParaRPr>
              </a:p>
              <a:p>
                <a:pPr marL="0" lvl="0" indent="0" algn="l" rtl="0">
                  <a:lnSpc>
                    <a:spcPct val="115000"/>
                  </a:lnSpc>
                  <a:spcBef>
                    <a:spcPts val="1400"/>
                  </a:spcBef>
                  <a:spcAft>
                    <a:spcPts val="0"/>
                  </a:spcAft>
                  <a:buClr>
                    <a:schemeClr val="dk1"/>
                  </a:buClr>
                  <a:buSzPts val="1100"/>
                  <a:buFont typeface="Arial" panose="020B0604020202020204"/>
                  <a:buNone/>
                </a:pPr>
                <a:r>
                  <a:rPr lang="en-US" sz="1800" b="1" dirty="0">
                    <a:latin typeface="Times New Roman" panose="02020603050405020304" charset="0"/>
                    <a:ea typeface="Arial" panose="020B0604020202020204"/>
                    <a:cs typeface="Times New Roman" panose="02020603050405020304" charset="0"/>
                    <a:sym typeface="Arial" panose="020B0604020202020204"/>
                  </a:rPr>
                  <a:t> </a:t>
                </a:r>
                <a:r>
                  <a:rPr lang="vi-VN" altLang="en-US" sz="1800" b="1" dirty="0">
                    <a:latin typeface="Times New Roman" panose="02020603050405020304" charset="0"/>
                    <a:ea typeface="Arial" panose="020B0604020202020204"/>
                    <a:cs typeface="Times New Roman" panose="02020603050405020304" charset="0"/>
                    <a:sym typeface="Arial" panose="020B0604020202020204"/>
                  </a:rPr>
                  <a:t>                                                   </a:t>
                </a:r>
                <a:r>
                  <a:rPr lang="en-US" sz="1800" b="1" dirty="0">
                    <a:latin typeface="Times New Roman" panose="02020603050405020304" charset="0"/>
                    <a:ea typeface="Arial" panose="020B0604020202020204"/>
                    <a:cs typeface="Times New Roman" panose="02020603050405020304" charset="0"/>
                    <a:sym typeface="Arial" panose="020B0604020202020204"/>
                  </a:rPr>
                  <a:t>(6) </a:t>
                </a:r>
                <a:r>
                  <a:rPr lang="vi-VN" altLang="en-US" sz="1800" b="1" dirty="0">
                    <a:latin typeface="Times New Roman" panose="02020603050405020304" charset="0"/>
                    <a:ea typeface="Arial" panose="020B0604020202020204"/>
                    <a:cs typeface="Times New Roman" panose="02020603050405020304" charset="0"/>
                    <a:sym typeface="Arial" panose="020B0604020202020204"/>
                  </a:rPr>
                  <a:t>   </a:t>
                </a:r>
                <a:r>
                  <a:rPr lang="vi-VN" altLang="en-US" sz="1800" dirty="0">
                    <a:latin typeface="Times New Roman" panose="02020603050405020304" charset="0"/>
                    <a:ea typeface="Arial" panose="020B0604020202020204"/>
                    <a:cs typeface="Times New Roman" panose="02020603050405020304" charset="0"/>
                    <a:sym typeface="Arial" panose="020B0604020202020204"/>
                  </a:rPr>
                  <a:t> </a:t>
                </a:r>
                <a14:m>
                  <m:oMath xmlns:m="http://schemas.openxmlformats.org/officeDocument/2006/math">
                    <m:sSub>
                      <m:sSubPr>
                        <m:ctrlPr>
                          <a:rPr lang="en-US" sz="1800" i="1" dirty="0" smtClean="0">
                            <a:latin typeface="Cambria Math" panose="02040503050406030204" pitchFamily="18" charset="0"/>
                            <a:cs typeface="Times New Roman" panose="02020603050405020304" charset="0"/>
                            <a:sym typeface="Arial" panose="020B0604020202020204"/>
                          </a:rPr>
                        </m:ctrlPr>
                      </m:sSubPr>
                      <m:e>
                        <m:r>
                          <m:rPr>
                            <m:sty m:val="p"/>
                          </m:rPr>
                          <a:rPr lang="vi-VN" sz="1800" b="0" i="1" dirty="0" smtClean="0">
                            <a:latin typeface="Cambria Math" panose="02040503050406030204" pitchFamily="18" charset="0"/>
                            <a:cs typeface="Times New Roman" panose="02020603050405020304" charset="0"/>
                            <a:sym typeface="Arial" panose="020B0604020202020204"/>
                          </a:rPr>
                          <m:t>E</m:t>
                        </m:r>
                      </m:e>
                      <m:sub>
                        <m:r>
                          <m:rPr>
                            <m:sty m:val="p"/>
                          </m:rPr>
                          <a:rPr lang="vi-VN" sz="1800" b="0" i="1" dirty="0" smtClean="0">
                            <a:latin typeface="Cambria Math" panose="02040503050406030204" pitchFamily="18" charset="0"/>
                            <a:cs typeface="Times New Roman" panose="02020603050405020304" charset="0"/>
                            <a:sym typeface="Arial" panose="020B0604020202020204"/>
                          </a:rPr>
                          <m:t>DA</m:t>
                        </m:r>
                      </m:sub>
                    </m:sSub>
                    <m:r>
                      <a:rPr lang="en-US" sz="1800" i="1" dirty="0" smtClean="0">
                        <a:latin typeface="Cambria Math" panose="02040503050406030204" pitchFamily="18" charset="0"/>
                        <a:ea typeface="Arial" panose="020B0604020202020204"/>
                        <a:cs typeface="Times New Roman" panose="02020603050405020304" charset="0"/>
                        <a:sym typeface="Arial" panose="020B0604020202020204"/>
                      </a:rPr>
                      <m:t>(</m:t>
                    </m:r>
                    <m:r>
                      <a:rPr lang="en-US" sz="1800" i="1" dirty="0" smtClean="0">
                        <a:latin typeface="Cambria Math" panose="02040503050406030204" pitchFamily="18" charset="0"/>
                        <a:ea typeface="Arial" panose="020B0604020202020204"/>
                        <a:cs typeface="Times New Roman" panose="02020603050405020304" charset="0"/>
                        <a:sym typeface="Arial" panose="020B0604020202020204"/>
                      </a:rPr>
                      <m:t>𝑘</m:t>
                    </m:r>
                    <m:r>
                      <a:rPr lang="en-US" sz="1800" i="1" dirty="0" smtClean="0">
                        <a:latin typeface="Cambria Math" panose="02040503050406030204" pitchFamily="18" charset="0"/>
                        <a:ea typeface="Arial" panose="020B0604020202020204"/>
                        <a:cs typeface="Times New Roman" panose="02020603050405020304" charset="0"/>
                        <a:sym typeface="Arial" panose="020B0604020202020204"/>
                      </a:rPr>
                      <m:t>)=</m:t>
                    </m:r>
                    <m:r>
                      <a:rPr lang="en-US" sz="1800" i="1" dirty="0" smtClean="0">
                        <a:latin typeface="Cambria Math" panose="02040503050406030204" pitchFamily="18" charset="0"/>
                        <a:ea typeface="Arial" panose="020B0604020202020204"/>
                        <a:cs typeface="Times New Roman" panose="02020603050405020304" charset="0"/>
                        <a:sym typeface="Arial" panose="020B0604020202020204"/>
                      </a:rPr>
                      <m:t>𝑘</m:t>
                    </m:r>
                    <m:r>
                      <a:rPr lang="vi-VN" altLang="en-US" sz="1800" i="1" dirty="0" smtClean="0">
                        <a:latin typeface="Cambria Math" panose="02040503050406030204" pitchFamily="18" charset="0"/>
                        <a:ea typeface="Arial" panose="020B0604020202020204"/>
                        <a:cs typeface="Times New Roman" panose="02020603050405020304" charset="0"/>
                        <a:sym typeface="Arial" panose="020B0604020202020204"/>
                      </a:rPr>
                      <m:t> </m:t>
                    </m:r>
                    <m:sSub>
                      <m:sSubPr>
                        <m:ctrlPr>
                          <a:rPr lang="vi-VN" altLang="en-US" sz="1800" i="1" dirty="0" smtClean="0">
                            <a:latin typeface="Cambria Math" panose="02040503050406030204" pitchFamily="18" charset="0"/>
                            <a:cs typeface="Times New Roman" panose="02020603050405020304" charset="0"/>
                            <a:sym typeface="Arial" panose="020B0604020202020204"/>
                          </a:rPr>
                        </m:ctrlPr>
                      </m:sSubPr>
                      <m:e>
                        <m:r>
                          <m:rPr>
                            <m:sty m:val="p"/>
                          </m:rPr>
                          <a:rPr lang="vi-VN" altLang="en-US" sz="1800" b="0" i="1" dirty="0" smtClean="0">
                            <a:latin typeface="Cambria Math" panose="02040503050406030204" pitchFamily="18" charset="0"/>
                            <a:cs typeface="Times New Roman" panose="02020603050405020304" charset="0"/>
                            <a:sym typeface="Arial" panose="020B0604020202020204"/>
                          </a:rPr>
                          <m:t>E</m:t>
                        </m:r>
                      </m:e>
                      <m:sub>
                        <m:r>
                          <m:rPr>
                            <m:sty m:val="p"/>
                          </m:rPr>
                          <a:rPr lang="vi-VN" altLang="en-US" sz="1800" b="0" i="1" dirty="0" smtClean="0">
                            <a:latin typeface="Cambria Math" panose="02040503050406030204" pitchFamily="18" charset="0"/>
                            <a:cs typeface="Times New Roman" panose="02020603050405020304" charset="0"/>
                            <a:sym typeface="Arial" panose="020B0604020202020204"/>
                          </a:rPr>
                          <m:t>agg</m:t>
                        </m:r>
                      </m:sub>
                    </m:sSub>
                  </m:oMath>
                </a14:m>
                <a:endParaRPr lang="vi-VN" altLang="en-US" sz="1800" dirty="0">
                  <a:latin typeface="Times New Roman" panose="02020603050405020304" charset="0"/>
                  <a:ea typeface="Arial" panose="020B0604020202020204"/>
                  <a:cs typeface="Times New Roman" panose="02020603050405020304" charset="0"/>
                  <a:sym typeface="Arial" panose="020B0604020202020204"/>
                </a:endParaRPr>
              </a:p>
              <a:p>
                <a:pPr marL="0" lvl="0" indent="0" algn="l" rtl="0">
                  <a:lnSpc>
                    <a:spcPct val="115000"/>
                  </a:lnSpc>
                  <a:spcBef>
                    <a:spcPts val="400"/>
                  </a:spcBef>
                  <a:spcAft>
                    <a:spcPts val="0"/>
                  </a:spcAft>
                  <a:buClr>
                    <a:schemeClr val="dk1"/>
                  </a:buClr>
                  <a:buSzPts val="1100"/>
                  <a:buFont typeface="Arial" panose="020B0604020202020204"/>
                  <a:buNone/>
                </a:pPr>
                <a:r>
                  <a:rPr lang="en-US" sz="1800" dirty="0">
                    <a:latin typeface="Times New Roman" panose="02020603050405020304" charset="0"/>
                    <a:ea typeface="Arial" panose="020B0604020202020204"/>
                    <a:cs typeface="Times New Roman" panose="02020603050405020304" charset="0"/>
                    <a:sym typeface="Arial" panose="020B0604020202020204"/>
                  </a:rPr>
                  <a:t>🔹 </a:t>
                </a:r>
                <a:r>
                  <a:rPr lang="en-US" sz="1800" b="1" dirty="0" err="1">
                    <a:latin typeface="Times New Roman" panose="02020603050405020304" charset="0"/>
                    <a:ea typeface="Arial" panose="020B0604020202020204"/>
                    <a:cs typeface="Times New Roman" panose="02020603050405020304" charset="0"/>
                    <a:sym typeface="Arial" panose="020B0604020202020204"/>
                  </a:rPr>
                  <a:t>Ý</a:t>
                </a:r>
                <a:r>
                  <a:rPr lang="en-US" sz="1800" b="1" dirty="0">
                    <a:latin typeface="Times New Roman" panose="02020603050405020304" charset="0"/>
                    <a:ea typeface="Arial" panose="020B0604020202020204"/>
                    <a:cs typeface="Times New Roman" panose="02020603050405020304" charset="0"/>
                    <a:sym typeface="Arial" panose="020B0604020202020204"/>
                  </a:rPr>
                  <a:t> </a:t>
                </a:r>
                <a:r>
                  <a:rPr lang="en-US" sz="1800" b="1" dirty="0" err="1">
                    <a:latin typeface="Times New Roman" panose="02020603050405020304" charset="0"/>
                    <a:ea typeface="Arial" panose="020B0604020202020204"/>
                    <a:cs typeface="Times New Roman" panose="02020603050405020304" charset="0"/>
                    <a:sym typeface="Arial" panose="020B0604020202020204"/>
                  </a:rPr>
                  <a:t>nghĩa</a:t>
                </a:r>
                <a:r>
                  <a:rPr lang="en-US" sz="1800" b="1" dirty="0">
                    <a:latin typeface="Times New Roman" panose="02020603050405020304" charset="0"/>
                    <a:ea typeface="Arial" panose="020B0604020202020204"/>
                    <a:cs typeface="Times New Roman" panose="02020603050405020304" charset="0"/>
                    <a:sym typeface="Arial" panose="020B0604020202020204"/>
                  </a:rPr>
                  <a:t>:</a:t>
                </a:r>
                <a:r>
                  <a:rPr lang="en-US" sz="1800" dirty="0">
                    <a:latin typeface="Times New Roman" panose="02020603050405020304" charset="0"/>
                    <a:ea typeface="Arial" panose="020B0604020202020204"/>
                    <a:cs typeface="Times New Roman" panose="02020603050405020304" charset="0"/>
                    <a:sym typeface="Arial" panose="020B0604020202020204"/>
                  </a:rPr>
                  <a:t> </a:t>
                </a:r>
                <a:r>
                  <a:rPr lang="en-US" sz="1800" dirty="0" err="1">
                    <a:latin typeface="Times New Roman" panose="02020603050405020304" charset="0"/>
                    <a:ea typeface="Arial" panose="020B0604020202020204"/>
                    <a:cs typeface="Times New Roman" panose="02020603050405020304" charset="0"/>
                    <a:sym typeface="Arial" panose="020B0604020202020204"/>
                  </a:rPr>
                  <a:t>Năng</a:t>
                </a:r>
                <a:r>
                  <a:rPr lang="en-US" sz="1800" dirty="0">
                    <a:latin typeface="Times New Roman" panose="02020603050405020304" charset="0"/>
                    <a:ea typeface="Arial" panose="020B0604020202020204"/>
                    <a:cs typeface="Times New Roman" panose="02020603050405020304" charset="0"/>
                    <a:sym typeface="Arial" panose="020B0604020202020204"/>
                  </a:rPr>
                  <a:t> </a:t>
                </a:r>
                <a:r>
                  <a:rPr lang="en-US" sz="1800" dirty="0" err="1">
                    <a:latin typeface="Times New Roman" panose="02020603050405020304" charset="0"/>
                    <a:ea typeface="Arial" panose="020B0604020202020204"/>
                    <a:cs typeface="Times New Roman" panose="02020603050405020304" charset="0"/>
                    <a:sym typeface="Arial" panose="020B0604020202020204"/>
                  </a:rPr>
                  <a:t>lượng</a:t>
                </a:r>
                <a:r>
                  <a:rPr lang="en-US" sz="1800" dirty="0">
                    <a:latin typeface="Times New Roman" panose="02020603050405020304" charset="0"/>
                    <a:ea typeface="Arial" panose="020B0604020202020204"/>
                    <a:cs typeface="Times New Roman" panose="02020603050405020304" charset="0"/>
                    <a:sym typeface="Arial" panose="020B0604020202020204"/>
                  </a:rPr>
                  <a:t> </a:t>
                </a:r>
                <a:r>
                  <a:rPr lang="en-US" sz="1800" dirty="0" err="1">
                    <a:latin typeface="Times New Roman" panose="02020603050405020304" charset="0"/>
                    <a:ea typeface="Arial" panose="020B0604020202020204"/>
                    <a:cs typeface="Times New Roman" panose="02020603050405020304" charset="0"/>
                    <a:sym typeface="Arial" panose="020B0604020202020204"/>
                  </a:rPr>
                  <a:t>tiêu</a:t>
                </a:r>
                <a:r>
                  <a:rPr lang="en-US" sz="1800" dirty="0">
                    <a:latin typeface="Times New Roman" panose="02020603050405020304" charset="0"/>
                    <a:ea typeface="Arial" panose="020B0604020202020204"/>
                    <a:cs typeface="Times New Roman" panose="02020603050405020304" charset="0"/>
                    <a:sym typeface="Arial" panose="020B0604020202020204"/>
                  </a:rPr>
                  <a:t> </a:t>
                </a:r>
                <a:r>
                  <a:rPr lang="en-US" sz="1800" dirty="0" err="1">
                    <a:latin typeface="Times New Roman" panose="02020603050405020304" charset="0"/>
                    <a:ea typeface="Arial" panose="020B0604020202020204"/>
                    <a:cs typeface="Times New Roman" panose="02020603050405020304" charset="0"/>
                    <a:sym typeface="Arial" panose="020B0604020202020204"/>
                  </a:rPr>
                  <a:t>thụ</a:t>
                </a:r>
                <a:r>
                  <a:rPr lang="en-US" sz="1800" dirty="0">
                    <a:latin typeface="Times New Roman" panose="02020603050405020304" charset="0"/>
                    <a:ea typeface="Arial" panose="020B0604020202020204"/>
                    <a:cs typeface="Times New Roman" panose="02020603050405020304" charset="0"/>
                    <a:sym typeface="Arial" panose="020B0604020202020204"/>
                  </a:rPr>
                  <a:t> </a:t>
                </a:r>
                <a:r>
                  <a:rPr lang="en-US" sz="1800" dirty="0" err="1">
                    <a:latin typeface="Times New Roman" panose="02020603050405020304" charset="0"/>
                    <a:ea typeface="Arial" panose="020B0604020202020204"/>
                    <a:cs typeface="Times New Roman" panose="02020603050405020304" charset="0"/>
                    <a:sym typeface="Arial" panose="020B0604020202020204"/>
                  </a:rPr>
                  <a:t>khi</a:t>
                </a:r>
                <a:r>
                  <a:rPr lang="en-US" sz="1800" dirty="0">
                    <a:latin typeface="Times New Roman" panose="02020603050405020304" charset="0"/>
                    <a:ea typeface="Arial" panose="020B0604020202020204"/>
                    <a:cs typeface="Times New Roman" panose="02020603050405020304" charset="0"/>
                    <a:sym typeface="Arial" panose="020B0604020202020204"/>
                  </a:rPr>
                  <a:t> </a:t>
                </a:r>
                <a:r>
                  <a:rPr lang="en-US" sz="1800" dirty="0" err="1">
                    <a:latin typeface="Times New Roman" panose="02020603050405020304" charset="0"/>
                    <a:ea typeface="Arial" panose="020B0604020202020204"/>
                    <a:cs typeface="Times New Roman" panose="02020603050405020304" charset="0"/>
                    <a:sym typeface="Arial" panose="020B0604020202020204"/>
                  </a:rPr>
                  <a:t>xử</a:t>
                </a:r>
                <a:r>
                  <a:rPr lang="en-US" sz="1800" dirty="0">
                    <a:latin typeface="Times New Roman" panose="02020603050405020304" charset="0"/>
                    <a:ea typeface="Arial" panose="020B0604020202020204"/>
                    <a:cs typeface="Times New Roman" panose="02020603050405020304" charset="0"/>
                    <a:sym typeface="Arial" panose="020B0604020202020204"/>
                  </a:rPr>
                  <a:t> </a:t>
                </a:r>
                <a:r>
                  <a:rPr lang="en-US" sz="1800" dirty="0" err="1">
                    <a:latin typeface="Times New Roman" panose="02020603050405020304" charset="0"/>
                    <a:ea typeface="Arial" panose="020B0604020202020204"/>
                    <a:cs typeface="Times New Roman" panose="02020603050405020304" charset="0"/>
                    <a:sym typeface="Arial" panose="020B0604020202020204"/>
                  </a:rPr>
                  <a:t>lý</a:t>
                </a:r>
                <a:r>
                  <a:rPr lang="en-US" sz="1800" dirty="0">
                    <a:latin typeface="Times New Roman" panose="02020603050405020304" charset="0"/>
                    <a:ea typeface="Arial" panose="020B0604020202020204"/>
                    <a:cs typeface="Times New Roman" panose="02020603050405020304" charset="0"/>
                    <a:sym typeface="Arial" panose="020B0604020202020204"/>
                  </a:rPr>
                  <a:t>/</a:t>
                </a:r>
                <a:r>
                  <a:rPr lang="en-US" sz="1800" dirty="0" err="1">
                    <a:latin typeface="Times New Roman" panose="02020603050405020304" charset="0"/>
                    <a:ea typeface="Arial" panose="020B0604020202020204"/>
                    <a:cs typeface="Times New Roman" panose="02020603050405020304" charset="0"/>
                    <a:sym typeface="Arial" panose="020B0604020202020204"/>
                  </a:rPr>
                  <a:t>gộp</a:t>
                </a:r>
                <a:r>
                  <a:rPr lang="en-US" sz="1800" dirty="0">
                    <a:latin typeface="Times New Roman" panose="02020603050405020304" charset="0"/>
                    <a:ea typeface="Arial" panose="020B0604020202020204"/>
                    <a:cs typeface="Times New Roman" panose="02020603050405020304" charset="0"/>
                    <a:sym typeface="Arial" panose="020B0604020202020204"/>
                  </a:rPr>
                  <a:t> </a:t>
                </a:r>
                <a:r>
                  <a:rPr lang="en-US" sz="1800" dirty="0" err="1">
                    <a:latin typeface="Times New Roman" panose="02020603050405020304" charset="0"/>
                    <a:ea typeface="Arial" panose="020B0604020202020204"/>
                    <a:cs typeface="Times New Roman" panose="02020603050405020304" charset="0"/>
                    <a:sym typeface="Arial" panose="020B0604020202020204"/>
                  </a:rPr>
                  <a:t>dữ</a:t>
                </a:r>
                <a:r>
                  <a:rPr lang="en-US" sz="1800" dirty="0">
                    <a:latin typeface="Times New Roman" panose="02020603050405020304" charset="0"/>
                    <a:ea typeface="Arial" panose="020B0604020202020204"/>
                    <a:cs typeface="Times New Roman" panose="02020603050405020304" charset="0"/>
                    <a:sym typeface="Arial" panose="020B0604020202020204"/>
                  </a:rPr>
                  <a:t> </a:t>
                </a:r>
                <a:r>
                  <a:rPr lang="en-US" sz="1800" dirty="0" err="1">
                    <a:latin typeface="Times New Roman" panose="02020603050405020304" charset="0"/>
                    <a:ea typeface="Arial" panose="020B0604020202020204"/>
                    <a:cs typeface="Times New Roman" panose="02020603050405020304" charset="0"/>
                    <a:sym typeface="Arial" panose="020B0604020202020204"/>
                  </a:rPr>
                  <a:t>liệu</a:t>
                </a:r>
                <a:r>
                  <a:rPr lang="en-US" sz="1800" dirty="0">
                    <a:latin typeface="Times New Roman" panose="02020603050405020304" charset="0"/>
                    <a:ea typeface="Arial" panose="020B0604020202020204"/>
                    <a:cs typeface="Times New Roman" panose="02020603050405020304" charset="0"/>
                    <a:sym typeface="Arial" panose="020B0604020202020204"/>
                  </a:rPr>
                  <a:t> </a:t>
                </a:r>
                <a:r>
                  <a:rPr lang="en-US" sz="1800" dirty="0" err="1">
                    <a:latin typeface="Times New Roman" panose="02020603050405020304" charset="0"/>
                    <a:ea typeface="Arial" panose="020B0604020202020204"/>
                    <a:cs typeface="Times New Roman" panose="02020603050405020304" charset="0"/>
                    <a:sym typeface="Arial" panose="020B0604020202020204"/>
                  </a:rPr>
                  <a:t>trong</a:t>
                </a:r>
                <a:r>
                  <a:rPr lang="en-US" sz="1800" dirty="0">
                    <a:latin typeface="Times New Roman" panose="02020603050405020304" charset="0"/>
                    <a:ea typeface="Arial" panose="020B0604020202020204"/>
                    <a:cs typeface="Times New Roman" panose="02020603050405020304" charset="0"/>
                    <a:sym typeface="Arial" panose="020B0604020202020204"/>
                  </a:rPr>
                  <a:t> </a:t>
                </a:r>
                <a:r>
                  <a:rPr lang="en-US" sz="1800" dirty="0" err="1">
                    <a:latin typeface="Times New Roman" panose="02020603050405020304" charset="0"/>
                    <a:ea typeface="Arial" panose="020B0604020202020204"/>
                    <a:cs typeface="Times New Roman" panose="02020603050405020304" charset="0"/>
                    <a:sym typeface="Arial" panose="020B0604020202020204"/>
                  </a:rPr>
                  <a:t>nút</a:t>
                </a:r>
                <a:r>
                  <a:rPr lang="en-US" sz="1800" dirty="0">
                    <a:latin typeface="Times New Roman" panose="02020603050405020304" charset="0"/>
                    <a:ea typeface="Arial" panose="020B0604020202020204"/>
                    <a:cs typeface="Times New Roman" panose="02020603050405020304" charset="0"/>
                    <a:sym typeface="Arial" panose="020B0604020202020204"/>
                  </a:rPr>
                  <a:t> Cluster Head (CH).</a:t>
                </a:r>
                <a:endParaRPr sz="1800" dirty="0">
                  <a:latin typeface="Times New Roman" panose="02020603050405020304" charset="0"/>
                  <a:ea typeface="Arial" panose="020B0604020202020204"/>
                  <a:cs typeface="Times New Roman" panose="02020603050405020304" charset="0"/>
                  <a:sym typeface="Arial" panose="020B0604020202020204"/>
                </a:endParaRPr>
              </a:p>
              <a:p>
                <a:pPr marL="0" lvl="0" indent="0" algn="l" rtl="0">
                  <a:lnSpc>
                    <a:spcPct val="115000"/>
                  </a:lnSpc>
                  <a:spcBef>
                    <a:spcPts val="1400"/>
                  </a:spcBef>
                  <a:spcAft>
                    <a:spcPts val="0"/>
                  </a:spcAft>
                  <a:buClr>
                    <a:schemeClr val="dk1"/>
                  </a:buClr>
                  <a:buSzPts val="1100"/>
                  <a:buFont typeface="Arial" panose="020B0604020202020204"/>
                  <a:buNone/>
                </a:pPr>
                <a:r>
                  <a:rPr lang="en-US" sz="1800" b="1" dirty="0" err="1">
                    <a:latin typeface="Times New Roman" panose="02020603050405020304" charset="0"/>
                    <a:ea typeface="Arial" panose="020B0604020202020204"/>
                    <a:cs typeface="Times New Roman" panose="02020603050405020304" charset="0"/>
                    <a:sym typeface="Arial" panose="020B0604020202020204"/>
                  </a:rPr>
                  <a:t>Cập</a:t>
                </a:r>
                <a:r>
                  <a:rPr lang="en-US" sz="1800" b="1" dirty="0">
                    <a:latin typeface="Times New Roman" panose="02020603050405020304" charset="0"/>
                    <a:ea typeface="Arial" panose="020B0604020202020204"/>
                    <a:cs typeface="Times New Roman" panose="02020603050405020304" charset="0"/>
                    <a:sym typeface="Arial" panose="020B0604020202020204"/>
                  </a:rPr>
                  <a:t> </a:t>
                </a:r>
                <a:r>
                  <a:rPr lang="en-US" sz="1800" b="1" dirty="0" err="1">
                    <a:latin typeface="Times New Roman" panose="02020603050405020304" charset="0"/>
                    <a:ea typeface="Arial" panose="020B0604020202020204"/>
                    <a:cs typeface="Times New Roman" panose="02020603050405020304" charset="0"/>
                    <a:sym typeface="Arial" panose="020B0604020202020204"/>
                  </a:rPr>
                  <a:t>nhật</a:t>
                </a:r>
                <a:r>
                  <a:rPr lang="en-US" sz="1800" b="1" dirty="0">
                    <a:latin typeface="Times New Roman" panose="02020603050405020304" charset="0"/>
                    <a:ea typeface="Arial" panose="020B0604020202020204"/>
                    <a:cs typeface="Times New Roman" panose="02020603050405020304" charset="0"/>
                    <a:sym typeface="Arial" panose="020B0604020202020204"/>
                  </a:rPr>
                  <a:t> </a:t>
                </a:r>
                <a:r>
                  <a:rPr lang="en-US" sz="1800" b="1" dirty="0" err="1">
                    <a:latin typeface="Times New Roman" panose="02020603050405020304" charset="0"/>
                    <a:ea typeface="Arial" panose="020B0604020202020204"/>
                    <a:cs typeface="Times New Roman" panose="02020603050405020304" charset="0"/>
                    <a:sym typeface="Arial" panose="020B0604020202020204"/>
                  </a:rPr>
                  <a:t>năng</a:t>
                </a:r>
                <a:r>
                  <a:rPr lang="en-US" sz="1800" b="1" dirty="0">
                    <a:latin typeface="Times New Roman" panose="02020603050405020304" charset="0"/>
                    <a:ea typeface="Arial" panose="020B0604020202020204"/>
                    <a:cs typeface="Times New Roman" panose="02020603050405020304" charset="0"/>
                    <a:sym typeface="Arial" panose="020B0604020202020204"/>
                  </a:rPr>
                  <a:t> </a:t>
                </a:r>
                <a:r>
                  <a:rPr lang="en-US" sz="1800" b="1" dirty="0" err="1">
                    <a:latin typeface="Times New Roman" panose="02020603050405020304" charset="0"/>
                    <a:ea typeface="Arial" panose="020B0604020202020204"/>
                    <a:cs typeface="Times New Roman" panose="02020603050405020304" charset="0"/>
                    <a:sym typeface="Arial" panose="020B0604020202020204"/>
                  </a:rPr>
                  <a:t>lượng</a:t>
                </a:r>
                <a:r>
                  <a:rPr lang="en-US" sz="1800" b="1" dirty="0">
                    <a:latin typeface="Times New Roman" panose="02020603050405020304" charset="0"/>
                    <a:ea typeface="Arial" panose="020B0604020202020204"/>
                    <a:cs typeface="Times New Roman" panose="02020603050405020304" charset="0"/>
                    <a:sym typeface="Arial" panose="020B0604020202020204"/>
                  </a:rPr>
                  <a:t> </a:t>
                </a:r>
                <a:r>
                  <a:rPr lang="en-US" sz="1800" b="1" dirty="0" err="1">
                    <a:latin typeface="Times New Roman" panose="02020603050405020304" charset="0"/>
                    <a:ea typeface="Arial" panose="020B0604020202020204"/>
                    <a:cs typeface="Times New Roman" panose="02020603050405020304" charset="0"/>
                    <a:sym typeface="Arial" panose="020B0604020202020204"/>
                  </a:rPr>
                  <a:t>còn</a:t>
                </a:r>
                <a:r>
                  <a:rPr lang="en-US" sz="1800" b="1" dirty="0">
                    <a:latin typeface="Times New Roman" panose="02020603050405020304" charset="0"/>
                    <a:ea typeface="Arial" panose="020B0604020202020204"/>
                    <a:cs typeface="Times New Roman" panose="02020603050405020304" charset="0"/>
                    <a:sym typeface="Arial" panose="020B0604020202020204"/>
                  </a:rPr>
                  <a:t> </a:t>
                </a:r>
                <a:r>
                  <a:rPr lang="en-US" sz="1800" b="1" dirty="0" err="1">
                    <a:latin typeface="Times New Roman" panose="02020603050405020304" charset="0"/>
                    <a:ea typeface="Arial" panose="020B0604020202020204"/>
                    <a:cs typeface="Times New Roman" panose="02020603050405020304" charset="0"/>
                    <a:sym typeface="Arial" panose="020B0604020202020204"/>
                  </a:rPr>
                  <a:t>lại</a:t>
                </a:r>
                <a:r>
                  <a:rPr lang="vi-VN" altLang="en-US" sz="1800" b="1" dirty="0">
                    <a:latin typeface="Times New Roman" panose="02020603050405020304" charset="0"/>
                    <a:ea typeface="Arial" panose="020B0604020202020204"/>
                    <a:cs typeface="Times New Roman" panose="02020603050405020304" charset="0"/>
                    <a:sym typeface="Arial" panose="020B0604020202020204"/>
                  </a:rPr>
                  <a:t> sau round thứ n</a:t>
                </a:r>
                <a:endParaRPr lang="en-US" sz="1800" b="1" dirty="0">
                  <a:latin typeface="Times New Roman" panose="02020603050405020304" charset="0"/>
                  <a:ea typeface="Arial" panose="020B0604020202020204"/>
                  <a:cs typeface="Times New Roman" panose="02020603050405020304" charset="0"/>
                  <a:sym typeface="Arial" panose="020B0604020202020204"/>
                </a:endParaRPr>
              </a:p>
              <a:p>
                <a:pPr marL="0" lvl="0" indent="0" algn="l" rtl="0">
                  <a:lnSpc>
                    <a:spcPct val="115000"/>
                  </a:lnSpc>
                  <a:spcBef>
                    <a:spcPts val="1400"/>
                  </a:spcBef>
                  <a:spcAft>
                    <a:spcPts val="0"/>
                  </a:spcAft>
                  <a:buClr>
                    <a:schemeClr val="dk1"/>
                  </a:buClr>
                  <a:buSzPts val="1100"/>
                  <a:buFont typeface="Arial" panose="020B0604020202020204"/>
                  <a:buNone/>
                </a:pPr>
                <a:r>
                  <a:rPr lang="en-US" sz="1800" b="1" dirty="0">
                    <a:latin typeface="Times New Roman" panose="02020603050405020304" charset="0"/>
                    <a:ea typeface="Arial" panose="020B0604020202020204"/>
                    <a:cs typeface="Times New Roman" panose="02020603050405020304" charset="0"/>
                    <a:sym typeface="Arial" panose="020B0604020202020204"/>
                  </a:rPr>
                  <a:t> </a:t>
                </a:r>
                <a:r>
                  <a:rPr lang="vi-VN" altLang="en-US" sz="1800" b="1" dirty="0">
                    <a:latin typeface="Times New Roman" panose="02020603050405020304" charset="0"/>
                    <a:ea typeface="Arial" panose="020B0604020202020204"/>
                    <a:cs typeface="Times New Roman" panose="02020603050405020304" charset="0"/>
                    <a:sym typeface="Arial" panose="020B0604020202020204"/>
                  </a:rPr>
                  <a:t>                                                    </a:t>
                </a:r>
                <a:r>
                  <a:rPr lang="en-US" sz="1800" b="1" dirty="0">
                    <a:latin typeface="Times New Roman" panose="02020603050405020304" charset="0"/>
                    <a:ea typeface="Arial" panose="020B0604020202020204"/>
                    <a:cs typeface="Times New Roman" panose="02020603050405020304" charset="0"/>
                    <a:sym typeface="Arial" panose="020B0604020202020204"/>
                  </a:rPr>
                  <a:t>(7)</a:t>
                </a:r>
                <a:r>
                  <a:rPr lang="vi-VN" altLang="en-US" sz="1800" b="1" dirty="0">
                    <a:latin typeface="Times New Roman" panose="02020603050405020304" charset="0"/>
                    <a:ea typeface="Arial" panose="020B0604020202020204"/>
                    <a:cs typeface="Times New Roman" panose="02020603050405020304" charset="0"/>
                    <a:sym typeface="Arial" panose="020B0604020202020204"/>
                  </a:rPr>
                  <a:t>      </a:t>
                </a:r>
                <a14:m>
                  <m:oMath xmlns:m="http://schemas.openxmlformats.org/officeDocument/2006/math">
                    <m:sSub>
                      <m:sSubPr>
                        <m:ctrlPr>
                          <a:rPr lang="en-US" sz="1800" i="1" dirty="0" smtClean="0">
                            <a:latin typeface="Cambria Math" panose="02040503050406030204" pitchFamily="18" charset="0"/>
                            <a:cs typeface="Times New Roman" panose="02020603050405020304" charset="0"/>
                            <a:sym typeface="Arial" panose="020B0604020202020204"/>
                          </a:rPr>
                        </m:ctrlPr>
                      </m:sSubPr>
                      <m:e>
                        <m:r>
                          <m:rPr>
                            <m:sty m:val="p"/>
                          </m:rPr>
                          <a:rPr lang="vi-VN" sz="1800" b="0" i="1" dirty="0" smtClean="0">
                            <a:latin typeface="Cambria Math" panose="02040503050406030204" pitchFamily="18" charset="0"/>
                            <a:cs typeface="Times New Roman" panose="02020603050405020304" charset="0"/>
                            <a:sym typeface="Arial" panose="020B0604020202020204"/>
                          </a:rPr>
                          <m:t>E</m:t>
                        </m:r>
                      </m:e>
                      <m:sub>
                        <m:r>
                          <m:rPr>
                            <m:sty m:val="p"/>
                          </m:rPr>
                          <a:rPr lang="vi-VN" sz="1800" b="0" i="1" dirty="0" smtClean="0">
                            <a:latin typeface="Cambria Math" panose="02040503050406030204" pitchFamily="18" charset="0"/>
                            <a:cs typeface="Times New Roman" panose="02020603050405020304" charset="0"/>
                            <a:sym typeface="Arial" panose="020B0604020202020204"/>
                          </a:rPr>
                          <m:t>j</m:t>
                        </m:r>
                      </m:sub>
                    </m:sSub>
                    <m:r>
                      <a:rPr lang="en-US" sz="1800" i="1" dirty="0">
                        <a:latin typeface="Cambria Math" panose="02040503050406030204" pitchFamily="18" charset="0"/>
                        <a:ea typeface="Arial" panose="020B0604020202020204"/>
                        <a:cs typeface="Times New Roman" panose="02020603050405020304" charset="0"/>
                        <a:sym typeface="Arial" panose="020B0604020202020204"/>
                      </a:rPr>
                      <m:t>(</m:t>
                    </m:r>
                    <m:r>
                      <a:rPr lang="en-US" altLang="en-US" sz="1800" i="1" dirty="0">
                        <a:latin typeface="Cambria Math" panose="02040503050406030204" pitchFamily="18" charset="0"/>
                        <a:ea typeface="Arial" panose="020B0604020202020204"/>
                        <a:cs typeface="Times New Roman" panose="02020603050405020304" charset="0"/>
                        <a:sym typeface="Arial" panose="020B0604020202020204"/>
                      </a:rPr>
                      <m:t>𝑛</m:t>
                    </m:r>
                    <m:r>
                      <a:rPr lang="en-US" sz="1800" i="1" dirty="0">
                        <a:latin typeface="Cambria Math" panose="02040503050406030204" pitchFamily="18" charset="0"/>
                        <a:ea typeface="Arial" panose="020B0604020202020204"/>
                        <a:cs typeface="Times New Roman" panose="02020603050405020304" charset="0"/>
                        <a:sym typeface="Arial" panose="020B0604020202020204"/>
                      </a:rPr>
                      <m:t>+1)=</m:t>
                    </m:r>
                    <m:sSub>
                      <m:sSubPr>
                        <m:ctrlPr>
                          <a:rPr lang="en-US" sz="1800" i="1" dirty="0" smtClean="0">
                            <a:latin typeface="Cambria Math" panose="02040503050406030204" pitchFamily="18" charset="0"/>
                            <a:cs typeface="Times New Roman" panose="02020603050405020304" charset="0"/>
                            <a:sym typeface="Arial" panose="020B0604020202020204"/>
                          </a:rPr>
                        </m:ctrlPr>
                      </m:sSubPr>
                      <m:e>
                        <m:r>
                          <m:rPr>
                            <m:sty m:val="p"/>
                          </m:rPr>
                          <a:rPr lang="vi-VN" sz="1800" b="0" i="1" dirty="0" smtClean="0">
                            <a:latin typeface="Cambria Math" panose="02040503050406030204" pitchFamily="18" charset="0"/>
                            <a:cs typeface="Times New Roman" panose="02020603050405020304" charset="0"/>
                            <a:sym typeface="Arial" panose="020B0604020202020204"/>
                          </a:rPr>
                          <m:t>E</m:t>
                        </m:r>
                      </m:e>
                      <m:sub>
                        <m:r>
                          <m:rPr>
                            <m:sty m:val="p"/>
                          </m:rPr>
                          <a:rPr lang="vi-VN" sz="1800" b="0" i="1" dirty="0" smtClean="0">
                            <a:latin typeface="Cambria Math" panose="02040503050406030204" pitchFamily="18" charset="0"/>
                            <a:cs typeface="Times New Roman" panose="02020603050405020304" charset="0"/>
                            <a:sym typeface="Arial" panose="020B0604020202020204"/>
                          </a:rPr>
                          <m:t>j</m:t>
                        </m:r>
                      </m:sub>
                    </m:sSub>
                    <m:r>
                      <a:rPr lang="en-US" sz="1800" i="1" dirty="0">
                        <a:latin typeface="Cambria Math" panose="02040503050406030204" pitchFamily="18" charset="0"/>
                        <a:ea typeface="Arial" panose="020B0604020202020204"/>
                        <a:cs typeface="Times New Roman" panose="02020603050405020304" charset="0"/>
                        <a:sym typeface="Arial" panose="020B0604020202020204"/>
                      </a:rPr>
                      <m:t>(</m:t>
                    </m:r>
                    <m:r>
                      <a:rPr lang="en-US" altLang="en-US" sz="1800" i="1" dirty="0">
                        <a:latin typeface="Cambria Math" panose="02040503050406030204" pitchFamily="18" charset="0"/>
                        <a:ea typeface="Arial" panose="020B0604020202020204"/>
                        <a:cs typeface="Times New Roman" panose="02020603050405020304" charset="0"/>
                        <a:sym typeface="Arial" panose="020B0604020202020204"/>
                      </a:rPr>
                      <m:t>𝑛</m:t>
                    </m:r>
                    <m:r>
                      <a:rPr lang="en-US" sz="1800" i="1" dirty="0">
                        <a:latin typeface="Cambria Math" panose="02040503050406030204" pitchFamily="18" charset="0"/>
                        <a:ea typeface="Arial" panose="020B0604020202020204"/>
                        <a:cs typeface="Times New Roman" panose="02020603050405020304" charset="0"/>
                        <a:sym typeface="Arial" panose="020B0604020202020204"/>
                      </a:rPr>
                      <m:t>)−</m:t>
                    </m:r>
                    <m:sSub>
                      <m:sSubPr>
                        <m:ctrlPr>
                          <a:rPr lang="en-US" sz="1800" i="1" dirty="0" smtClean="0">
                            <a:latin typeface="Cambria Math" panose="02040503050406030204" pitchFamily="18" charset="0"/>
                            <a:cs typeface="Times New Roman" panose="02020603050405020304" charset="0"/>
                            <a:sym typeface="Arial" panose="020B0604020202020204"/>
                          </a:rPr>
                        </m:ctrlPr>
                      </m:sSubPr>
                      <m:e>
                        <m:r>
                          <m:rPr>
                            <m:sty m:val="p"/>
                          </m:rPr>
                          <a:rPr lang="vi-VN" sz="1800" b="0" i="1" dirty="0" smtClean="0">
                            <a:latin typeface="Cambria Math" panose="02040503050406030204" pitchFamily="18" charset="0"/>
                            <a:cs typeface="Times New Roman" panose="02020603050405020304" charset="0"/>
                            <a:sym typeface="Arial" panose="020B0604020202020204"/>
                          </a:rPr>
                          <m:t>E</m:t>
                        </m:r>
                      </m:e>
                      <m:sub>
                        <m:r>
                          <m:rPr>
                            <m:sty m:val="p"/>
                          </m:rPr>
                          <a:rPr lang="vi-VN" sz="1800" b="0" i="1" dirty="0" smtClean="0">
                            <a:latin typeface="Cambria Math" panose="02040503050406030204" pitchFamily="18" charset="0"/>
                            <a:cs typeface="Times New Roman" panose="02020603050405020304" charset="0"/>
                            <a:sym typeface="Arial" panose="020B0604020202020204"/>
                          </a:rPr>
                          <m:t>m</m:t>
                        </m:r>
                      </m:sub>
                    </m:sSub>
                  </m:oMath>
                </a14:m>
                <a:endParaRPr lang="vi-VN" altLang="en-US" sz="1800" b="1" dirty="0">
                  <a:latin typeface="Times New Roman" panose="02020603050405020304" charset="0"/>
                  <a:ea typeface="Arial" panose="020B0604020202020204"/>
                  <a:cs typeface="Times New Roman" panose="02020603050405020304" charset="0"/>
                  <a:sym typeface="Arial" panose="020B0604020202020204"/>
                </a:endParaRPr>
              </a:p>
              <a:p>
                <a:pPr marL="0" lvl="0" indent="0" algn="l" rtl="0">
                  <a:lnSpc>
                    <a:spcPct val="115000"/>
                  </a:lnSpc>
                  <a:spcBef>
                    <a:spcPts val="1200"/>
                  </a:spcBef>
                  <a:spcAft>
                    <a:spcPts val="0"/>
                  </a:spcAft>
                  <a:buClr>
                    <a:schemeClr val="dk1"/>
                  </a:buClr>
                  <a:buSzPts val="1100"/>
                  <a:buFont typeface="Arial" panose="020B0604020202020204"/>
                  <a:buNone/>
                </a:pPr>
                <a:r>
                  <a:rPr lang="en-US" sz="1800" dirty="0">
                    <a:latin typeface="Times New Roman" panose="02020603050405020304" charset="0"/>
                    <a:ea typeface="Arial" panose="020B0604020202020204"/>
                    <a:cs typeface="Times New Roman" panose="02020603050405020304" charset="0"/>
                    <a:sym typeface="Arial" panose="020B0604020202020204"/>
                  </a:rPr>
                  <a:t>🔹 </a:t>
                </a:r>
                <a:r>
                  <a:rPr lang="en-US" sz="1800" b="1" dirty="0" err="1">
                    <a:latin typeface="Times New Roman" panose="02020603050405020304" charset="0"/>
                    <a:ea typeface="Arial" panose="020B0604020202020204"/>
                    <a:cs typeface="Times New Roman" panose="02020603050405020304" charset="0"/>
                    <a:sym typeface="Arial" panose="020B0604020202020204"/>
                  </a:rPr>
                  <a:t>Ý</a:t>
                </a:r>
                <a:r>
                  <a:rPr lang="en-US" sz="1800" b="1" dirty="0">
                    <a:latin typeface="Times New Roman" panose="02020603050405020304" charset="0"/>
                    <a:ea typeface="Arial" panose="020B0604020202020204"/>
                    <a:cs typeface="Times New Roman" panose="02020603050405020304" charset="0"/>
                    <a:sym typeface="Arial" panose="020B0604020202020204"/>
                  </a:rPr>
                  <a:t> </a:t>
                </a:r>
                <a:r>
                  <a:rPr lang="en-US" sz="1800" b="1" dirty="0" err="1">
                    <a:latin typeface="Times New Roman" panose="02020603050405020304" charset="0"/>
                    <a:ea typeface="Arial" panose="020B0604020202020204"/>
                    <a:cs typeface="Times New Roman" panose="02020603050405020304" charset="0"/>
                    <a:sym typeface="Arial" panose="020B0604020202020204"/>
                  </a:rPr>
                  <a:t>nghĩa</a:t>
                </a:r>
                <a:r>
                  <a:rPr lang="en-US" sz="1800" b="1" dirty="0">
                    <a:latin typeface="Times New Roman" panose="02020603050405020304" charset="0"/>
                    <a:ea typeface="Arial" panose="020B0604020202020204"/>
                    <a:cs typeface="Times New Roman" panose="02020603050405020304" charset="0"/>
                    <a:sym typeface="Arial" panose="020B0604020202020204"/>
                  </a:rPr>
                  <a:t>:</a:t>
                </a:r>
                <a:r>
                  <a:rPr lang="en-US" sz="1800" dirty="0">
                    <a:latin typeface="Times New Roman" panose="02020603050405020304" charset="0"/>
                    <a:ea typeface="Arial" panose="020B0604020202020204"/>
                    <a:cs typeface="Times New Roman" panose="02020603050405020304" charset="0"/>
                    <a:sym typeface="Arial" panose="020B0604020202020204"/>
                  </a:rPr>
                  <a:t> </a:t>
                </a:r>
                <a:r>
                  <a:rPr lang="en-US" sz="1800" dirty="0" err="1">
                    <a:latin typeface="Times New Roman" panose="02020603050405020304" charset="0"/>
                    <a:ea typeface="Arial" panose="020B0604020202020204"/>
                    <a:cs typeface="Times New Roman" panose="02020603050405020304" charset="0"/>
                    <a:sym typeface="Arial" panose="020B0604020202020204"/>
                  </a:rPr>
                  <a:t>Năng</a:t>
                </a:r>
                <a:r>
                  <a:rPr lang="en-US" sz="1800" dirty="0">
                    <a:latin typeface="Times New Roman" panose="02020603050405020304" charset="0"/>
                    <a:ea typeface="Arial" panose="020B0604020202020204"/>
                    <a:cs typeface="Times New Roman" panose="02020603050405020304" charset="0"/>
                    <a:sym typeface="Arial" panose="020B0604020202020204"/>
                  </a:rPr>
                  <a:t> </a:t>
                </a:r>
                <a:r>
                  <a:rPr lang="en-US" sz="1800" dirty="0" err="1">
                    <a:latin typeface="Times New Roman" panose="02020603050405020304" charset="0"/>
                    <a:ea typeface="Arial" panose="020B0604020202020204"/>
                    <a:cs typeface="Times New Roman" panose="02020603050405020304" charset="0"/>
                    <a:sym typeface="Arial" panose="020B0604020202020204"/>
                  </a:rPr>
                  <a:t>lượng</a:t>
                </a:r>
                <a:r>
                  <a:rPr lang="en-US" sz="1800" dirty="0">
                    <a:latin typeface="Times New Roman" panose="02020603050405020304" charset="0"/>
                    <a:ea typeface="Arial" panose="020B0604020202020204"/>
                    <a:cs typeface="Times New Roman" panose="02020603050405020304" charset="0"/>
                    <a:sym typeface="Arial" panose="020B0604020202020204"/>
                  </a:rPr>
                  <a:t> </a:t>
                </a:r>
                <a:r>
                  <a:rPr lang="en-US" sz="1800" dirty="0" err="1">
                    <a:latin typeface="Times New Roman" panose="02020603050405020304" charset="0"/>
                    <a:ea typeface="Arial" panose="020B0604020202020204"/>
                    <a:cs typeface="Times New Roman" panose="02020603050405020304" charset="0"/>
                    <a:sym typeface="Arial" panose="020B0604020202020204"/>
                  </a:rPr>
                  <a:t>còn</a:t>
                </a:r>
                <a:r>
                  <a:rPr lang="en-US" sz="1800" dirty="0">
                    <a:latin typeface="Times New Roman" panose="02020603050405020304" charset="0"/>
                    <a:ea typeface="Arial" panose="020B0604020202020204"/>
                    <a:cs typeface="Times New Roman" panose="02020603050405020304" charset="0"/>
                    <a:sym typeface="Arial" panose="020B0604020202020204"/>
                  </a:rPr>
                  <a:t> </a:t>
                </a:r>
                <a:r>
                  <a:rPr lang="en-US" sz="1800" dirty="0" err="1">
                    <a:latin typeface="Times New Roman" panose="02020603050405020304" charset="0"/>
                    <a:ea typeface="Arial" panose="020B0604020202020204"/>
                    <a:cs typeface="Times New Roman" panose="02020603050405020304" charset="0"/>
                    <a:sym typeface="Arial" panose="020B0604020202020204"/>
                  </a:rPr>
                  <a:t>lại</a:t>
                </a:r>
                <a:r>
                  <a:rPr lang="en-US" sz="1800" dirty="0">
                    <a:latin typeface="Times New Roman" panose="02020603050405020304" charset="0"/>
                    <a:ea typeface="Arial" panose="020B0604020202020204"/>
                    <a:cs typeface="Times New Roman" panose="02020603050405020304" charset="0"/>
                    <a:sym typeface="Arial" panose="020B0604020202020204"/>
                  </a:rPr>
                  <a:t> </a:t>
                </a:r>
                <a:r>
                  <a:rPr lang="en-US" sz="1800" dirty="0" err="1">
                    <a:latin typeface="Times New Roman" panose="02020603050405020304" charset="0"/>
                    <a:ea typeface="Arial" panose="020B0604020202020204"/>
                    <a:cs typeface="Times New Roman" panose="02020603050405020304" charset="0"/>
                    <a:sym typeface="Arial" panose="020B0604020202020204"/>
                  </a:rPr>
                  <a:t>sau</a:t>
                </a:r>
                <a:r>
                  <a:rPr lang="en-US" sz="1800" dirty="0">
                    <a:latin typeface="Times New Roman" panose="02020603050405020304" charset="0"/>
                    <a:ea typeface="Arial" panose="020B0604020202020204"/>
                    <a:cs typeface="Times New Roman" panose="02020603050405020304" charset="0"/>
                    <a:sym typeface="Arial" panose="020B0604020202020204"/>
                  </a:rPr>
                  <a:t> </a:t>
                </a:r>
                <a:r>
                  <a:rPr lang="en-US" sz="1800" dirty="0" err="1">
                    <a:latin typeface="Times New Roman" panose="02020603050405020304" charset="0"/>
                    <a:ea typeface="Arial" panose="020B0604020202020204"/>
                    <a:cs typeface="Times New Roman" panose="02020603050405020304" charset="0"/>
                    <a:sym typeface="Arial" panose="020B0604020202020204"/>
                  </a:rPr>
                  <a:t>mỗi</a:t>
                </a:r>
                <a:r>
                  <a:rPr lang="en-US" sz="1800" dirty="0">
                    <a:latin typeface="Times New Roman" panose="02020603050405020304" charset="0"/>
                    <a:ea typeface="Arial" panose="020B0604020202020204"/>
                    <a:cs typeface="Times New Roman" panose="02020603050405020304" charset="0"/>
                    <a:sym typeface="Arial" panose="020B0604020202020204"/>
                  </a:rPr>
                  <a:t> chu </a:t>
                </a:r>
                <a:r>
                  <a:rPr lang="en-US" sz="1800" dirty="0" err="1">
                    <a:latin typeface="Times New Roman" panose="02020603050405020304" charset="0"/>
                    <a:ea typeface="Arial" panose="020B0604020202020204"/>
                    <a:cs typeface="Times New Roman" panose="02020603050405020304" charset="0"/>
                    <a:sym typeface="Arial" panose="020B0604020202020204"/>
                  </a:rPr>
                  <a:t>kỳ</a:t>
                </a:r>
                <a:r>
                  <a:rPr lang="en-US" sz="1800" dirty="0">
                    <a:latin typeface="Times New Roman" panose="02020603050405020304" charset="0"/>
                    <a:ea typeface="Arial" panose="020B0604020202020204"/>
                    <a:cs typeface="Times New Roman" panose="02020603050405020304" charset="0"/>
                    <a:sym typeface="Arial" panose="020B0604020202020204"/>
                  </a:rPr>
                  <a:t> </a:t>
                </a:r>
                <a:r>
                  <a:rPr lang="en-US" sz="1800" dirty="0" err="1">
                    <a:latin typeface="Times New Roman" panose="02020603050405020304" charset="0"/>
                    <a:ea typeface="Arial" panose="020B0604020202020204"/>
                    <a:cs typeface="Times New Roman" panose="02020603050405020304" charset="0"/>
                    <a:sym typeface="Arial" panose="020B0604020202020204"/>
                  </a:rPr>
                  <a:t>truyền</a:t>
                </a:r>
                <a:r>
                  <a:rPr lang="en-US" sz="1800" dirty="0">
                    <a:latin typeface="Times New Roman" panose="02020603050405020304" charset="0"/>
                    <a:ea typeface="Arial" panose="020B0604020202020204"/>
                    <a:cs typeface="Times New Roman" panose="02020603050405020304" charset="0"/>
                    <a:sym typeface="Arial" panose="020B0604020202020204"/>
                  </a:rPr>
                  <a:t> </a:t>
                </a:r>
                <a:r>
                  <a:rPr lang="en-US" sz="1800" dirty="0" err="1">
                    <a:latin typeface="Times New Roman" panose="02020603050405020304" charset="0"/>
                    <a:ea typeface="Arial" panose="020B0604020202020204"/>
                    <a:cs typeface="Times New Roman" panose="02020603050405020304" charset="0"/>
                    <a:sym typeface="Arial" panose="020B0604020202020204"/>
                  </a:rPr>
                  <a:t>dữ</a:t>
                </a:r>
                <a:r>
                  <a:rPr lang="en-US" sz="1800" dirty="0">
                    <a:latin typeface="Times New Roman" panose="02020603050405020304" charset="0"/>
                    <a:ea typeface="Arial" panose="020B0604020202020204"/>
                    <a:cs typeface="Times New Roman" panose="02020603050405020304" charset="0"/>
                    <a:sym typeface="Arial" panose="020B0604020202020204"/>
                  </a:rPr>
                  <a:t> </a:t>
                </a:r>
                <a:r>
                  <a:rPr lang="en-US" sz="1800" dirty="0" err="1">
                    <a:latin typeface="Times New Roman" panose="02020603050405020304" charset="0"/>
                    <a:ea typeface="Arial" panose="020B0604020202020204"/>
                    <a:cs typeface="Times New Roman" panose="02020603050405020304" charset="0"/>
                    <a:sym typeface="Arial" panose="020B0604020202020204"/>
                  </a:rPr>
                  <a:t>liệu</a:t>
                </a:r>
                <a:r>
                  <a:rPr lang="en-US" sz="1800" dirty="0">
                    <a:latin typeface="Times New Roman" panose="02020603050405020304" charset="0"/>
                    <a:ea typeface="Arial" panose="020B0604020202020204"/>
                    <a:cs typeface="Times New Roman" panose="02020603050405020304" charset="0"/>
                    <a:sym typeface="Arial" panose="020B0604020202020204"/>
                  </a:rPr>
                  <a:t>.</a:t>
                </a:r>
                <a:endParaRPr sz="1800" dirty="0">
                  <a:latin typeface="Times New Roman" panose="02020603050405020304" charset="0"/>
                  <a:ea typeface="Arial" panose="020B0604020202020204"/>
                  <a:cs typeface="Times New Roman" panose="02020603050405020304" charset="0"/>
                  <a:sym typeface="Arial" panose="020B0604020202020204"/>
                </a:endParaRPr>
              </a:p>
              <a:p>
                <a:pPr marL="0" lvl="0" indent="457200" algn="l" rtl="0">
                  <a:spcBef>
                    <a:spcPts val="1200"/>
                  </a:spcBef>
                  <a:spcAft>
                    <a:spcPts val="0"/>
                  </a:spcAft>
                  <a:buNone/>
                </a:pPr>
                <a:endParaRPr lang="en-US" sz="1800" dirty="0">
                  <a:latin typeface="Times New Roman" panose="02020603050405020304" charset="0"/>
                  <a:ea typeface="Arial" panose="020B0604020202020204"/>
                  <a:cs typeface="Times New Roman" panose="02020603050405020304" charset="0"/>
                  <a:sym typeface="Arial" panose="020B0604020202020204"/>
                </a:endParaRPr>
              </a:p>
              <a:p>
                <a:pPr marL="0" lvl="0" indent="457200" algn="l" rtl="0">
                  <a:spcBef>
                    <a:spcPts val="1200"/>
                  </a:spcBef>
                  <a:spcAft>
                    <a:spcPts val="0"/>
                  </a:spcAft>
                  <a:buNone/>
                </a:pPr>
                <a:endParaRPr sz="1800" dirty="0">
                  <a:latin typeface="Times New Roman" panose="02020603050405020304" charset="0"/>
                  <a:ea typeface="Times New Roman" panose="02020603050405020304"/>
                  <a:cs typeface="Times New Roman" panose="02020603050405020304" charset="0"/>
                  <a:sym typeface="Times New Roman" panose="02020603050405020304"/>
                </a:endParaRPr>
              </a:p>
              <a:p>
                <a:pPr marL="0" lvl="0" indent="457200" algn="l" rtl="0">
                  <a:spcBef>
                    <a:spcPts val="1200"/>
                  </a:spcBef>
                  <a:spcAft>
                    <a:spcPts val="0"/>
                  </a:spcAft>
                  <a:buNone/>
                </a:pPr>
                <a:endParaRPr sz="1800" dirty="0">
                  <a:latin typeface="Times New Roman" panose="02020603050405020304" charset="0"/>
                  <a:ea typeface="Times New Roman" panose="02020603050405020304"/>
                  <a:cs typeface="Times New Roman" panose="02020603050405020304" charset="0"/>
                  <a:sym typeface="Times New Roman" panose="02020603050405020304"/>
                </a:endParaRPr>
              </a:p>
              <a:p>
                <a:pPr marL="0" lvl="0" indent="0" algn="l" rtl="0">
                  <a:spcBef>
                    <a:spcPts val="1000"/>
                  </a:spcBef>
                  <a:spcAft>
                    <a:spcPts val="0"/>
                  </a:spcAft>
                  <a:buNone/>
                </a:pPr>
                <a:r>
                  <a:rPr lang="en-US" altLang="en-US" sz="1800" dirty="0">
                    <a:latin typeface="Times New Roman" panose="02020603050405020304" charset="0"/>
                    <a:cs typeface="Times New Roman" panose="02020603050405020304" charset="0"/>
                  </a:rPr>
                  <a:t>Các </a:t>
                </a:r>
                <a:r>
                  <a:rPr lang="en-US" altLang="en-US" sz="1800" dirty="0" err="1">
                    <a:latin typeface="Times New Roman" panose="02020603050405020304" charset="0"/>
                    <a:cs typeface="Times New Roman" panose="02020603050405020304" charset="0"/>
                  </a:rPr>
                  <a:t>công</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thức</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này</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mô</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tả</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mô</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hình</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năng</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lượng</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của</a:t>
                </a:r>
                <a:r>
                  <a:rPr lang="en-US" altLang="en-US" sz="1800" dirty="0">
                    <a:latin typeface="Times New Roman" panose="02020603050405020304" charset="0"/>
                    <a:cs typeface="Times New Roman" panose="02020603050405020304" charset="0"/>
                  </a:rPr>
                  <a:t> WSN, </a:t>
                </a:r>
                <a:r>
                  <a:rPr lang="en-US" altLang="en-US" sz="1800" dirty="0" err="1">
                    <a:latin typeface="Times New Roman" panose="02020603050405020304" charset="0"/>
                    <a:cs typeface="Times New Roman" panose="02020603050405020304" charset="0"/>
                  </a:rPr>
                  <a:t>được</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dùng</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trong</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tất</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cả</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các</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thuật</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toán</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tối</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ưu</a:t>
                </a:r>
                <a:r>
                  <a:rPr lang="en-US" altLang="en-US" sz="1800" dirty="0">
                    <a:latin typeface="Times New Roman" panose="02020603050405020304" charset="0"/>
                    <a:cs typeface="Times New Roman" panose="02020603050405020304" charset="0"/>
                  </a:rPr>
                  <a:t> (LEACH, PSO, ACO, AC-ACO, v.v.) </a:t>
                </a:r>
                <a:r>
                  <a:rPr lang="en-US" altLang="en-US" sz="1800" dirty="0" err="1">
                    <a:latin typeface="Times New Roman" panose="02020603050405020304" charset="0"/>
                    <a:cs typeface="Times New Roman" panose="02020603050405020304" charset="0"/>
                  </a:rPr>
                  <a:t>để</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đánh</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giá</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chất</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lượng</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cụm</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và</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chọn</a:t>
                </a:r>
                <a:r>
                  <a:rPr lang="en-US" altLang="en-US" sz="1800" dirty="0">
                    <a:latin typeface="Times New Roman" panose="02020603050405020304" charset="0"/>
                    <a:cs typeface="Times New Roman" panose="02020603050405020304" charset="0"/>
                  </a:rPr>
                  <a:t> Cluster Head (CH).</a:t>
                </a:r>
              </a:p>
            </p:txBody>
          </p:sp>
        </mc:Choice>
        <mc:Fallback xmlns="">
          <p:sp>
            <p:nvSpPr>
              <p:cNvPr id="234" name="Google Shape;234;p36"/>
              <p:cNvSpPr txBox="1">
                <a:spLocks noRot="1" noChangeAspect="1" noMove="1" noResize="1" noEditPoints="1" noAdjustHandles="1" noChangeArrowheads="1" noChangeShapeType="1" noTextEdit="1"/>
              </p:cNvSpPr>
              <p:nvPr>
                <p:ph type="body" idx="1"/>
              </p:nvPr>
            </p:nvSpPr>
            <p:spPr>
              <a:xfrm>
                <a:off x="234950" y="963168"/>
                <a:ext cx="8674200" cy="5132700"/>
              </a:xfrm>
              <a:prstGeom prst="rect">
                <a:avLst/>
              </a:prstGeom>
              <a:blipFill rotWithShape="1">
                <a:blip r:embed="rId4"/>
                <a:stretch>
                  <a:fillRect t="-10" r="1" b="-260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p:nvPr>
                <p:custDataLst>
                  <p:tags r:id="rId1"/>
                </p:custDataLst>
              </p:nvPr>
            </p:nvGraphicFramePr>
            <p:xfrm>
              <a:off x="234850" y="4520152"/>
              <a:ext cx="6427042" cy="896557"/>
            </p:xfrm>
            <a:graphic>
              <a:graphicData uri="http://schemas.openxmlformats.org/drawingml/2006/table">
                <a:tbl>
                  <a:tblPr/>
                  <a:tblGrid>
                    <a:gridCol w="1096892">
                      <a:extLst>
                        <a:ext uri="{9D8B030D-6E8A-4147-A177-3AD203B41FA5}">
                          <a16:colId xmlns:a16="http://schemas.microsoft.com/office/drawing/2014/main" val="20000"/>
                        </a:ext>
                      </a:extLst>
                    </a:gridCol>
                    <a:gridCol w="4877505">
                      <a:extLst>
                        <a:ext uri="{9D8B030D-6E8A-4147-A177-3AD203B41FA5}">
                          <a16:colId xmlns:a16="http://schemas.microsoft.com/office/drawing/2014/main" val="20001"/>
                        </a:ext>
                      </a:extLst>
                    </a:gridCol>
                    <a:gridCol w="452645">
                      <a:extLst>
                        <a:ext uri="{9D8B030D-6E8A-4147-A177-3AD203B41FA5}">
                          <a16:colId xmlns:a16="http://schemas.microsoft.com/office/drawing/2014/main" val="20002"/>
                        </a:ext>
                      </a:extLst>
                    </a:gridCol>
                  </a:tblGrid>
                  <a:tr h="296545">
                    <a:tc>
                      <a:txBody>
                        <a:bodyPr/>
                        <a:lstStyle/>
                        <a:p>
                          <a14:m>
                            <m:oMath xmlns:m="http://schemas.openxmlformats.org/officeDocument/2006/math">
                              <m:sSub>
                                <m:sSubPr>
                                  <m:ctrlPr>
                                    <a:rPr lang="en-US" sz="1800" i="1" dirty="0" smtClean="0">
                                      <a:latin typeface="Cambria Math" panose="02040503050406030204" pitchFamily="18" charset="0"/>
                                      <a:sym typeface="Arial" panose="020B0604020202020204"/>
                                    </a:rPr>
                                  </m:ctrlPr>
                                </m:sSubPr>
                                <m:e>
                                  <m:r>
                                    <a:rPr lang="vi-VN" sz="1800" b="0" i="1" dirty="0" smtClean="0">
                                      <a:latin typeface="Cambria Math" panose="02040503050406030204" pitchFamily="18" charset="0"/>
                                      <a:sym typeface="Arial" panose="020B0604020202020204"/>
                                    </a:rPr>
                                    <m:t>       </m:t>
                                  </m:r>
                                  <m:r>
                                    <m:rPr>
                                      <m:sty m:val="p"/>
                                    </m:rPr>
                                    <a:rPr lang="vi-VN" sz="1800" b="0" i="1" dirty="0" smtClean="0">
                                      <a:latin typeface="Cambria Math" panose="02040503050406030204" pitchFamily="18" charset="0"/>
                                      <a:sym typeface="Arial" panose="020B0604020202020204"/>
                                    </a:rPr>
                                    <m:t>E</m:t>
                                  </m:r>
                                </m:e>
                                <m:sub>
                                  <m:r>
                                    <m:rPr>
                                      <m:sty m:val="p"/>
                                    </m:rPr>
                                    <a:rPr lang="vi-VN" sz="1800" b="0" i="1" dirty="0" smtClean="0">
                                      <a:latin typeface="Cambria Math" panose="02040503050406030204" pitchFamily="18" charset="0"/>
                                      <a:sym typeface="Arial" panose="020B0604020202020204"/>
                                    </a:rPr>
                                    <m:t>agg</m:t>
                                  </m:r>
                                </m:sub>
                              </m:sSub>
                              <m:r>
                                <a:rPr lang="en-US" sz="1800" i="1" dirty="0">
                                  <a:latin typeface="Cambria Math" panose="02040503050406030204" pitchFamily="18" charset="0"/>
                                  <a:sym typeface="Arial" panose="020B0604020202020204"/>
                                </a:rPr>
                                <m:t>​</m:t>
                              </m:r>
                            </m:oMath>
                          </a14:m>
                          <a:r>
                            <a:rPr lang="en-US" sz="1800" dirty="0">
                              <a:sym typeface="Arial" panose="020B0604020202020204"/>
                            </a:rPr>
                            <a:t> </a:t>
                          </a:r>
                          <a:endParaRPr lang="en-US" altLang="zh-CN" sz="1800" dirty="0">
                            <a:sym typeface="Arial" panose="020B0604020202020204"/>
                          </a:endParaRPr>
                        </a:p>
                      </a:txBody>
                      <a:tcPr marL="0" marR="0" marT="0" marB="0" anchor="ctr">
                        <a:lnL>
                          <a:noFill/>
                        </a:lnL>
                        <a:lnR>
                          <a:noFill/>
                        </a:lnR>
                        <a:lnT>
                          <a:noFill/>
                        </a:lnT>
                        <a:lnB>
                          <a:noFill/>
                        </a:lnB>
                        <a:noFill/>
                      </a:tcPr>
                    </a:tc>
                    <a:tc>
                      <a:txBody>
                        <a:bodyPr/>
                        <a:lstStyle/>
                        <a:p>
                          <a:r>
                            <a:rPr lang="en-US" sz="1800" dirty="0">
                              <a:sym typeface="Arial" panose="020B0604020202020204"/>
                            </a:rPr>
                            <a:t>Hằng </a:t>
                          </a:r>
                          <a:r>
                            <a:rPr lang="en-US" sz="1800" dirty="0" err="1">
                              <a:sym typeface="Arial" panose="020B0604020202020204"/>
                            </a:rPr>
                            <a:t>số</a:t>
                          </a:r>
                          <a:r>
                            <a:rPr lang="en-US" sz="1800" dirty="0">
                              <a:sym typeface="Arial" panose="020B0604020202020204"/>
                            </a:rPr>
                            <a:t> </a:t>
                          </a:r>
                          <a:r>
                            <a:rPr lang="en-US" sz="1800" dirty="0" err="1">
                              <a:sym typeface="Arial" panose="020B0604020202020204"/>
                            </a:rPr>
                            <a:t>năng</a:t>
                          </a:r>
                          <a:r>
                            <a:rPr lang="en-US" sz="1800" dirty="0">
                              <a:sym typeface="Arial" panose="020B0604020202020204"/>
                            </a:rPr>
                            <a:t> </a:t>
                          </a:r>
                          <a:r>
                            <a:rPr lang="en-US" sz="1800" dirty="0" err="1">
                              <a:sym typeface="Arial" panose="020B0604020202020204"/>
                            </a:rPr>
                            <a:t>lượng</a:t>
                          </a:r>
                          <a:r>
                            <a:rPr lang="en-US" sz="1800" dirty="0">
                              <a:sym typeface="Arial" panose="020B0604020202020204"/>
                            </a:rPr>
                            <a:t> </a:t>
                          </a:r>
                          <a:r>
                            <a:rPr lang="en-US" sz="1800" dirty="0" err="1">
                              <a:sym typeface="Arial" panose="020B0604020202020204"/>
                            </a:rPr>
                            <a:t>cho</a:t>
                          </a:r>
                          <a:r>
                            <a:rPr lang="en-US" sz="1800" dirty="0">
                              <a:sym typeface="Arial" panose="020B0604020202020204"/>
                            </a:rPr>
                            <a:t> </a:t>
                          </a:r>
                          <a:r>
                            <a:rPr lang="en-US" sz="1800" dirty="0" err="1">
                              <a:sym typeface="Arial" panose="020B0604020202020204"/>
                            </a:rPr>
                            <a:t>mỗi</a:t>
                          </a:r>
                          <a:r>
                            <a:rPr lang="en-US" sz="1800" dirty="0">
                              <a:sym typeface="Arial" panose="020B0604020202020204"/>
                            </a:rPr>
                            <a:t> bit </a:t>
                          </a:r>
                          <a:r>
                            <a:rPr lang="en-US" sz="1800" dirty="0" err="1">
                              <a:sym typeface="Arial" panose="020B0604020202020204"/>
                            </a:rPr>
                            <a:t>xử</a:t>
                          </a:r>
                          <a:r>
                            <a:rPr lang="en-US" sz="1800" dirty="0">
                              <a:sym typeface="Arial" panose="020B0604020202020204"/>
                            </a:rPr>
                            <a:t> </a:t>
                          </a:r>
                          <a:r>
                            <a:rPr lang="en-US" sz="1800" dirty="0" err="1">
                              <a:sym typeface="Arial" panose="020B0604020202020204"/>
                            </a:rPr>
                            <a:t>lý</a:t>
                          </a:r>
                          <a:r>
                            <a:rPr lang="en-US" sz="1800" dirty="0">
                              <a:sym typeface="Arial" panose="020B0604020202020204"/>
                            </a:rPr>
                            <a:t>/</a:t>
                          </a:r>
                          <a:r>
                            <a:rPr lang="en-US" sz="1800" dirty="0" err="1">
                              <a:sym typeface="Arial" panose="020B0604020202020204"/>
                            </a:rPr>
                            <a:t>gộp</a:t>
                          </a:r>
                          <a:endParaRPr lang="en-US" altLang="zh-CN" sz="1800" dirty="0">
                            <a:sym typeface="Arial" panose="020B0604020202020204"/>
                          </a:endParaRPr>
                        </a:p>
                      </a:txBody>
                      <a:tcPr marL="0" marR="0" marT="0" marB="0" anchor="ctr">
                        <a:lnL>
                          <a:noFill/>
                        </a:lnL>
                        <a:lnR>
                          <a:noFill/>
                        </a:lnR>
                        <a:lnT>
                          <a:noFill/>
                        </a:lnT>
                        <a:lnB>
                          <a:noFill/>
                        </a:lnB>
                        <a:noFill/>
                      </a:tcPr>
                    </a:tc>
                    <a:tc>
                      <a:txBody>
                        <a:bodyPr/>
                        <a:lstStyle/>
                        <a:p>
                          <a:r>
                            <a:rPr lang="en-US" sz="1800" dirty="0">
                              <a:sym typeface="Arial" panose="020B0604020202020204"/>
                            </a:rPr>
                            <a:t>J/bit</a:t>
                          </a:r>
                          <a:endParaRPr lang="en-US" altLang="zh-CN" sz="1800" dirty="0">
                            <a:sym typeface="Arial" panose="020B0604020202020204"/>
                          </a:endParaRPr>
                        </a:p>
                      </a:txBody>
                      <a:tcPr marL="0" marR="0" marT="0" marB="0" anchor="ctr">
                        <a:lnL>
                          <a:noFill/>
                        </a:lnL>
                        <a:lnR>
                          <a:noFill/>
                        </a:lnR>
                        <a:lnT>
                          <a:noFill/>
                        </a:lnT>
                        <a:lnB>
                          <a:noFill/>
                        </a:lnB>
                        <a:noFill/>
                      </a:tcPr>
                    </a:tc>
                    <a:extLst>
                      <a:ext uri="{0D108BD9-81ED-4DB2-BD59-A6C34878D82A}">
                        <a16:rowId xmlns:a16="http://schemas.microsoft.com/office/drawing/2014/main" val="10000"/>
                      </a:ext>
                    </a:extLst>
                  </a:tr>
                  <a:tr h="296545">
                    <a:tc>
                      <a:txBody>
                        <a:bodyPr/>
                        <a:lstStyle/>
                        <a:p>
                          <a:pPr/>
                          <a14:m>
                            <m:oMathPara xmlns:m="http://schemas.openxmlformats.org/officeDocument/2006/math">
                              <m:oMathParaPr>
                                <m:jc m:val="centerGroup"/>
                              </m:oMathParaPr>
                              <m:oMath xmlns:m="http://schemas.openxmlformats.org/officeDocument/2006/math">
                                <m:r>
                                  <a:rPr lang="vi-VN" altLang="zh-CN" sz="1800" b="0" i="1" dirty="0" smtClean="0">
                                    <a:latin typeface="Cambria Math" panose="02040503050406030204" pitchFamily="18" charset="0"/>
                                  </a:rPr>
                                  <m:t>    </m:t>
                                </m:r>
                                <m:sSub>
                                  <m:sSubPr>
                                    <m:ctrlPr>
                                      <a:rPr lang="en-US" altLang="zh-CN" sz="1800" i="1" dirty="0" smtClean="0">
                                        <a:latin typeface="Cambria Math" panose="02040503050406030204" pitchFamily="18" charset="0"/>
                                      </a:rPr>
                                    </m:ctrlPr>
                                  </m:sSubPr>
                                  <m:e>
                                    <m:r>
                                      <m:rPr>
                                        <m:sty m:val="p"/>
                                      </m:rPr>
                                      <a:rPr lang="vi-VN" altLang="zh-CN" sz="1800" b="0" i="1" dirty="0" smtClean="0">
                                        <a:latin typeface="Cambria Math" panose="02040503050406030204" pitchFamily="18" charset="0"/>
                                      </a:rPr>
                                      <m:t>E</m:t>
                                    </m:r>
                                  </m:e>
                                  <m:sub>
                                    <m:r>
                                      <m:rPr>
                                        <m:sty m:val="p"/>
                                      </m:rPr>
                                      <a:rPr lang="vi-VN" altLang="zh-CN" sz="1800" b="0" i="1" dirty="0" smtClean="0">
                                        <a:latin typeface="Cambria Math" panose="02040503050406030204" pitchFamily="18" charset="0"/>
                                      </a:rPr>
                                      <m:t>j</m:t>
                                    </m:r>
                                  </m:sub>
                                </m:sSub>
                                <m:r>
                                  <a:rPr lang="vi-VN" altLang="zh-CN" sz="1800" b="0" i="1" dirty="0" smtClean="0">
                                    <a:latin typeface="Cambria Math" panose="02040503050406030204" pitchFamily="18" charset="0"/>
                                  </a:rPr>
                                  <m:t>(</m:t>
                                </m:r>
                                <m:r>
                                  <m:rPr>
                                    <m:sty m:val="p"/>
                                  </m:rPr>
                                  <a:rPr lang="vi-VN" altLang="zh-CN" sz="1800" b="0" i="1" dirty="0" smtClean="0">
                                    <a:latin typeface="Cambria Math" panose="02040503050406030204" pitchFamily="18" charset="0"/>
                                  </a:rPr>
                                  <m:t>k</m:t>
                                </m:r>
                                <m:r>
                                  <a:rPr lang="vi-VN" altLang="zh-CN" sz="1800" b="0" i="1" dirty="0" smtClean="0">
                                    <a:latin typeface="Cambria Math" panose="02040503050406030204" pitchFamily="18" charset="0"/>
                                  </a:rPr>
                                  <m:t>) </m:t>
                                </m:r>
                              </m:oMath>
                            </m:oMathPara>
                          </a14:m>
                          <a:endParaRPr/>
                        </a:p>
                      </a:txBody>
                      <a:tcPr marL="0" marR="0" marT="0" marB="0" anchor="ctr">
                        <a:lnL>
                          <a:noFill/>
                        </a:lnL>
                        <a:lnR>
                          <a:noFill/>
                        </a:lnR>
                        <a:lnT>
                          <a:noFill/>
                        </a:lnT>
                        <a:lnB>
                          <a:noFill/>
                        </a:lnB>
                        <a:noFill/>
                      </a:tcPr>
                    </a:tc>
                    <a:tc>
                      <a:txBody>
                        <a:bodyPr/>
                        <a:lstStyle/>
                        <a:p>
                          <a:r>
                            <a:rPr lang="en-US" altLang="zh-CN" sz="1800"/>
                            <a:t>Năng lượng của nút j tại vòng k</a:t>
                          </a:r>
                        </a:p>
                      </a:txBody>
                      <a:tcPr marL="0" marR="0" marT="0" marB="0" anchor="ctr">
                        <a:lnL>
                          <a:noFill/>
                        </a:lnL>
                        <a:lnR>
                          <a:noFill/>
                        </a:lnR>
                        <a:lnT>
                          <a:noFill/>
                        </a:lnT>
                        <a:lnB>
                          <a:noFill/>
                        </a:lnB>
                        <a:noFill/>
                      </a:tcPr>
                    </a:tc>
                    <a:tc>
                      <a:txBody>
                        <a:bodyPr/>
                        <a:lstStyle/>
                        <a:p>
                          <a:r>
                            <a:rPr lang="en-US" altLang="zh-CN" sz="1800"/>
                            <a:t>J</a:t>
                          </a:r>
                        </a:p>
                      </a:txBody>
                      <a:tcPr marL="0" marR="0" marT="0" marB="0" anchor="ctr">
                        <a:lnL>
                          <a:noFill/>
                        </a:lnL>
                        <a:lnR>
                          <a:noFill/>
                        </a:lnR>
                        <a:lnT>
                          <a:noFill/>
                        </a:lnT>
                        <a:lnB>
                          <a:noFill/>
                        </a:lnB>
                        <a:noFill/>
                      </a:tcPr>
                    </a:tc>
                    <a:extLst>
                      <a:ext uri="{0D108BD9-81ED-4DB2-BD59-A6C34878D82A}">
                        <a16:rowId xmlns:a16="http://schemas.microsoft.com/office/drawing/2014/main" val="10001"/>
                      </a:ext>
                    </a:extLst>
                  </a:tr>
                  <a:tr h="296545">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dirty="0" smtClean="0">
                                        <a:latin typeface="Cambria Math" panose="02040503050406030204" pitchFamily="18" charset="0"/>
                                      </a:rPr>
                                    </m:ctrlPr>
                                  </m:sSubPr>
                                  <m:e>
                                    <m:r>
                                      <m:rPr>
                                        <m:sty m:val="p"/>
                                      </m:rPr>
                                      <a:rPr lang="vi-VN" altLang="zh-CN" sz="1800" b="0" i="1" dirty="0" smtClean="0">
                                        <a:latin typeface="Cambria Math" panose="02040503050406030204" pitchFamily="18" charset="0"/>
                                      </a:rPr>
                                      <m:t>E</m:t>
                                    </m:r>
                                  </m:e>
                                  <m:sub>
                                    <m:r>
                                      <m:rPr>
                                        <m:sty m:val="p"/>
                                      </m:rPr>
                                      <a:rPr lang="vi-VN" altLang="zh-CN" sz="1800" b="0" i="1" dirty="0" smtClean="0">
                                        <a:latin typeface="Cambria Math" panose="02040503050406030204" pitchFamily="18" charset="0"/>
                                      </a:rPr>
                                      <m:t>m</m:t>
                                    </m:r>
                                  </m:sub>
                                </m:sSub>
                                <m:r>
                                  <a:rPr lang="en-US" altLang="zh-CN" sz="1800" i="1" dirty="0">
                                    <a:latin typeface="Cambria Math" panose="02040503050406030204" pitchFamily="18" charset="0"/>
                                  </a:rPr>
                                  <m:t> </m:t>
                                </m:r>
                              </m:oMath>
                            </m:oMathPara>
                          </a14:m>
                          <a:endParaRPr/>
                        </a:p>
                      </a:txBody>
                      <a:tcPr marL="0" marR="0" marT="0" marB="0" anchor="ctr">
                        <a:lnL>
                          <a:noFill/>
                        </a:lnL>
                        <a:lnR>
                          <a:noFill/>
                        </a:lnR>
                        <a:lnT>
                          <a:noFill/>
                        </a:lnT>
                        <a:lnB>
                          <a:noFill/>
                        </a:lnB>
                        <a:noFill/>
                      </a:tcPr>
                    </a:tc>
                    <a:tc>
                      <a:txBody>
                        <a:bodyPr/>
                        <a:lstStyle/>
                        <a:p>
                          <a:r>
                            <a:rPr lang="en-US" altLang="zh-CN" sz="1800" dirty="0" err="1"/>
                            <a:t>Năng</a:t>
                          </a:r>
                          <a:r>
                            <a:rPr lang="en-US" altLang="zh-CN" sz="1800" dirty="0"/>
                            <a:t> </a:t>
                          </a:r>
                          <a:r>
                            <a:rPr lang="en-US" altLang="zh-CN" sz="1800" dirty="0" err="1"/>
                            <a:t>lượng</a:t>
                          </a:r>
                          <a:r>
                            <a:rPr lang="en-US" altLang="zh-CN" sz="1800" dirty="0"/>
                            <a:t> </a:t>
                          </a:r>
                          <a:r>
                            <a:rPr lang="en-US" altLang="zh-CN" sz="1800" dirty="0" err="1"/>
                            <a:t>tiêu</a:t>
                          </a:r>
                          <a:r>
                            <a:rPr lang="en-US" altLang="zh-CN" sz="1800" dirty="0"/>
                            <a:t> </a:t>
                          </a:r>
                          <a:r>
                            <a:rPr lang="en-US" altLang="zh-CN" sz="1800" dirty="0" err="1"/>
                            <a:t>thụ</a:t>
                          </a:r>
                          <a:r>
                            <a:rPr lang="en-US" altLang="zh-CN" sz="1800" dirty="0"/>
                            <a:t> </a:t>
                          </a:r>
                          <a:r>
                            <a:rPr lang="en-US" altLang="zh-CN" sz="1800" dirty="0" err="1"/>
                            <a:t>tại</a:t>
                          </a:r>
                          <a:r>
                            <a:rPr lang="en-US" altLang="zh-CN" sz="1800" dirty="0"/>
                            <a:t> </a:t>
                          </a:r>
                          <a:r>
                            <a:rPr lang="en-US" altLang="zh-CN" sz="1800" dirty="0" err="1"/>
                            <a:t>vòng</a:t>
                          </a:r>
                          <a:r>
                            <a:rPr lang="en-US" altLang="zh-CN" sz="1800" dirty="0"/>
                            <a:t> </a:t>
                          </a:r>
                          <a:r>
                            <a:rPr lang="en-US" altLang="zh-CN" sz="1800" dirty="0" err="1"/>
                            <a:t>đó</a:t>
                          </a:r>
                          <a:endParaRPr lang="en-US" altLang="zh-CN" sz="1800" dirty="0"/>
                        </a:p>
                      </a:txBody>
                      <a:tcPr marL="0" marR="0" marT="0" marB="0" anchor="ctr">
                        <a:lnL>
                          <a:noFill/>
                        </a:lnL>
                        <a:lnR>
                          <a:noFill/>
                        </a:lnR>
                        <a:lnT>
                          <a:noFill/>
                        </a:lnT>
                        <a:lnB>
                          <a:noFill/>
                        </a:lnB>
                        <a:noFill/>
                      </a:tcPr>
                    </a:tc>
                    <a:tc>
                      <a:txBody>
                        <a:bodyPr/>
                        <a:lstStyle/>
                        <a:p>
                          <a:r>
                            <a:rPr lang="en-US" altLang="zh-CN" sz="1800" dirty="0"/>
                            <a:t>J</a:t>
                          </a:r>
                        </a:p>
                      </a:txBody>
                      <a:tcPr marL="0" marR="0" marT="0" marB="0" anchor="ctr">
                        <a:lnL>
                          <a:noFill/>
                        </a:lnL>
                        <a:lnR>
                          <a:noFill/>
                        </a:lnR>
                        <a:lnT>
                          <a:noFill/>
                        </a:lnT>
                        <a:lnB>
                          <a:noFill/>
                        </a:lnB>
                        <a:noFill/>
                      </a:tcPr>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p:nvPr>
                <p:custDataLst>
                  <p:tags r:id="rId5"/>
                </p:custDataLst>
              </p:nvPr>
            </p:nvGraphicFramePr>
            <p:xfrm>
              <a:off x="234850" y="4520152"/>
              <a:ext cx="6427042" cy="896557"/>
            </p:xfrm>
            <a:graphic>
              <a:graphicData uri="http://schemas.openxmlformats.org/drawingml/2006/table">
                <a:tbl>
                  <a:tblPr/>
                  <a:tblGrid>
                    <a:gridCol w="1096892"/>
                    <a:gridCol w="4877505"/>
                    <a:gridCol w="452645"/>
                  </a:tblGrid>
                  <a:tr h="296545">
                    <a:tc>
                      <a:txBody>
                        <a:bodyPr/>
                        <a:lstStyle/>
                        <a:p>
                          <a:endParaRPr lang="en-US"/>
                        </a:p>
                      </a:txBody>
                      <a:tcPr marL="0" marR="0" marT="0" marB="0" anchor="ctr">
                        <a:lnL>
                          <a:noFill/>
                        </a:lnL>
                        <a:lnR>
                          <a:noFill/>
                        </a:lnR>
                        <a:lnT>
                          <a:noFill/>
                        </a:lnT>
                        <a:lnB>
                          <a:noFill/>
                        </a:lnB>
                        <a:blipFill>
                          <a:blip r:embed="rId6"/>
                        </a:blipFill>
                      </a:tcPr>
                    </a:tc>
                    <a:tc>
                      <a:txBody>
                        <a:bodyPr/>
                        <a:lstStyle/>
                        <a:p>
                          <a:r>
                            <a:rPr lang="en-US" sz="1800" dirty="0">
                              <a:sym typeface="Arial" panose="020B0604020202020204"/>
                            </a:rPr>
                            <a:t>Hằng </a:t>
                          </a:r>
                          <a:r>
                            <a:rPr lang="en-US" sz="1800" dirty="0" err="1">
                              <a:sym typeface="Arial" panose="020B0604020202020204"/>
                            </a:rPr>
                            <a:t>số</a:t>
                          </a:r>
                          <a:r>
                            <a:rPr lang="en-US" sz="1800" dirty="0">
                              <a:sym typeface="Arial" panose="020B0604020202020204"/>
                            </a:rPr>
                            <a:t> </a:t>
                          </a:r>
                          <a:r>
                            <a:rPr lang="en-US" sz="1800" dirty="0" err="1">
                              <a:sym typeface="Arial" panose="020B0604020202020204"/>
                            </a:rPr>
                            <a:t>năng</a:t>
                          </a:r>
                          <a:r>
                            <a:rPr lang="en-US" sz="1800" dirty="0">
                              <a:sym typeface="Arial" panose="020B0604020202020204"/>
                            </a:rPr>
                            <a:t> </a:t>
                          </a:r>
                          <a:r>
                            <a:rPr lang="en-US" sz="1800" dirty="0" err="1">
                              <a:sym typeface="Arial" panose="020B0604020202020204"/>
                            </a:rPr>
                            <a:t>lượng</a:t>
                          </a:r>
                          <a:r>
                            <a:rPr lang="en-US" sz="1800" dirty="0">
                              <a:sym typeface="Arial" panose="020B0604020202020204"/>
                            </a:rPr>
                            <a:t> </a:t>
                          </a:r>
                          <a:r>
                            <a:rPr lang="en-US" sz="1800" dirty="0" err="1">
                              <a:sym typeface="Arial" panose="020B0604020202020204"/>
                            </a:rPr>
                            <a:t>cho</a:t>
                          </a:r>
                          <a:r>
                            <a:rPr lang="en-US" sz="1800" dirty="0">
                              <a:sym typeface="Arial" panose="020B0604020202020204"/>
                            </a:rPr>
                            <a:t> </a:t>
                          </a:r>
                          <a:r>
                            <a:rPr lang="en-US" sz="1800" dirty="0" err="1">
                              <a:sym typeface="Arial" panose="020B0604020202020204"/>
                            </a:rPr>
                            <a:t>mỗi</a:t>
                          </a:r>
                          <a:r>
                            <a:rPr lang="en-US" sz="1800" dirty="0">
                              <a:sym typeface="Arial" panose="020B0604020202020204"/>
                            </a:rPr>
                            <a:t> bit </a:t>
                          </a:r>
                          <a:r>
                            <a:rPr lang="en-US" sz="1800" dirty="0" err="1">
                              <a:sym typeface="Arial" panose="020B0604020202020204"/>
                            </a:rPr>
                            <a:t>xử</a:t>
                          </a:r>
                          <a:r>
                            <a:rPr lang="en-US" sz="1800" dirty="0">
                              <a:sym typeface="Arial" panose="020B0604020202020204"/>
                            </a:rPr>
                            <a:t> </a:t>
                          </a:r>
                          <a:r>
                            <a:rPr lang="en-US" sz="1800" dirty="0" err="1">
                              <a:sym typeface="Arial" panose="020B0604020202020204"/>
                            </a:rPr>
                            <a:t>lý</a:t>
                          </a:r>
                          <a:r>
                            <a:rPr lang="en-US" sz="1800" dirty="0">
                              <a:sym typeface="Arial" panose="020B0604020202020204"/>
                            </a:rPr>
                            <a:t>/</a:t>
                          </a:r>
                          <a:r>
                            <a:rPr lang="en-US" sz="1800" dirty="0" err="1">
                              <a:sym typeface="Arial" panose="020B0604020202020204"/>
                            </a:rPr>
                            <a:t>gộp</a:t>
                          </a:r>
                          <a:endParaRPr lang="en-US" altLang="zh-CN" sz="1800" dirty="0">
                            <a:sym typeface="Arial" panose="020B0604020202020204"/>
                          </a:endParaRPr>
                        </a:p>
                      </a:txBody>
                      <a:tcPr marL="0" marR="0" marT="0" marB="0" anchor="ctr">
                        <a:lnL>
                          <a:noFill/>
                        </a:lnL>
                        <a:lnR>
                          <a:noFill/>
                        </a:lnR>
                        <a:lnT>
                          <a:noFill/>
                        </a:lnT>
                        <a:lnB>
                          <a:noFill/>
                        </a:lnB>
                        <a:noFill/>
                      </a:tcPr>
                    </a:tc>
                    <a:tc>
                      <a:txBody>
                        <a:bodyPr/>
                        <a:lstStyle/>
                        <a:p>
                          <a:r>
                            <a:rPr lang="en-US" sz="1800" dirty="0">
                              <a:sym typeface="Arial" panose="020B0604020202020204"/>
                            </a:rPr>
                            <a:t>J/bit</a:t>
                          </a:r>
                          <a:endParaRPr lang="en-US" altLang="zh-CN" sz="1800" dirty="0">
                            <a:sym typeface="Arial" panose="020B0604020202020204"/>
                          </a:endParaRPr>
                        </a:p>
                      </a:txBody>
                      <a:tcPr marL="0" marR="0" marT="0" marB="0" anchor="ctr">
                        <a:lnL>
                          <a:noFill/>
                        </a:lnL>
                        <a:lnR>
                          <a:noFill/>
                        </a:lnR>
                        <a:lnT>
                          <a:noFill/>
                        </a:lnT>
                        <a:lnB>
                          <a:noFill/>
                        </a:lnB>
                        <a:noFill/>
                      </a:tcPr>
                    </a:tc>
                  </a:tr>
                  <a:tr h="296545">
                    <a:tc>
                      <a:txBody>
                        <a:bodyPr/>
                        <a:lstStyle/>
                        <a:p>
                          <a:endParaRPr lang="en-US"/>
                        </a:p>
                      </a:txBody>
                      <a:tcPr marL="0" marR="0" marT="0" marB="0" anchor="ctr">
                        <a:lnL>
                          <a:noFill/>
                        </a:lnL>
                        <a:lnR>
                          <a:noFill/>
                        </a:lnR>
                        <a:lnT>
                          <a:noFill/>
                        </a:lnT>
                        <a:lnB>
                          <a:noFill/>
                        </a:lnB>
                        <a:blipFill>
                          <a:blip r:embed="rId6"/>
                        </a:blipFill>
                      </a:tcPr>
                    </a:tc>
                    <a:tc>
                      <a:txBody>
                        <a:bodyPr/>
                        <a:lstStyle/>
                        <a:p>
                          <a:r>
                            <a:rPr lang="en-US" altLang="zh-CN" sz="1800"/>
                            <a:t>Năng lượng của nút j tại vòng k</a:t>
                          </a:r>
                          <a:endParaRPr lang="en-US" altLang="zh-CN" sz="1800"/>
                        </a:p>
                      </a:txBody>
                      <a:tcPr marL="0" marR="0" marT="0" marB="0" anchor="ctr">
                        <a:lnL>
                          <a:noFill/>
                        </a:lnL>
                        <a:lnR>
                          <a:noFill/>
                        </a:lnR>
                        <a:lnT>
                          <a:noFill/>
                        </a:lnT>
                        <a:lnB>
                          <a:noFill/>
                        </a:lnB>
                        <a:noFill/>
                      </a:tcPr>
                    </a:tc>
                    <a:tc>
                      <a:txBody>
                        <a:bodyPr/>
                        <a:lstStyle/>
                        <a:p>
                          <a:r>
                            <a:rPr lang="en-US" altLang="zh-CN" sz="1800"/>
                            <a:t>J</a:t>
                          </a:r>
                          <a:endParaRPr lang="en-US" altLang="zh-CN" sz="1800"/>
                        </a:p>
                      </a:txBody>
                      <a:tcPr marL="0" marR="0" marT="0" marB="0" anchor="ctr">
                        <a:lnL>
                          <a:noFill/>
                        </a:lnL>
                        <a:lnR>
                          <a:noFill/>
                        </a:lnR>
                        <a:lnT>
                          <a:noFill/>
                        </a:lnT>
                        <a:lnB>
                          <a:noFill/>
                        </a:lnB>
                        <a:noFill/>
                      </a:tcPr>
                    </a:tc>
                  </a:tr>
                  <a:tr h="296545">
                    <a:tc>
                      <a:txBody>
                        <a:bodyPr/>
                        <a:lstStyle/>
                        <a:p>
                          <a:endParaRPr lang="en-US"/>
                        </a:p>
                      </a:txBody>
                      <a:tcPr marL="0" marR="0" marT="0" marB="0" anchor="ctr">
                        <a:lnL>
                          <a:noFill/>
                        </a:lnL>
                        <a:lnR>
                          <a:noFill/>
                        </a:lnR>
                        <a:lnT>
                          <a:noFill/>
                        </a:lnT>
                        <a:lnB>
                          <a:noFill/>
                        </a:lnB>
                        <a:blipFill>
                          <a:blip r:embed="rId6"/>
                        </a:blipFill>
                      </a:tcPr>
                    </a:tc>
                    <a:tc>
                      <a:txBody>
                        <a:bodyPr/>
                        <a:lstStyle/>
                        <a:p>
                          <a:r>
                            <a:rPr lang="en-US" altLang="zh-CN" sz="1800" dirty="0" err="1"/>
                            <a:t>Năng</a:t>
                          </a:r>
                          <a:r>
                            <a:rPr lang="en-US" altLang="zh-CN" sz="1800" dirty="0"/>
                            <a:t> </a:t>
                          </a:r>
                          <a:r>
                            <a:rPr lang="en-US" altLang="zh-CN" sz="1800" dirty="0" err="1"/>
                            <a:t>lượng</a:t>
                          </a:r>
                          <a:r>
                            <a:rPr lang="en-US" altLang="zh-CN" sz="1800" dirty="0"/>
                            <a:t> </a:t>
                          </a:r>
                          <a:r>
                            <a:rPr lang="en-US" altLang="zh-CN" sz="1800" dirty="0" err="1"/>
                            <a:t>tiêu</a:t>
                          </a:r>
                          <a:r>
                            <a:rPr lang="en-US" altLang="zh-CN" sz="1800" dirty="0"/>
                            <a:t> </a:t>
                          </a:r>
                          <a:r>
                            <a:rPr lang="en-US" altLang="zh-CN" sz="1800" dirty="0" err="1"/>
                            <a:t>thụ</a:t>
                          </a:r>
                          <a:r>
                            <a:rPr lang="en-US" altLang="zh-CN" sz="1800" dirty="0"/>
                            <a:t> </a:t>
                          </a:r>
                          <a:r>
                            <a:rPr lang="en-US" altLang="zh-CN" sz="1800" dirty="0" err="1"/>
                            <a:t>tại</a:t>
                          </a:r>
                          <a:r>
                            <a:rPr lang="en-US" altLang="zh-CN" sz="1800" dirty="0"/>
                            <a:t> </a:t>
                          </a:r>
                          <a:r>
                            <a:rPr lang="en-US" altLang="zh-CN" sz="1800" dirty="0" err="1"/>
                            <a:t>vòng</a:t>
                          </a:r>
                          <a:r>
                            <a:rPr lang="en-US" altLang="zh-CN" sz="1800" dirty="0"/>
                            <a:t> </a:t>
                          </a:r>
                          <a:r>
                            <a:rPr lang="en-US" altLang="zh-CN" sz="1800" dirty="0" err="1"/>
                            <a:t>đó</a:t>
                          </a:r>
                          <a:endParaRPr lang="en-US" altLang="zh-CN" sz="1800" dirty="0"/>
                        </a:p>
                      </a:txBody>
                      <a:tcPr marL="0" marR="0" marT="0" marB="0" anchor="ctr">
                        <a:lnL>
                          <a:noFill/>
                        </a:lnL>
                        <a:lnR>
                          <a:noFill/>
                        </a:lnR>
                        <a:lnT>
                          <a:noFill/>
                        </a:lnT>
                        <a:lnB>
                          <a:noFill/>
                        </a:lnB>
                        <a:noFill/>
                      </a:tcPr>
                    </a:tc>
                    <a:tc>
                      <a:txBody>
                        <a:bodyPr/>
                        <a:lstStyle/>
                        <a:p>
                          <a:r>
                            <a:rPr lang="en-US" altLang="zh-CN" sz="1800" dirty="0"/>
                            <a:t>J</a:t>
                          </a:r>
                          <a:endParaRPr lang="en-US" altLang="zh-CN" sz="1800" dirty="0"/>
                        </a:p>
                      </a:txBody>
                      <a:tcPr marL="0" marR="0" marT="0" marB="0" anchor="ctr">
                        <a:lnL>
                          <a:noFill/>
                        </a:lnL>
                        <a:lnR>
                          <a:noFill/>
                        </a:lnR>
                        <a:lnT>
                          <a:noFill/>
                        </a:lnT>
                        <a:lnB>
                          <a:noFill/>
                        </a:lnB>
                        <a:noFill/>
                      </a:tcPr>
                    </a:tc>
                  </a:tr>
                </a:tbl>
              </a:graphicData>
            </a:graphic>
          </p:graphicFrame>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7"/>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25</a:t>
            </a:fld>
            <a:endParaRPr lang="en-US"/>
          </a:p>
        </p:txBody>
      </p:sp>
      <p:sp>
        <p:nvSpPr>
          <p:cNvPr id="241" name="Google Shape;241;p37"/>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vi-VN">
                <a:sym typeface="+mn-ea"/>
              </a:rPr>
              <a:t>2. Cơ sở lý thuyết </a:t>
            </a:r>
            <a:r>
              <a:rPr lang="en-US">
                <a:sym typeface="+mn-ea"/>
              </a:rPr>
              <a:t>&amp;</a:t>
            </a:r>
            <a:r>
              <a:rPr lang="vi-VN">
                <a:sym typeface="+mn-ea"/>
              </a:rPr>
              <a:t> phát biểu bài toán</a:t>
            </a:r>
            <a:endParaRPr lang="en-US"/>
          </a:p>
        </p:txBody>
      </p:sp>
      <mc:AlternateContent xmlns:mc="http://schemas.openxmlformats.org/markup-compatibility/2006" xmlns:a14="http://schemas.microsoft.com/office/drawing/2010/main">
        <mc:Choice Requires="a14">
          <p:sp>
            <p:nvSpPr>
              <p:cNvPr id="242" name="Google Shape;242;p37"/>
              <p:cNvSpPr txBox="1">
                <a:spLocks noGrp="1"/>
              </p:cNvSpPr>
              <p:nvPr>
                <p:ph type="body" idx="1"/>
              </p:nvPr>
            </p:nvSpPr>
            <p:spPr>
              <a:xfrm>
                <a:off x="234950" y="698500"/>
                <a:ext cx="8674100" cy="552069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Clr>
                    <a:schemeClr val="dk1"/>
                  </a:buClr>
                  <a:buSzPts val="1100"/>
                  <a:buFont typeface="Arial" panose="020B0604020202020204"/>
                  <a:buNone/>
                </a:pPr>
                <a:r>
                  <a:rPr lang="vi-VN" sz="1800" b="1" dirty="0">
                    <a:latin typeface="Times New Roman" panose="02020603050405020304" charset="0"/>
                    <a:cs typeface="Times New Roman" panose="02020603050405020304" charset="0"/>
                    <a:sym typeface="+mn-ea"/>
                  </a:rPr>
                  <a:t>Phát biểu bài toán</a:t>
                </a:r>
              </a:p>
              <a:p>
                <a:pPr marL="0" lvl="0" indent="0" algn="l" rtl="0">
                  <a:lnSpc>
                    <a:spcPct val="115000"/>
                  </a:lnSpc>
                  <a:spcBef>
                    <a:spcPts val="1400"/>
                  </a:spcBef>
                  <a:spcAft>
                    <a:spcPts val="0"/>
                  </a:spcAft>
                  <a:buClr>
                    <a:schemeClr val="dk1"/>
                  </a:buClr>
                  <a:buSzPts val="1100"/>
                  <a:buFont typeface="Arial" panose="020B0604020202020204"/>
                  <a:buNone/>
                </a:pPr>
                <a:r>
                  <a:rPr lang="en-US" sz="1800" b="1" dirty="0">
                    <a:latin typeface="Times New Roman" panose="02020603050405020304"/>
                    <a:ea typeface="Times New Roman" panose="02020603050405020304"/>
                    <a:cs typeface="Times New Roman" panose="02020603050405020304"/>
                    <a:sym typeface="Times New Roman" panose="02020603050405020304"/>
                  </a:rPr>
                  <a:t>Input</a:t>
                </a:r>
                <a:endParaRPr sz="1800" b="1" dirty="0">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115000"/>
                  </a:lnSpc>
                  <a:spcBef>
                    <a:spcPts val="1200"/>
                  </a:spcBef>
                  <a:spcAft>
                    <a:spcPts val="0"/>
                  </a:spcAft>
                  <a:buSzPts val="1800"/>
                  <a:buAutoNum type="arabicPeriod"/>
                </a:pPr>
                <a:r>
                  <a:rPr lang="en-US" sz="1800" b="1" dirty="0" err="1">
                    <a:latin typeface="Times New Roman" panose="02020603050405020304"/>
                    <a:ea typeface="Times New Roman" panose="02020603050405020304"/>
                    <a:cs typeface="Times New Roman" panose="02020603050405020304"/>
                    <a:sym typeface="Times New Roman" panose="02020603050405020304"/>
                  </a:rPr>
                  <a:t>Đồ</a:t>
                </a:r>
                <a:r>
                  <a:rPr 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err="1">
                    <a:latin typeface="Times New Roman" panose="02020603050405020304"/>
                    <a:ea typeface="Times New Roman" panose="02020603050405020304"/>
                    <a:cs typeface="Times New Roman" panose="02020603050405020304"/>
                    <a:sym typeface="Times New Roman" panose="02020603050405020304"/>
                  </a:rPr>
                  <a:t>thị</a:t>
                </a:r>
                <a:r>
                  <a:rPr 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err="1">
                    <a:latin typeface="Times New Roman" panose="02020603050405020304"/>
                    <a:ea typeface="Times New Roman" panose="02020603050405020304"/>
                    <a:cs typeface="Times New Roman" panose="02020603050405020304"/>
                    <a:sym typeface="Times New Roman" panose="02020603050405020304"/>
                  </a:rPr>
                  <a:t>mạng</a:t>
                </a:r>
                <a:r>
                  <a:rPr lang="en-US" sz="1800" b="1" dirty="0">
                    <a:latin typeface="Times New Roman" panose="02020603050405020304"/>
                    <a:ea typeface="Times New Roman" panose="02020603050405020304"/>
                    <a:cs typeface="Times New Roman" panose="02020603050405020304"/>
                    <a:sym typeface="Times New Roman" panose="02020603050405020304"/>
                  </a:rPr>
                  <a:t> WSN</a:t>
                </a:r>
                <a:endParaRPr lang="en-US" sz="1320" dirty="0">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115000"/>
                  </a:lnSpc>
                  <a:spcBef>
                    <a:spcPts val="0"/>
                  </a:spcBef>
                  <a:spcAft>
                    <a:spcPts val="0"/>
                  </a:spcAft>
                  <a:buSzPts val="1800"/>
                  <a:buChar char="○"/>
                </a:pPr>
                <a:r>
                  <a:rPr lang="vi-VN" altLang="en-US" sz="1800" dirty="0">
                    <a:latin typeface="Times New Roman" panose="02020603050405020304"/>
                    <a:ea typeface="Times New Roman" panose="02020603050405020304"/>
                    <a:cs typeface="Times New Roman" panose="02020603050405020304"/>
                    <a:sym typeface="Times New Roman" panose="02020603050405020304"/>
                  </a:rPr>
                  <a:t>Diện tích vùng bao phủ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phạm</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vi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truyền</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thông chứa tập các nút cảm biến </a:t>
                </a:r>
                <a14:m>
                  <m:oMath xmlns:m="http://schemas.openxmlformats.org/officeDocument/2006/math">
                    <m:r>
                      <a:rPr lang="vi-VN" alt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𝑁𝑥𝑁</m:t>
                    </m:r>
                  </m:oMath>
                </a14:m>
                <a:endParaRPr lang="en-US" sz="1800" dirty="0">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115000"/>
                  </a:lnSpc>
                  <a:spcBef>
                    <a:spcPts val="0"/>
                  </a:spcBef>
                  <a:spcAft>
                    <a:spcPts val="0"/>
                  </a:spcAft>
                  <a:buSzPts val="1800"/>
                  <a:buChar char="○"/>
                </a:pPr>
                <a:r>
                  <a:rPr lang="en-US" sz="1800" dirty="0" err="1">
                    <a:latin typeface="Times New Roman" panose="02020603050405020304"/>
                    <a:ea typeface="Times New Roman" panose="02020603050405020304"/>
                    <a:cs typeface="Times New Roman" panose="02020603050405020304"/>
                    <a:sym typeface="Times New Roman" panose="02020603050405020304"/>
                  </a:rPr>
                  <a:t>Tập</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các</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err="1">
                    <a:latin typeface="Times New Roman" panose="02020603050405020304"/>
                    <a:ea typeface="Times New Roman" panose="02020603050405020304"/>
                    <a:cs typeface="Times New Roman" panose="02020603050405020304"/>
                    <a:sym typeface="Times New Roman" panose="02020603050405020304"/>
                  </a:rPr>
                  <a:t>nút</a:t>
                </a:r>
                <a:r>
                  <a:rPr 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err="1">
                    <a:latin typeface="Times New Roman" panose="02020603050405020304"/>
                    <a:ea typeface="Times New Roman" panose="02020603050405020304"/>
                    <a:cs typeface="Times New Roman" panose="02020603050405020304"/>
                    <a:sym typeface="Times New Roman" panose="02020603050405020304"/>
                  </a:rPr>
                  <a:t>cảm</a:t>
                </a:r>
                <a:r>
                  <a:rPr 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err="1">
                    <a:latin typeface="Times New Roman" panose="02020603050405020304"/>
                    <a:ea typeface="Times New Roman" panose="02020603050405020304"/>
                    <a:cs typeface="Times New Roman" panose="02020603050405020304"/>
                    <a:sym typeface="Times New Roman" panose="02020603050405020304"/>
                  </a:rPr>
                  <a:t>biến</a:t>
                </a:r>
                <a:r>
                  <a:rPr lang="en-US" sz="1800" dirty="0">
                    <a:latin typeface="Times New Roman" panose="02020603050405020304"/>
                    <a:ea typeface="Times New Roman" panose="02020603050405020304"/>
                    <a:cs typeface="Times New Roman" panose="02020603050405020304"/>
                    <a:sym typeface="Times New Roman" panose="02020603050405020304"/>
                  </a:rPr>
                  <a:t> N, </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(sensor </a:t>
                </a:r>
                <a14:m>
                  <m:oMath xmlns:m="http://schemas.openxmlformats.org/officeDocument/2006/math">
                    <m:sSub>
                      <m:sSubPr>
                        <m:ctrlPr>
                          <a:rPr lang="vi-VN" altLang="en-US" sz="1800" i="1" dirty="0" smtClean="0">
                            <a:latin typeface="Cambria Math" panose="02040503050406030204" pitchFamily="18" charset="0"/>
                            <a:cs typeface="Times New Roman" panose="02020603050405020304"/>
                            <a:sym typeface="Times New Roman" panose="02020603050405020304"/>
                          </a:rPr>
                        </m:ctrlPr>
                      </m:sSubPr>
                      <m:e>
                        <m:r>
                          <m:rPr>
                            <m:sty m:val="p"/>
                          </m:rPr>
                          <a:rPr lang="vi-VN" altLang="en-US" sz="1800" b="0" i="1" dirty="0" smtClean="0">
                            <a:latin typeface="Cambria Math" panose="02040503050406030204" pitchFamily="18" charset="0"/>
                            <a:cs typeface="Times New Roman" panose="02020603050405020304"/>
                            <a:sym typeface="Times New Roman" panose="02020603050405020304"/>
                          </a:rPr>
                          <m:t>S</m:t>
                        </m:r>
                      </m:e>
                      <m:sub>
                        <m:r>
                          <m:rPr>
                            <m:sty m:val="p"/>
                          </m:rPr>
                          <a:rPr lang="vi-VN" altLang="en-US" sz="1800" b="0" i="1" dirty="0" smtClean="0">
                            <a:latin typeface="Cambria Math" panose="02040503050406030204" pitchFamily="18" charset="0"/>
                            <a:cs typeface="Times New Roman" panose="02020603050405020304"/>
                            <a:sym typeface="Times New Roman" panose="02020603050405020304"/>
                          </a:rPr>
                          <m:t>i</m:t>
                        </m:r>
                      </m:sub>
                    </m:sSub>
                  </m:oMath>
                </a14:m>
                <a:r>
                  <a:rPr lang="vi-VN" altLang="en-US" sz="1800" dirty="0">
                    <a:latin typeface="Times New Roman" panose="02020603050405020304"/>
                    <a:ea typeface="Times New Roman" panose="02020603050405020304"/>
                    <a:cs typeface="Times New Roman" panose="02020603050405020304"/>
                    <a:sym typeface="Times New Roman" panose="02020603050405020304"/>
                  </a:rPr>
                  <a:t> có </a:t>
                </a:r>
                <a:r>
                  <a:rPr lang="en-US" sz="1800" dirty="0" err="1">
                    <a:latin typeface="Times New Roman" panose="02020603050405020304"/>
                    <a:ea typeface="Times New Roman" panose="02020603050405020304"/>
                    <a:cs typeface="Times New Roman" panose="02020603050405020304"/>
                    <a:sym typeface="Times New Roman" panose="02020603050405020304"/>
                  </a:rPr>
                  <a:t>vị</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trí</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tọa</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độ</a:t>
                </a:r>
                <a:r>
                  <a:rPr lang="en-US" sz="1800" dirty="0">
                    <a:latin typeface="Times New Roman" panose="02020603050405020304"/>
                    <a:ea typeface="Times New Roman" panose="02020603050405020304"/>
                    <a:cs typeface="Times New Roman" panose="02020603050405020304"/>
                    <a:sym typeface="Times New Roman" panose="02020603050405020304"/>
                  </a:rPr>
                  <a:t> </a:t>
                </a:r>
                <a14:m>
                  <m:oMath xmlns:m="http://schemas.openxmlformats.org/officeDocument/2006/math">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m:t>
                    </m:r>
                    <m:sSub>
                      <m:sSubPr>
                        <m:ctrlPr>
                          <a:rPr lang="en-US" sz="1800" i="1" dirty="0" smtClean="0">
                            <a:latin typeface="Cambria Math" panose="02040503050406030204" pitchFamily="18" charset="0"/>
                            <a:cs typeface="Times New Roman" panose="02020603050405020304"/>
                            <a:sym typeface="Times New Roman" panose="02020603050405020304"/>
                          </a:rPr>
                        </m:ctrlPr>
                      </m:sSubPr>
                      <m:e>
                        <m:r>
                          <m:rPr>
                            <m:sty m:val="p"/>
                          </m:rPr>
                          <a:rPr lang="vi-VN" sz="1800" b="0" i="1" dirty="0" smtClean="0">
                            <a:latin typeface="Cambria Math" panose="02040503050406030204" pitchFamily="18" charset="0"/>
                            <a:cs typeface="Times New Roman" panose="02020603050405020304"/>
                            <a:sym typeface="Times New Roman" panose="02020603050405020304"/>
                          </a:rPr>
                          <m:t>x</m:t>
                        </m:r>
                      </m:e>
                      <m:sub>
                        <m:r>
                          <m:rPr>
                            <m:sty m:val="p"/>
                          </m:rPr>
                          <a:rPr lang="vi-VN" sz="1800" b="0" i="1" dirty="0" smtClean="0">
                            <a:latin typeface="Cambria Math" panose="02040503050406030204" pitchFamily="18" charset="0"/>
                            <a:cs typeface="Times New Roman" panose="02020603050405020304"/>
                            <a:sym typeface="Times New Roman" panose="02020603050405020304"/>
                          </a:rPr>
                          <m:t>i</m:t>
                        </m:r>
                      </m:sub>
                    </m:sSub>
                    <m:r>
                      <a:rPr lang="vi-VN" sz="1800" b="0" i="1" dirty="0" smtClean="0">
                        <a:latin typeface="Cambria Math" panose="02040503050406030204" pitchFamily="18" charset="0"/>
                        <a:cs typeface="Times New Roman" panose="02020603050405020304"/>
                        <a:sym typeface="Times New Roman" panose="02020603050405020304"/>
                      </a:rPr>
                      <m:t>,</m:t>
                    </m:r>
                    <m:sSub>
                      <m:sSubPr>
                        <m:ctrlPr>
                          <a:rPr lang="vi-VN" sz="1800" b="0" i="1" dirty="0" smtClean="0">
                            <a:latin typeface="Cambria Math" panose="02040503050406030204" pitchFamily="18" charset="0"/>
                            <a:cs typeface="Times New Roman" panose="02020603050405020304"/>
                            <a:sym typeface="Times New Roman" panose="02020603050405020304"/>
                          </a:rPr>
                        </m:ctrlPr>
                      </m:sSubPr>
                      <m:e>
                        <m:r>
                          <m:rPr>
                            <m:sty m:val="p"/>
                          </m:rPr>
                          <a:rPr lang="vi-VN" sz="1800" b="0" i="1" dirty="0" smtClean="0">
                            <a:latin typeface="Cambria Math" panose="02040503050406030204" pitchFamily="18" charset="0"/>
                            <a:cs typeface="Times New Roman" panose="02020603050405020304"/>
                            <a:sym typeface="Times New Roman" panose="02020603050405020304"/>
                          </a:rPr>
                          <m:t>y</m:t>
                        </m:r>
                      </m:e>
                      <m:sub>
                        <m:r>
                          <m:rPr>
                            <m:sty m:val="p"/>
                          </m:rPr>
                          <a:rPr lang="vi-VN" sz="1800" b="0" i="1" dirty="0" smtClean="0">
                            <a:latin typeface="Cambria Math" panose="02040503050406030204" pitchFamily="18" charset="0"/>
                            <a:cs typeface="Times New Roman" panose="02020603050405020304"/>
                            <a:sym typeface="Times New Roman" panose="02020603050405020304"/>
                          </a:rPr>
                          <m:t>i</m:t>
                        </m:r>
                      </m:sub>
                    </m:sSub>
                    <m:r>
                      <a:rPr lang="vi-VN" sz="1800" b="0" i="1" dirty="0" smtClean="0">
                        <a:latin typeface="Cambria Math" panose="02040503050406030204" pitchFamily="18" charset="0"/>
                        <a:cs typeface="Times New Roman" panose="02020603050405020304"/>
                        <a:sym typeface="Times New Roman" panose="02020603050405020304"/>
                      </a:rPr>
                      <m:t>)</m:t>
                    </m:r>
                    <m:r>
                      <a:rPr lang="vi-VN"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 </m:t>
                    </m:r>
                  </m:oMath>
                </a14:m>
                <a:r>
                  <a:rPr lang="vi-VN" altLang="en-US" sz="1800" dirty="0">
                    <a:latin typeface="Times New Roman" panose="02020603050405020304"/>
                    <a:ea typeface="Times New Roman" panose="02020603050405020304"/>
                    <a:cs typeface="Times New Roman" panose="02020603050405020304"/>
                    <a:sym typeface="Times New Roman" panose="02020603050405020304"/>
                  </a:rPr>
                  <a:t>với </a:t>
                </a:r>
                <a14:m>
                  <m:oMath xmlns:m="http://schemas.openxmlformats.org/officeDocument/2006/math">
                    <m:r>
                      <a:rPr lang="vi-VN" alt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𝑖</m:t>
                    </m:r>
                    <m:r>
                      <a:rPr lang="vi-VN" alt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 ∈[1,</m:t>
                    </m:r>
                    <m:r>
                      <a:rPr lang="vi-VN" alt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𝑁</m:t>
                    </m:r>
                    <m:r>
                      <a:rPr lang="vi-VN" alt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m:t>
                    </m:r>
                  </m:oMath>
                </a14:m>
                <a:r>
                  <a:rPr lang="vi-VN" altLang="en-US" sz="1800" dirty="0">
                    <a:latin typeface="Times New Roman" panose="02020603050405020304"/>
                    <a:ea typeface="Times New Roman" panose="02020603050405020304"/>
                    <a:cs typeface="Times New Roman" panose="02020603050405020304"/>
                    <a:sym typeface="Times New Roman" panose="02020603050405020304"/>
                  </a:rPr>
                  <a:t>)</a:t>
                </a:r>
              </a:p>
              <a:p>
                <a:pPr marL="914400" lvl="1" indent="-342900" algn="l" rtl="0">
                  <a:lnSpc>
                    <a:spcPct val="115000"/>
                  </a:lnSpc>
                  <a:spcBef>
                    <a:spcPts val="0"/>
                  </a:spcBef>
                  <a:spcAft>
                    <a:spcPts val="0"/>
                  </a:spcAft>
                  <a:buSzPts val="1800"/>
                  <a:buChar char="○"/>
                </a:pPr>
                <a:r>
                  <a:rPr lang="vi-VN" altLang="en-US" sz="1800" dirty="0">
                    <a:latin typeface="Times New Roman" panose="02020603050405020304"/>
                    <a:ea typeface="Times New Roman" panose="02020603050405020304"/>
                    <a:cs typeface="Times New Roman" panose="02020603050405020304"/>
                    <a:sym typeface="Times New Roman" panose="02020603050405020304"/>
                  </a:rPr>
                  <a:t>Bán kính truyền thông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vùng giao tiếp truyền thông của các sensor </a:t>
                </a:r>
                <a:r>
                  <a:rPr lang="en-US" sz="1800" dirty="0">
                    <a:latin typeface="Times New Roman" panose="02020603050405020304"/>
                    <a:ea typeface="Times New Roman" panose="02020603050405020304"/>
                    <a:cs typeface="Times New Roman" panose="02020603050405020304"/>
                    <a:sym typeface="Times New Roman" panose="02020603050405020304"/>
                  </a:rPr>
                  <a:t>).</a:t>
                </a:r>
              </a:p>
              <a:p>
                <a:pPr marL="914400" lvl="1" indent="-342900" algn="l" rtl="0">
                  <a:lnSpc>
                    <a:spcPct val="115000"/>
                  </a:lnSpc>
                  <a:spcBef>
                    <a:spcPts val="0"/>
                  </a:spcBef>
                  <a:spcAft>
                    <a:spcPts val="0"/>
                  </a:spcAft>
                  <a:buSzPts val="1800"/>
                  <a:buChar char="○"/>
                </a:pPr>
                <a:r>
                  <a:rPr lang="vi-VN" altLang="en-US" sz="1800" dirty="0">
                    <a:latin typeface="Times New Roman" panose="02020603050405020304"/>
                    <a:ea typeface="Times New Roman" panose="02020603050405020304"/>
                    <a:cs typeface="Times New Roman" panose="02020603050405020304"/>
                    <a:sym typeface="Times New Roman" panose="02020603050405020304"/>
                  </a:rPr>
                  <a:t>Năng lượng truyền thông của sensor </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115000"/>
                  </a:lnSpc>
                  <a:spcBef>
                    <a:spcPts val="0"/>
                  </a:spcBef>
                  <a:spcAft>
                    <a:spcPts val="0"/>
                  </a:spcAft>
                  <a:buSzPts val="1800"/>
                  <a:buAutoNum type="arabicPeriod"/>
                </a:pPr>
                <a:r>
                  <a:rPr lang="en-US" sz="1800" b="1" dirty="0">
                    <a:latin typeface="Times New Roman" panose="02020603050405020304"/>
                    <a:ea typeface="Times New Roman" panose="02020603050405020304"/>
                    <a:cs typeface="Times New Roman" panose="02020603050405020304"/>
                    <a:sym typeface="Times New Roman" panose="02020603050405020304"/>
                  </a:rPr>
                  <a:t>Thông tin </a:t>
                </a:r>
                <a:r>
                  <a:rPr lang="en-US" sz="1800" b="1" dirty="0" err="1">
                    <a:latin typeface="Times New Roman" panose="02020603050405020304"/>
                    <a:ea typeface="Times New Roman" panose="02020603050405020304"/>
                    <a:cs typeface="Times New Roman" panose="02020603050405020304"/>
                    <a:sym typeface="Times New Roman" panose="02020603050405020304"/>
                  </a:rPr>
                  <a:t>năng</a:t>
                </a:r>
                <a:r>
                  <a:rPr 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err="1">
                    <a:latin typeface="Times New Roman" panose="02020603050405020304"/>
                    <a:ea typeface="Times New Roman" panose="02020603050405020304"/>
                    <a:cs typeface="Times New Roman" panose="02020603050405020304"/>
                    <a:sym typeface="Times New Roman" panose="02020603050405020304"/>
                  </a:rPr>
                  <a:t>lượng</a:t>
                </a:r>
                <a:r>
                  <a:rPr lang="en-US" sz="1800" dirty="0">
                    <a:latin typeface="Times New Roman" panose="02020603050405020304"/>
                    <a:ea typeface="Times New Roman" panose="02020603050405020304"/>
                    <a:cs typeface="Times New Roman" panose="02020603050405020304"/>
                    <a:sym typeface="Times New Roman" panose="02020603050405020304"/>
                  </a:rPr>
                  <a:t>:</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115000"/>
                  </a:lnSpc>
                  <a:spcBef>
                    <a:spcPts val="0"/>
                  </a:spcBef>
                  <a:spcAft>
                    <a:spcPts val="0"/>
                  </a:spcAft>
                  <a:buSzPts val="1800"/>
                  <a:buFont typeface="Times New Roman" panose="02020603050405020304"/>
                  <a:buChar char="○"/>
                </a:pPr>
                <a:r>
                  <a:rPr 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lượng</a:t>
                </a:r>
                <a:r>
                  <a:rPr lang="en-US" sz="1800" dirty="0">
                    <a:latin typeface="Times New Roman" panose="02020603050405020304"/>
                    <a:ea typeface="Times New Roman" panose="02020603050405020304"/>
                    <a:cs typeface="Times New Roman" panose="02020603050405020304"/>
                    <a:sym typeface="Times New Roman" panose="02020603050405020304"/>
                  </a:rPr>
                  <a:t> ban </a:t>
                </a:r>
                <a:r>
                  <a:rPr lang="en-US" sz="1800" dirty="0" err="1">
                    <a:latin typeface="Times New Roman" panose="02020603050405020304"/>
                    <a:ea typeface="Times New Roman" panose="02020603050405020304"/>
                    <a:cs typeface="Times New Roman" panose="02020603050405020304"/>
                    <a:sym typeface="Times New Roman" panose="02020603050405020304"/>
                  </a:rPr>
                  <a:t>đầu</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của</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từng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nút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14:m>
                  <m:oMath xmlns:m="http://schemas.openxmlformats.org/officeDocument/2006/math">
                    <m:sSub>
                      <m:sSubPr>
                        <m:ctrlPr>
                          <a:rPr lang="en-US" sz="1800" i="1" dirty="0" smtClean="0">
                            <a:latin typeface="Cambria Math" panose="02040503050406030204" pitchFamily="18" charset="0"/>
                            <a:cs typeface="Times New Roman" panose="02020603050405020304"/>
                            <a:sym typeface="Times New Roman" panose="02020603050405020304"/>
                          </a:rPr>
                        </m:ctrlPr>
                      </m:sSubPr>
                      <m:e>
                        <m:r>
                          <m:rPr>
                            <m:sty m:val="p"/>
                          </m:rPr>
                          <a:rPr lang="vi-VN" sz="1800" b="0" i="1" dirty="0" smtClean="0">
                            <a:latin typeface="Cambria Math" panose="02040503050406030204" pitchFamily="18" charset="0"/>
                            <a:cs typeface="Times New Roman" panose="02020603050405020304"/>
                            <a:sym typeface="Times New Roman" panose="02020603050405020304"/>
                          </a:rPr>
                          <m:t>E</m:t>
                        </m:r>
                      </m:e>
                      <m:sub>
                        <m:r>
                          <m:rPr>
                            <m:sty m:val="p"/>
                          </m:rPr>
                          <a:rPr lang="vi-VN" sz="1800" b="0" i="1" dirty="0" smtClean="0">
                            <a:latin typeface="Cambria Math" panose="02040503050406030204" pitchFamily="18" charset="0"/>
                            <a:cs typeface="Times New Roman" panose="02020603050405020304"/>
                            <a:sym typeface="Times New Roman" panose="02020603050405020304"/>
                          </a:rPr>
                          <m:t>i</m:t>
                        </m:r>
                      </m:sub>
                    </m:sSub>
                  </m:oMath>
                </a14:m>
                <a:endParaRPr sz="1800" dirty="0">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115000"/>
                  </a:lnSpc>
                  <a:spcBef>
                    <a:spcPts val="0"/>
                  </a:spcBef>
                  <a:spcAft>
                    <a:spcPts val="0"/>
                  </a:spcAft>
                  <a:buSzPts val="1800"/>
                  <a:buFont typeface="Times New Roman" panose="02020603050405020304"/>
                  <a:buChar char="○"/>
                </a:pPr>
                <a:r>
                  <a:rPr lang="en-US" sz="1800" dirty="0" err="1">
                    <a:latin typeface="Times New Roman" panose="02020603050405020304"/>
                    <a:ea typeface="Times New Roman" panose="02020603050405020304"/>
                    <a:cs typeface="Times New Roman" panose="02020603050405020304"/>
                    <a:sym typeface="Times New Roman" panose="02020603050405020304"/>
                  </a:rPr>
                  <a:t>Mô</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hình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tiêu</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thụ</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lượng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khi</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truyền</a:t>
                </a:r>
                <a:r>
                  <a:rPr lang="en-US" sz="1800" dirty="0">
                    <a:latin typeface="Times New Roman" panose="02020603050405020304"/>
                    <a:ea typeface="Times New Roman" panose="02020603050405020304"/>
                    <a:cs typeface="Times New Roman" panose="02020603050405020304"/>
                    <a:sym typeface="Times New Roman" panose="02020603050405020304"/>
                  </a:rPr>
                  <a:t>/</a:t>
                </a:r>
                <a:r>
                  <a:rPr lang="en-US" sz="1800" dirty="0" err="1">
                    <a:latin typeface="Times New Roman" panose="02020603050405020304"/>
                    <a:ea typeface="Times New Roman" panose="02020603050405020304"/>
                    <a:cs typeface="Times New Roman" panose="02020603050405020304"/>
                    <a:sym typeface="Times New Roman" panose="02020603050405020304"/>
                  </a:rPr>
                  <a:t>nhận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14:m>
                  <m:oMath xmlns:m="http://schemas.openxmlformats.org/officeDocument/2006/math">
                    <m:sSub>
                      <m:sSubPr>
                        <m:ctrlPr>
                          <a:rPr lang="en-US" sz="1800" i="1" dirty="0" smtClean="0">
                            <a:latin typeface="Cambria Math" panose="02040503050406030204" pitchFamily="18" charset="0"/>
                            <a:cs typeface="Times New Roman" panose="02020603050405020304"/>
                            <a:sym typeface="Times New Roman" panose="02020603050405020304"/>
                          </a:rPr>
                        </m:ctrlPr>
                      </m:sSubPr>
                      <m:e>
                        <m:r>
                          <m:rPr>
                            <m:sty m:val="p"/>
                          </m:rPr>
                          <a:rPr lang="vi-VN" sz="1800" b="0" i="1" dirty="0" smtClean="0">
                            <a:latin typeface="Cambria Math" panose="02040503050406030204" pitchFamily="18" charset="0"/>
                            <a:cs typeface="Times New Roman" panose="02020603050405020304"/>
                            <a:sym typeface="Times New Roman" panose="02020603050405020304"/>
                          </a:rPr>
                          <m:t>E</m:t>
                        </m:r>
                      </m:e>
                      <m:sub>
                        <m:r>
                          <m:rPr>
                            <m:sty m:val="p"/>
                          </m:rPr>
                          <a:rPr lang="vi-VN" sz="1800" b="0" i="1" dirty="0" smtClean="0">
                            <a:latin typeface="Cambria Math" panose="02040503050406030204" pitchFamily="18" charset="0"/>
                            <a:cs typeface="Times New Roman" panose="02020603050405020304"/>
                            <a:sym typeface="Times New Roman" panose="02020603050405020304"/>
                          </a:rPr>
                          <m:t>m</m:t>
                        </m:r>
                      </m:sub>
                    </m:sSub>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m:t>
                    </m:r>
                    <m:r>
                      <a:rPr 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𝑖</m:t>
                    </m:r>
                    <m:r>
                      <a:rPr 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m:t>
                    </m:r>
                    <m:r>
                      <a:rPr 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𝑗</m:t>
                    </m:r>
                    <m:r>
                      <a:rPr lang="en-US" sz="1800" i="1" dirty="0">
                        <a:latin typeface="Cambria Math" panose="02040503050406030204" pitchFamily="18" charset="0"/>
                        <a:ea typeface="Times New Roman" panose="02020603050405020304"/>
                        <a:cs typeface="Times New Roman" panose="02020603050405020304"/>
                        <a:sym typeface="Times New Roman" panose="02020603050405020304"/>
                      </a:rPr>
                      <m:t>)</m:t>
                    </m:r>
                    <m:r>
                      <a:rPr lang="vi-VN"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 </m:t>
                    </m:r>
                  </m:oMath>
                </a14:m>
                <a:endParaRPr lang="vi-VN" altLang="en-US" sz="1800" dirty="0">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115000"/>
                  </a:lnSpc>
                  <a:spcBef>
                    <a:spcPts val="0"/>
                  </a:spcBef>
                  <a:spcAft>
                    <a:spcPts val="0"/>
                  </a:spcAft>
                  <a:buSzPts val="1800"/>
                  <a:buFont typeface="Times New Roman" panose="02020603050405020304"/>
                  <a:buChar char="○"/>
                </a:pPr>
                <a:r>
                  <a:rPr 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lượng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truyền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gồm</a:t>
                </a:r>
                <a:r>
                  <a:rPr lang="en-US" sz="1800" dirty="0">
                    <a:latin typeface="Times New Roman" panose="02020603050405020304"/>
                    <a:ea typeface="Times New Roman" panose="02020603050405020304"/>
                    <a:cs typeface="Times New Roman" panose="02020603050405020304"/>
                    <a:sym typeface="Times New Roman" panose="02020603050405020304"/>
                  </a:rPr>
                  <a:t> 2 </a:t>
                </a:r>
                <a:r>
                  <a:rPr lang="en-US" sz="1800" dirty="0" err="1">
                    <a:latin typeface="Times New Roman" panose="02020603050405020304"/>
                    <a:ea typeface="Times New Roman" panose="02020603050405020304"/>
                    <a:cs typeface="Times New Roman" panose="02020603050405020304"/>
                    <a:sym typeface="Times New Roman" panose="02020603050405020304"/>
                  </a:rPr>
                  <a:t>phần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mạch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và</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khuếch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đại</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14:m>
                  <m:oMath xmlns:m="http://schemas.openxmlformats.org/officeDocument/2006/math">
                    <m:sSub>
                      <m:sSubPr>
                        <m:ctrlPr>
                          <a:rPr lang="en-US" altLang="en-US" sz="1800" i="1" dirty="0" smtClean="0">
                            <a:latin typeface="Cambria Math" panose="02040503050406030204" pitchFamily="18" charset="0"/>
                            <a:cs typeface="Times New Roman" panose="02020603050405020304"/>
                            <a:sym typeface="Times New Roman" panose="02020603050405020304"/>
                          </a:rPr>
                        </m:ctrlPr>
                      </m:sSubPr>
                      <m:e>
                        <m:r>
                          <m:rPr>
                            <m:sty m:val="p"/>
                          </m:rPr>
                          <a:rPr lang="vi-VN" altLang="en-US" sz="1800" b="0" i="1" dirty="0" smtClean="0">
                            <a:latin typeface="Cambria Math" panose="02040503050406030204" pitchFamily="18" charset="0"/>
                            <a:cs typeface="Times New Roman" panose="02020603050405020304"/>
                            <a:sym typeface="Times New Roman" panose="02020603050405020304"/>
                          </a:rPr>
                          <m:t>E</m:t>
                        </m:r>
                      </m:e>
                      <m:sub>
                        <m:r>
                          <m:rPr>
                            <m:sty m:val="p"/>
                          </m:rPr>
                          <a:rPr lang="vi-VN" altLang="en-US" sz="1800" b="0" i="1" dirty="0" smtClean="0">
                            <a:latin typeface="Cambria Math" panose="02040503050406030204" pitchFamily="18" charset="0"/>
                            <a:cs typeface="Times New Roman" panose="02020603050405020304"/>
                            <a:sym typeface="Times New Roman" panose="02020603050405020304"/>
                          </a:rPr>
                          <m:t>Tx</m:t>
                        </m:r>
                      </m:sub>
                    </m:sSub>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m:t>
                    </m:r>
                    <m:r>
                      <a:rPr lang="en-US" alt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𝑘</m:t>
                    </m:r>
                    <m:r>
                      <a:rPr lang="en-US" alt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m:t>
                    </m:r>
                    <m:r>
                      <a:rPr lang="en-US" alt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𝑑</m:t>
                    </m:r>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m:t>
                    </m:r>
                  </m:oMath>
                </a14:m>
                <a:endParaRPr lang="vi-VN" altLang="en-US" sz="1800" dirty="0">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115000"/>
                  </a:lnSpc>
                  <a:spcBef>
                    <a:spcPts val="0"/>
                  </a:spcBef>
                  <a:spcAft>
                    <a:spcPts val="0"/>
                  </a:spcAft>
                  <a:buSzPts val="1800"/>
                  <a:buFont typeface="Times New Roman" panose="02020603050405020304"/>
                  <a:buChar char="○"/>
                </a:pP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lượng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nhận</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14:m>
                  <m:oMath xmlns:m="http://schemas.openxmlformats.org/officeDocument/2006/math">
                    <m:sSub>
                      <m:sSubPr>
                        <m:ctrlPr>
                          <a:rPr lang="en-US" altLang="en-US" sz="1800" i="1" dirty="0" smtClean="0">
                            <a:latin typeface="Cambria Math" panose="02040503050406030204" pitchFamily="18" charset="0"/>
                            <a:cs typeface="Times New Roman" panose="02020603050405020304"/>
                            <a:sym typeface="Times New Roman" panose="02020603050405020304"/>
                          </a:rPr>
                        </m:ctrlPr>
                      </m:sSubPr>
                      <m:e>
                        <m:r>
                          <m:rPr>
                            <m:sty m:val="p"/>
                          </m:rPr>
                          <a:rPr lang="vi-VN" altLang="en-US" sz="1800" b="0" i="1" dirty="0" smtClean="0">
                            <a:latin typeface="Cambria Math" panose="02040503050406030204" pitchFamily="18" charset="0"/>
                            <a:cs typeface="Times New Roman" panose="02020603050405020304"/>
                            <a:sym typeface="Times New Roman" panose="02020603050405020304"/>
                          </a:rPr>
                          <m:t>E</m:t>
                        </m:r>
                      </m:e>
                      <m:sub>
                        <m:r>
                          <m:rPr>
                            <m:sty m:val="p"/>
                          </m:rPr>
                          <a:rPr lang="vi-VN" altLang="en-US" sz="1800" b="0" i="1" dirty="0" smtClean="0">
                            <a:latin typeface="Cambria Math" panose="02040503050406030204" pitchFamily="18" charset="0"/>
                            <a:cs typeface="Times New Roman" panose="02020603050405020304"/>
                            <a:sym typeface="Times New Roman" panose="02020603050405020304"/>
                          </a:rPr>
                          <m:t>Rx</m:t>
                        </m:r>
                      </m:sub>
                    </m:sSub>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m:t>
                    </m:r>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𝑘</m:t>
                    </m:r>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m:t>
                    </m:r>
                  </m:oMath>
                </a14:m>
                <a:endParaRPr lang="vi-VN" altLang="en-US" sz="1800" dirty="0">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115000"/>
                  </a:lnSpc>
                  <a:spcBef>
                    <a:spcPts val="0"/>
                  </a:spcBef>
                  <a:spcAft>
                    <a:spcPts val="0"/>
                  </a:spcAft>
                  <a:buSzPts val="1800"/>
                  <a:buFont typeface="Times New Roman" panose="02020603050405020304"/>
                  <a:buChar char="○"/>
                </a:pP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lượng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gộp</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dữ</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liệu</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14:m>
                  <m:oMath xmlns:m="http://schemas.openxmlformats.org/officeDocument/2006/math">
                    <m:sSub>
                      <m:sSubPr>
                        <m:ctrlPr>
                          <a:rPr lang="en-US" altLang="en-US" sz="1800" i="1" dirty="0" smtClean="0">
                            <a:latin typeface="Cambria Math" panose="02040503050406030204" pitchFamily="18" charset="0"/>
                            <a:cs typeface="Times New Roman" panose="02020603050405020304"/>
                            <a:sym typeface="Times New Roman" panose="02020603050405020304"/>
                          </a:rPr>
                        </m:ctrlPr>
                      </m:sSubPr>
                      <m:e>
                        <m:r>
                          <m:rPr>
                            <m:sty m:val="p"/>
                          </m:rPr>
                          <a:rPr lang="vi-VN" altLang="en-US" sz="1800" b="0" i="1" dirty="0" smtClean="0">
                            <a:latin typeface="Cambria Math" panose="02040503050406030204" pitchFamily="18" charset="0"/>
                            <a:cs typeface="Times New Roman" panose="02020603050405020304"/>
                            <a:sym typeface="Times New Roman" panose="02020603050405020304"/>
                          </a:rPr>
                          <m:t>E</m:t>
                        </m:r>
                      </m:e>
                      <m:sub>
                        <m:r>
                          <m:rPr>
                            <m:sty m:val="p"/>
                          </m:rPr>
                          <a:rPr lang="vi-VN" altLang="en-US" sz="1800" b="0" i="1" dirty="0" smtClean="0">
                            <a:latin typeface="Cambria Math" panose="02040503050406030204" pitchFamily="18" charset="0"/>
                            <a:cs typeface="Times New Roman" panose="02020603050405020304"/>
                            <a:sym typeface="Times New Roman" panose="02020603050405020304"/>
                          </a:rPr>
                          <m:t>DA</m:t>
                        </m:r>
                      </m:sub>
                    </m:sSub>
                    <m:r>
                      <a:rPr lang="vi-VN" altLang="en-US" sz="1800" b="0" i="1" dirty="0" smtClean="0">
                        <a:latin typeface="Cambria Math" panose="02040503050406030204" pitchFamily="18" charset="0"/>
                        <a:cs typeface="Times New Roman" panose="02020603050405020304"/>
                        <a:sym typeface="Times New Roman" panose="02020603050405020304"/>
                      </a:rPr>
                      <m:t>(</m:t>
                    </m:r>
                    <m:r>
                      <m:rPr>
                        <m:sty m:val="p"/>
                      </m:rPr>
                      <a:rPr lang="vi-VN" altLang="en-US" sz="1800" b="0" i="1" dirty="0" smtClean="0">
                        <a:latin typeface="Cambria Math" panose="02040503050406030204" pitchFamily="18" charset="0"/>
                        <a:cs typeface="Times New Roman" panose="02020603050405020304"/>
                        <a:sym typeface="Times New Roman" panose="02020603050405020304"/>
                      </a:rPr>
                      <m:t>k</m:t>
                    </m:r>
                    <m:r>
                      <a:rPr lang="vi-VN" altLang="en-US" sz="1800" b="0" i="1" dirty="0" smtClean="0">
                        <a:latin typeface="Cambria Math" panose="02040503050406030204" pitchFamily="18" charset="0"/>
                        <a:cs typeface="Times New Roman" panose="02020603050405020304"/>
                        <a:sym typeface="Times New Roman" panose="02020603050405020304"/>
                      </a:rPr>
                      <m:t>)</m:t>
                    </m:r>
                  </m:oMath>
                </a14:m>
                <a:endParaRPr lang="vi-VN" altLang="en-US" sz="1800" dirty="0">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115000"/>
                  </a:lnSpc>
                  <a:spcBef>
                    <a:spcPts val="0"/>
                  </a:spcBef>
                  <a:spcAft>
                    <a:spcPts val="0"/>
                  </a:spcAft>
                  <a:buSzPts val="1800"/>
                  <a:buFont typeface="Times New Roman" panose="02020603050405020304"/>
                  <a:buChar char="○"/>
                </a:pP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Cập</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nhật</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lượng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còn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lại</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14:m>
                  <m:oMath xmlns:m="http://schemas.openxmlformats.org/officeDocument/2006/math">
                    <m:sSub>
                      <m:sSubPr>
                        <m:ctrlPr>
                          <a:rPr lang="en-US" altLang="en-US" sz="1800" i="1" dirty="0" smtClean="0">
                            <a:latin typeface="Cambria Math" panose="02040503050406030204" pitchFamily="18" charset="0"/>
                            <a:cs typeface="Times New Roman" panose="02020603050405020304"/>
                            <a:sym typeface="Times New Roman" panose="02020603050405020304"/>
                          </a:rPr>
                        </m:ctrlPr>
                      </m:sSubPr>
                      <m:e>
                        <m:r>
                          <m:rPr>
                            <m:sty m:val="p"/>
                          </m:rPr>
                          <a:rPr lang="vi-VN" altLang="en-US" sz="1800" b="0" i="1" dirty="0" smtClean="0">
                            <a:latin typeface="Cambria Math" panose="02040503050406030204" pitchFamily="18" charset="0"/>
                            <a:cs typeface="Times New Roman" panose="02020603050405020304"/>
                            <a:sym typeface="Times New Roman" panose="02020603050405020304"/>
                          </a:rPr>
                          <m:t>E</m:t>
                        </m:r>
                      </m:e>
                      <m:sub>
                        <m:r>
                          <m:rPr>
                            <m:sty m:val="p"/>
                          </m:rPr>
                          <a:rPr lang="vi-VN" altLang="en-US" sz="1800" b="0" i="1" dirty="0" smtClean="0">
                            <a:latin typeface="Cambria Math" panose="02040503050406030204" pitchFamily="18" charset="0"/>
                            <a:cs typeface="Times New Roman" panose="02020603050405020304"/>
                            <a:sym typeface="Times New Roman" panose="02020603050405020304"/>
                          </a:rPr>
                          <m:t>j</m:t>
                        </m:r>
                      </m:sub>
                    </m:sSub>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m:t>
                    </m:r>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𝑘</m:t>
                    </m:r>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+1)</m:t>
                    </m:r>
                  </m:oMath>
                </a14:m>
                <a:endParaRPr lang="vi-VN" altLang="en-US" sz="1800" dirty="0">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115000"/>
                  </a:lnSpc>
                  <a:spcBef>
                    <a:spcPts val="0"/>
                  </a:spcBef>
                  <a:spcAft>
                    <a:spcPts val="0"/>
                  </a:spcAft>
                  <a:buSzPts val="1800"/>
                  <a:buAutoNum type="arabicPeriod"/>
                </a:pPr>
                <a:r>
                  <a:rPr lang="en-US" sz="1800" b="1" dirty="0" err="1">
                    <a:latin typeface="Times New Roman" panose="02020603050405020304"/>
                    <a:ea typeface="Times New Roman" panose="02020603050405020304"/>
                    <a:cs typeface="Times New Roman" panose="02020603050405020304"/>
                    <a:sym typeface="Times New Roman" panose="02020603050405020304"/>
                  </a:rPr>
                  <a:t>Nguồn</a:t>
                </a:r>
                <a:r>
                  <a:rPr 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err="1">
                    <a:latin typeface="Times New Roman" panose="02020603050405020304"/>
                    <a:ea typeface="Times New Roman" panose="02020603050405020304"/>
                    <a:cs typeface="Times New Roman" panose="02020603050405020304"/>
                    <a:sym typeface="Times New Roman" panose="02020603050405020304"/>
                  </a:rPr>
                  <a:t>và</a:t>
                </a:r>
                <a:r>
                  <a:rPr 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err="1">
                    <a:latin typeface="Times New Roman" panose="02020603050405020304"/>
                    <a:ea typeface="Times New Roman" panose="02020603050405020304"/>
                    <a:cs typeface="Times New Roman" panose="02020603050405020304"/>
                    <a:sym typeface="Times New Roman" panose="02020603050405020304"/>
                  </a:rPr>
                  <a:t>đích</a:t>
                </a:r>
                <a:r>
                  <a:rPr lang="en-US" sz="1800" dirty="0">
                    <a:latin typeface="Times New Roman" panose="02020603050405020304"/>
                    <a:ea typeface="Times New Roman" panose="02020603050405020304"/>
                    <a:cs typeface="Times New Roman" panose="02020603050405020304"/>
                    <a:sym typeface="Times New Roman" panose="02020603050405020304"/>
                  </a:rPr>
                  <a:t>:</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115000"/>
                  </a:lnSpc>
                  <a:spcBef>
                    <a:spcPts val="0"/>
                  </a:spcBef>
                  <a:spcAft>
                    <a:spcPts val="0"/>
                  </a:spcAft>
                  <a:buSzPts val="1800"/>
                  <a:buFont typeface="Times New Roman" panose="02020603050405020304"/>
                  <a:buChar char="○"/>
                </a:pPr>
                <a:r>
                  <a:rPr lang="en-US" sz="1800" dirty="0" err="1">
                    <a:latin typeface="Times New Roman" panose="02020603050405020304"/>
                    <a:ea typeface="Times New Roman" panose="02020603050405020304"/>
                    <a:cs typeface="Times New Roman" panose="02020603050405020304"/>
                    <a:sym typeface="Times New Roman" panose="02020603050405020304"/>
                  </a:rPr>
                  <a:t>Nút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nguồn</a:t>
                </a:r>
                <a:r>
                  <a:rPr lang="en-US" sz="1800" dirty="0">
                    <a:latin typeface="Times New Roman" panose="02020603050405020304"/>
                    <a:ea typeface="Times New Roman" panose="02020603050405020304"/>
                    <a:cs typeface="Times New Roman" panose="02020603050405020304"/>
                    <a:sym typeface="Times New Roman" panose="02020603050405020304"/>
                  </a:rPr>
                  <a:t> (sensor node).</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115000"/>
                  </a:lnSpc>
                  <a:spcBef>
                    <a:spcPts val="0"/>
                  </a:spcBef>
                  <a:spcAft>
                    <a:spcPts val="0"/>
                  </a:spcAft>
                  <a:buSzPts val="1800"/>
                  <a:buFont typeface="Times New Roman" panose="02020603050405020304"/>
                  <a:buChar char="○"/>
                </a:pPr>
                <a:r>
                  <a:rPr lang="en-US" sz="1800" dirty="0" err="1">
                    <a:latin typeface="Times New Roman" panose="02020603050405020304"/>
                    <a:ea typeface="Times New Roman" panose="02020603050405020304"/>
                    <a:cs typeface="Times New Roman" panose="02020603050405020304"/>
                    <a:sym typeface="Times New Roman" panose="02020603050405020304"/>
                  </a:rPr>
                  <a:t>Nút</a:t>
                </a:r>
                <a:r>
                  <a:rPr lang="en-US" sz="1800" dirty="0">
                    <a:latin typeface="Times New Roman" panose="02020603050405020304"/>
                    <a:ea typeface="Times New Roman" panose="02020603050405020304"/>
                    <a:cs typeface="Times New Roman" panose="02020603050405020304"/>
                    <a:sym typeface="Times New Roman" panose="02020603050405020304"/>
                  </a:rPr>
                  <a:t> sink (</a:t>
                </a:r>
                <a:r>
                  <a:rPr lang="en-US" sz="1800" dirty="0" err="1">
                    <a:latin typeface="Times New Roman" panose="02020603050405020304"/>
                    <a:ea typeface="Times New Roman" panose="02020603050405020304"/>
                    <a:cs typeface="Times New Roman" panose="02020603050405020304"/>
                    <a:sym typeface="Times New Roman" panose="02020603050405020304"/>
                  </a:rPr>
                  <a:t>đích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thu</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thập</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dữ</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liệu</a:t>
                </a:r>
                <a:r>
                  <a:rPr lang="en-US" sz="1800" dirty="0">
                    <a:latin typeface="Times New Roman" panose="02020603050405020304"/>
                    <a:ea typeface="Times New Roman" panose="02020603050405020304"/>
                    <a:cs typeface="Times New Roman" panose="02020603050405020304"/>
                    <a:sym typeface="Times New Roman" panose="02020603050405020304"/>
                  </a:rPr>
                  <a:t>).</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vị trí năng lượng </a:t>
                </a:r>
                <a:br>
                  <a:rPr lang="en-US" sz="1800" dirty="0">
                    <a:latin typeface="Times New Roman" panose="02020603050405020304"/>
                    <a:ea typeface="Times New Roman" panose="02020603050405020304"/>
                    <a:cs typeface="Times New Roman" panose="02020603050405020304"/>
                    <a:sym typeface="Times New Roman" panose="02020603050405020304"/>
                  </a:rPr>
                </a:b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200"/>
                  </a:spcBef>
                  <a:spcAft>
                    <a:spcPts val="0"/>
                  </a:spcAft>
                  <a:buClr>
                    <a:schemeClr val="dk1"/>
                  </a:buClr>
                  <a:buSzPts val="1800"/>
                  <a:buNone/>
                </a:pPr>
                <a:endParaRPr sz="1800" dirty="0">
                  <a:latin typeface="Times New Roman" panose="02020603050405020304"/>
                  <a:ea typeface="Times New Roman" panose="02020603050405020304"/>
                  <a:cs typeface="Times New Roman" panose="02020603050405020304"/>
                  <a:sym typeface="Times New Roman" panose="02020603050405020304"/>
                </a:endParaRPr>
              </a:p>
            </p:txBody>
          </p:sp>
        </mc:Choice>
        <mc:Fallback xmlns="">
          <p:sp>
            <p:nvSpPr>
              <p:cNvPr id="242" name="Google Shape;242;p37"/>
              <p:cNvSpPr txBox="1">
                <a:spLocks noRot="1" noChangeAspect="1" noMove="1" noResize="1" noEditPoints="1" noAdjustHandles="1" noChangeArrowheads="1" noChangeShapeType="1" noTextEdit="1"/>
              </p:cNvSpPr>
              <p:nvPr>
                <p:ph type="body" idx="1"/>
              </p:nvPr>
            </p:nvSpPr>
            <p:spPr>
              <a:xfrm>
                <a:off x="234950" y="698500"/>
                <a:ext cx="8674100" cy="5520690"/>
              </a:xfrm>
              <a:prstGeom prst="rect">
                <a:avLst/>
              </a:prstGeom>
              <a:blipFill rotWithShape="1">
                <a:blip r:embed="rId3"/>
                <a:stretch>
                  <a:fillRect b="-17069"/>
                </a:stretch>
              </a:blipFill>
              <a:ln>
                <a:noFill/>
              </a:ln>
            </p:spPr>
            <p:txBody>
              <a:bodyPr/>
              <a:lstStyle/>
              <a:p>
                <a:r>
                  <a:rPr lang="en-US" alt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8"/>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26</a:t>
            </a:fld>
            <a:endParaRPr lang="en-US"/>
          </a:p>
        </p:txBody>
      </p:sp>
      <p:sp>
        <p:nvSpPr>
          <p:cNvPr id="248" name="Google Shape;248;p38"/>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vi-VN">
                <a:sym typeface="+mn-ea"/>
              </a:rPr>
              <a:t>2. Cơ sở lý thuyết </a:t>
            </a:r>
            <a:r>
              <a:rPr lang="en-US">
                <a:sym typeface="+mn-ea"/>
              </a:rPr>
              <a:t>&amp;</a:t>
            </a:r>
            <a:r>
              <a:rPr lang="vi-VN">
                <a:sym typeface="+mn-ea"/>
              </a:rPr>
              <a:t> phát biểu bài toán</a:t>
            </a:r>
            <a:endParaRPr lang="en-US"/>
          </a:p>
        </p:txBody>
      </p:sp>
      <mc:AlternateContent xmlns:mc="http://schemas.openxmlformats.org/markup-compatibility/2006" xmlns:a14="http://schemas.microsoft.com/office/drawing/2010/main">
        <mc:Choice Requires="a14">
          <p:sp>
            <p:nvSpPr>
              <p:cNvPr id="249" name="Google Shape;249;p38"/>
              <p:cNvSpPr txBox="1">
                <a:spLocks noGrp="1"/>
              </p:cNvSpPr>
              <p:nvPr>
                <p:ph type="body" idx="1"/>
              </p:nvPr>
            </p:nvSpPr>
            <p:spPr>
              <a:xfrm>
                <a:off x="234950" y="963168"/>
                <a:ext cx="8674200" cy="51327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Clr>
                    <a:schemeClr val="dk1"/>
                  </a:buClr>
                  <a:buSzPts val="1100"/>
                  <a:buFont typeface="Arial" panose="020B0604020202020204"/>
                  <a:buNone/>
                </a:pPr>
                <a:r>
                  <a:rPr lang="vi-VN" alt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a:latin typeface="Times New Roman" panose="02020603050405020304"/>
                    <a:ea typeface="Times New Roman" panose="02020603050405020304"/>
                    <a:cs typeface="Times New Roman" panose="02020603050405020304"/>
                    <a:sym typeface="Times New Roman" panose="02020603050405020304"/>
                  </a:rPr>
                  <a:t>Output</a:t>
                </a:r>
                <a:endParaRPr sz="1800" b="1" dirty="0">
                  <a:latin typeface="Times New Roman" panose="02020603050405020304"/>
                  <a:ea typeface="Times New Roman" panose="02020603050405020304"/>
                  <a:cs typeface="Times New Roman" panose="02020603050405020304"/>
                  <a:sym typeface="Times New Roman" panose="02020603050405020304"/>
                </a:endParaRPr>
              </a:p>
              <a:p>
                <a:pPr marL="114300" lvl="0" indent="0" algn="l" rtl="0">
                  <a:lnSpc>
                    <a:spcPct val="115000"/>
                  </a:lnSpc>
                  <a:spcBef>
                    <a:spcPts val="1200"/>
                  </a:spcBef>
                  <a:spcAft>
                    <a:spcPts val="0"/>
                  </a:spcAft>
                  <a:buSzPts val="1800"/>
                  <a:buNone/>
                </a:pPr>
                <a:r>
                  <a:rPr lang="en-US" sz="1800" b="1" dirty="0" err="1">
                    <a:latin typeface="Times New Roman" panose="02020603050405020304"/>
                    <a:ea typeface="Times New Roman" panose="02020603050405020304"/>
                    <a:cs typeface="Times New Roman" panose="02020603050405020304"/>
                    <a:sym typeface="Times New Roman" panose="02020603050405020304"/>
                  </a:rPr>
                  <a:t>Tập</a:t>
                </a:r>
                <a:r>
                  <a:rPr 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err="1">
                    <a:latin typeface="Times New Roman" panose="02020603050405020304"/>
                    <a:ea typeface="Times New Roman" panose="02020603050405020304"/>
                    <a:cs typeface="Times New Roman" panose="02020603050405020304"/>
                    <a:sym typeface="Times New Roman" panose="02020603050405020304"/>
                  </a:rPr>
                  <a:t>đường</a:t>
                </a:r>
                <a:r>
                  <a:rPr 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err="1">
                    <a:latin typeface="Times New Roman" panose="02020603050405020304"/>
                    <a:ea typeface="Times New Roman" panose="02020603050405020304"/>
                    <a:cs typeface="Times New Roman" panose="02020603050405020304"/>
                    <a:sym typeface="Times New Roman" panose="02020603050405020304"/>
                  </a:rPr>
                  <a:t>truyền</a:t>
                </a:r>
                <a:r>
                  <a:rPr 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err="1">
                    <a:latin typeface="Times New Roman" panose="02020603050405020304"/>
                    <a:ea typeface="Times New Roman" panose="02020603050405020304"/>
                    <a:cs typeface="Times New Roman" panose="02020603050405020304"/>
                    <a:sym typeface="Times New Roman" panose="02020603050405020304"/>
                  </a:rPr>
                  <a:t>tối</a:t>
                </a:r>
                <a:r>
                  <a:rPr 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err="1">
                    <a:latin typeface="Times New Roman" panose="02020603050405020304"/>
                    <a:ea typeface="Times New Roman" panose="02020603050405020304"/>
                    <a:cs typeface="Times New Roman" panose="02020603050405020304"/>
                    <a:sym typeface="Times New Roman" panose="02020603050405020304"/>
                  </a:rPr>
                  <a:t>ưu</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từ</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nguồn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đến</a:t>
                </a:r>
                <a:r>
                  <a:rPr lang="en-US" sz="1800" dirty="0">
                    <a:latin typeface="Times New Roman" panose="02020603050405020304"/>
                    <a:ea typeface="Times New Roman" panose="02020603050405020304"/>
                    <a:cs typeface="Times New Roman" panose="02020603050405020304"/>
                    <a:sym typeface="Times New Roman" panose="02020603050405020304"/>
                  </a:rPr>
                  <a:t> sink:</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115000"/>
                  </a:lnSpc>
                  <a:spcBef>
                    <a:spcPts val="0"/>
                  </a:spcBef>
                  <a:spcAft>
                    <a:spcPts val="0"/>
                  </a:spcAft>
                  <a:buSzPts val="1800"/>
                  <a:buFont typeface="Times New Roman" panose="02020603050405020304"/>
                  <a:buChar char="○"/>
                </a:pPr>
                <a:r>
                  <a:rPr lang="en-US" sz="1800" dirty="0" err="1">
                    <a:latin typeface="Times New Roman" panose="02020603050405020304"/>
                    <a:ea typeface="Times New Roman" panose="02020603050405020304"/>
                    <a:cs typeface="Times New Roman" panose="02020603050405020304"/>
                    <a:sym typeface="Times New Roman" panose="02020603050405020304"/>
                  </a:rPr>
                  <a:t>Đường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có</a:t>
                </a:r>
                <a:r>
                  <a:rPr lang="en-US" sz="1800" dirty="0">
                    <a:latin typeface="Times New Roman" panose="02020603050405020304"/>
                    <a:ea typeface="Times New Roman" panose="02020603050405020304"/>
                    <a:cs typeface="Times New Roman" panose="02020603050405020304"/>
                    <a:sym typeface="Times New Roman" panose="02020603050405020304"/>
                  </a:rPr>
                  <a:t> chi </a:t>
                </a:r>
                <a:r>
                  <a:rPr lang="en-US" sz="1800" dirty="0" err="1">
                    <a:latin typeface="Times New Roman" panose="02020603050405020304"/>
                    <a:ea typeface="Times New Roman" panose="02020603050405020304"/>
                    <a:cs typeface="Times New Roman" panose="02020603050405020304"/>
                    <a:sym typeface="Times New Roman" panose="02020603050405020304"/>
                  </a:rPr>
                  <a:t>phí</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thấp</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ngắn</a:t>
                </a:r>
                <a:r>
                  <a:rPr lang="en-US" sz="1800" dirty="0">
                    <a:latin typeface="Times New Roman" panose="02020603050405020304"/>
                    <a:ea typeface="Times New Roman" panose="02020603050405020304"/>
                    <a:cs typeface="Times New Roman" panose="02020603050405020304"/>
                    <a:sym typeface="Times New Roman" panose="02020603050405020304"/>
                  </a:rPr>
                  <a:t>) .</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115000"/>
                  </a:lnSpc>
                  <a:spcBef>
                    <a:spcPts val="0"/>
                  </a:spcBef>
                  <a:spcAft>
                    <a:spcPts val="0"/>
                  </a:spcAft>
                  <a:buSzPts val="1800"/>
                  <a:buChar char="○"/>
                </a:pP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Tập</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hợp</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CH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Tối</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ưu</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và</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Kết</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quả</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Phân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Cụm</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 </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gồm các node thành viên)</a:t>
                </a: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115000"/>
                  </a:lnSpc>
                  <a:spcBef>
                    <a:spcPts val="0"/>
                  </a:spcBef>
                  <a:spcAft>
                    <a:spcPts val="0"/>
                  </a:spcAft>
                  <a:buSzPts val="1800"/>
                  <a:buChar char="○"/>
                </a:pPr>
                <a:endParaRPr lang="en-US" sz="1800" dirty="0">
                  <a:latin typeface="Times New Roman" panose="02020603050405020304"/>
                  <a:ea typeface="Times New Roman" panose="02020603050405020304"/>
                  <a:cs typeface="Times New Roman" panose="02020603050405020304"/>
                  <a:sym typeface="Times New Roman" panose="02020603050405020304"/>
                </a:endParaRPr>
              </a:p>
              <a:p>
                <a:pPr marL="114300" lvl="0" indent="0" algn="l" rtl="0">
                  <a:lnSpc>
                    <a:spcPct val="115000"/>
                  </a:lnSpc>
                  <a:spcBef>
                    <a:spcPts val="0"/>
                  </a:spcBef>
                  <a:spcAft>
                    <a:spcPts val="0"/>
                  </a:spcAft>
                  <a:buSzPts val="1800"/>
                  <a:buNone/>
                </a:pPr>
                <a:r>
                  <a:rPr lang="en-US" sz="1800" b="1" dirty="0" err="1">
                    <a:latin typeface="Times New Roman" panose="02020603050405020304"/>
                    <a:ea typeface="Times New Roman" panose="02020603050405020304"/>
                    <a:cs typeface="Times New Roman" panose="02020603050405020304"/>
                    <a:sym typeface="Times New Roman" panose="02020603050405020304"/>
                  </a:rPr>
                  <a:t>Mục</a:t>
                </a:r>
                <a:r>
                  <a:rPr 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err="1">
                    <a:latin typeface="Times New Roman" panose="02020603050405020304"/>
                    <a:ea typeface="Times New Roman" panose="02020603050405020304"/>
                    <a:cs typeface="Times New Roman" panose="02020603050405020304"/>
                    <a:sym typeface="Times New Roman" panose="02020603050405020304"/>
                  </a:rPr>
                  <a:t>tiêu</a:t>
                </a:r>
                <a:r>
                  <a:rPr 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Tối</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ưu</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hóa</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chọn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CH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và</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việc</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sử</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dụng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lượng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p>
              <a:p>
                <a:pPr marL="114300" lvl="0" indent="0" algn="l" rtl="0">
                  <a:lnSpc>
                    <a:spcPct val="115000"/>
                  </a:lnSpc>
                  <a:spcBef>
                    <a:spcPts val="0"/>
                  </a:spcBef>
                  <a:spcAft>
                    <a:spcPts val="0"/>
                  </a:spcAft>
                  <a:buSzPts val="1800"/>
                  <a:buNone/>
                </a:pP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Giảm</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tiêu</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hao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lượng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&amp;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kéo</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dài</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tuổi</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thọ</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mạng</a:t>
                </a:r>
                <a:endParaRPr lang="vi-VN" altLang="en-US" sz="1800" dirty="0">
                  <a:latin typeface="Times New Roman" panose="02020603050405020304"/>
                  <a:ea typeface="Times New Roman" panose="02020603050405020304"/>
                  <a:cs typeface="Times New Roman" panose="02020603050405020304"/>
                  <a:sym typeface="Times New Roman" panose="02020603050405020304"/>
                </a:endParaRPr>
              </a:p>
              <a:p>
                <a:pPr marL="114300" lvl="0" indent="457200" algn="l" rtl="0">
                  <a:lnSpc>
                    <a:spcPct val="115000"/>
                  </a:lnSpc>
                  <a:spcBef>
                    <a:spcPts val="0"/>
                  </a:spcBef>
                  <a:spcAft>
                    <a:spcPts val="0"/>
                  </a:spcAft>
                  <a:buSzPts val="1800"/>
                  <a:buNone/>
                </a:pPr>
                <a:endParaRPr lang="vi-VN" altLang="en-US" sz="1800" dirty="0">
                  <a:latin typeface="Times New Roman" panose="02020603050405020304"/>
                  <a:ea typeface="Times New Roman" panose="02020603050405020304"/>
                  <a:cs typeface="Times New Roman" panose="02020603050405020304"/>
                  <a:sym typeface="Times New Roman" panose="02020603050405020304"/>
                </a:endParaRPr>
              </a:p>
              <a:p>
                <a:pPr marL="114300" lvl="0" indent="457200" algn="l" rtl="0">
                  <a:lnSpc>
                    <a:spcPct val="115000"/>
                  </a:lnSpc>
                  <a:spcBef>
                    <a:spcPts val="0"/>
                  </a:spcBef>
                  <a:spcAft>
                    <a:spcPts val="0"/>
                  </a:spcAft>
                  <a:buSzPts val="1800"/>
                  <a:buNone/>
                </a:pPr>
                <a:r>
                  <a:rPr lang="vi-VN" altLang="en-US" sz="1800" dirty="0">
                    <a:latin typeface="Times New Roman" panose="02020603050405020304"/>
                    <a:ea typeface="Times New Roman" panose="02020603050405020304"/>
                    <a:cs typeface="Times New Roman" panose="02020603050405020304"/>
                    <a:sym typeface="Times New Roman" panose="02020603050405020304"/>
                  </a:rPr>
                  <a:t>min 						(I)</a:t>
                </a: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p>
                <a:pPr marL="114300" lvl="0" indent="0" algn="l" rtl="0">
                  <a:lnSpc>
                    <a:spcPct val="115000"/>
                  </a:lnSpc>
                  <a:spcBef>
                    <a:spcPts val="0"/>
                  </a:spcBef>
                  <a:spcAft>
                    <a:spcPts val="0"/>
                  </a:spcAft>
                  <a:buSzPts val="1800"/>
                  <a:buNone/>
                </a:pPr>
                <a:r>
                  <a:rPr lang="en-US" altLang="en-US" sz="1800" dirty="0">
                    <a:latin typeface="Times New Roman" panose="02020603050405020304"/>
                    <a:ea typeface="Times New Roman" panose="02020603050405020304"/>
                    <a:cs typeface="Times New Roman" panose="02020603050405020304"/>
                    <a:sym typeface="Times New Roman" panose="02020603050405020304"/>
                  </a:rPr>
                  <a:t>​</a:t>
                </a:r>
              </a:p>
              <a:p>
                <a:pPr marL="114300" lvl="0" indent="0" algn="l" rtl="0">
                  <a:lnSpc>
                    <a:spcPct val="115000"/>
                  </a:lnSpc>
                  <a:spcBef>
                    <a:spcPts val="0"/>
                  </a:spcBef>
                  <a:spcAft>
                    <a:spcPts val="0"/>
                  </a:spcAft>
                  <a:buSzPts val="1800"/>
                  <a:buNone/>
                </a:pP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Eround</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N</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ăng lượng tiêu thụ trong mỗi round</a:t>
                </a: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p>
                <a:pPr marL="114300" lvl="0" indent="0" algn="l" rtl="0">
                  <a:lnSpc>
                    <a:spcPct val="115000"/>
                  </a:lnSpc>
                  <a:spcBef>
                    <a:spcPts val="0"/>
                  </a:spcBef>
                  <a:spcAft>
                    <a:spcPts val="0"/>
                  </a:spcAft>
                  <a:buSzPts val="1800"/>
                  <a:buNone/>
                </a:pPr>
                <a:r>
                  <a:rPr lang="vi-VN" altLang="en-US" sz="1800" dirty="0">
                    <a:latin typeface="Times New Roman" panose="02020603050405020304"/>
                    <a:ea typeface="Times New Roman" panose="02020603050405020304"/>
                    <a:cs typeface="Times New Roman" panose="02020603050405020304"/>
                    <a:sym typeface="Times New Roman" panose="02020603050405020304"/>
                  </a:rPr>
                  <a:t>E	: Năng lương tiêu thụ của các sensor</a:t>
                </a: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p>
                <a:pPr marL="114300" lvl="0" indent="0" algn="l" rtl="0">
                  <a:lnSpc>
                    <a:spcPct val="115000"/>
                  </a:lnSpc>
                  <a:spcBef>
                    <a:spcPts val="0"/>
                  </a:spcBef>
                  <a:spcAft>
                    <a:spcPts val="0"/>
                  </a:spcAft>
                  <a:buSzPts val="1800"/>
                  <a:buNone/>
                </a:pPr>
                <a:r>
                  <a:rPr lang="vi-VN" altLang="en-US" sz="1800" b="1" dirty="0">
                    <a:latin typeface="Times New Roman" panose="02020603050405020304"/>
                    <a:ea typeface="Times New Roman" panose="02020603050405020304"/>
                    <a:cs typeface="Times New Roman" panose="02020603050405020304"/>
                    <a:sym typeface="Times New Roman" panose="02020603050405020304"/>
                  </a:rPr>
                  <a:t>Ràng  buộc:</a:t>
                </a:r>
              </a:p>
              <a:p>
                <a:pPr marL="114300" lvl="0" indent="0" algn="l" rtl="0">
                  <a:lnSpc>
                    <a:spcPct val="115000"/>
                  </a:lnSpc>
                  <a:spcBef>
                    <a:spcPts val="0"/>
                  </a:spcBef>
                  <a:spcAft>
                    <a:spcPts val="0"/>
                  </a:spcAft>
                  <a:buSzPts val="1800"/>
                  <a:buNone/>
                </a:pPr>
                <a:r>
                  <a:rPr lang="en-US" sz="1800" dirty="0" err="1">
                    <a:latin typeface="Times New Roman" panose="02020603050405020304"/>
                    <a:ea typeface="Times New Roman" panose="02020603050405020304"/>
                    <a:cs typeface="Times New Roman" panose="02020603050405020304"/>
                    <a:sym typeface="Times New Roman" panose="02020603050405020304"/>
                  </a:rPr>
                  <a:t>cân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bằng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lượng</a:t>
                </a:r>
                <a:endParaRPr lang="vi-VN" altLang="en-US" sz="1800" b="1" dirty="0">
                  <a:latin typeface="Times New Roman" panose="02020603050405020304"/>
                  <a:ea typeface="Times New Roman" panose="02020603050405020304"/>
                  <a:cs typeface="Times New Roman" panose="02020603050405020304"/>
                  <a:sym typeface="Times New Roman" panose="02020603050405020304"/>
                </a:endParaRPr>
              </a:p>
              <a:p>
                <a:pPr marL="114300" lvl="0" indent="0" algn="l" rtl="0">
                  <a:lnSpc>
                    <a:spcPct val="115000"/>
                  </a:lnSpc>
                  <a:spcBef>
                    <a:spcPts val="0"/>
                  </a:spcBef>
                  <a:spcAft>
                    <a:spcPts val="0"/>
                  </a:spcAft>
                  <a:buSzPts val="1800"/>
                  <a:buNone/>
                </a:pPr>
                <a14:m>
                  <m:oMath xmlns:m="http://schemas.openxmlformats.org/officeDocument/2006/math">
                    <m:r>
                      <a:rPr lang="en-US" alt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𝑑</m:t>
                    </m:r>
                    <m:r>
                      <a:rPr lang="en-US" alt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m:t>
                    </m:r>
                    <m:r>
                      <a:rPr lang="en-US" alt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𝑖</m:t>
                    </m:r>
                    <m:r>
                      <a:rPr lang="en-US" alt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m:t>
                    </m:r>
                    <m:r>
                      <a:rPr lang="en-US" alt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𝑗</m:t>
                    </m:r>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m:t>
                    </m:r>
                    <m:r>
                      <a:rPr lang="en-US" alt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𝑅𝑚𝑎𝑥</m:t>
                    </m:r>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 </m:t>
                    </m:r>
                  </m:oMath>
                </a14:m>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trong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phạm</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vi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truyền</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thông</a:t>
                </a: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p>
                <a:pPr marL="114300" lvl="0" indent="0" algn="l" rtl="0">
                  <a:lnSpc>
                    <a:spcPct val="115000"/>
                  </a:lnSpc>
                  <a:spcBef>
                    <a:spcPts val="0"/>
                  </a:spcBef>
                  <a:spcAft>
                    <a:spcPts val="0"/>
                  </a:spcAft>
                  <a:buSzPts val="1800"/>
                  <a:buNone/>
                </a:pP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Mỗi</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node ∈ 1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cụm</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duy</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nhất</a:t>
                </a: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200"/>
                  </a:spcBef>
                  <a:spcAft>
                    <a:spcPts val="0"/>
                  </a:spcAft>
                  <a:buClr>
                    <a:schemeClr val="dk1"/>
                  </a:buClr>
                  <a:buSzPts val="1800"/>
                  <a:buNone/>
                </a:pPr>
                <a:endParaRPr sz="1800" dirty="0">
                  <a:latin typeface="Times New Roman" panose="02020603050405020304"/>
                  <a:ea typeface="Times New Roman" panose="02020603050405020304"/>
                  <a:cs typeface="Times New Roman" panose="02020603050405020304"/>
                  <a:sym typeface="Times New Roman" panose="02020603050405020304"/>
                </a:endParaRPr>
              </a:p>
            </p:txBody>
          </p:sp>
        </mc:Choice>
        <mc:Fallback xmlns="">
          <p:sp>
            <p:nvSpPr>
              <p:cNvPr id="249" name="Google Shape;249;p38"/>
              <p:cNvSpPr txBox="1">
                <a:spLocks noRot="1" noChangeAspect="1" noMove="1" noResize="1" noEditPoints="1" noAdjustHandles="1" noChangeArrowheads="1" noChangeShapeType="1" noTextEdit="1"/>
              </p:cNvSpPr>
              <p:nvPr>
                <p:ph type="body" idx="1"/>
              </p:nvPr>
            </p:nvSpPr>
            <p:spPr>
              <a:xfrm>
                <a:off x="234950" y="963168"/>
                <a:ext cx="8674200" cy="5132700"/>
              </a:xfrm>
              <a:prstGeom prst="rect">
                <a:avLst/>
              </a:prstGeom>
              <a:blipFill rotWithShape="1">
                <a:blip r:embed="rId3"/>
                <a:stretch>
                  <a:fillRect t="-10" r="1" b="-9789"/>
                </a:stretch>
              </a:blipFill>
              <a:ln>
                <a:noFill/>
              </a:ln>
            </p:spPr>
            <p:txBody>
              <a:bodyPr/>
              <a:lstStyle/>
              <a:p>
                <a:r>
                  <a:rPr lang="en-US" altLang="en-US">
                    <a:noFill/>
                  </a:rPr>
                  <a:t> </a:t>
                </a:r>
              </a:p>
            </p:txBody>
          </p:sp>
        </mc:Fallback>
      </mc:AlternateContent>
      <p:pic>
        <p:nvPicPr>
          <p:cNvPr id="2" name="Picture 1"/>
          <p:cNvPicPr>
            <a:picLocks noChangeAspect="1"/>
          </p:cNvPicPr>
          <p:nvPr/>
        </p:nvPicPr>
        <p:blipFill>
          <a:blip r:embed="rId4"/>
          <a:stretch>
            <a:fillRect/>
          </a:stretch>
        </p:blipFill>
        <p:spPr>
          <a:xfrm>
            <a:off x="2053590" y="3573145"/>
            <a:ext cx="3576955" cy="666750"/>
          </a:xfrm>
          <a:prstGeom prst="rect">
            <a:avLst/>
          </a:prstGeom>
        </p:spPr>
      </p:pic>
      <p:pic>
        <p:nvPicPr>
          <p:cNvPr id="3" name="Picture 2"/>
          <p:cNvPicPr/>
          <p:nvPr/>
        </p:nvPicPr>
        <p:blipFill>
          <a:blip r:embed="rId5"/>
          <a:stretch>
            <a:fillRect/>
          </a:stretch>
        </p:blipFill>
        <p:spPr>
          <a:xfrm>
            <a:off x="6679565" y="4305300"/>
            <a:ext cx="2108200" cy="188277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9"/>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27</a:t>
            </a:fld>
            <a:endParaRPr lang="en-US"/>
          </a:p>
        </p:txBody>
      </p:sp>
      <p:sp>
        <p:nvSpPr>
          <p:cNvPr id="255" name="Google Shape;255;p39"/>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sym typeface="+mn-ea"/>
              </a:rPr>
              <a:t>3. </a:t>
            </a:r>
            <a:r>
              <a:rPr lang="vi-VN" altLang="en-US">
                <a:sym typeface="+mn-ea"/>
              </a:rPr>
              <a:t>P</a:t>
            </a:r>
            <a:r>
              <a:rPr lang="en-US">
                <a:sym typeface="+mn-ea"/>
              </a:rPr>
              <a:t>hương pháp</a:t>
            </a:r>
            <a:r>
              <a:rPr lang="vi-VN" altLang="en-US">
                <a:sym typeface="+mn-ea"/>
              </a:rPr>
              <a:t> đề xuất</a:t>
            </a:r>
            <a:r>
              <a:rPr lang="en-US">
                <a:sym typeface="+mn-ea"/>
              </a:rPr>
              <a:t> AC-ACO</a:t>
            </a:r>
            <a:br>
              <a:rPr lang="en-US">
                <a:sym typeface="+mn-ea"/>
              </a:rPr>
            </a:br>
            <a:endParaRPr lang="en-US"/>
          </a:p>
        </p:txBody>
      </p:sp>
      <mc:AlternateContent xmlns:mc="http://schemas.openxmlformats.org/markup-compatibility/2006" xmlns:a14="http://schemas.microsoft.com/office/drawing/2010/main">
        <mc:Choice Requires="a14">
          <p:sp>
            <p:nvSpPr>
              <p:cNvPr id="256" name="Google Shape;256;p39"/>
              <p:cNvSpPr txBox="1">
                <a:spLocks noGrp="1"/>
              </p:cNvSpPr>
              <p:nvPr>
                <p:ph type="body" idx="1"/>
              </p:nvPr>
            </p:nvSpPr>
            <p:spPr>
              <a:xfrm>
                <a:off x="179070" y="963295"/>
                <a:ext cx="9036685" cy="539877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sz="1800" dirty="0">
                    <a:latin typeface="Times New Roman" panose="02020603050405020304"/>
                    <a:ea typeface="Times New Roman" panose="02020603050405020304"/>
                    <a:cs typeface="Times New Roman" panose="02020603050405020304"/>
                    <a:sym typeface="Times New Roman" panose="02020603050405020304"/>
                  </a:rPr>
                  <a:t>Chi </a:t>
                </a:r>
                <a:r>
                  <a:rPr lang="en-US" sz="1800" dirty="0" err="1">
                    <a:latin typeface="Times New Roman" panose="02020603050405020304"/>
                    <a:ea typeface="Times New Roman" panose="02020603050405020304"/>
                    <a:cs typeface="Times New Roman" panose="02020603050405020304"/>
                    <a:sym typeface="Times New Roman" panose="02020603050405020304"/>
                  </a:rPr>
                  <a:t>tiết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về</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Thuật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toán</a:t>
                </a:r>
                <a:r>
                  <a:rPr lang="en-US" sz="1800" dirty="0">
                    <a:latin typeface="Times New Roman" panose="02020603050405020304"/>
                    <a:ea typeface="Times New Roman" panose="02020603050405020304"/>
                    <a:cs typeface="Times New Roman" panose="02020603050405020304"/>
                    <a:sym typeface="Times New Roman" panose="02020603050405020304"/>
                  </a:rPr>
                  <a:t> ACO</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&amp; AC-ACO</a:t>
                </a:r>
                <a:endParaRPr lang="en-US"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800"/>
                  <a:buNone/>
                </a:pPr>
                <a:endParaRPr lang="en-US" sz="1800" dirty="0">
                  <a:latin typeface="Times New Roman" panose="02020603050405020304"/>
                  <a:ea typeface="Times New Roman" panose="02020603050405020304"/>
                  <a:cs typeface="Times New Roman" panose="02020603050405020304"/>
                  <a:sym typeface="Times New Roman" panose="02020603050405020304"/>
                </a:endParaRPr>
              </a:p>
              <a:p>
                <a:pPr marL="0" lvl="0" indent="457200" algn="l" rtl="0">
                  <a:lnSpc>
                    <a:spcPct val="90000"/>
                  </a:lnSpc>
                  <a:spcBef>
                    <a:spcPts val="0"/>
                  </a:spcBef>
                  <a:spcAft>
                    <a:spcPts val="0"/>
                  </a:spcAft>
                  <a:buClr>
                    <a:schemeClr val="dk1"/>
                  </a:buClr>
                  <a:buSzPts val="1800"/>
                  <a:buNone/>
                </a:pP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b="1" dirty="0">
                    <a:latin typeface="Times New Roman" panose="02020603050405020304"/>
                    <a:ea typeface="Times New Roman" panose="02020603050405020304"/>
                    <a:cs typeface="Times New Roman" panose="02020603050405020304"/>
                    <a:sym typeface="Times New Roman" panose="02020603050405020304"/>
                  </a:rPr>
                  <a:t>1. </a:t>
                </a:r>
                <a:r>
                  <a:rPr lang="en-US" altLang="en-US" sz="1800" b="1" dirty="0">
                    <a:latin typeface="Times New Roman" panose="02020603050405020304"/>
                    <a:ea typeface="Times New Roman" panose="02020603050405020304"/>
                    <a:cs typeface="Times New Roman" panose="02020603050405020304"/>
                    <a:sym typeface="Times New Roman" panose="02020603050405020304"/>
                  </a:rPr>
                  <a:t>Các </a:t>
                </a:r>
                <a:r>
                  <a:rPr lang="en-US" altLang="en-US" sz="1800" b="1" dirty="0" err="1">
                    <a:latin typeface="Times New Roman" panose="02020603050405020304"/>
                    <a:ea typeface="Times New Roman" panose="02020603050405020304"/>
                    <a:cs typeface="Times New Roman" panose="02020603050405020304"/>
                    <a:sym typeface="Times New Roman" panose="02020603050405020304"/>
                  </a:rPr>
                  <a:t>tham</a:t>
                </a:r>
                <a:r>
                  <a:rPr lang="en-US" alt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b="1" dirty="0" err="1">
                    <a:latin typeface="Times New Roman" panose="02020603050405020304"/>
                    <a:ea typeface="Times New Roman" panose="02020603050405020304"/>
                    <a:cs typeface="Times New Roman" panose="02020603050405020304"/>
                    <a:sym typeface="Times New Roman" panose="02020603050405020304"/>
                  </a:rPr>
                  <a:t>số</a:t>
                </a:r>
                <a:r>
                  <a:rPr lang="en-US" alt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b="1" dirty="0" err="1">
                    <a:latin typeface="Times New Roman" panose="02020603050405020304"/>
                    <a:ea typeface="Times New Roman" panose="02020603050405020304"/>
                    <a:cs typeface="Times New Roman" panose="02020603050405020304"/>
                    <a:sym typeface="Times New Roman" panose="02020603050405020304"/>
                  </a:rPr>
                  <a:t>chính</a:t>
                </a:r>
                <a:r>
                  <a:rPr lang="en-US" altLang="en-US" sz="1800" b="1" dirty="0">
                    <a:latin typeface="Times New Roman" panose="02020603050405020304"/>
                    <a:ea typeface="Times New Roman" panose="02020603050405020304"/>
                    <a:cs typeface="Times New Roman" panose="02020603050405020304"/>
                    <a:sym typeface="Times New Roman" panose="02020603050405020304"/>
                  </a:rPr>
                  <a:t>:</a:t>
                </a:r>
              </a:p>
              <a:p>
                <a:pPr marL="914400" lvl="1" indent="-342900" algn="l" rtl="0">
                  <a:lnSpc>
                    <a:spcPct val="55000"/>
                  </a:lnSpc>
                  <a:spcBef>
                    <a:spcPts val="0"/>
                  </a:spcBef>
                  <a:spcAft>
                    <a:spcPts val="0"/>
                  </a:spcAft>
                  <a:buSzPts val="1800"/>
                  <a:buFont typeface="Times New Roman" panose="02020603050405020304"/>
                  <a:buChar char="○"/>
                </a:pP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75000"/>
                  </a:lnSpc>
                  <a:spcBef>
                    <a:spcPts val="0"/>
                  </a:spcBef>
                  <a:spcAft>
                    <a:spcPts val="0"/>
                  </a:spcAft>
                  <a:buSzPts val="1800"/>
                  <a:buFont typeface="Times New Roman" panose="02020603050405020304"/>
                  <a:buChar char="○"/>
                </a:pPr>
                <a:r>
                  <a:rPr lang="en-US" altLang="en-US" sz="1800" dirty="0">
                    <a:latin typeface="Times New Roman" panose="02020603050405020304"/>
                    <a:ea typeface="Times New Roman" panose="02020603050405020304"/>
                    <a:cs typeface="Times New Roman" panose="02020603050405020304"/>
                    <a:sym typeface="Times New Roman" panose="02020603050405020304"/>
                  </a:rPr>
                  <a:t>M –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Số</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kiến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Mỗi</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kiến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 1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lời</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giải</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ứng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viên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tập</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CHs)</a:t>
                </a:r>
              </a:p>
              <a:p>
                <a:pPr marL="914400" lvl="1" indent="-342900" algn="l" rtl="0">
                  <a:lnSpc>
                    <a:spcPct val="75000"/>
                  </a:lnSpc>
                  <a:spcBef>
                    <a:spcPts val="0"/>
                  </a:spcBef>
                  <a:spcAft>
                    <a:spcPts val="0"/>
                  </a:spcAft>
                  <a:buSzPts val="1800"/>
                  <a:buFont typeface="Times New Roman" panose="02020603050405020304"/>
                  <a:buChar char="○"/>
                </a:pP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75000"/>
                  </a:lnSpc>
                  <a:spcBef>
                    <a:spcPts val="0"/>
                  </a:spcBef>
                  <a:spcAft>
                    <a:spcPts val="0"/>
                  </a:spcAft>
                  <a:buSzPts val="1800"/>
                  <a:buFont typeface="Times New Roman" panose="02020603050405020304"/>
                  <a:buChar char="○"/>
                </a:pPr>
                <a:r>
                  <a:rPr lang="en-US" altLang="en-US" sz="1800" dirty="0">
                    <a:latin typeface="Times New Roman" panose="02020603050405020304"/>
                    <a:ea typeface="Times New Roman" panose="02020603050405020304"/>
                    <a:cs typeface="Times New Roman" panose="02020603050405020304"/>
                    <a:sym typeface="Times New Roman" panose="02020603050405020304"/>
                  </a:rPr>
                  <a:t>T –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Số</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vòng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lặp</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tối</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đa</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Kiểm</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soát</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thời</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gian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chạy</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và</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hội</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tụ</a:t>
                </a: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p>
                <a:pPr marL="571500" lvl="1" indent="0" algn="l" rtl="0">
                  <a:lnSpc>
                    <a:spcPct val="75000"/>
                  </a:lnSpc>
                  <a:spcBef>
                    <a:spcPts val="0"/>
                  </a:spcBef>
                  <a:spcAft>
                    <a:spcPts val="0"/>
                  </a:spcAft>
                  <a:buSzPts val="1800"/>
                  <a:buFont typeface="Times New Roman" panose="02020603050405020304"/>
                  <a:buNone/>
                </a:pP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p>
                <a:pPr marL="571500" lvl="1" indent="0" algn="l" rtl="0">
                  <a:lnSpc>
                    <a:spcPct val="75000"/>
                  </a:lnSpc>
                  <a:spcBef>
                    <a:spcPts val="0"/>
                  </a:spcBef>
                  <a:spcAft>
                    <a:spcPts val="0"/>
                  </a:spcAft>
                  <a:buSzPts val="1800"/>
                  <a:buFont typeface="Times New Roman" panose="02020603050405020304"/>
                  <a:buNone/>
                </a:pPr>
                <a:r>
                  <a:rPr lang="en-US" altLang="en-US" sz="1800" b="1" dirty="0">
                    <a:latin typeface="Times New Roman" panose="02020603050405020304"/>
                    <a:ea typeface="Times New Roman" panose="02020603050405020304"/>
                    <a:cs typeface="Times New Roman" panose="02020603050405020304"/>
                    <a:sym typeface="Times New Roman" panose="02020603050405020304"/>
                  </a:rPr>
                  <a:t>2. </a:t>
                </a:r>
                <a:r>
                  <a:rPr lang="en-US" altLang="en-US" sz="1800" b="1" dirty="0" err="1">
                    <a:latin typeface="Times New Roman" panose="02020603050405020304"/>
                    <a:ea typeface="Times New Roman" panose="02020603050405020304"/>
                    <a:cs typeface="Times New Roman" panose="02020603050405020304"/>
                    <a:sym typeface="Times New Roman" panose="02020603050405020304"/>
                  </a:rPr>
                  <a:t>Trọng</a:t>
                </a:r>
                <a:r>
                  <a:rPr lang="en-US" alt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b="1" dirty="0" err="1">
                    <a:latin typeface="Times New Roman" panose="02020603050405020304"/>
                    <a:ea typeface="Times New Roman" panose="02020603050405020304"/>
                    <a:cs typeface="Times New Roman" panose="02020603050405020304"/>
                    <a:sym typeface="Times New Roman" panose="02020603050405020304"/>
                  </a:rPr>
                  <a:t>số</a:t>
                </a:r>
                <a:r>
                  <a:rPr lang="en-US" alt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b="1" dirty="0" err="1">
                    <a:latin typeface="Times New Roman" panose="02020603050405020304"/>
                    <a:ea typeface="Times New Roman" panose="02020603050405020304"/>
                    <a:cs typeface="Times New Roman" panose="02020603050405020304"/>
                    <a:sym typeface="Times New Roman" panose="02020603050405020304"/>
                  </a:rPr>
                  <a:t>chọn</a:t>
                </a:r>
                <a:r>
                  <a:rPr lang="en-US" altLang="en-US" sz="1800" b="1" dirty="0">
                    <a:latin typeface="Times New Roman" panose="02020603050405020304"/>
                    <a:ea typeface="Times New Roman" panose="02020603050405020304"/>
                    <a:cs typeface="Times New Roman" panose="02020603050405020304"/>
                    <a:sym typeface="Times New Roman" panose="02020603050405020304"/>
                  </a:rPr>
                  <a:t> node:</a:t>
                </a:r>
              </a:p>
              <a:p>
                <a:pPr marL="914400" lvl="1" indent="-342900" algn="l" rtl="0">
                  <a:lnSpc>
                    <a:spcPct val="75000"/>
                  </a:lnSpc>
                  <a:spcBef>
                    <a:spcPts val="0"/>
                  </a:spcBef>
                  <a:spcAft>
                    <a:spcPts val="0"/>
                  </a:spcAft>
                  <a:buSzPts val="1800"/>
                  <a:buFont typeface="Times New Roman" panose="02020603050405020304"/>
                  <a:buChar char="○"/>
                </a:pP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75000"/>
                  </a:lnSpc>
                  <a:spcBef>
                    <a:spcPts val="0"/>
                  </a:spcBef>
                  <a:spcAft>
                    <a:spcPts val="0"/>
                  </a:spcAft>
                  <a:buSzPts val="1800"/>
                  <a:buFont typeface="Times New Roman" panose="02020603050405020304"/>
                  <a:buChar char="○"/>
                </a:pPr>
                <a:r>
                  <a:rPr lang="en-US" altLang="en-US" sz="1800" dirty="0">
                    <a:latin typeface="Times New Roman" panose="02020603050405020304"/>
                    <a:ea typeface="Times New Roman" panose="02020603050405020304"/>
                    <a:cs typeface="Times New Roman" panose="02020603050405020304"/>
                    <a:sym typeface="Times New Roman" panose="02020603050405020304"/>
                  </a:rPr>
                  <a:t>α (pheromone):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Ưu</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tiên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node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nhiều</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pheromone</a:t>
                </a:r>
              </a:p>
              <a:p>
                <a:pPr marL="914400" lvl="1" indent="-342900" algn="l" rtl="0">
                  <a:lnSpc>
                    <a:spcPct val="75000"/>
                  </a:lnSpc>
                  <a:spcBef>
                    <a:spcPts val="0"/>
                  </a:spcBef>
                  <a:spcAft>
                    <a:spcPts val="0"/>
                  </a:spcAft>
                  <a:buSzPts val="1800"/>
                  <a:buFont typeface="Times New Roman" panose="02020603050405020304"/>
                  <a:buChar char="○"/>
                </a:pP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75000"/>
                  </a:lnSpc>
                  <a:spcBef>
                    <a:spcPts val="0"/>
                  </a:spcBef>
                  <a:spcAft>
                    <a:spcPts val="0"/>
                  </a:spcAft>
                  <a:buSzPts val="1800"/>
                  <a:buFont typeface="Times New Roman" panose="02020603050405020304"/>
                  <a:buChar char="○"/>
                </a:pPr>
                <a:r>
                  <a:rPr lang="en-US" altLang="en-US" sz="1800" dirty="0">
                    <a:latin typeface="Times New Roman" panose="02020603050405020304"/>
                    <a:ea typeface="Times New Roman" panose="02020603050405020304"/>
                    <a:cs typeface="Times New Roman" panose="02020603050405020304"/>
                    <a:sym typeface="Times New Roman" panose="02020603050405020304"/>
                  </a:rPr>
                  <a:t>β (heuristic):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Ưu</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tiên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node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tốt</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theo</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khoảng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cách</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chi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phí</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độ</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kết</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nối</a:t>
                </a: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75000"/>
                  </a:lnSpc>
                  <a:spcBef>
                    <a:spcPts val="0"/>
                  </a:spcBef>
                  <a:spcAft>
                    <a:spcPts val="0"/>
                  </a:spcAft>
                  <a:buSzPts val="1800"/>
                  <a:buFont typeface="Times New Roman" panose="02020603050405020304"/>
                  <a:buChar char="○"/>
                </a:pP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75000"/>
                  </a:lnSpc>
                  <a:spcBef>
                    <a:spcPts val="0"/>
                  </a:spcBef>
                  <a:spcAft>
                    <a:spcPts val="0"/>
                  </a:spcAft>
                  <a:buSzPts val="1800"/>
                  <a:buFont typeface="Times New Roman" panose="02020603050405020304"/>
                  <a:buChar char="○"/>
                </a:pP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γ</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lượng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Ưu</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tiên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node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còn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nhiều</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lượng</a:t>
                </a: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75000"/>
                  </a:lnSpc>
                  <a:spcBef>
                    <a:spcPts val="0"/>
                  </a:spcBef>
                  <a:spcAft>
                    <a:spcPts val="0"/>
                  </a:spcAft>
                  <a:buSzPts val="1800"/>
                  <a:buFont typeface="Times New Roman" panose="02020603050405020304"/>
                  <a:buChar char="○"/>
                </a:pPr>
                <a:endParaRPr lang="en-US" altLang="en-US" sz="1800" b="1" dirty="0">
                  <a:latin typeface="Times New Roman" panose="02020603050405020304"/>
                  <a:ea typeface="Times New Roman" panose="02020603050405020304"/>
                  <a:cs typeface="Times New Roman" panose="02020603050405020304"/>
                  <a:sym typeface="Times New Roman" panose="02020603050405020304"/>
                </a:endParaRPr>
              </a:p>
              <a:p>
                <a:pPr marL="571500" lvl="1" indent="0" algn="l" rtl="0">
                  <a:lnSpc>
                    <a:spcPct val="75000"/>
                  </a:lnSpc>
                  <a:spcBef>
                    <a:spcPts val="0"/>
                  </a:spcBef>
                  <a:spcAft>
                    <a:spcPts val="0"/>
                  </a:spcAft>
                  <a:buSzPts val="1800"/>
                  <a:buFont typeface="Times New Roman" panose="02020603050405020304"/>
                  <a:buNone/>
                </a:pPr>
                <a:r>
                  <a:rPr lang="en-US" altLang="en-US" sz="1800" b="1" dirty="0">
                    <a:latin typeface="Times New Roman" panose="02020603050405020304"/>
                    <a:ea typeface="Times New Roman" panose="02020603050405020304"/>
                    <a:cs typeface="Times New Roman" panose="02020603050405020304"/>
                    <a:sym typeface="Times New Roman" panose="02020603050405020304"/>
                  </a:rPr>
                  <a:t>3. Pheromone &amp; bay </a:t>
                </a:r>
                <a:r>
                  <a:rPr lang="en-US" altLang="en-US" sz="1800" b="1" dirty="0" err="1">
                    <a:latin typeface="Times New Roman" panose="02020603050405020304"/>
                    <a:ea typeface="Times New Roman" panose="02020603050405020304"/>
                    <a:cs typeface="Times New Roman" panose="02020603050405020304"/>
                    <a:sym typeface="Times New Roman" panose="02020603050405020304"/>
                  </a:rPr>
                  <a:t>hơi</a:t>
                </a:r>
                <a:r>
                  <a:rPr lang="en-US" altLang="en-US" sz="1800" b="1" dirty="0">
                    <a:latin typeface="Times New Roman" panose="02020603050405020304"/>
                    <a:ea typeface="Times New Roman" panose="02020603050405020304"/>
                    <a:cs typeface="Times New Roman" panose="02020603050405020304"/>
                    <a:sym typeface="Times New Roman" panose="02020603050405020304"/>
                  </a:rPr>
                  <a:t>:</a:t>
                </a:r>
              </a:p>
              <a:p>
                <a:pPr marL="914400" lvl="1" indent="-342900" algn="l" rtl="0">
                  <a:lnSpc>
                    <a:spcPct val="75000"/>
                  </a:lnSpc>
                  <a:spcBef>
                    <a:spcPts val="0"/>
                  </a:spcBef>
                  <a:spcAft>
                    <a:spcPts val="0"/>
                  </a:spcAft>
                  <a:buSzPts val="1800"/>
                  <a:buFont typeface="Times New Roman" panose="02020603050405020304"/>
                  <a:buChar char="○"/>
                </a:pP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85000"/>
                  </a:lnSpc>
                  <a:spcBef>
                    <a:spcPts val="0"/>
                  </a:spcBef>
                  <a:spcAft>
                    <a:spcPts val="0"/>
                  </a:spcAft>
                  <a:buSzPts val="1800"/>
                  <a:buFont typeface="Times New Roman" panose="02020603050405020304"/>
                  <a:buChar char="○"/>
                </a:pP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ρ</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Hệ</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số</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bay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hơi</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Kiểm</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soát</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tốc</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độ</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mất</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pheromone →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cân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bằng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khám</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phá</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&amp;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khai</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thác</a:t>
                </a: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75000"/>
                  </a:lnSpc>
                  <a:spcBef>
                    <a:spcPts val="0"/>
                  </a:spcBef>
                  <a:spcAft>
                    <a:spcPts val="0"/>
                  </a:spcAft>
                  <a:buSzPts val="1800"/>
                  <a:buFont typeface="Times New Roman" panose="02020603050405020304"/>
                  <a:buChar char="○"/>
                </a:pPr>
                <a:endParaRPr lang="en-US" altLang="en-US" sz="1800" b="1" dirty="0">
                  <a:latin typeface="Times New Roman" panose="02020603050405020304"/>
                  <a:ea typeface="Times New Roman" panose="02020603050405020304"/>
                  <a:cs typeface="Times New Roman" panose="02020603050405020304"/>
                  <a:sym typeface="Times New Roman" panose="02020603050405020304"/>
                </a:endParaRPr>
              </a:p>
              <a:p>
                <a:pPr marL="571500" lvl="1" indent="0" algn="l" rtl="0">
                  <a:lnSpc>
                    <a:spcPct val="75000"/>
                  </a:lnSpc>
                  <a:spcBef>
                    <a:spcPts val="0"/>
                  </a:spcBef>
                  <a:spcAft>
                    <a:spcPts val="0"/>
                  </a:spcAft>
                  <a:buSzPts val="1800"/>
                  <a:buFont typeface="Times New Roman" panose="02020603050405020304"/>
                  <a:buNone/>
                </a:pPr>
                <a:r>
                  <a:rPr lang="en-US" altLang="en-US" sz="1800" b="1" dirty="0">
                    <a:latin typeface="Times New Roman" panose="02020603050405020304"/>
                    <a:ea typeface="Times New Roman" panose="02020603050405020304"/>
                    <a:cs typeface="Times New Roman" panose="02020603050405020304"/>
                    <a:sym typeface="Times New Roman" panose="02020603050405020304"/>
                  </a:rPr>
                  <a:t>4. </a:t>
                </a:r>
                <a:r>
                  <a:rPr lang="en-US" altLang="en-US" sz="1800" b="1" dirty="0" err="1">
                    <a:latin typeface="Times New Roman" panose="02020603050405020304"/>
                    <a:ea typeface="Times New Roman" panose="02020603050405020304"/>
                    <a:cs typeface="Times New Roman" panose="02020603050405020304"/>
                    <a:sym typeface="Times New Roman" panose="02020603050405020304"/>
                  </a:rPr>
                  <a:t>Ngưỡng</a:t>
                </a:r>
                <a:r>
                  <a:rPr lang="en-US" altLang="en-US" sz="1800" b="1" dirty="0">
                    <a:latin typeface="Times New Roman" panose="02020603050405020304"/>
                    <a:ea typeface="Times New Roman" panose="02020603050405020304"/>
                    <a:cs typeface="Times New Roman" panose="02020603050405020304"/>
                    <a:sym typeface="Times New Roman" panose="02020603050405020304"/>
                  </a:rPr>
                  <a:t> min/max:</a:t>
                </a:r>
              </a:p>
              <a:p>
                <a:pPr marL="914400" lvl="1" indent="-342900" algn="l" rtl="0">
                  <a:lnSpc>
                    <a:spcPct val="75000"/>
                  </a:lnSpc>
                  <a:spcBef>
                    <a:spcPts val="0"/>
                  </a:spcBef>
                  <a:spcAft>
                    <a:spcPts val="0"/>
                  </a:spcAft>
                  <a:buSzPts val="1800"/>
                  <a:buFont typeface="Times New Roman" panose="02020603050405020304"/>
                  <a:buChar char="○"/>
                </a:pP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85000"/>
                  </a:lnSpc>
                  <a:spcBef>
                    <a:spcPts val="0"/>
                  </a:spcBef>
                  <a:spcAft>
                    <a:spcPts val="0"/>
                  </a:spcAft>
                  <a:buSzPts val="1800"/>
                  <a:buFont typeface="Times New Roman" panose="02020603050405020304"/>
                  <a:buChar char="○"/>
                </a:pPr>
                <a14:m>
                  <m:oMath xmlns:m="http://schemas.openxmlformats.org/officeDocument/2006/math">
                    <m:r>
                      <a:rPr lang="en-US" alt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𝜌</m:t>
                    </m:r>
                    <m:r>
                      <a:rPr lang="vi-VN"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_</m:t>
                    </m:r>
                    <m:r>
                      <m:rPr>
                        <m:sty m:val="p"/>
                      </m:rP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min</m:t>
                    </m:r>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m:t>
                    </m:r>
                    <m:r>
                      <a:rPr lang="en-US" alt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𝜌</m:t>
                    </m:r>
                    <m:r>
                      <a:rPr lang="vi-VN"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_</m:t>
                    </m:r>
                    <m:r>
                      <m:rPr>
                        <m:sty m:val="p"/>
                      </m:rP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max</m:t>
                    </m:r>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 </m:t>
                    </m:r>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𝛼</m:t>
                    </m:r>
                    <m:r>
                      <a:rPr lang="vi-VN"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_</m:t>
                    </m:r>
                    <m:r>
                      <m:rPr>
                        <m:sty m:val="p"/>
                      </m:rP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min</m:t>
                    </m:r>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m:t>
                    </m:r>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𝛼</m:t>
                    </m:r>
                    <m:r>
                      <a:rPr lang="vi-VN"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_</m:t>
                    </m:r>
                    <m:r>
                      <m:rPr>
                        <m:sty m:val="p"/>
                      </m:rP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max</m:t>
                    </m:r>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 </m:t>
                    </m:r>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𝛽</m:t>
                    </m:r>
                    <m:r>
                      <a:rPr lang="vi-VN"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_</m:t>
                    </m:r>
                    <m:r>
                      <m:rPr>
                        <m:sty m:val="p"/>
                      </m:rP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min</m:t>
                    </m:r>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m:t>
                    </m:r>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𝛽</m:t>
                    </m:r>
                    <m:r>
                      <a:rPr lang="vi-VN"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_</m:t>
                    </m:r>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𝑚𝑎</m:t>
                    </m:r>
                  </m:oMath>
                </a14:m>
                <a:r>
                  <a:rPr lang="en-US" altLang="en-US" sz="1800" dirty="0">
                    <a:latin typeface="Times New Roman" panose="02020603050405020304"/>
                    <a:ea typeface="Times New Roman" panose="02020603050405020304"/>
                    <a:cs typeface="Times New Roman" panose="02020603050405020304"/>
                    <a:sym typeface="Times New Roman" panose="02020603050405020304"/>
                  </a:rPr>
                  <a:t>x →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Giữ</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các</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tham</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số</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trong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phạm</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vi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hợp</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lý</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tránh</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mất</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ổn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định</a:t>
                </a: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65000"/>
                  </a:lnSpc>
                  <a:spcBef>
                    <a:spcPts val="0"/>
                  </a:spcBef>
                  <a:spcAft>
                    <a:spcPts val="0"/>
                  </a:spcAft>
                  <a:buSzPts val="1800"/>
                  <a:buFont typeface="Times New Roman" panose="02020603050405020304"/>
                  <a:buChar char="○"/>
                </a:pP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p>
                <a:pPr marL="914400" lvl="1" indent="-342900" algn="l" rtl="0">
                  <a:lnSpc>
                    <a:spcPct val="65000"/>
                  </a:lnSpc>
                  <a:spcBef>
                    <a:spcPts val="0"/>
                  </a:spcBef>
                  <a:spcAft>
                    <a:spcPts val="0"/>
                  </a:spcAft>
                  <a:buSzPts val="1800"/>
                  <a:buFont typeface="Times New Roman" panose="02020603050405020304"/>
                  <a:buChar char="○"/>
                </a:pP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p:txBody>
          </p:sp>
        </mc:Choice>
        <mc:Fallback xmlns="">
          <p:sp>
            <p:nvSpPr>
              <p:cNvPr id="256" name="Google Shape;256;p39"/>
              <p:cNvSpPr txBox="1">
                <a:spLocks noRot="1" noChangeAspect="1" noMove="1" noResize="1" noEditPoints="1" noAdjustHandles="1" noChangeArrowheads="1" noChangeShapeType="1" noTextEdit="1"/>
              </p:cNvSpPr>
              <p:nvPr>
                <p:ph type="body" idx="1"/>
              </p:nvPr>
            </p:nvSpPr>
            <p:spPr>
              <a:xfrm>
                <a:off x="179070" y="963295"/>
                <a:ext cx="9036685" cy="5398770"/>
              </a:xfrm>
              <a:prstGeom prst="rect">
                <a:avLst/>
              </a:prstGeom>
              <a:blipFill rotWithShape="1">
                <a:blip r:embed="rId3"/>
                <a:stretch>
                  <a:fillRect b="-5952"/>
                </a:stretch>
              </a:blipFill>
              <a:ln>
                <a:noFill/>
              </a:ln>
            </p:spPr>
            <p:txBody>
              <a:bodyPr/>
              <a:lstStyle/>
              <a:p>
                <a:r>
                  <a:rPr lang="en-US" altLang="en-US">
                    <a:noFill/>
                  </a:rPr>
                  <a:t> </a:t>
                </a:r>
              </a:p>
            </p:txBody>
          </p:sp>
        </mc:Fallback>
      </mc:AlternateContent>
      <p:pic>
        <p:nvPicPr>
          <p:cNvPr id="2" name="Picture 1"/>
          <p:cNvPicPr/>
          <p:nvPr/>
        </p:nvPicPr>
        <p:blipFill>
          <a:blip r:embed="rId4"/>
          <a:stretch>
            <a:fillRect/>
          </a:stretch>
        </p:blipFill>
        <p:spPr>
          <a:xfrm>
            <a:off x="6816725" y="965835"/>
            <a:ext cx="2108200" cy="188277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45"/>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28</a:t>
            </a:fld>
            <a:endParaRPr lang="en-US"/>
          </a:p>
        </p:txBody>
      </p:sp>
      <p:sp>
        <p:nvSpPr>
          <p:cNvPr id="302" name="Google Shape;302;p45"/>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sym typeface="+mn-ea"/>
              </a:rPr>
              <a:t>3. </a:t>
            </a:r>
            <a:r>
              <a:rPr lang="vi-VN" altLang="en-US">
                <a:sym typeface="+mn-ea"/>
              </a:rPr>
              <a:t>P</a:t>
            </a:r>
            <a:r>
              <a:rPr lang="en-US">
                <a:sym typeface="+mn-ea"/>
              </a:rPr>
              <a:t>hương pháp</a:t>
            </a:r>
            <a:r>
              <a:rPr lang="vi-VN" altLang="en-US">
                <a:sym typeface="+mn-ea"/>
              </a:rPr>
              <a:t> đề xuất</a:t>
            </a:r>
            <a:r>
              <a:rPr lang="en-US">
                <a:sym typeface="+mn-ea"/>
              </a:rPr>
              <a:t> AC-ACO</a:t>
            </a:r>
            <a:br>
              <a:rPr lang="en-US">
                <a:sym typeface="+mn-ea"/>
              </a:rPr>
            </a:br>
            <a:endParaRPr lang="en-US"/>
          </a:p>
        </p:txBody>
      </p:sp>
      <p:pic>
        <p:nvPicPr>
          <p:cNvPr id="303" name="Google Shape;303;p45" descr="Screenshot 2025-09-28 170356"/>
          <p:cNvPicPr preferRelativeResize="0">
            <a:picLocks noGrp="1"/>
          </p:cNvPicPr>
          <p:nvPr>
            <p:ph type="body" idx="1"/>
          </p:nvPr>
        </p:nvPicPr>
        <p:blipFill rotWithShape="1">
          <a:blip r:embed="rId3"/>
          <a:srcRect/>
          <a:stretch>
            <a:fillRect/>
          </a:stretch>
        </p:blipFill>
        <p:spPr>
          <a:xfrm>
            <a:off x="3797300" y="981075"/>
            <a:ext cx="5111115" cy="4948555"/>
          </a:xfrm>
          <a:prstGeom prst="rect">
            <a:avLst/>
          </a:prstGeom>
          <a:noFill/>
          <a:ln>
            <a:noFill/>
          </a:ln>
        </p:spPr>
      </p:pic>
      <p:pic>
        <p:nvPicPr>
          <p:cNvPr id="2" name="Picture 1"/>
          <p:cNvPicPr/>
          <p:nvPr/>
        </p:nvPicPr>
        <p:blipFill>
          <a:blip r:embed="rId4"/>
          <a:stretch>
            <a:fillRect/>
          </a:stretch>
        </p:blipFill>
        <p:spPr>
          <a:xfrm>
            <a:off x="395605" y="981075"/>
            <a:ext cx="3225165" cy="4401185"/>
          </a:xfrm>
          <a:prstGeom prst="rect">
            <a:avLst/>
          </a:prstGeom>
        </p:spPr>
      </p:pic>
      <p:sp>
        <p:nvSpPr>
          <p:cNvPr id="3" name="Text Box 2"/>
          <p:cNvSpPr txBox="1"/>
          <p:nvPr/>
        </p:nvSpPr>
        <p:spPr>
          <a:xfrm>
            <a:off x="1115695" y="5622925"/>
            <a:ext cx="2167890" cy="275590"/>
          </a:xfrm>
          <a:prstGeom prst="rect">
            <a:avLst/>
          </a:prstGeom>
          <a:noFill/>
        </p:spPr>
        <p:txBody>
          <a:bodyPr wrap="square" rtlCol="0">
            <a:spAutoFit/>
          </a:bodyPr>
          <a:lstStyle/>
          <a:p>
            <a:r>
              <a:rPr lang="en-US" sz="1200">
                <a:latin typeface="Times New Roman" panose="02020603050405020304" charset="0"/>
                <a:cs typeface="Times New Roman" panose="02020603050405020304" charset="0"/>
              </a:rPr>
              <a:t>Flowchat of ACO</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9"/>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29</a:t>
            </a:fld>
            <a:endParaRPr lang="en-US"/>
          </a:p>
        </p:txBody>
      </p:sp>
      <p:sp>
        <p:nvSpPr>
          <p:cNvPr id="255" name="Google Shape;255;p39"/>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sym typeface="+mn-ea"/>
              </a:rPr>
              <a:t>3. </a:t>
            </a:r>
            <a:r>
              <a:rPr lang="vi-VN" altLang="en-US">
                <a:sym typeface="+mn-ea"/>
              </a:rPr>
              <a:t>P</a:t>
            </a:r>
            <a:r>
              <a:rPr lang="en-US">
                <a:sym typeface="+mn-ea"/>
              </a:rPr>
              <a:t>hương pháp</a:t>
            </a:r>
            <a:r>
              <a:rPr lang="vi-VN" altLang="en-US">
                <a:sym typeface="+mn-ea"/>
              </a:rPr>
              <a:t> đề xuất</a:t>
            </a:r>
            <a:r>
              <a:rPr lang="en-US">
                <a:sym typeface="+mn-ea"/>
              </a:rPr>
              <a:t> AC-ACO</a:t>
            </a:r>
            <a:br>
              <a:rPr lang="en-US">
                <a:sym typeface="+mn-ea"/>
              </a:rPr>
            </a:br>
            <a:endParaRPr lang="en-US"/>
          </a:p>
        </p:txBody>
      </p:sp>
      <mc:AlternateContent xmlns:mc="http://schemas.openxmlformats.org/markup-compatibility/2006" xmlns:a14="http://schemas.microsoft.com/office/drawing/2010/main">
        <mc:Choice Requires="a14">
          <p:sp>
            <p:nvSpPr>
              <p:cNvPr id="256" name="Google Shape;256;p39"/>
              <p:cNvSpPr txBox="1">
                <a:spLocks noGrp="1"/>
              </p:cNvSpPr>
              <p:nvPr>
                <p:ph type="body" idx="1"/>
              </p:nvPr>
            </p:nvSpPr>
            <p:spPr>
              <a:xfrm>
                <a:off x="234950" y="963295"/>
                <a:ext cx="9036685" cy="513270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sz="1800" dirty="0">
                    <a:latin typeface="Times New Roman" panose="02020603050405020304"/>
                    <a:ea typeface="Times New Roman" panose="02020603050405020304"/>
                    <a:cs typeface="Times New Roman" panose="02020603050405020304"/>
                    <a:sym typeface="Times New Roman" panose="02020603050405020304"/>
                  </a:rPr>
                  <a:t>Chi </a:t>
                </a:r>
                <a:r>
                  <a:rPr lang="en-US" sz="1800" dirty="0" err="1">
                    <a:latin typeface="Times New Roman" panose="02020603050405020304"/>
                    <a:ea typeface="Times New Roman" panose="02020603050405020304"/>
                    <a:cs typeface="Times New Roman" panose="02020603050405020304"/>
                    <a:sym typeface="Times New Roman" panose="02020603050405020304"/>
                  </a:rPr>
                  <a:t>tiết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về</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Thuật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toán</a:t>
                </a:r>
                <a:r>
                  <a:rPr lang="en-US" sz="1800" dirty="0">
                    <a:latin typeface="Times New Roman" panose="02020603050405020304"/>
                    <a:ea typeface="Times New Roman" panose="02020603050405020304"/>
                    <a:cs typeface="Times New Roman" panose="02020603050405020304"/>
                    <a:sym typeface="Times New Roman" panose="02020603050405020304"/>
                  </a:rPr>
                  <a:t> ACO</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800"/>
                  <a:buNone/>
                </a:pP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altLang="en-US" sz="1800" b="1" dirty="0">
                    <a:latin typeface="Times New Roman" panose="02020603050405020304"/>
                    <a:ea typeface="Times New Roman" panose="02020603050405020304"/>
                    <a:cs typeface="Times New Roman" panose="02020603050405020304"/>
                    <a:sym typeface="Times New Roman" panose="02020603050405020304"/>
                  </a:rPr>
                  <a:t>(1) Pheromone</a:t>
                </a:r>
              </a:p>
              <a:p>
                <a:pPr lvl="1" indent="457200">
                  <a:spcBef>
                    <a:spcPts val="1000"/>
                  </a:spcBef>
                  <a:buSzPts val="1800"/>
                  <a:buNone/>
                </a:pPr>
                <a14:m>
                  <m:oMath xmlns:m="http://schemas.openxmlformats.org/officeDocument/2006/math">
                    <m:sSub>
                      <m:sSubPr>
                        <m:ctrlPr>
                          <a:rPr lang="en-US" altLang="en-US" sz="1800" i="1" dirty="0" smtClean="0">
                            <a:latin typeface="Cambria Math" panose="02040503050406030204" pitchFamily="18" charset="0"/>
                            <a:cs typeface="Times New Roman" panose="02020603050405020304"/>
                            <a:sym typeface="Times New Roman" panose="02020603050405020304"/>
                          </a:rPr>
                        </m:ctrlPr>
                      </m:sSubPr>
                      <m:e>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𝜏</m:t>
                        </m:r>
                      </m:e>
                      <m:sub>
                        <m:r>
                          <m:rPr>
                            <m:sty m:val="p"/>
                          </m:rPr>
                          <a:rPr lang="vi-VN" altLang="en-US" sz="1800" b="0" i="1" dirty="0" smtClean="0">
                            <a:latin typeface="Cambria Math" panose="02040503050406030204" pitchFamily="18" charset="0"/>
                            <a:cs typeface="Times New Roman" panose="02020603050405020304"/>
                            <a:sym typeface="Times New Roman" panose="02020603050405020304"/>
                          </a:rPr>
                          <m:t>ij</m:t>
                        </m:r>
                      </m:sub>
                    </m:sSub>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m:t>
                    </m:r>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𝑡</m:t>
                    </m:r>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 </m:t>
                    </m:r>
                  </m:oMath>
                </a14:m>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b="1" dirty="0">
                    <a:latin typeface="Times New Roman" panose="02020603050405020304"/>
                    <a:ea typeface="Times New Roman" panose="02020603050405020304"/>
                    <a:cs typeface="Times New Roman" panose="02020603050405020304"/>
                    <a:sym typeface="Times New Roman" panose="02020603050405020304"/>
                  </a:rPr>
                  <a:t>(1) </a:t>
                </a: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zh-CN" altLang="en-US" sz="1800" dirty="0">
                    <a:latin typeface="Times New Roman" panose="02020603050405020304"/>
                    <a:ea typeface="Times New Roman" panose="02020603050405020304"/>
                    <a:cs typeface="Times New Roman" panose="02020603050405020304"/>
                    <a:sym typeface="Times New Roman" panose="02020603050405020304"/>
                  </a:rPr>
                  <a:t>🔹</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Ý</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nghĩa</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Lượng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pheromone </a:t>
                </a:r>
              </a:p>
              <a:p>
                <a:pPr marL="0" lvl="0" indent="0" algn="l" rtl="0">
                  <a:lnSpc>
                    <a:spcPct val="90000"/>
                  </a:lnSpc>
                  <a:spcBef>
                    <a:spcPts val="1000"/>
                  </a:spcBef>
                  <a:spcAft>
                    <a:spcPts val="0"/>
                  </a:spcAft>
                  <a:buClr>
                    <a:schemeClr val="dk1"/>
                  </a:buClr>
                  <a:buSzPts val="1800"/>
                  <a:buNone/>
                </a:pP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giữa</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nút</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i</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và</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j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tại</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thời</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điểm</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t.</a:t>
                </a:r>
              </a:p>
              <a:p>
                <a:pPr marL="0" lvl="0" indent="0" algn="l" rtl="0">
                  <a:lnSpc>
                    <a:spcPct val="90000"/>
                  </a:lnSpc>
                  <a:spcBef>
                    <a:spcPts val="1000"/>
                  </a:spcBef>
                  <a:spcAft>
                    <a:spcPts val="0"/>
                  </a:spcAft>
                  <a:buClr>
                    <a:schemeClr val="dk1"/>
                  </a:buClr>
                  <a:buSzPts val="1800"/>
                  <a:buNone/>
                </a:pP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altLang="en-US" sz="1800" b="1" dirty="0">
                    <a:latin typeface="Times New Roman" panose="02020603050405020304"/>
                    <a:ea typeface="Times New Roman" panose="02020603050405020304"/>
                    <a:cs typeface="Times New Roman" panose="02020603050405020304"/>
                    <a:sym typeface="Times New Roman" panose="02020603050405020304"/>
                  </a:rPr>
                  <a:t>(2) Heuristic </a:t>
                </a:r>
                <a:r>
                  <a:rPr lang="en-US" altLang="en-US" sz="1800" b="1" dirty="0" err="1">
                    <a:latin typeface="Times New Roman" panose="02020603050405020304"/>
                    <a:ea typeface="Times New Roman" panose="02020603050405020304"/>
                    <a:cs typeface="Times New Roman" panose="02020603050405020304"/>
                    <a:sym typeface="Times New Roman" panose="02020603050405020304"/>
                  </a:rPr>
                  <a:t>thông</a:t>
                </a:r>
                <a:r>
                  <a:rPr lang="en-US" altLang="en-US" sz="1800" b="1" dirty="0">
                    <a:latin typeface="Times New Roman" panose="02020603050405020304"/>
                    <a:ea typeface="Times New Roman" panose="02020603050405020304"/>
                    <a:cs typeface="Times New Roman" panose="02020603050405020304"/>
                    <a:sym typeface="Times New Roman" panose="02020603050405020304"/>
                  </a:rPr>
                  <a:t> tin</a:t>
                </a:r>
              </a:p>
              <a:p>
                <a:pPr lvl="1" indent="457200">
                  <a:spcBef>
                    <a:spcPts val="1000"/>
                  </a:spcBef>
                  <a:buSzPts val="1800"/>
                  <a:buNone/>
                </a:pPr>
                <a14:m>
                  <m:oMath xmlns:m="http://schemas.openxmlformats.org/officeDocument/2006/math">
                    <m:sSub>
                      <m:sSubPr>
                        <m:ctrlPr>
                          <a:rPr lang="en-US" altLang="en-US" sz="1800" i="1" dirty="0" smtClean="0">
                            <a:latin typeface="Cambria Math" panose="02040503050406030204" pitchFamily="18" charset="0"/>
                            <a:cs typeface="Times New Roman" panose="02020603050405020304"/>
                            <a:sym typeface="Times New Roman" panose="02020603050405020304"/>
                          </a:rPr>
                        </m:ctrlPr>
                      </m:sSubPr>
                      <m:e>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𝜂</m:t>
                        </m:r>
                      </m:e>
                      <m:sub>
                        <m:r>
                          <m:rPr>
                            <m:sty m:val="p"/>
                          </m:rPr>
                          <a:rPr lang="vi-VN" altLang="en-US" sz="1800" b="0" i="1" dirty="0" smtClean="0">
                            <a:latin typeface="Cambria Math" panose="02040503050406030204" pitchFamily="18" charset="0"/>
                            <a:cs typeface="Times New Roman" panose="02020603050405020304"/>
                            <a:sym typeface="Times New Roman" panose="02020603050405020304"/>
                          </a:rPr>
                          <m:t>ij</m:t>
                        </m:r>
                      </m:sub>
                    </m:sSub>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 </m:t>
                    </m:r>
                    <m:r>
                      <a:rPr lang="vi-VN"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1</m:t>
                    </m:r>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 </m:t>
                    </m:r>
                    <m:sSub>
                      <m:sSubPr>
                        <m:ctrlPr>
                          <a:rPr lang="en-US" altLang="en-US" sz="1800" i="1" dirty="0" smtClean="0">
                            <a:latin typeface="Cambria Math" panose="02040503050406030204" pitchFamily="18" charset="0"/>
                            <a:cs typeface="Times New Roman" panose="02020603050405020304"/>
                            <a:sym typeface="Times New Roman" panose="02020603050405020304"/>
                          </a:rPr>
                        </m:ctrlPr>
                      </m:sSubPr>
                      <m:e>
                        <m:r>
                          <m:rPr>
                            <m:sty m:val="p"/>
                          </m:rPr>
                          <a:rPr lang="vi-VN" altLang="en-US" sz="1800" b="0" i="1" dirty="0" smtClean="0">
                            <a:latin typeface="Cambria Math" panose="02040503050406030204" pitchFamily="18" charset="0"/>
                            <a:cs typeface="Times New Roman" panose="02020603050405020304"/>
                            <a:sym typeface="Times New Roman" panose="02020603050405020304"/>
                          </a:rPr>
                          <m:t>d</m:t>
                        </m:r>
                      </m:e>
                      <m:sub>
                        <m:r>
                          <m:rPr>
                            <m:sty m:val="p"/>
                          </m:rPr>
                          <a:rPr lang="vi-VN" altLang="en-US" sz="1800" b="0" i="1" dirty="0" smtClean="0">
                            <a:latin typeface="Cambria Math" panose="02040503050406030204" pitchFamily="18" charset="0"/>
                            <a:cs typeface="Times New Roman" panose="02020603050405020304"/>
                            <a:sym typeface="Times New Roman" panose="02020603050405020304"/>
                          </a:rPr>
                          <m:t>ij</m:t>
                        </m:r>
                      </m:sub>
                    </m:sSub>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m:t>
                    </m:r>
                  </m:oMath>
                </a14:m>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b="1" dirty="0">
                    <a:latin typeface="Times New Roman" panose="02020603050405020304"/>
                    <a:ea typeface="Times New Roman" panose="02020603050405020304"/>
                    <a:cs typeface="Times New Roman" panose="02020603050405020304"/>
                    <a:sym typeface="Times New Roman" panose="02020603050405020304"/>
                  </a:rPr>
                  <a:t>(2) </a:t>
                </a: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zh-CN" altLang="en-US" sz="1800" dirty="0">
                    <a:latin typeface="Times New Roman" panose="02020603050405020304"/>
                    <a:ea typeface="Times New Roman" panose="02020603050405020304"/>
                    <a:cs typeface="Times New Roman" panose="02020603050405020304"/>
                    <a:sym typeface="Times New Roman" panose="02020603050405020304"/>
                  </a:rPr>
                  <a:t>🔹</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Ý</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nghĩa</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Mức</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hấp</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dẫn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dựa</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trên</a:t>
                </a: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khoảng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cách</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càng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gần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càng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tốt</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a:t>
                </a:r>
              </a:p>
              <a:p>
                <a:pPr marL="0" lvl="0" indent="0" algn="l" rtl="0">
                  <a:lnSpc>
                    <a:spcPct val="90000"/>
                  </a:lnSpc>
                  <a:spcBef>
                    <a:spcPts val="1000"/>
                  </a:spcBef>
                  <a:spcAft>
                    <a:spcPts val="0"/>
                  </a:spcAft>
                  <a:buClr>
                    <a:schemeClr val="dk1"/>
                  </a:buClr>
                  <a:buSzPts val="1800"/>
                  <a:buNone/>
                </a:pP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p:txBody>
          </p:sp>
        </mc:Choice>
        <mc:Fallback xmlns="">
          <p:sp>
            <p:nvSpPr>
              <p:cNvPr id="256" name="Google Shape;256;p39"/>
              <p:cNvSpPr txBox="1">
                <a:spLocks noRot="1" noChangeAspect="1" noMove="1" noResize="1" noEditPoints="1" noAdjustHandles="1" noChangeArrowheads="1" noChangeShapeType="1" noTextEdit="1"/>
              </p:cNvSpPr>
              <p:nvPr>
                <p:ph type="body" idx="1"/>
              </p:nvPr>
            </p:nvSpPr>
            <p:spPr>
              <a:xfrm>
                <a:off x="234950" y="963295"/>
                <a:ext cx="9036685" cy="5132705"/>
              </a:xfrm>
              <a:prstGeom prst="rect">
                <a:avLst/>
              </a:prstGeom>
              <a:blipFill rotWithShape="1">
                <a:blip r:embed="rId3"/>
                <a:stretch>
                  <a:fillRect/>
                </a:stretch>
              </a:blipFill>
              <a:ln>
                <a:noFill/>
              </a:ln>
            </p:spPr>
            <p:txBody>
              <a:bodyPr/>
              <a:lstStyle/>
              <a:p>
                <a:r>
                  <a:rPr lang="en-US" altLang="en-US">
                    <a:noFill/>
                  </a:rPr>
                  <a:t> </a:t>
                </a:r>
              </a:p>
            </p:txBody>
          </p:sp>
        </mc:Fallback>
      </mc:AlternateContent>
      <p:pic>
        <p:nvPicPr>
          <p:cNvPr id="2" name="Picture 1"/>
          <p:cNvPicPr/>
          <p:nvPr/>
        </p:nvPicPr>
        <p:blipFill>
          <a:blip r:embed="rId4"/>
          <a:stretch>
            <a:fillRect/>
          </a:stretch>
        </p:blipFill>
        <p:spPr>
          <a:xfrm>
            <a:off x="4572000" y="916940"/>
            <a:ext cx="3657600" cy="548767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0"/>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30</a:t>
            </a:fld>
            <a:endParaRPr lang="en-US"/>
          </a:p>
        </p:txBody>
      </p:sp>
      <p:sp>
        <p:nvSpPr>
          <p:cNvPr id="262" name="Google Shape;262;p40"/>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latin typeface="Times New Roman" panose="02020603050405020304" charset="0"/>
                <a:cs typeface="Times New Roman" panose="02020603050405020304" charset="0"/>
                <a:sym typeface="+mn-ea"/>
              </a:rPr>
              <a:t>3. </a:t>
            </a:r>
            <a:r>
              <a:rPr lang="vi-VN" altLang="en-US">
                <a:latin typeface="Times New Roman" panose="02020603050405020304" charset="0"/>
                <a:cs typeface="Times New Roman" panose="02020603050405020304" charset="0"/>
                <a:sym typeface="+mn-ea"/>
              </a:rPr>
              <a:t>P</a:t>
            </a:r>
            <a:r>
              <a:rPr lang="en-US">
                <a:latin typeface="Times New Roman" panose="02020603050405020304" charset="0"/>
                <a:cs typeface="Times New Roman" panose="02020603050405020304" charset="0"/>
                <a:sym typeface="+mn-ea"/>
              </a:rPr>
              <a:t>hương pháp</a:t>
            </a:r>
            <a:r>
              <a:rPr lang="vi-VN" altLang="en-US">
                <a:latin typeface="Times New Roman" panose="02020603050405020304" charset="0"/>
                <a:cs typeface="Times New Roman" panose="02020603050405020304" charset="0"/>
                <a:sym typeface="+mn-ea"/>
              </a:rPr>
              <a:t> đề xuất</a:t>
            </a:r>
            <a:r>
              <a:rPr lang="en-US">
                <a:latin typeface="Times New Roman" panose="02020603050405020304" charset="0"/>
                <a:cs typeface="Times New Roman" panose="02020603050405020304" charset="0"/>
                <a:sym typeface="+mn-ea"/>
              </a:rPr>
              <a:t> AC-ACO</a:t>
            </a:r>
            <a:br>
              <a:rPr lang="en-US">
                <a:latin typeface="Times New Roman" panose="02020603050405020304" charset="0"/>
                <a:cs typeface="Times New Roman" panose="02020603050405020304" charset="0"/>
                <a:sym typeface="+mn-ea"/>
              </a:rPr>
            </a:br>
            <a:endParaRPr lang="en-US">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263" name="Google Shape;263;p40"/>
              <p:cNvSpPr txBox="1">
                <a:spLocks noGrp="1"/>
              </p:cNvSpPr>
              <p:nvPr>
                <p:ph type="body" idx="1"/>
              </p:nvPr>
            </p:nvSpPr>
            <p:spPr>
              <a:xfrm>
                <a:off x="234950" y="963168"/>
                <a:ext cx="8674200" cy="51327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sz="1800" dirty="0">
                    <a:latin typeface="Times New Roman" panose="02020603050405020304"/>
                    <a:ea typeface="Times New Roman" panose="02020603050405020304"/>
                    <a:cs typeface="Times New Roman" panose="02020603050405020304"/>
                    <a:sym typeface="Times New Roman" panose="02020603050405020304"/>
                  </a:rPr>
                  <a:t>Chi </a:t>
                </a:r>
                <a:r>
                  <a:rPr lang="en-US" sz="1800" dirty="0" err="1">
                    <a:latin typeface="Times New Roman" panose="02020603050405020304"/>
                    <a:ea typeface="Times New Roman" panose="02020603050405020304"/>
                    <a:cs typeface="Times New Roman" panose="02020603050405020304"/>
                    <a:sym typeface="Times New Roman" panose="02020603050405020304"/>
                  </a:rPr>
                  <a:t>tiết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về</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Thuật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toán</a:t>
                </a:r>
                <a:r>
                  <a:rPr lang="en-US" sz="1800" dirty="0">
                    <a:latin typeface="Times New Roman" panose="02020603050405020304"/>
                    <a:ea typeface="Times New Roman" panose="02020603050405020304"/>
                    <a:cs typeface="Times New Roman" panose="02020603050405020304"/>
                    <a:sym typeface="Times New Roman" panose="02020603050405020304"/>
                  </a:rPr>
                  <a:t> ACO</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800"/>
                  <a:buNone/>
                </a:pP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vi-VN" altLang="en-US" sz="1800" b="1" dirty="0">
                    <a:latin typeface="Times New Roman" panose="02020603050405020304"/>
                    <a:ea typeface="Times New Roman" panose="02020603050405020304"/>
                    <a:cs typeface="Times New Roman" panose="02020603050405020304"/>
                    <a:sym typeface="Times New Roman" panose="02020603050405020304"/>
                  </a:rPr>
                  <a:t>(3)</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err="1">
                    <a:latin typeface="Times New Roman" panose="02020603050405020304"/>
                    <a:ea typeface="Times New Roman" panose="02020603050405020304"/>
                    <a:cs typeface="Times New Roman" panose="02020603050405020304"/>
                    <a:sym typeface="Times New Roman" panose="02020603050405020304"/>
                  </a:rPr>
                  <a:t>Xác</a:t>
                </a:r>
                <a:r>
                  <a:rPr 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err="1">
                    <a:latin typeface="Times New Roman" panose="02020603050405020304"/>
                    <a:ea typeface="Times New Roman" panose="02020603050405020304"/>
                    <a:cs typeface="Times New Roman" panose="02020603050405020304"/>
                    <a:sym typeface="Times New Roman" panose="02020603050405020304"/>
                  </a:rPr>
                  <a:t>suất</a:t>
                </a:r>
                <a:r>
                  <a:rPr 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err="1">
                    <a:latin typeface="Times New Roman" panose="02020603050405020304"/>
                    <a:ea typeface="Times New Roman" panose="02020603050405020304"/>
                    <a:cs typeface="Times New Roman" panose="02020603050405020304"/>
                    <a:sym typeface="Times New Roman" panose="02020603050405020304"/>
                  </a:rPr>
                  <a:t>chọn</a:t>
                </a:r>
                <a:r>
                  <a:rPr 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err="1">
                    <a:latin typeface="Times New Roman" panose="02020603050405020304"/>
                    <a:ea typeface="Times New Roman" panose="02020603050405020304"/>
                    <a:cs typeface="Times New Roman" panose="02020603050405020304"/>
                    <a:sym typeface="Times New Roman" panose="02020603050405020304"/>
                  </a:rPr>
                  <a:t>đường</a:t>
                </a:r>
                <a:endParaRPr sz="1800" b="1"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100" b="1" dirty="0">
                  <a:latin typeface="Arial" panose="020B0604020202020204"/>
                  <a:ea typeface="Arial" panose="020B0604020202020204"/>
                  <a:cs typeface="Arial" panose="020B0604020202020204"/>
                  <a:sym typeface="Arial" panose="020B0604020202020204"/>
                </a:endParaRPr>
              </a:p>
              <a:p>
                <a:pPr marL="1371600" lvl="2" indent="457200" algn="l" rtl="0">
                  <a:lnSpc>
                    <a:spcPct val="90000"/>
                  </a:lnSpc>
                  <a:spcBef>
                    <a:spcPts val="1000"/>
                  </a:spcBef>
                  <a:spcAft>
                    <a:spcPts val="0"/>
                  </a:spcAft>
                  <a:buClr>
                    <a:schemeClr val="dk1"/>
                  </a:buClr>
                  <a:buSzPts val="1800"/>
                  <a:buNone/>
                </a:pPr>
                <a:endParaRPr sz="1100" b="1" dirty="0">
                  <a:latin typeface="Arial" panose="020B0604020202020204"/>
                  <a:ea typeface="Arial" panose="020B0604020202020204"/>
                  <a:cs typeface="Arial" panose="020B0604020202020204"/>
                  <a:sym typeface="Arial" panose="020B0604020202020204"/>
                </a:endParaRPr>
              </a:p>
              <a:p>
                <a:pPr marL="4114800" lvl="8" indent="457200" algn="l" rtl="0">
                  <a:lnSpc>
                    <a:spcPct val="90000"/>
                  </a:lnSpc>
                  <a:spcBef>
                    <a:spcPts val="1000"/>
                  </a:spcBef>
                  <a:spcAft>
                    <a:spcPts val="0"/>
                  </a:spcAft>
                  <a:buClr>
                    <a:schemeClr val="dk1"/>
                  </a:buClr>
                  <a:buSzPts val="1800"/>
                  <a:buNone/>
                </a:pPr>
                <a:endParaRPr sz="1100" b="1" dirty="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1800"/>
                  <a:buNone/>
                </a:pPr>
                <a:r>
                  <a:rPr lang="en-US" sz="1100" b="1" dirty="0">
                    <a:latin typeface="Arial" panose="020B0604020202020204"/>
                    <a:ea typeface="Arial" panose="020B0604020202020204"/>
                    <a:cs typeface="Arial" panose="020B0604020202020204"/>
                    <a:sym typeface="Arial" panose="020B0604020202020204"/>
                  </a:rPr>
                  <a:t>		</a:t>
                </a:r>
                <a:r>
                  <a:rPr lang="vi-VN" altLang="en-US" sz="1100" b="1" dirty="0">
                    <a:latin typeface="Arial" panose="020B0604020202020204"/>
                    <a:ea typeface="Arial" panose="020B0604020202020204"/>
                    <a:cs typeface="Arial" panose="020B0604020202020204"/>
                    <a:sym typeface="Arial" panose="020B0604020202020204"/>
                  </a:rPr>
                  <a:t>			</a:t>
                </a:r>
                <a:r>
                  <a:rPr lang="en-US" sz="1100" b="1" dirty="0">
                    <a:latin typeface="Arial" panose="020B0604020202020204"/>
                    <a:ea typeface="Arial" panose="020B0604020202020204"/>
                    <a:cs typeface="Arial" panose="020B0604020202020204"/>
                    <a:sym typeface="Arial" panose="020B0604020202020204"/>
                  </a:rPr>
                  <a:t>											</a:t>
                </a:r>
                <a:r>
                  <a:rPr lang="en-US" sz="1800" b="1" dirty="0">
                    <a:latin typeface="Arial" panose="020B0604020202020204"/>
                    <a:ea typeface="Arial" panose="020B0604020202020204"/>
                    <a:cs typeface="Arial" panose="020B0604020202020204"/>
                    <a:sym typeface="Arial" panose="020B0604020202020204"/>
                  </a:rPr>
                  <a:t>(</a:t>
                </a:r>
                <a:r>
                  <a:rPr lang="vi-VN" altLang="en-US" sz="1800" b="1" dirty="0">
                    <a:latin typeface="Arial" panose="020B0604020202020204"/>
                    <a:ea typeface="Arial" panose="020B0604020202020204"/>
                    <a:cs typeface="Arial" panose="020B0604020202020204"/>
                    <a:sym typeface="Arial" panose="020B0604020202020204"/>
                  </a:rPr>
                  <a:t>3</a:t>
                </a:r>
                <a:r>
                  <a:rPr lang="en-US" sz="1800" b="1" dirty="0">
                    <a:latin typeface="Arial" panose="020B0604020202020204"/>
                    <a:ea typeface="Arial" panose="020B0604020202020204"/>
                    <a:cs typeface="Arial" panose="020B0604020202020204"/>
                    <a:sym typeface="Arial" panose="020B0604020202020204"/>
                  </a:rPr>
                  <a:t>)</a:t>
                </a:r>
                <a:endParaRPr sz="1800" b="1" dirty="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1800"/>
                  <a:buNone/>
                </a:pPr>
                <a:endParaRPr sz="1100" b="1" dirty="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1800"/>
                  <a:buNone/>
                </a:pPr>
                <a:r>
                  <a:rPr lang="zh-CN" altLang="en-US" sz="1800" b="1" dirty="0">
                    <a:latin typeface="Times New Roman" panose="02020603050405020304"/>
                    <a:ea typeface="Times New Roman" panose="02020603050405020304"/>
                    <a:cs typeface="Times New Roman" panose="02020603050405020304"/>
                    <a:sym typeface="Times New Roman" panose="02020603050405020304"/>
                  </a:rPr>
                  <a:t>🔹</a:t>
                </a:r>
                <a:r>
                  <a:rPr lang="en-US" alt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b="1" dirty="0" err="1">
                    <a:latin typeface="Times New Roman" panose="02020603050405020304"/>
                    <a:ea typeface="Times New Roman" panose="02020603050405020304"/>
                    <a:cs typeface="Times New Roman" panose="02020603050405020304"/>
                    <a:sym typeface="Times New Roman" panose="02020603050405020304"/>
                  </a:rPr>
                  <a:t>Ý</a:t>
                </a:r>
                <a:r>
                  <a:rPr lang="en-US" alt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b="1" dirty="0" err="1">
                    <a:latin typeface="Times New Roman" panose="02020603050405020304"/>
                    <a:ea typeface="Times New Roman" panose="02020603050405020304"/>
                    <a:cs typeface="Times New Roman" panose="02020603050405020304"/>
                    <a:sym typeface="Times New Roman" panose="02020603050405020304"/>
                  </a:rPr>
                  <a:t>nghĩa</a:t>
                </a:r>
                <a:r>
                  <a:rPr lang="en-US" altLang="en-US" sz="1800" b="1" dirty="0">
                    <a:latin typeface="Times New Roman" panose="02020603050405020304"/>
                    <a:ea typeface="Times New Roman" panose="02020603050405020304"/>
                    <a:cs typeface="Times New Roman" panose="02020603050405020304"/>
                    <a:sym typeface="Times New Roman" panose="02020603050405020304"/>
                  </a:rPr>
                  <a:t>:</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Mỗi</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kiến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chọn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nút</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tiếp</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theo</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dựa</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trên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pheromone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và</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khoảng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cách.</a:t>
                </a:r>
                <a:r>
                  <a:rPr lang="en-US" sz="1800" dirty="0" err="1">
                    <a:latin typeface="Times New Roman" panose="02020603050405020304"/>
                    <a:ea typeface="Times New Roman" panose="02020603050405020304"/>
                    <a:cs typeface="Times New Roman" panose="02020603050405020304"/>
                    <a:sym typeface="Times New Roman" panose="02020603050405020304"/>
                  </a:rPr>
                  <a:t>τij</a:t>
                </a:r>
                <a:r>
                  <a:rPr lang="en-US" sz="1800" dirty="0">
                    <a:latin typeface="Times New Roman" panose="02020603050405020304"/>
                    <a:ea typeface="Times New Roman" panose="02020603050405020304"/>
                    <a:cs typeface="Times New Roman" panose="02020603050405020304"/>
                    <a:sym typeface="Times New Roman" panose="02020603050405020304"/>
                  </a:rPr>
                  <a:t> ​: </a:t>
                </a:r>
                <a:r>
                  <a:rPr lang="en-US" sz="1800" dirty="0" err="1">
                    <a:latin typeface="Times New Roman" panose="02020603050405020304"/>
                    <a:ea typeface="Times New Roman" panose="02020603050405020304"/>
                    <a:cs typeface="Times New Roman" panose="02020603050405020304"/>
                    <a:sym typeface="Times New Roman" panose="02020603050405020304"/>
                  </a:rPr>
                  <a:t>lượng</a:t>
                </a:r>
                <a:r>
                  <a:rPr lang="en-US" sz="1800" dirty="0">
                    <a:latin typeface="Times New Roman" panose="02020603050405020304"/>
                    <a:ea typeface="Times New Roman" panose="02020603050405020304"/>
                    <a:cs typeface="Times New Roman" panose="02020603050405020304"/>
                    <a:sym typeface="Times New Roman" panose="02020603050405020304"/>
                  </a:rPr>
                  <a:t> pheromone </a:t>
                </a:r>
                <a:r>
                  <a:rPr lang="en-US" sz="1800" dirty="0" err="1">
                    <a:latin typeface="Times New Roman" panose="02020603050405020304"/>
                    <a:ea typeface="Times New Roman" panose="02020603050405020304"/>
                    <a:cs typeface="Times New Roman" panose="02020603050405020304"/>
                    <a:sym typeface="Times New Roman" panose="02020603050405020304"/>
                  </a:rPr>
                  <a:t>trên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cạnh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i</a:t>
                </a:r>
                <a:r>
                  <a:rPr lang="en-US" sz="1800" dirty="0">
                    <a:latin typeface="Times New Roman" panose="02020603050405020304"/>
                    <a:ea typeface="Times New Roman" panose="02020603050405020304"/>
                    <a:cs typeface="Times New Roman" panose="02020603050405020304"/>
                    <a:sym typeface="Times New Roman" panose="02020603050405020304"/>
                  </a:rPr>
                  <a:t>, j).</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Clr>
                    <a:schemeClr val="dk1"/>
                  </a:buClr>
                  <a:buSzPts val="1100"/>
                  <a:buNone/>
                </a:pPr>
                <a:endParaRPr lang="en-US"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buSzPts val="1100"/>
                  <a:buNone/>
                </a:pPr>
                <a14:m>
                  <m:oMath xmlns:m="http://schemas.openxmlformats.org/officeDocument/2006/math">
                    <m:sSub>
                      <m:sSubPr>
                        <m:ctrlPr>
                          <a:rPr lang="en-US" altLang="en-US" sz="1800" i="1" dirty="0">
                            <a:latin typeface="Cambria Math" panose="02040503050406030204" pitchFamily="18" charset="0"/>
                            <a:cs typeface="Times New Roman" panose="02020603050405020304"/>
                            <a:sym typeface="Times New Roman" panose="02020603050405020304"/>
                          </a:rPr>
                        </m:ctrlPr>
                      </m:sSubPr>
                      <m:e>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𝜂</m:t>
                        </m:r>
                      </m:e>
                      <m:sub>
                        <m:r>
                          <m:rPr>
                            <m:sty m:val="p"/>
                          </m:rPr>
                          <a:rPr lang="vi-VN" altLang="en-US" sz="1800" i="1" dirty="0">
                            <a:latin typeface="Cambria Math" panose="02040503050406030204" pitchFamily="18" charset="0"/>
                            <a:cs typeface="Times New Roman" panose="02020603050405020304"/>
                            <a:sym typeface="Times New Roman" panose="02020603050405020304"/>
                          </a:rPr>
                          <m:t>ij</m:t>
                        </m:r>
                      </m:sub>
                    </m:sSub>
                  </m:oMath>
                </a14:m>
                <a:r>
                  <a:rPr lang="en-US" sz="1800" dirty="0">
                    <a:latin typeface="Times New Roman" panose="02020603050405020304"/>
                    <a:ea typeface="Times New Roman" panose="02020603050405020304"/>
                    <a:cs typeface="Times New Roman" panose="02020603050405020304"/>
                    <a:sym typeface="Times New Roman" panose="02020603050405020304"/>
                  </a:rPr>
                  <a:t> ​: heuristic info (</a:t>
                </a:r>
                <a:r>
                  <a:rPr lang="en-US" sz="1800" dirty="0" err="1">
                    <a:latin typeface="Times New Roman" panose="02020603050405020304"/>
                    <a:ea typeface="Times New Roman" panose="02020603050405020304"/>
                    <a:cs typeface="Times New Roman" panose="02020603050405020304"/>
                    <a:sym typeface="Times New Roman" panose="02020603050405020304"/>
                  </a:rPr>
                  <a:t>thường</a:t>
                </a:r>
                <a:r>
                  <a:rPr lang="en-US" sz="1800" dirty="0">
                    <a:latin typeface="Times New Roman" panose="02020603050405020304"/>
                    <a:ea typeface="Times New Roman" panose="02020603050405020304"/>
                    <a:cs typeface="Times New Roman" panose="02020603050405020304"/>
                    <a:sym typeface="Times New Roman" panose="02020603050405020304"/>
                  </a:rPr>
                  <a:t> = </a:t>
                </a:r>
                <a14:m>
                  <m:oMath xmlns:m="http://schemas.openxmlformats.org/officeDocument/2006/math">
                    <m:r>
                      <a:rPr lang="vi-VN"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1</m:t>
                    </m:r>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 </m:t>
                    </m:r>
                    <m:sSub>
                      <m:sSubPr>
                        <m:ctrlPr>
                          <a:rPr lang="en-US" altLang="en-US" sz="1800" i="1" dirty="0">
                            <a:latin typeface="Cambria Math" panose="02040503050406030204" pitchFamily="18" charset="0"/>
                            <a:cs typeface="Times New Roman" panose="02020603050405020304"/>
                            <a:sym typeface="Times New Roman" panose="02020603050405020304"/>
                          </a:rPr>
                        </m:ctrlPr>
                      </m:sSubPr>
                      <m:e>
                        <m:r>
                          <m:rPr>
                            <m:sty m:val="p"/>
                          </m:rPr>
                          <a:rPr lang="vi-VN" altLang="en-US" sz="1800" i="1" dirty="0">
                            <a:latin typeface="Cambria Math" panose="02040503050406030204" pitchFamily="18" charset="0"/>
                            <a:cs typeface="Times New Roman" panose="02020603050405020304"/>
                            <a:sym typeface="Times New Roman" panose="02020603050405020304"/>
                          </a:rPr>
                          <m:t>d</m:t>
                        </m:r>
                      </m:e>
                      <m:sub>
                        <m:r>
                          <m:rPr>
                            <m:sty m:val="p"/>
                          </m:rPr>
                          <a:rPr lang="vi-VN" altLang="en-US" sz="1800" i="1" dirty="0">
                            <a:latin typeface="Cambria Math" panose="02040503050406030204" pitchFamily="18" charset="0"/>
                            <a:cs typeface="Times New Roman" panose="02020603050405020304"/>
                            <a:sym typeface="Times New Roman" panose="02020603050405020304"/>
                          </a:rPr>
                          <m:t>ij</m:t>
                        </m:r>
                      </m:sub>
                    </m:sSub>
                  </m:oMath>
                </a14:m>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nghịch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đảo</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khoảng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cách</a:t>
                </a:r>
                <a:r>
                  <a:rPr lang="en-US" sz="1800" dirty="0">
                    <a:latin typeface="Times New Roman" panose="02020603050405020304"/>
                    <a:ea typeface="Times New Roman" panose="02020603050405020304"/>
                    <a:cs typeface="Times New Roman" panose="02020603050405020304"/>
                    <a:sym typeface="Times New Roman" panose="02020603050405020304"/>
                  </a:rPr>
                  <a:t>).</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Clr>
                    <a:schemeClr val="dk1"/>
                  </a:buClr>
                  <a:buSzPts val="1100"/>
                  <a:buNone/>
                </a:pPr>
                <a:r>
                  <a:rPr lang="en-US" sz="1800" dirty="0">
                    <a:latin typeface="Times New Roman" panose="02020603050405020304"/>
                    <a:ea typeface="Times New Roman" panose="02020603050405020304"/>
                    <a:cs typeface="Times New Roman" panose="02020603050405020304"/>
                    <a:sym typeface="Times New Roman" panose="02020603050405020304"/>
                  </a:rPr>
                  <a:t>α   : </a:t>
                </a:r>
                <a:r>
                  <a:rPr lang="en-US" sz="1800" dirty="0" err="1">
                    <a:latin typeface="Times New Roman" panose="02020603050405020304"/>
                    <a:ea typeface="Times New Roman" panose="02020603050405020304"/>
                    <a:cs typeface="Times New Roman" panose="02020603050405020304"/>
                    <a:sym typeface="Times New Roman" panose="02020603050405020304"/>
                  </a:rPr>
                  <a:t>trọng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số</a:t>
                </a:r>
                <a:r>
                  <a:rPr lang="en-US" sz="1800" dirty="0">
                    <a:latin typeface="Times New Roman" panose="02020603050405020304"/>
                    <a:ea typeface="Times New Roman" panose="02020603050405020304"/>
                    <a:cs typeface="Times New Roman" panose="02020603050405020304"/>
                    <a:sym typeface="Times New Roman" panose="02020603050405020304"/>
                  </a:rPr>
                  <a:t> pheromone (</a:t>
                </a:r>
                <a:r>
                  <a:rPr lang="en-US" sz="1800" dirty="0" err="1">
                    <a:latin typeface="Times New Roman" panose="02020603050405020304"/>
                    <a:ea typeface="Times New Roman" panose="02020603050405020304"/>
                    <a:cs typeface="Times New Roman" panose="02020603050405020304"/>
                    <a:sym typeface="Times New Roman" panose="02020603050405020304"/>
                  </a:rPr>
                  <a:t>tác</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động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của</a:t>
                </a:r>
                <a:r>
                  <a:rPr lang="en-US" sz="1800" dirty="0">
                    <a:latin typeface="Times New Roman" panose="02020603050405020304"/>
                    <a:ea typeface="Times New Roman" panose="02020603050405020304"/>
                    <a:cs typeface="Times New Roman" panose="02020603050405020304"/>
                    <a:sym typeface="Times New Roman" panose="02020603050405020304"/>
                  </a:rPr>
                  <a:t> pheromone).</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Clr>
                    <a:schemeClr val="dk1"/>
                  </a:buClr>
                  <a:buSzPts val="1100"/>
                  <a:buNone/>
                </a:pPr>
                <a:r>
                  <a:rPr lang="en-US" sz="1800" dirty="0">
                    <a:latin typeface="Times New Roman" panose="02020603050405020304"/>
                    <a:ea typeface="Times New Roman" panose="02020603050405020304"/>
                    <a:cs typeface="Times New Roman" panose="02020603050405020304"/>
                    <a:sym typeface="Times New Roman" panose="02020603050405020304"/>
                  </a:rPr>
                  <a:t>β   : </a:t>
                </a:r>
                <a:r>
                  <a:rPr lang="en-US" sz="1800" dirty="0" err="1">
                    <a:latin typeface="Times New Roman" panose="02020603050405020304"/>
                    <a:ea typeface="Times New Roman" panose="02020603050405020304"/>
                    <a:cs typeface="Times New Roman" panose="02020603050405020304"/>
                    <a:sym typeface="Times New Roman" panose="02020603050405020304"/>
                  </a:rPr>
                  <a:t>trọng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số</a:t>
                </a:r>
                <a:r>
                  <a:rPr lang="en-US" sz="1800" dirty="0">
                    <a:latin typeface="Times New Roman" panose="02020603050405020304"/>
                    <a:ea typeface="Times New Roman" panose="02020603050405020304"/>
                    <a:cs typeface="Times New Roman" panose="02020603050405020304"/>
                    <a:sym typeface="Times New Roman" panose="02020603050405020304"/>
                  </a:rPr>
                  <a:t> heuristic (</a:t>
                </a:r>
                <a:r>
                  <a:rPr lang="en-US" sz="1800" dirty="0" err="1">
                    <a:latin typeface="Times New Roman" panose="02020603050405020304"/>
                    <a:ea typeface="Times New Roman" panose="02020603050405020304"/>
                    <a:cs typeface="Times New Roman" panose="02020603050405020304"/>
                    <a:sym typeface="Times New Roman" panose="02020603050405020304"/>
                  </a:rPr>
                  <a:t>tác</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động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của</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khoảng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cách</a:t>
                </a:r>
                <a:r>
                  <a:rPr lang="en-US" sz="1800" dirty="0">
                    <a:latin typeface="Times New Roman" panose="02020603050405020304"/>
                    <a:ea typeface="Times New Roman" panose="02020603050405020304"/>
                    <a:cs typeface="Times New Roman" panose="02020603050405020304"/>
                    <a:sym typeface="Times New Roman" panose="02020603050405020304"/>
                  </a:rPr>
                  <a:t>).</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Clr>
                    <a:schemeClr val="dk1"/>
                  </a:buClr>
                  <a:buSzPts val="1100"/>
                  <a:buNone/>
                </a:pPr>
                <a:r>
                  <a:rPr lang="en-US" sz="1800" dirty="0">
                    <a:latin typeface="Times New Roman" panose="02020603050405020304"/>
                    <a:ea typeface="Times New Roman" panose="02020603050405020304"/>
                    <a:cs typeface="Times New Roman" panose="02020603050405020304"/>
                    <a:sym typeface="Times New Roman" panose="02020603050405020304"/>
                  </a:rPr>
                  <a:t>N  : </a:t>
                </a:r>
                <a:r>
                  <a:rPr lang="en-US" sz="1800" dirty="0" err="1">
                    <a:latin typeface="Times New Roman" panose="02020603050405020304"/>
                    <a:ea typeface="Times New Roman" panose="02020603050405020304"/>
                    <a:cs typeface="Times New Roman" panose="02020603050405020304"/>
                    <a:sym typeface="Times New Roman" panose="02020603050405020304"/>
                  </a:rPr>
                  <a:t>tập</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các</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nút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chưa</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được</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thăm</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đi tới từ i </a:t>
                </a:r>
                <a:r>
                  <a:rPr lang="en-US" sz="1800" dirty="0">
                    <a:latin typeface="Times New Roman" panose="02020603050405020304"/>
                    <a:ea typeface="Times New Roman" panose="02020603050405020304"/>
                    <a:cs typeface="Times New Roman" panose="02020603050405020304"/>
                    <a:sym typeface="Times New Roman" panose="02020603050405020304"/>
                  </a:rPr>
                  <a:t>. </a:t>
                </a:r>
                <a:br>
                  <a:rPr lang="en-US" sz="1800" b="1" dirty="0">
                    <a:latin typeface="Times New Roman" panose="02020603050405020304"/>
                    <a:ea typeface="Times New Roman" panose="02020603050405020304"/>
                    <a:cs typeface="Times New Roman" panose="02020603050405020304"/>
                    <a:sym typeface="Times New Roman" panose="02020603050405020304"/>
                  </a:rPr>
                </a:br>
                <a:br>
                  <a:rPr lang="en-US" sz="1100" b="1" dirty="0">
                    <a:latin typeface="Arial" panose="020B0604020202020204"/>
                    <a:ea typeface="Arial" panose="020B0604020202020204"/>
                    <a:cs typeface="Arial" panose="020B0604020202020204"/>
                    <a:sym typeface="Arial" panose="020B0604020202020204"/>
                  </a:rPr>
                </a:br>
                <a:r>
                  <a:rPr lang="en-US" sz="1100" b="1" dirty="0">
                    <a:latin typeface="Arial" panose="020B0604020202020204"/>
                    <a:ea typeface="Arial" panose="020B0604020202020204"/>
                    <a:cs typeface="Arial" panose="020B0604020202020204"/>
                    <a:sym typeface="Arial" panose="020B0604020202020204"/>
                  </a:rPr>
                  <a:t>	</a:t>
                </a:r>
                <a:br>
                  <a:rPr lang="en-US" sz="1100" b="1" dirty="0">
                    <a:latin typeface="Arial" panose="020B0604020202020204"/>
                    <a:ea typeface="Arial" panose="020B0604020202020204"/>
                    <a:cs typeface="Arial" panose="020B0604020202020204"/>
                    <a:sym typeface="Arial" panose="020B0604020202020204"/>
                  </a:rPr>
                </a:br>
                <a:r>
                  <a:rPr lang="en-US" sz="1100" b="1" dirty="0">
                    <a:latin typeface="Arial" panose="020B0604020202020204"/>
                    <a:ea typeface="Arial" panose="020B0604020202020204"/>
                    <a:cs typeface="Arial" panose="020B0604020202020204"/>
                    <a:sym typeface="Arial" panose="020B0604020202020204"/>
                  </a:rPr>
                  <a:t>	</a:t>
                </a:r>
                <a:endParaRPr sz="1800" dirty="0">
                  <a:latin typeface="Times New Roman" panose="02020603050405020304"/>
                  <a:ea typeface="Times New Roman" panose="02020603050405020304"/>
                  <a:cs typeface="Times New Roman" panose="02020603050405020304"/>
                  <a:sym typeface="Times New Roman" panose="02020603050405020304"/>
                </a:endParaRPr>
              </a:p>
            </p:txBody>
          </p:sp>
        </mc:Choice>
        <mc:Fallback xmlns="">
          <p:sp>
            <p:nvSpPr>
              <p:cNvPr id="263" name="Google Shape;263;p40"/>
              <p:cNvSpPr txBox="1">
                <a:spLocks noRot="1" noChangeAspect="1" noMove="1" noResize="1" noEditPoints="1" noAdjustHandles="1" noChangeArrowheads="1" noChangeShapeType="1" noTextEdit="1"/>
              </p:cNvSpPr>
              <p:nvPr>
                <p:ph type="body" idx="1"/>
              </p:nvPr>
            </p:nvSpPr>
            <p:spPr>
              <a:xfrm>
                <a:off x="234950" y="963168"/>
                <a:ext cx="8674200" cy="5132700"/>
              </a:xfrm>
              <a:prstGeom prst="rect">
                <a:avLst/>
              </a:prstGeom>
              <a:blipFill rotWithShape="1">
                <a:blip r:embed="rId3"/>
                <a:stretch>
                  <a:fillRect t="-10" r="1" b="-7463"/>
                </a:stretch>
              </a:blipFill>
              <a:ln>
                <a:noFill/>
              </a:ln>
            </p:spPr>
            <p:txBody>
              <a:bodyPr/>
              <a:lstStyle/>
              <a:p>
                <a:r>
                  <a:rPr lang="en-US" altLang="en-US">
                    <a:noFill/>
                  </a:rPr>
                  <a:t> </a:t>
                </a:r>
              </a:p>
            </p:txBody>
          </p:sp>
        </mc:Fallback>
      </mc:AlternateContent>
      <p:pic>
        <p:nvPicPr>
          <p:cNvPr id="264" name="Google Shape;264;p40"/>
          <p:cNvPicPr preferRelativeResize="0"/>
          <p:nvPr/>
        </p:nvPicPr>
        <p:blipFill>
          <a:blip r:embed="rId4"/>
          <a:stretch>
            <a:fillRect/>
          </a:stretch>
        </p:blipFill>
        <p:spPr>
          <a:xfrm>
            <a:off x="3131820" y="2232025"/>
            <a:ext cx="2753995" cy="111506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0"/>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31</a:t>
            </a:fld>
            <a:endParaRPr lang="en-US"/>
          </a:p>
        </p:txBody>
      </p:sp>
      <p:sp>
        <p:nvSpPr>
          <p:cNvPr id="262" name="Google Shape;262;p40"/>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latin typeface="Times New Roman" panose="02020603050405020304" charset="0"/>
                <a:cs typeface="Times New Roman" panose="02020603050405020304" charset="0"/>
                <a:sym typeface="+mn-ea"/>
              </a:rPr>
              <a:t>3. </a:t>
            </a:r>
            <a:r>
              <a:rPr lang="vi-VN" altLang="en-US">
                <a:latin typeface="Times New Roman" panose="02020603050405020304" charset="0"/>
                <a:cs typeface="Times New Roman" panose="02020603050405020304" charset="0"/>
                <a:sym typeface="+mn-ea"/>
              </a:rPr>
              <a:t>P</a:t>
            </a:r>
            <a:r>
              <a:rPr lang="en-US">
                <a:latin typeface="Times New Roman" panose="02020603050405020304" charset="0"/>
                <a:cs typeface="Times New Roman" panose="02020603050405020304" charset="0"/>
                <a:sym typeface="+mn-ea"/>
              </a:rPr>
              <a:t>hương pháp</a:t>
            </a:r>
            <a:r>
              <a:rPr lang="vi-VN" altLang="en-US">
                <a:latin typeface="Times New Roman" panose="02020603050405020304" charset="0"/>
                <a:cs typeface="Times New Roman" panose="02020603050405020304" charset="0"/>
                <a:sym typeface="+mn-ea"/>
              </a:rPr>
              <a:t> đề xuất</a:t>
            </a:r>
            <a:r>
              <a:rPr lang="en-US">
                <a:latin typeface="Times New Roman" panose="02020603050405020304" charset="0"/>
                <a:cs typeface="Times New Roman" panose="02020603050405020304" charset="0"/>
                <a:sym typeface="+mn-ea"/>
              </a:rPr>
              <a:t> AC-ACO</a:t>
            </a:r>
            <a:br>
              <a:rPr lang="en-US">
                <a:latin typeface="Times New Roman" panose="02020603050405020304" charset="0"/>
                <a:cs typeface="Times New Roman" panose="02020603050405020304" charset="0"/>
                <a:sym typeface="+mn-ea"/>
              </a:rPr>
            </a:br>
            <a:endParaRPr lang="en-US">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263" name="Google Shape;263;p40"/>
              <p:cNvSpPr txBox="1">
                <a:spLocks noGrp="1"/>
              </p:cNvSpPr>
              <p:nvPr>
                <p:ph type="body" idx="1"/>
              </p:nvPr>
            </p:nvSpPr>
            <p:spPr>
              <a:xfrm>
                <a:off x="234950" y="963168"/>
                <a:ext cx="8674200" cy="51327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sz="1800" dirty="0">
                    <a:latin typeface="Times New Roman" panose="02020603050405020304" charset="0"/>
                    <a:ea typeface="Times New Roman" panose="02020603050405020304"/>
                    <a:cs typeface="Times New Roman" panose="02020603050405020304" charset="0"/>
                    <a:sym typeface="Times New Roman" panose="02020603050405020304"/>
                  </a:rPr>
                  <a:t>Chi </a:t>
                </a:r>
                <a:r>
                  <a:rPr lang="en-US" sz="1800" dirty="0" err="1">
                    <a:latin typeface="Times New Roman" panose="02020603050405020304" charset="0"/>
                    <a:ea typeface="Times New Roman" panose="02020603050405020304"/>
                    <a:cs typeface="Times New Roman" panose="02020603050405020304" charset="0"/>
                    <a:sym typeface="Times New Roman" panose="02020603050405020304"/>
                  </a:rPr>
                  <a:t>tiết</a:t>
                </a:r>
                <a:r>
                  <a:rPr lang="en-US" sz="1800" dirty="0">
                    <a:latin typeface="Times New Roman" panose="02020603050405020304" charset="0"/>
                    <a:ea typeface="Times New Roman" panose="02020603050405020304"/>
                    <a:cs typeface="Times New Roman" panose="02020603050405020304" charset="0"/>
                    <a:sym typeface="Times New Roman" panose="02020603050405020304"/>
                  </a:rPr>
                  <a:t> </a:t>
                </a:r>
                <a:r>
                  <a:rPr lang="en-US" sz="1800" dirty="0" err="1">
                    <a:latin typeface="Times New Roman" panose="02020603050405020304" charset="0"/>
                    <a:ea typeface="Times New Roman" panose="02020603050405020304"/>
                    <a:cs typeface="Times New Roman" panose="02020603050405020304" charset="0"/>
                    <a:sym typeface="Times New Roman" panose="02020603050405020304"/>
                  </a:rPr>
                  <a:t>về</a:t>
                </a:r>
                <a:r>
                  <a:rPr lang="en-US" sz="1800" dirty="0">
                    <a:latin typeface="Times New Roman" panose="02020603050405020304" charset="0"/>
                    <a:ea typeface="Times New Roman" panose="02020603050405020304"/>
                    <a:cs typeface="Times New Roman" panose="02020603050405020304" charset="0"/>
                    <a:sym typeface="Times New Roman" panose="02020603050405020304"/>
                  </a:rPr>
                  <a:t> </a:t>
                </a:r>
                <a:r>
                  <a:rPr lang="en-US" sz="1800" dirty="0" err="1">
                    <a:latin typeface="Times New Roman" panose="02020603050405020304" charset="0"/>
                    <a:ea typeface="Times New Roman" panose="02020603050405020304"/>
                    <a:cs typeface="Times New Roman" panose="02020603050405020304" charset="0"/>
                    <a:sym typeface="Times New Roman" panose="02020603050405020304"/>
                  </a:rPr>
                  <a:t>Thuật</a:t>
                </a:r>
                <a:r>
                  <a:rPr lang="en-US" sz="1800" dirty="0">
                    <a:latin typeface="Times New Roman" panose="02020603050405020304" charset="0"/>
                    <a:ea typeface="Times New Roman" panose="02020603050405020304"/>
                    <a:cs typeface="Times New Roman" panose="02020603050405020304" charset="0"/>
                    <a:sym typeface="Times New Roman" panose="02020603050405020304"/>
                  </a:rPr>
                  <a:t> </a:t>
                </a:r>
                <a:r>
                  <a:rPr lang="en-US" sz="1800" dirty="0" err="1">
                    <a:latin typeface="Times New Roman" panose="02020603050405020304" charset="0"/>
                    <a:ea typeface="Times New Roman" panose="02020603050405020304"/>
                    <a:cs typeface="Times New Roman" panose="02020603050405020304" charset="0"/>
                    <a:sym typeface="Times New Roman" panose="02020603050405020304"/>
                  </a:rPr>
                  <a:t>toán</a:t>
                </a:r>
                <a:r>
                  <a:rPr lang="en-US" sz="1800" dirty="0">
                    <a:latin typeface="Times New Roman" panose="02020603050405020304" charset="0"/>
                    <a:ea typeface="Times New Roman" panose="02020603050405020304"/>
                    <a:cs typeface="Times New Roman" panose="02020603050405020304" charset="0"/>
                    <a:sym typeface="Times New Roman" panose="02020603050405020304"/>
                  </a:rPr>
                  <a:t> ACO</a:t>
                </a:r>
                <a:endParaRPr sz="1800" dirty="0">
                  <a:latin typeface="Times New Roman" panose="02020603050405020304" charset="0"/>
                  <a:ea typeface="Times New Roman" panose="02020603050405020304"/>
                  <a:cs typeface="Times New Roman" panose="02020603050405020304" charset="0"/>
                  <a:sym typeface="Times New Roman" panose="02020603050405020304"/>
                </a:endParaRPr>
              </a:p>
              <a:p>
                <a:pPr marL="0" lvl="0" indent="0" algn="l" rtl="0">
                  <a:lnSpc>
                    <a:spcPct val="90000"/>
                  </a:lnSpc>
                  <a:spcBef>
                    <a:spcPts val="0"/>
                  </a:spcBef>
                  <a:spcAft>
                    <a:spcPts val="0"/>
                  </a:spcAft>
                  <a:buClr>
                    <a:schemeClr val="dk1"/>
                  </a:buClr>
                  <a:buSzPts val="1800"/>
                  <a:buNone/>
                </a:pPr>
                <a:endParaRPr sz="1800" dirty="0">
                  <a:latin typeface="Times New Roman" panose="02020603050405020304" charset="0"/>
                  <a:ea typeface="Times New Roman" panose="02020603050405020304"/>
                  <a:cs typeface="Times New Roman" panose="02020603050405020304" charset="0"/>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altLang="en-US" sz="1800" b="1" dirty="0">
                    <a:latin typeface="Times New Roman" panose="02020603050405020304" charset="0"/>
                    <a:ea typeface="Arial" panose="020B0604020202020204"/>
                    <a:cs typeface="Times New Roman" panose="02020603050405020304" charset="0"/>
                    <a:sym typeface="Arial" panose="020B0604020202020204"/>
                  </a:rPr>
                  <a:t>(4) </a:t>
                </a:r>
                <a:r>
                  <a:rPr lang="en-US" altLang="en-US" sz="1800" b="1" dirty="0" err="1">
                    <a:latin typeface="Times New Roman" panose="02020603050405020304" charset="0"/>
                    <a:ea typeface="Arial" panose="020B0604020202020204"/>
                    <a:cs typeface="Times New Roman" panose="02020603050405020304" charset="0"/>
                    <a:sym typeface="Arial" panose="020B0604020202020204"/>
                  </a:rPr>
                  <a:t>Cập</a:t>
                </a:r>
                <a:r>
                  <a:rPr lang="en-US" altLang="en-US" sz="1800" b="1"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b="1" dirty="0" err="1">
                    <a:latin typeface="Times New Roman" panose="02020603050405020304" charset="0"/>
                    <a:ea typeface="Arial" panose="020B0604020202020204"/>
                    <a:cs typeface="Times New Roman" panose="02020603050405020304" charset="0"/>
                    <a:sym typeface="Arial" panose="020B0604020202020204"/>
                  </a:rPr>
                  <a:t>nhật</a:t>
                </a:r>
                <a:r>
                  <a:rPr lang="en-US" altLang="en-US" sz="1800" b="1" dirty="0">
                    <a:latin typeface="Times New Roman" panose="02020603050405020304" charset="0"/>
                    <a:ea typeface="Arial" panose="020B0604020202020204"/>
                    <a:cs typeface="Times New Roman" panose="02020603050405020304" charset="0"/>
                    <a:sym typeface="Arial" panose="020B0604020202020204"/>
                  </a:rPr>
                  <a:t> pheromone</a:t>
                </a:r>
              </a:p>
              <a:p>
                <a:pPr marL="0" lvl="0" indent="0" algn="l" rtl="0">
                  <a:lnSpc>
                    <a:spcPct val="90000"/>
                  </a:lnSpc>
                  <a:spcBef>
                    <a:spcPts val="1000"/>
                  </a:spcBef>
                  <a:spcAft>
                    <a:spcPts val="0"/>
                  </a:spcAft>
                  <a:buClr>
                    <a:schemeClr val="dk1"/>
                  </a:buClr>
                  <a:buSzPts val="1800"/>
                  <a:buNone/>
                </a:pPr>
                <a:endParaRPr sz="1100" b="1" dirty="0">
                  <a:latin typeface="Times New Roman" panose="02020603050405020304" charset="0"/>
                  <a:ea typeface="Arial" panose="020B0604020202020204"/>
                  <a:cs typeface="Times New Roman" panose="02020603050405020304" charset="0"/>
                  <a:sym typeface="Arial" panose="020B0604020202020204"/>
                </a:endParaRPr>
              </a:p>
              <a:p>
                <a:pPr marL="0" lvl="0" indent="0" algn="l" rtl="0">
                  <a:lnSpc>
                    <a:spcPct val="90000"/>
                  </a:lnSpc>
                  <a:spcBef>
                    <a:spcPts val="1000"/>
                  </a:spcBef>
                  <a:spcAft>
                    <a:spcPts val="0"/>
                  </a:spcAft>
                  <a:buClr>
                    <a:schemeClr val="dk1"/>
                  </a:buClr>
                  <a:buSzPts val="1800"/>
                  <a:buNone/>
                </a:pPr>
                <a:endParaRPr sz="1100" b="1" dirty="0">
                  <a:latin typeface="Times New Roman" panose="02020603050405020304" charset="0"/>
                  <a:ea typeface="Arial" panose="020B0604020202020204"/>
                  <a:cs typeface="Times New Roman" panose="02020603050405020304" charset="0"/>
                  <a:sym typeface="Arial" panose="020B0604020202020204"/>
                </a:endParaRPr>
              </a:p>
              <a:p>
                <a:pPr marL="0" lvl="0" indent="0" algn="l" rtl="0">
                  <a:lnSpc>
                    <a:spcPct val="90000"/>
                  </a:lnSpc>
                  <a:spcBef>
                    <a:spcPts val="1000"/>
                  </a:spcBef>
                  <a:spcAft>
                    <a:spcPts val="0"/>
                  </a:spcAft>
                  <a:buClr>
                    <a:schemeClr val="dk1"/>
                  </a:buClr>
                  <a:buSzPts val="1800"/>
                  <a:buNone/>
                </a:pPr>
                <a:r>
                  <a:rPr lang="en-US" sz="1100" b="1"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b="1" dirty="0">
                    <a:latin typeface="Times New Roman" panose="02020603050405020304"/>
                    <a:ea typeface="Times New Roman" panose="02020603050405020304"/>
                    <a:cs typeface="Times New Roman" panose="02020603050405020304"/>
                    <a:sym typeface="Times New Roman" panose="02020603050405020304"/>
                  </a:rPr>
                  <a:t>(4) </a:t>
                </a:r>
                <a:endParaRPr lang="en-US" altLang="en-US" sz="1800" b="1" dirty="0">
                  <a:latin typeface="Times New Roman" panose="02020603050405020304" charset="0"/>
                  <a:ea typeface="Arial" panose="020B0604020202020204"/>
                  <a:cs typeface="Times New Roman" panose="02020603050405020304" charset="0"/>
                  <a:sym typeface="Arial" panose="020B0604020202020204"/>
                </a:endParaRPr>
              </a:p>
              <a:p>
                <a:pPr marL="0" lvl="0" indent="0" algn="l" rtl="0">
                  <a:lnSpc>
                    <a:spcPct val="90000"/>
                  </a:lnSpc>
                  <a:spcBef>
                    <a:spcPts val="1000"/>
                  </a:spcBef>
                  <a:spcAft>
                    <a:spcPts val="0"/>
                  </a:spcAft>
                  <a:buClr>
                    <a:schemeClr val="dk1"/>
                  </a:buClr>
                  <a:buSzPts val="1800"/>
                  <a:buNone/>
                </a:pPr>
                <a:endParaRPr sz="1100" b="1" dirty="0">
                  <a:latin typeface="Times New Roman" panose="02020603050405020304" charset="0"/>
                  <a:ea typeface="Arial" panose="020B0604020202020204"/>
                  <a:cs typeface="Times New Roman" panose="02020603050405020304" charset="0"/>
                  <a:sym typeface="Arial" panose="020B0604020202020204"/>
                </a:endParaRPr>
              </a:p>
              <a:p>
                <a:pPr marL="0" lvl="0" indent="0" algn="l" rtl="0">
                  <a:lnSpc>
                    <a:spcPct val="90000"/>
                  </a:lnSpc>
                  <a:spcBef>
                    <a:spcPts val="1000"/>
                  </a:spcBef>
                  <a:spcAft>
                    <a:spcPts val="0"/>
                  </a:spcAft>
                  <a:buClr>
                    <a:schemeClr val="dk1"/>
                  </a:buClr>
                  <a:buSzPts val="1800"/>
                  <a:buNone/>
                </a:pPr>
                <a:endParaRPr sz="1800" b="1" dirty="0">
                  <a:latin typeface="Times New Roman" panose="02020603050405020304" charset="0"/>
                  <a:ea typeface="Arial" panose="020B0604020202020204"/>
                  <a:cs typeface="Times New Roman" panose="02020603050405020304" charset="0"/>
                  <a:sym typeface="Arial" panose="020B0604020202020204"/>
                </a:endParaRPr>
              </a:p>
              <a:p>
                <a:pPr marL="0" lvl="0" indent="0" algn="l" rtl="0">
                  <a:lnSpc>
                    <a:spcPct val="90000"/>
                  </a:lnSpc>
                  <a:spcBef>
                    <a:spcPts val="1000"/>
                  </a:spcBef>
                  <a:spcAft>
                    <a:spcPts val="0"/>
                  </a:spcAft>
                  <a:buClr>
                    <a:schemeClr val="dk1"/>
                  </a:buClr>
                  <a:buSzPts val="1800"/>
                  <a:buNone/>
                </a:pPr>
                <a:r>
                  <a:rPr lang="zh-CN" altLang="en-US" sz="1800" b="1" dirty="0">
                    <a:latin typeface="Times New Roman" panose="02020603050405020304" charset="0"/>
                    <a:ea typeface="Arial" panose="020B0604020202020204"/>
                    <a:cs typeface="Times New Roman" panose="02020603050405020304" charset="0"/>
                    <a:sym typeface="Arial" panose="020B0604020202020204"/>
                  </a:rPr>
                  <a:t>🔹</a:t>
                </a:r>
                <a:r>
                  <a:rPr lang="en-US" altLang="en-US" sz="1800" b="1"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b="1" dirty="0" err="1">
                    <a:latin typeface="Times New Roman" panose="02020603050405020304" charset="0"/>
                    <a:ea typeface="Arial" panose="020B0604020202020204"/>
                    <a:cs typeface="Times New Roman" panose="02020603050405020304" charset="0"/>
                    <a:sym typeface="Arial" panose="020B0604020202020204"/>
                  </a:rPr>
                  <a:t>Ý</a:t>
                </a:r>
                <a:r>
                  <a:rPr lang="en-US" altLang="en-US" sz="1800" b="1"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b="1" dirty="0" err="1">
                    <a:latin typeface="Times New Roman" panose="02020603050405020304" charset="0"/>
                    <a:ea typeface="Arial" panose="020B0604020202020204"/>
                    <a:cs typeface="Times New Roman" panose="02020603050405020304" charset="0"/>
                    <a:sym typeface="Arial" panose="020B0604020202020204"/>
                  </a:rPr>
                  <a:t>nghĩa</a:t>
                </a:r>
                <a:r>
                  <a:rPr lang="en-US" altLang="en-US" sz="1800" b="1" dirty="0">
                    <a:latin typeface="Times New Roman" panose="02020603050405020304" charset="0"/>
                    <a:ea typeface="Arial" panose="020B0604020202020204"/>
                    <a:cs typeface="Times New Roman" panose="02020603050405020304" charset="0"/>
                    <a:sym typeface="Arial" panose="020B0604020202020204"/>
                  </a:rPr>
                  <a:t>:</a:t>
                </a:r>
                <a:r>
                  <a:rPr lang="en-US" altLang="en-US" sz="1800"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Mỗi</a:t>
                </a:r>
                <a:r>
                  <a:rPr lang="en-US" altLang="en-US" sz="1800"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lần</a:t>
                </a:r>
                <a:r>
                  <a:rPr lang="en-US" altLang="en-US" sz="1800"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lặp</a:t>
                </a:r>
                <a:r>
                  <a:rPr lang="en-US" altLang="en-US" sz="1800" dirty="0">
                    <a:latin typeface="Times New Roman" panose="02020603050405020304" charset="0"/>
                    <a:ea typeface="Arial" panose="020B0604020202020204"/>
                    <a:cs typeface="Times New Roman" panose="02020603050405020304" charset="0"/>
                    <a:sym typeface="Arial" panose="020B0604020202020204"/>
                  </a:rPr>
                  <a:t>, pheromone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bốc</a:t>
                </a:r>
                <a:r>
                  <a:rPr lang="en-US" altLang="en-US" sz="1800"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hơi</a:t>
                </a:r>
                <a:r>
                  <a:rPr lang="en-US" altLang="en-US" sz="1800"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và</a:t>
                </a:r>
                <a:r>
                  <a:rPr lang="en-US" altLang="en-US" sz="1800"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được</a:t>
                </a:r>
                <a:r>
                  <a:rPr lang="en-US" altLang="en-US" sz="1800"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tăng</a:t>
                </a:r>
                <a:r>
                  <a:rPr lang="en-US" altLang="en-US" sz="1800"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cường</a:t>
                </a:r>
                <a:r>
                  <a:rPr lang="en-US" altLang="en-US" sz="1800" b="1" dirty="0">
                    <a:latin typeface="Times New Roman" panose="02020603050405020304" charset="0"/>
                    <a:ea typeface="Arial" panose="020B0604020202020204"/>
                    <a:cs typeface="Times New Roman" panose="02020603050405020304" charset="0"/>
                    <a:sym typeface="Arial" panose="020B0604020202020204"/>
                  </a:rPr>
                  <a:t>.</a:t>
                </a:r>
              </a:p>
              <a:p>
                <a:pPr marL="0" lvl="0" indent="0" algn="l" rtl="0">
                  <a:lnSpc>
                    <a:spcPct val="90000"/>
                  </a:lnSpc>
                  <a:spcBef>
                    <a:spcPts val="1000"/>
                  </a:spcBef>
                  <a:spcAft>
                    <a:spcPts val="0"/>
                  </a:spcAft>
                  <a:buClr>
                    <a:schemeClr val="dk1"/>
                  </a:buClr>
                  <a:buSzPts val="1800"/>
                  <a:buNone/>
                </a:pPr>
                <a:endParaRPr sz="1800" b="1" dirty="0">
                  <a:latin typeface="Times New Roman" panose="02020603050405020304" charset="0"/>
                  <a:ea typeface="Times New Roman" panose="02020603050405020304"/>
                  <a:cs typeface="Times New Roman" panose="02020603050405020304" charset="0"/>
                  <a:sym typeface="Times New Roman" panose="02020603050405020304"/>
                </a:endParaRPr>
              </a:p>
              <a:p>
                <a:pPr marL="0" lvl="0" indent="0">
                  <a:buSzPts val="1100"/>
                  <a:buNone/>
                </a:pPr>
                <a14:m>
                  <m:oMath xmlns:m="http://schemas.openxmlformats.org/officeDocument/2006/math">
                    <m:sSub>
                      <m:sSubPr>
                        <m:ctrlPr>
                          <a:rPr lang="en-US" altLang="en-US" sz="1800" i="1" dirty="0">
                            <a:latin typeface="Cambria Math" panose="02040503050406030204" pitchFamily="18" charset="0"/>
                            <a:cs typeface="Times New Roman" panose="02020603050405020304"/>
                            <a:sym typeface="Times New Roman" panose="02020603050405020304"/>
                          </a:rPr>
                        </m:ctrlPr>
                      </m:sSubPr>
                      <m:e>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𝜏</m:t>
                        </m:r>
                      </m:e>
                      <m:sub>
                        <m:r>
                          <m:rPr>
                            <m:sty m:val="p"/>
                          </m:rPr>
                          <a:rPr lang="vi-VN" altLang="en-US" sz="1800" i="1" dirty="0">
                            <a:latin typeface="Cambria Math" panose="02040503050406030204" pitchFamily="18" charset="0"/>
                            <a:cs typeface="Times New Roman" panose="02020603050405020304"/>
                            <a:sym typeface="Times New Roman" panose="02020603050405020304"/>
                          </a:rPr>
                          <m:t>ij</m:t>
                        </m:r>
                      </m:sub>
                    </m:sSub>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m:t>
                    </m:r>
                  </m:oMath>
                </a14:m>
                <a:r>
                  <a:rPr lang="en-US" sz="1800" dirty="0">
                    <a:latin typeface="Times New Roman" panose="02020603050405020304" charset="0"/>
                    <a:ea typeface="Times New Roman" panose="02020603050405020304"/>
                    <a:cs typeface="Times New Roman" panose="02020603050405020304" charset="0"/>
                    <a:sym typeface="Times New Roman" panose="02020603050405020304"/>
                  </a:rPr>
                  <a:t> ​		: </a:t>
                </a:r>
                <a:r>
                  <a:rPr lang="en-US" sz="1800" dirty="0" err="1">
                    <a:latin typeface="Times New Roman" panose="02020603050405020304" charset="0"/>
                    <a:ea typeface="Times New Roman" panose="02020603050405020304"/>
                    <a:cs typeface="Times New Roman" panose="02020603050405020304" charset="0"/>
                    <a:sym typeface="Times New Roman" panose="02020603050405020304"/>
                  </a:rPr>
                  <a:t>lượng</a:t>
                </a:r>
                <a:r>
                  <a:rPr lang="en-US" sz="1800" dirty="0">
                    <a:latin typeface="Times New Roman" panose="02020603050405020304" charset="0"/>
                    <a:ea typeface="Times New Roman" panose="02020603050405020304"/>
                    <a:cs typeface="Times New Roman" panose="02020603050405020304" charset="0"/>
                    <a:sym typeface="Times New Roman" panose="02020603050405020304"/>
                  </a:rPr>
                  <a:t> pheromone </a:t>
                </a:r>
                <a:r>
                  <a:rPr lang="en-US" sz="1800" dirty="0" err="1">
                    <a:latin typeface="Times New Roman" panose="02020603050405020304" charset="0"/>
                    <a:ea typeface="Times New Roman" panose="02020603050405020304"/>
                    <a:cs typeface="Times New Roman" panose="02020603050405020304" charset="0"/>
                    <a:sym typeface="Times New Roman" panose="02020603050405020304"/>
                  </a:rPr>
                  <a:t>trên</a:t>
                </a:r>
                <a:r>
                  <a:rPr lang="en-US" sz="1800" dirty="0">
                    <a:latin typeface="Times New Roman" panose="02020603050405020304" charset="0"/>
                    <a:ea typeface="Times New Roman" panose="02020603050405020304"/>
                    <a:cs typeface="Times New Roman" panose="02020603050405020304" charset="0"/>
                    <a:sym typeface="Times New Roman" panose="02020603050405020304"/>
                  </a:rPr>
                  <a:t> </a:t>
                </a:r>
                <a:r>
                  <a:rPr lang="en-US" sz="1800" dirty="0" err="1">
                    <a:latin typeface="Times New Roman" panose="02020603050405020304" charset="0"/>
                    <a:ea typeface="Times New Roman" panose="02020603050405020304"/>
                    <a:cs typeface="Times New Roman" panose="02020603050405020304" charset="0"/>
                    <a:sym typeface="Times New Roman" panose="02020603050405020304"/>
                  </a:rPr>
                  <a:t>cạnh</a:t>
                </a:r>
                <a:r>
                  <a:rPr lang="en-US" sz="1800" dirty="0">
                    <a:latin typeface="Times New Roman" panose="02020603050405020304" charset="0"/>
                    <a:ea typeface="Times New Roman" panose="02020603050405020304"/>
                    <a:cs typeface="Times New Roman" panose="02020603050405020304" charset="0"/>
                    <a:sym typeface="Times New Roman" panose="02020603050405020304"/>
                  </a:rPr>
                  <a:t> (</a:t>
                </a:r>
                <a:r>
                  <a:rPr lang="en-US" sz="1800" dirty="0" err="1">
                    <a:latin typeface="Times New Roman" panose="02020603050405020304" charset="0"/>
                    <a:ea typeface="Times New Roman" panose="02020603050405020304"/>
                    <a:cs typeface="Times New Roman" panose="02020603050405020304" charset="0"/>
                    <a:sym typeface="Times New Roman" panose="02020603050405020304"/>
                  </a:rPr>
                  <a:t>i</a:t>
                </a:r>
                <a:r>
                  <a:rPr lang="en-US" sz="1800" dirty="0">
                    <a:latin typeface="Times New Roman" panose="02020603050405020304" charset="0"/>
                    <a:ea typeface="Times New Roman" panose="02020603050405020304"/>
                    <a:cs typeface="Times New Roman" panose="02020603050405020304" charset="0"/>
                    <a:sym typeface="Times New Roman" panose="02020603050405020304"/>
                  </a:rPr>
                  <a:t>, j).</a:t>
                </a:r>
                <a:endParaRPr sz="1800" dirty="0">
                  <a:latin typeface="Times New Roman" panose="02020603050405020304" charset="0"/>
                  <a:ea typeface="Times New Roman" panose="02020603050405020304"/>
                  <a:cs typeface="Times New Roman" panose="02020603050405020304" charset="0"/>
                  <a:sym typeface="Times New Roman" panose="02020603050405020304"/>
                </a:endParaRPr>
              </a:p>
              <a:p>
                <a:pPr marL="0" lvl="0" indent="0">
                  <a:buSzPts val="1100"/>
                  <a:buNone/>
                </a:pPr>
                <a14:m>
                  <m:oMath xmlns:m="http://schemas.openxmlformats.org/officeDocument/2006/math">
                    <m:sSub>
                      <m:sSubPr>
                        <m:ctrlPr>
                          <a:rPr lang="en-US" altLang="en-US" sz="1800" i="1" dirty="0">
                            <a:latin typeface="Cambria Math" panose="02040503050406030204" pitchFamily="18" charset="0"/>
                            <a:cs typeface="Times New Roman" panose="02020603050405020304"/>
                            <a:sym typeface="Times New Roman" panose="02020603050405020304"/>
                          </a:rPr>
                        </m:ctrlPr>
                      </m:sSubPr>
                      <m:e>
                        <m:r>
                          <a:rPr lang="en-US" altLang="en-US" sz="1800" i="1" dirty="0" smtClean="0">
                            <a:latin typeface="Cambria Math" panose="02040503050406030204" pitchFamily="18" charset="0"/>
                            <a:ea typeface="Cambria Math" panose="02040503050406030204" pitchFamily="18" charset="0"/>
                            <a:cs typeface="Times New Roman" panose="02020603050405020304"/>
                            <a:sym typeface="Times New Roman" panose="02020603050405020304"/>
                          </a:rPr>
                          <m:t>∆</m:t>
                        </m:r>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𝜏</m:t>
                        </m:r>
                      </m:e>
                      <m:sub>
                        <m:r>
                          <m:rPr>
                            <m:sty m:val="p"/>
                          </m:rPr>
                          <a:rPr lang="vi-VN" altLang="en-US" sz="1800" i="1" dirty="0">
                            <a:latin typeface="Cambria Math" panose="02040503050406030204" pitchFamily="18" charset="0"/>
                            <a:cs typeface="Times New Roman" panose="02020603050405020304"/>
                            <a:sym typeface="Times New Roman" panose="02020603050405020304"/>
                          </a:rPr>
                          <m:t>ij</m:t>
                        </m:r>
                      </m:sub>
                    </m:sSub>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 </m:t>
                    </m:r>
                  </m:oMath>
                </a14:m>
                <a:r>
                  <a:rPr lang="en-US" sz="1800" dirty="0">
                    <a:latin typeface="Times New Roman" panose="02020603050405020304" charset="0"/>
                    <a:ea typeface="Times New Roman" panose="02020603050405020304"/>
                    <a:cs typeface="Times New Roman" panose="02020603050405020304" charset="0"/>
                    <a:sym typeface="Times New Roman" panose="02020603050405020304"/>
                  </a:rPr>
                  <a:t>		: pheromone </a:t>
                </a:r>
                <a:r>
                  <a:rPr lang="en-US" sz="1800" dirty="0" err="1">
                    <a:latin typeface="Times New Roman" panose="02020603050405020304" charset="0"/>
                    <a:ea typeface="Times New Roman" panose="02020603050405020304"/>
                    <a:cs typeface="Times New Roman" panose="02020603050405020304" charset="0"/>
                    <a:sym typeface="Times New Roman" panose="02020603050405020304"/>
                  </a:rPr>
                  <a:t>tăng</a:t>
                </a:r>
                <a:r>
                  <a:rPr lang="en-US" sz="1800" dirty="0">
                    <a:latin typeface="Times New Roman" panose="02020603050405020304" charset="0"/>
                    <a:ea typeface="Times New Roman" panose="02020603050405020304"/>
                    <a:cs typeface="Times New Roman" panose="02020603050405020304" charset="0"/>
                    <a:sym typeface="Times New Roman" panose="02020603050405020304"/>
                  </a:rPr>
                  <a:t> </a:t>
                </a:r>
                <a:r>
                  <a:rPr lang="en-US" sz="1800" dirty="0" err="1">
                    <a:latin typeface="Times New Roman" panose="02020603050405020304" charset="0"/>
                    <a:ea typeface="Times New Roman" panose="02020603050405020304"/>
                    <a:cs typeface="Times New Roman" panose="02020603050405020304" charset="0"/>
                    <a:sym typeface="Times New Roman" panose="02020603050405020304"/>
                  </a:rPr>
                  <a:t>thêm</a:t>
                </a:r>
                <a:r>
                  <a:rPr lang="en-US" sz="1800" dirty="0">
                    <a:latin typeface="Times New Roman" panose="02020603050405020304" charset="0"/>
                    <a:ea typeface="Times New Roman" panose="02020603050405020304"/>
                    <a:cs typeface="Times New Roman" panose="02020603050405020304" charset="0"/>
                    <a:sym typeface="Times New Roman" panose="02020603050405020304"/>
                  </a:rPr>
                  <a:t> do </a:t>
                </a:r>
                <a:r>
                  <a:rPr lang="en-US" sz="1800" dirty="0" err="1">
                    <a:latin typeface="Times New Roman" panose="02020603050405020304" charset="0"/>
                    <a:ea typeface="Times New Roman" panose="02020603050405020304"/>
                    <a:cs typeface="Times New Roman" panose="02020603050405020304" charset="0"/>
                    <a:sym typeface="Times New Roman" panose="02020603050405020304"/>
                  </a:rPr>
                  <a:t>kiến</a:t>
                </a:r>
                <a:r>
                  <a:rPr lang="en-US" sz="1800" dirty="0">
                    <a:latin typeface="Times New Roman" panose="02020603050405020304" charset="0"/>
                    <a:ea typeface="Times New Roman" panose="02020603050405020304"/>
                    <a:cs typeface="Times New Roman" panose="02020603050405020304" charset="0"/>
                    <a:sym typeface="Times New Roman" panose="02020603050405020304"/>
                  </a:rPr>
                  <a:t> </a:t>
                </a:r>
                <a:r>
                  <a:rPr lang="en-US" sz="1800" dirty="0" err="1">
                    <a:latin typeface="Times New Roman" panose="02020603050405020304" charset="0"/>
                    <a:ea typeface="Times New Roman" panose="02020603050405020304"/>
                    <a:cs typeface="Times New Roman" panose="02020603050405020304" charset="0"/>
                    <a:sym typeface="Times New Roman" panose="02020603050405020304"/>
                  </a:rPr>
                  <a:t>đi</a:t>
                </a:r>
                <a:r>
                  <a:rPr lang="en-US" sz="1800" dirty="0">
                    <a:latin typeface="Times New Roman" panose="02020603050405020304" charset="0"/>
                    <a:ea typeface="Times New Roman" panose="02020603050405020304"/>
                    <a:cs typeface="Times New Roman" panose="02020603050405020304" charset="0"/>
                    <a:sym typeface="Times New Roman" panose="02020603050405020304"/>
                  </a:rPr>
                  <a:t> qua </a:t>
                </a:r>
                <a:r>
                  <a:rPr lang="en-US" sz="1800" dirty="0" err="1">
                    <a:latin typeface="Times New Roman" panose="02020603050405020304" charset="0"/>
                    <a:ea typeface="Times New Roman" panose="02020603050405020304"/>
                    <a:cs typeface="Times New Roman" panose="02020603050405020304" charset="0"/>
                    <a:sym typeface="Times New Roman" panose="02020603050405020304"/>
                  </a:rPr>
                  <a:t>cạnh</a:t>
                </a:r>
                <a:r>
                  <a:rPr lang="en-US" sz="1800" dirty="0">
                    <a:latin typeface="Times New Roman" panose="02020603050405020304" charset="0"/>
                    <a:ea typeface="Times New Roman" panose="02020603050405020304"/>
                    <a:cs typeface="Times New Roman" panose="02020603050405020304" charset="0"/>
                    <a:sym typeface="Times New Roman" panose="02020603050405020304"/>
                  </a:rPr>
                  <a:t> (</a:t>
                </a:r>
                <a:r>
                  <a:rPr lang="en-US" sz="1800" dirty="0" err="1">
                    <a:latin typeface="Times New Roman" panose="02020603050405020304" charset="0"/>
                    <a:ea typeface="Times New Roman" panose="02020603050405020304"/>
                    <a:cs typeface="Times New Roman" panose="02020603050405020304" charset="0"/>
                    <a:sym typeface="Times New Roman" panose="02020603050405020304"/>
                  </a:rPr>
                  <a:t>i</a:t>
                </a:r>
                <a:r>
                  <a:rPr lang="en-US" sz="1800" dirty="0">
                    <a:latin typeface="Times New Roman" panose="02020603050405020304" charset="0"/>
                    <a:ea typeface="Times New Roman" panose="02020603050405020304"/>
                    <a:cs typeface="Times New Roman" panose="02020603050405020304" charset="0"/>
                    <a:sym typeface="Times New Roman" panose="02020603050405020304"/>
                  </a:rPr>
                  <a:t>, j).</a:t>
                </a:r>
                <a:endParaRPr lang="en-US" sz="1800" b="1" dirty="0">
                  <a:latin typeface="Times New Roman" panose="02020603050405020304" charset="0"/>
                  <a:ea typeface="Arial" panose="020B0604020202020204"/>
                  <a:cs typeface="Times New Roman" panose="02020603050405020304" charset="0"/>
                  <a:sym typeface="Arial" panose="020B0604020202020204"/>
                </a:endParaRPr>
              </a:p>
              <a:p>
                <a:pPr marL="0" lvl="0" indent="0" algn="l" rtl="0">
                  <a:spcBef>
                    <a:spcPts val="1000"/>
                  </a:spcBef>
                  <a:spcAft>
                    <a:spcPts val="0"/>
                  </a:spcAft>
                  <a:buClr>
                    <a:schemeClr val="dk1"/>
                  </a:buClr>
                  <a:buSzPts val="1100"/>
                  <a:buNone/>
                </a:pPr>
                <a14:m>
                  <m:oMath xmlns:m="http://schemas.openxmlformats.org/officeDocument/2006/math">
                    <m:r>
                      <a:rPr lang="en-US" sz="1800" i="1" dirty="0" smtClean="0">
                        <a:latin typeface="Cambria Math" panose="02040503050406030204" pitchFamily="18" charset="0"/>
                        <a:ea typeface="Times New Roman" panose="02020603050405020304"/>
                        <a:cs typeface="Times New Roman" panose="02020603050405020304" charset="0"/>
                        <a:sym typeface="Times New Roman" panose="02020603050405020304"/>
                      </a:rPr>
                      <m:t>𝜌</m:t>
                    </m:r>
                  </m:oMath>
                </a14:m>
                <a:r>
                  <a:rPr lang="en-US" sz="1800" dirty="0">
                    <a:latin typeface="Times New Roman" panose="02020603050405020304" charset="0"/>
                    <a:ea typeface="Times New Roman" panose="02020603050405020304"/>
                    <a:cs typeface="Times New Roman" panose="02020603050405020304" charset="0"/>
                    <a:sym typeface="Times New Roman" panose="02020603050405020304"/>
                  </a:rPr>
                  <a:t>		: </a:t>
                </a:r>
                <a:r>
                  <a:rPr lang="en-US" sz="1800" dirty="0" err="1">
                    <a:latin typeface="Times New Roman" panose="02020603050405020304" charset="0"/>
                    <a:ea typeface="Times New Roman" panose="02020603050405020304"/>
                    <a:cs typeface="Times New Roman" panose="02020603050405020304" charset="0"/>
                    <a:sym typeface="Times New Roman" panose="02020603050405020304"/>
                  </a:rPr>
                  <a:t>hệ</a:t>
                </a:r>
                <a:r>
                  <a:rPr lang="en-US" sz="1800" dirty="0">
                    <a:latin typeface="Times New Roman" panose="02020603050405020304" charset="0"/>
                    <a:ea typeface="Times New Roman" panose="02020603050405020304"/>
                    <a:cs typeface="Times New Roman" panose="02020603050405020304" charset="0"/>
                    <a:sym typeface="Times New Roman" panose="02020603050405020304"/>
                  </a:rPr>
                  <a:t> </a:t>
                </a:r>
                <a:r>
                  <a:rPr lang="en-US" sz="1800" dirty="0" err="1">
                    <a:latin typeface="Times New Roman" panose="02020603050405020304" charset="0"/>
                    <a:ea typeface="Times New Roman" panose="02020603050405020304"/>
                    <a:cs typeface="Times New Roman" panose="02020603050405020304" charset="0"/>
                    <a:sym typeface="Times New Roman" panose="02020603050405020304"/>
                  </a:rPr>
                  <a:t>số</a:t>
                </a:r>
                <a:r>
                  <a:rPr lang="en-US" sz="1800" dirty="0">
                    <a:latin typeface="Times New Roman" panose="02020603050405020304" charset="0"/>
                    <a:ea typeface="Times New Roman" panose="02020603050405020304"/>
                    <a:cs typeface="Times New Roman" panose="02020603050405020304" charset="0"/>
                    <a:sym typeface="Times New Roman" panose="02020603050405020304"/>
                  </a:rPr>
                  <a:t> bay </a:t>
                </a:r>
                <a:r>
                  <a:rPr lang="en-US" sz="1800" dirty="0" err="1">
                    <a:latin typeface="Times New Roman" panose="02020603050405020304" charset="0"/>
                    <a:ea typeface="Times New Roman" panose="02020603050405020304"/>
                    <a:cs typeface="Times New Roman" panose="02020603050405020304" charset="0"/>
                    <a:sym typeface="Times New Roman" panose="02020603050405020304"/>
                  </a:rPr>
                  <a:t>hơi</a:t>
                </a:r>
                <a:r>
                  <a:rPr lang="en-US" sz="1800" dirty="0">
                    <a:latin typeface="Times New Roman" panose="02020603050405020304" charset="0"/>
                    <a:ea typeface="Times New Roman" panose="02020603050405020304"/>
                    <a:cs typeface="Times New Roman" panose="02020603050405020304" charset="0"/>
                    <a:sym typeface="Times New Roman" panose="02020603050405020304"/>
                  </a:rPr>
                  <a:t> pheromone.</a:t>
                </a:r>
              </a:p>
              <a:p>
                <a:pPr marL="0" lvl="0" indent="0" algn="l" rtl="0">
                  <a:spcBef>
                    <a:spcPts val="1000"/>
                  </a:spcBef>
                  <a:spcAft>
                    <a:spcPts val="0"/>
                  </a:spcAft>
                  <a:buClr>
                    <a:schemeClr val="dk1"/>
                  </a:buClr>
                  <a:buSzPts val="1100"/>
                  <a:buNone/>
                </a:pPr>
                <a14:m>
                  <m:oMath xmlns:m="http://schemas.openxmlformats.org/officeDocument/2006/math">
                    <m:r>
                      <a:rPr lang="en-US" sz="1800" i="1" dirty="0" smtClean="0">
                        <a:latin typeface="Cambria Math" panose="02040503050406030204" pitchFamily="18" charset="0"/>
                        <a:ea typeface="Times New Roman" panose="02020603050405020304"/>
                        <a:cs typeface="Times New Roman" panose="02020603050405020304" charset="0"/>
                        <a:sym typeface="Times New Roman" panose="02020603050405020304"/>
                      </a:rPr>
                      <m:t>𝑚</m:t>
                    </m:r>
                  </m:oMath>
                </a14:m>
                <a:r>
                  <a:rPr lang="en-US" sz="1800" dirty="0">
                    <a:latin typeface="Times New Roman" panose="02020603050405020304" charset="0"/>
                    <a:ea typeface="Times New Roman" panose="02020603050405020304"/>
                    <a:cs typeface="Times New Roman" panose="02020603050405020304" charset="0"/>
                    <a:sym typeface="Times New Roman" panose="02020603050405020304"/>
                  </a:rPr>
                  <a:t>		:</a:t>
                </a:r>
                <a:r>
                  <a:rPr lang="vi-VN" sz="1800" dirty="0">
                    <a:latin typeface="Times New Roman" panose="02020603050405020304" charset="0"/>
                    <a:ea typeface="Times New Roman" panose="02020603050405020304"/>
                    <a:cs typeface="Times New Roman" panose="02020603050405020304" charset="0"/>
                    <a:sym typeface="Times New Roman" panose="02020603050405020304"/>
                  </a:rPr>
                  <a:t>số kiến</a:t>
                </a:r>
                <a:r>
                  <a:rPr lang="en-US" sz="1800" b="1" dirty="0">
                    <a:latin typeface="Times New Roman" panose="02020603050405020304" charset="0"/>
                    <a:ea typeface="Arial" panose="020B0604020202020204"/>
                    <a:cs typeface="Times New Roman" panose="02020603050405020304" charset="0"/>
                    <a:sym typeface="Arial" panose="020B0604020202020204"/>
                  </a:rPr>
                  <a:t>	</a:t>
                </a:r>
                <a:endParaRPr sz="1800" dirty="0">
                  <a:latin typeface="Times New Roman" panose="02020603050405020304" charset="0"/>
                  <a:ea typeface="Times New Roman" panose="02020603050405020304"/>
                  <a:cs typeface="Times New Roman" panose="02020603050405020304" charset="0"/>
                  <a:sym typeface="Times New Roman" panose="02020603050405020304"/>
                </a:endParaRPr>
              </a:p>
            </p:txBody>
          </p:sp>
        </mc:Choice>
        <mc:Fallback xmlns="">
          <p:sp>
            <p:nvSpPr>
              <p:cNvPr id="263" name="Google Shape;263;p40"/>
              <p:cNvSpPr txBox="1">
                <a:spLocks noRot="1" noChangeAspect="1" noMove="1" noResize="1" noEditPoints="1" noAdjustHandles="1" noChangeArrowheads="1" noChangeShapeType="1" noTextEdit="1"/>
              </p:cNvSpPr>
              <p:nvPr>
                <p:ph type="body" idx="1"/>
              </p:nvPr>
            </p:nvSpPr>
            <p:spPr>
              <a:xfrm>
                <a:off x="234950" y="963168"/>
                <a:ext cx="8674200" cy="5132700"/>
              </a:xfrm>
              <a:prstGeom prst="rect">
                <a:avLst/>
              </a:prstGeom>
              <a:blipFill rotWithShape="1">
                <a:blip r:embed="rId3"/>
                <a:stretch>
                  <a:fillRect t="-10" r="1" b="10"/>
                </a:stretch>
              </a:blipFill>
              <a:ln>
                <a:noFill/>
              </a:ln>
            </p:spPr>
            <p:txBody>
              <a:bodyPr/>
              <a:lstStyle/>
              <a:p>
                <a:r>
                  <a:rPr lang="en-US" altLang="en-US">
                    <a:noFill/>
                  </a:rPr>
                  <a:t> </a:t>
                </a:r>
              </a:p>
            </p:txBody>
          </p:sp>
        </mc:Fallback>
      </mc:AlternateContent>
      <p:pic>
        <p:nvPicPr>
          <p:cNvPr id="2" name="Picture 1"/>
          <p:cNvPicPr>
            <a:picLocks noChangeAspect="1"/>
          </p:cNvPicPr>
          <p:nvPr/>
        </p:nvPicPr>
        <p:blipFill>
          <a:blip r:embed="rId4"/>
          <a:stretch>
            <a:fillRect/>
          </a:stretch>
        </p:blipFill>
        <p:spPr>
          <a:xfrm>
            <a:off x="2267585" y="2132965"/>
            <a:ext cx="4721860" cy="109283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0"/>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32</a:t>
            </a:fld>
            <a:endParaRPr lang="en-US"/>
          </a:p>
        </p:txBody>
      </p:sp>
      <p:sp>
        <p:nvSpPr>
          <p:cNvPr id="262" name="Google Shape;262;p40"/>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latin typeface="Times New Roman" panose="02020603050405020304" charset="0"/>
                <a:cs typeface="Times New Roman" panose="02020603050405020304" charset="0"/>
                <a:sym typeface="+mn-ea"/>
              </a:rPr>
              <a:t>3. </a:t>
            </a:r>
            <a:r>
              <a:rPr lang="vi-VN" altLang="en-US">
                <a:latin typeface="Times New Roman" panose="02020603050405020304" charset="0"/>
                <a:cs typeface="Times New Roman" panose="02020603050405020304" charset="0"/>
                <a:sym typeface="+mn-ea"/>
              </a:rPr>
              <a:t>P</a:t>
            </a:r>
            <a:r>
              <a:rPr lang="en-US">
                <a:latin typeface="Times New Roman" panose="02020603050405020304" charset="0"/>
                <a:cs typeface="Times New Roman" panose="02020603050405020304" charset="0"/>
                <a:sym typeface="+mn-ea"/>
              </a:rPr>
              <a:t>hương pháp</a:t>
            </a:r>
            <a:r>
              <a:rPr lang="vi-VN" altLang="en-US">
                <a:latin typeface="Times New Roman" panose="02020603050405020304" charset="0"/>
                <a:cs typeface="Times New Roman" panose="02020603050405020304" charset="0"/>
                <a:sym typeface="+mn-ea"/>
              </a:rPr>
              <a:t> đề xuất</a:t>
            </a:r>
            <a:r>
              <a:rPr lang="en-US">
                <a:latin typeface="Times New Roman" panose="02020603050405020304" charset="0"/>
                <a:cs typeface="Times New Roman" panose="02020603050405020304" charset="0"/>
                <a:sym typeface="+mn-ea"/>
              </a:rPr>
              <a:t> AC-ACO</a:t>
            </a:r>
            <a:br>
              <a:rPr lang="en-US">
                <a:latin typeface="Times New Roman" panose="02020603050405020304" charset="0"/>
                <a:cs typeface="Times New Roman" panose="02020603050405020304" charset="0"/>
                <a:sym typeface="+mn-ea"/>
              </a:rPr>
            </a:br>
            <a:endParaRPr lang="en-US">
              <a:latin typeface="Times New Roman" panose="02020603050405020304" charset="0"/>
              <a:cs typeface="Times New Roman" panose="02020603050405020304" charset="0"/>
            </a:endParaRPr>
          </a:p>
        </p:txBody>
      </p:sp>
      <mc:AlternateContent xmlns:mc="http://schemas.openxmlformats.org/markup-compatibility/2006" xmlns:a14="http://schemas.microsoft.com/office/drawing/2010/main">
        <mc:Choice Requires="a14">
          <p:sp>
            <p:nvSpPr>
              <p:cNvPr id="263" name="Google Shape;263;p40"/>
              <p:cNvSpPr txBox="1">
                <a:spLocks noGrp="1"/>
              </p:cNvSpPr>
              <p:nvPr>
                <p:ph type="body" idx="1"/>
              </p:nvPr>
            </p:nvSpPr>
            <p:spPr>
              <a:xfrm>
                <a:off x="234950" y="963168"/>
                <a:ext cx="8674200" cy="51327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sz="1800" dirty="0">
                    <a:latin typeface="Times New Roman" panose="02020603050405020304" charset="0"/>
                    <a:ea typeface="Times New Roman" panose="02020603050405020304"/>
                    <a:cs typeface="Times New Roman" panose="02020603050405020304" charset="0"/>
                    <a:sym typeface="Times New Roman" panose="02020603050405020304"/>
                  </a:rPr>
                  <a:t>Chi </a:t>
                </a:r>
                <a:r>
                  <a:rPr lang="en-US" sz="1800" dirty="0" err="1">
                    <a:latin typeface="Times New Roman" panose="02020603050405020304" charset="0"/>
                    <a:ea typeface="Times New Roman" panose="02020603050405020304"/>
                    <a:cs typeface="Times New Roman" panose="02020603050405020304" charset="0"/>
                    <a:sym typeface="Times New Roman" panose="02020603050405020304"/>
                  </a:rPr>
                  <a:t>tiết</a:t>
                </a:r>
                <a:r>
                  <a:rPr lang="en-US" sz="1800" dirty="0">
                    <a:latin typeface="Times New Roman" panose="02020603050405020304" charset="0"/>
                    <a:ea typeface="Times New Roman" panose="02020603050405020304"/>
                    <a:cs typeface="Times New Roman" panose="02020603050405020304" charset="0"/>
                    <a:sym typeface="Times New Roman" panose="02020603050405020304"/>
                  </a:rPr>
                  <a:t> </a:t>
                </a:r>
                <a:r>
                  <a:rPr lang="en-US" sz="1800" dirty="0" err="1">
                    <a:latin typeface="Times New Roman" panose="02020603050405020304" charset="0"/>
                    <a:ea typeface="Times New Roman" panose="02020603050405020304"/>
                    <a:cs typeface="Times New Roman" panose="02020603050405020304" charset="0"/>
                    <a:sym typeface="Times New Roman" panose="02020603050405020304"/>
                  </a:rPr>
                  <a:t>về</a:t>
                </a:r>
                <a:r>
                  <a:rPr lang="en-US" sz="1800" dirty="0">
                    <a:latin typeface="Times New Roman" panose="02020603050405020304" charset="0"/>
                    <a:ea typeface="Times New Roman" panose="02020603050405020304"/>
                    <a:cs typeface="Times New Roman" panose="02020603050405020304" charset="0"/>
                    <a:sym typeface="Times New Roman" panose="02020603050405020304"/>
                  </a:rPr>
                  <a:t> </a:t>
                </a:r>
                <a:r>
                  <a:rPr lang="en-US" sz="1800" dirty="0" err="1">
                    <a:latin typeface="Times New Roman" panose="02020603050405020304" charset="0"/>
                    <a:ea typeface="Times New Roman" panose="02020603050405020304"/>
                    <a:cs typeface="Times New Roman" panose="02020603050405020304" charset="0"/>
                    <a:sym typeface="Times New Roman" panose="02020603050405020304"/>
                  </a:rPr>
                  <a:t>Thuật</a:t>
                </a:r>
                <a:r>
                  <a:rPr lang="en-US" sz="1800" dirty="0">
                    <a:latin typeface="Times New Roman" panose="02020603050405020304" charset="0"/>
                    <a:ea typeface="Times New Roman" panose="02020603050405020304"/>
                    <a:cs typeface="Times New Roman" panose="02020603050405020304" charset="0"/>
                    <a:sym typeface="Times New Roman" panose="02020603050405020304"/>
                  </a:rPr>
                  <a:t> </a:t>
                </a:r>
                <a:r>
                  <a:rPr lang="en-US" sz="1800" dirty="0" err="1">
                    <a:latin typeface="Times New Roman" panose="02020603050405020304" charset="0"/>
                    <a:ea typeface="Times New Roman" panose="02020603050405020304"/>
                    <a:cs typeface="Times New Roman" panose="02020603050405020304" charset="0"/>
                    <a:sym typeface="Times New Roman" panose="02020603050405020304"/>
                  </a:rPr>
                  <a:t>toán</a:t>
                </a:r>
                <a:r>
                  <a:rPr lang="en-US" sz="1800" dirty="0">
                    <a:latin typeface="Times New Roman" panose="02020603050405020304" charset="0"/>
                    <a:ea typeface="Times New Roman" panose="02020603050405020304"/>
                    <a:cs typeface="Times New Roman" panose="02020603050405020304" charset="0"/>
                    <a:sym typeface="Times New Roman" panose="02020603050405020304"/>
                  </a:rPr>
                  <a:t> ACO</a:t>
                </a:r>
                <a:endParaRPr sz="1800" dirty="0">
                  <a:latin typeface="Times New Roman" panose="02020603050405020304" charset="0"/>
                  <a:ea typeface="Times New Roman" panose="02020603050405020304"/>
                  <a:cs typeface="Times New Roman" panose="02020603050405020304" charset="0"/>
                  <a:sym typeface="Times New Roman" panose="02020603050405020304"/>
                </a:endParaRPr>
              </a:p>
              <a:p>
                <a:pPr marL="0" lvl="0" indent="0" algn="l" rtl="0">
                  <a:lnSpc>
                    <a:spcPct val="90000"/>
                  </a:lnSpc>
                  <a:spcBef>
                    <a:spcPts val="0"/>
                  </a:spcBef>
                  <a:spcAft>
                    <a:spcPts val="0"/>
                  </a:spcAft>
                  <a:buClr>
                    <a:schemeClr val="dk1"/>
                  </a:buClr>
                  <a:buSzPts val="1800"/>
                  <a:buNone/>
                </a:pPr>
                <a:endParaRPr sz="1800" dirty="0">
                  <a:latin typeface="Times New Roman" panose="02020603050405020304" charset="0"/>
                  <a:ea typeface="Times New Roman" panose="02020603050405020304"/>
                  <a:cs typeface="Times New Roman" panose="02020603050405020304" charset="0"/>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altLang="en-US" sz="1800" b="1" dirty="0">
                    <a:latin typeface="Times New Roman" panose="02020603050405020304" charset="0"/>
                    <a:ea typeface="Arial" panose="020B0604020202020204"/>
                    <a:cs typeface="Times New Roman" panose="02020603050405020304" charset="0"/>
                    <a:sym typeface="Arial" panose="020B0604020202020204"/>
                  </a:rPr>
                  <a:t>(5) </a:t>
                </a:r>
                <a:r>
                  <a:rPr lang="en-US" altLang="en-US" sz="1800" b="1" dirty="0" err="1">
                    <a:latin typeface="Times New Roman" panose="02020603050405020304" charset="0"/>
                    <a:ea typeface="Arial" panose="020B0604020202020204"/>
                    <a:cs typeface="Times New Roman" panose="02020603050405020304" charset="0"/>
                    <a:sym typeface="Arial" panose="020B0604020202020204"/>
                  </a:rPr>
                  <a:t>Lượng</a:t>
                </a:r>
                <a:r>
                  <a:rPr lang="en-US" altLang="en-US" sz="1800" b="1" dirty="0">
                    <a:latin typeface="Times New Roman" panose="02020603050405020304" charset="0"/>
                    <a:ea typeface="Arial" panose="020B0604020202020204"/>
                    <a:cs typeface="Times New Roman" panose="02020603050405020304" charset="0"/>
                    <a:sym typeface="Arial" panose="020B0604020202020204"/>
                  </a:rPr>
                  <a:t> pheromone </a:t>
                </a:r>
                <a:r>
                  <a:rPr lang="en-US" altLang="en-US" sz="1800" b="1" dirty="0" err="1">
                    <a:latin typeface="Times New Roman" panose="02020603050405020304" charset="0"/>
                    <a:ea typeface="Arial" panose="020B0604020202020204"/>
                    <a:cs typeface="Times New Roman" panose="02020603050405020304" charset="0"/>
                    <a:sym typeface="Arial" panose="020B0604020202020204"/>
                  </a:rPr>
                  <a:t>được</a:t>
                </a:r>
                <a:r>
                  <a:rPr lang="en-US" altLang="en-US" sz="1800" b="1"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b="1" dirty="0" err="1">
                    <a:latin typeface="Times New Roman" panose="02020603050405020304" charset="0"/>
                    <a:ea typeface="Arial" panose="020B0604020202020204"/>
                    <a:cs typeface="Times New Roman" panose="02020603050405020304" charset="0"/>
                    <a:sym typeface="Arial" panose="020B0604020202020204"/>
                  </a:rPr>
                  <a:t>cập</a:t>
                </a:r>
                <a:r>
                  <a:rPr lang="en-US" altLang="en-US" sz="1800" b="1"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b="1" dirty="0" err="1">
                    <a:latin typeface="Times New Roman" panose="02020603050405020304" charset="0"/>
                    <a:ea typeface="Arial" panose="020B0604020202020204"/>
                    <a:cs typeface="Times New Roman" panose="02020603050405020304" charset="0"/>
                    <a:sym typeface="Arial" panose="020B0604020202020204"/>
                  </a:rPr>
                  <a:t>nhật</a:t>
                </a:r>
                <a:endParaRPr lang="en-US" altLang="en-US" sz="1800" b="1" dirty="0">
                  <a:latin typeface="Times New Roman" panose="02020603050405020304" charset="0"/>
                  <a:ea typeface="Arial" panose="020B0604020202020204"/>
                  <a:cs typeface="Times New Roman" panose="02020603050405020304" charset="0"/>
                  <a:sym typeface="Arial" panose="020B0604020202020204"/>
                </a:endParaRPr>
              </a:p>
              <a:p>
                <a:pPr marL="0" lvl="0" indent="0" algn="l" rtl="0">
                  <a:lnSpc>
                    <a:spcPct val="90000"/>
                  </a:lnSpc>
                  <a:spcBef>
                    <a:spcPts val="1000"/>
                  </a:spcBef>
                  <a:spcAft>
                    <a:spcPts val="0"/>
                  </a:spcAft>
                  <a:buClr>
                    <a:schemeClr val="dk1"/>
                  </a:buClr>
                  <a:buSzPts val="1800"/>
                  <a:buNone/>
                </a:pPr>
                <a:endParaRPr sz="1800" b="1" dirty="0">
                  <a:latin typeface="Times New Roman" panose="02020603050405020304" charset="0"/>
                  <a:ea typeface="Arial" panose="020B0604020202020204"/>
                  <a:cs typeface="Times New Roman" panose="02020603050405020304" charset="0"/>
                  <a:sym typeface="Arial" panose="020B0604020202020204"/>
                </a:endParaRPr>
              </a:p>
              <a:p>
                <a:pPr marL="0" lvl="0" indent="0" algn="l" rtl="0">
                  <a:lnSpc>
                    <a:spcPct val="90000"/>
                  </a:lnSpc>
                  <a:spcBef>
                    <a:spcPts val="1000"/>
                  </a:spcBef>
                  <a:spcAft>
                    <a:spcPts val="0"/>
                  </a:spcAft>
                  <a:buClr>
                    <a:schemeClr val="dk1"/>
                  </a:buClr>
                  <a:buSzPts val="1800"/>
                  <a:buNone/>
                </a:pPr>
                <a:r>
                  <a:rPr lang="en-US" sz="1800" b="1"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b="1" dirty="0">
                    <a:latin typeface="Times New Roman" panose="02020603050405020304"/>
                    <a:ea typeface="Times New Roman" panose="02020603050405020304"/>
                    <a:cs typeface="Times New Roman" panose="02020603050405020304"/>
                    <a:sym typeface="Times New Roman" panose="02020603050405020304"/>
                  </a:rPr>
                  <a:t>(5) </a:t>
                </a:r>
                <a:endParaRPr lang="en-US" altLang="en-US" sz="1800" b="1" dirty="0">
                  <a:latin typeface="Times New Roman" panose="02020603050405020304" charset="0"/>
                  <a:ea typeface="Arial" panose="020B0604020202020204"/>
                  <a:cs typeface="Times New Roman" panose="02020603050405020304" charset="0"/>
                  <a:sym typeface="Arial" panose="020B0604020202020204"/>
                </a:endParaRPr>
              </a:p>
              <a:p>
                <a:pPr marL="0" lvl="0" indent="0" algn="l" rtl="0">
                  <a:lnSpc>
                    <a:spcPct val="90000"/>
                  </a:lnSpc>
                  <a:spcBef>
                    <a:spcPts val="1000"/>
                  </a:spcBef>
                  <a:spcAft>
                    <a:spcPts val="0"/>
                  </a:spcAft>
                  <a:buClr>
                    <a:schemeClr val="dk1"/>
                  </a:buClr>
                  <a:buSzPts val="1800"/>
                  <a:buNone/>
                </a:pPr>
                <a:endParaRPr sz="1800" b="1" dirty="0">
                  <a:latin typeface="Times New Roman" panose="02020603050405020304" charset="0"/>
                  <a:ea typeface="Times New Roman" panose="02020603050405020304"/>
                  <a:cs typeface="Times New Roman" panose="02020603050405020304" charset="0"/>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b="1" dirty="0">
                  <a:latin typeface="Times New Roman" panose="02020603050405020304" charset="0"/>
                  <a:ea typeface="Times New Roman" panose="02020603050405020304"/>
                  <a:cs typeface="Times New Roman" panose="02020603050405020304" charset="0"/>
                  <a:sym typeface="Times New Roman" panose="02020603050405020304"/>
                </a:endParaRPr>
              </a:p>
              <a:p>
                <a:pPr marL="0" lvl="0" indent="0" algn="l" rtl="0">
                  <a:lnSpc>
                    <a:spcPct val="90000"/>
                  </a:lnSpc>
                  <a:spcBef>
                    <a:spcPts val="1000"/>
                  </a:spcBef>
                  <a:spcAft>
                    <a:spcPts val="0"/>
                  </a:spcAft>
                  <a:buClr>
                    <a:schemeClr val="dk1"/>
                  </a:buClr>
                  <a:buSzPts val="1800"/>
                  <a:buNone/>
                </a:pPr>
                <a:r>
                  <a:rPr lang="zh-CN" altLang="en-US" sz="1800" b="1" dirty="0">
                    <a:latin typeface="Times New Roman" panose="02020603050405020304" charset="0"/>
                    <a:ea typeface="Times New Roman" panose="02020603050405020304"/>
                    <a:cs typeface="Times New Roman" panose="02020603050405020304" charset="0"/>
                    <a:sym typeface="Times New Roman" panose="02020603050405020304"/>
                  </a:rPr>
                  <a:t>🔹</a:t>
                </a:r>
                <a:r>
                  <a:rPr lang="en-US" altLang="en-US" sz="1800" b="1" dirty="0">
                    <a:latin typeface="Times New Roman" panose="02020603050405020304" charset="0"/>
                    <a:ea typeface="Times New Roman" panose="02020603050405020304"/>
                    <a:cs typeface="Times New Roman" panose="02020603050405020304" charset="0"/>
                    <a:sym typeface="Times New Roman" panose="02020603050405020304"/>
                  </a:rPr>
                  <a:t> </a:t>
                </a:r>
                <a:r>
                  <a:rPr lang="en-US" altLang="en-US" sz="1800" b="1" dirty="0" err="1">
                    <a:latin typeface="Times New Roman" panose="02020603050405020304" charset="0"/>
                    <a:ea typeface="Times New Roman" panose="02020603050405020304"/>
                    <a:cs typeface="Times New Roman" panose="02020603050405020304" charset="0"/>
                    <a:sym typeface="Times New Roman" panose="02020603050405020304"/>
                  </a:rPr>
                  <a:t>Ý</a:t>
                </a:r>
                <a:r>
                  <a:rPr lang="en-US" altLang="en-US" sz="1800" b="1" dirty="0">
                    <a:latin typeface="Times New Roman" panose="02020603050405020304" charset="0"/>
                    <a:ea typeface="Times New Roman" panose="02020603050405020304"/>
                    <a:cs typeface="Times New Roman" panose="02020603050405020304" charset="0"/>
                    <a:sym typeface="Times New Roman" panose="02020603050405020304"/>
                  </a:rPr>
                  <a:t> </a:t>
                </a:r>
                <a:r>
                  <a:rPr lang="en-US" altLang="en-US" sz="1800" b="1" dirty="0" err="1">
                    <a:latin typeface="Times New Roman" panose="02020603050405020304" charset="0"/>
                    <a:ea typeface="Times New Roman" panose="02020603050405020304"/>
                    <a:cs typeface="Times New Roman" panose="02020603050405020304" charset="0"/>
                    <a:sym typeface="Times New Roman" panose="02020603050405020304"/>
                  </a:rPr>
                  <a:t>nghĩa</a:t>
                </a:r>
                <a:r>
                  <a:rPr lang="en-US" altLang="en-US" sz="1800" b="1" dirty="0">
                    <a:latin typeface="Times New Roman" panose="02020603050405020304" charset="0"/>
                    <a:ea typeface="Times New Roman" panose="02020603050405020304"/>
                    <a:cs typeface="Times New Roman" panose="02020603050405020304" charset="0"/>
                    <a:sym typeface="Times New Roman" panose="02020603050405020304"/>
                  </a:rPr>
                  <a:t>: </a:t>
                </a:r>
                <a:r>
                  <a:rPr lang="en-US" altLang="en-US" sz="1800" dirty="0" err="1">
                    <a:latin typeface="Times New Roman" panose="02020603050405020304" charset="0"/>
                    <a:ea typeface="Times New Roman" panose="02020603050405020304"/>
                    <a:cs typeface="Times New Roman" panose="02020603050405020304" charset="0"/>
                    <a:sym typeface="Times New Roman" panose="02020603050405020304"/>
                  </a:rPr>
                  <a:t>Càng</a:t>
                </a:r>
                <a:r>
                  <a:rPr lang="en-US" altLang="en-US" sz="1800" dirty="0">
                    <a:latin typeface="Times New Roman" panose="02020603050405020304" charset="0"/>
                    <a:ea typeface="Times New Roman" panose="02020603050405020304"/>
                    <a:cs typeface="Times New Roman" panose="02020603050405020304" charset="0"/>
                    <a:sym typeface="Times New Roman" panose="02020603050405020304"/>
                  </a:rPr>
                  <a:t> </a:t>
                </a:r>
                <a:r>
                  <a:rPr lang="en-US" altLang="en-US" sz="1800" dirty="0" err="1">
                    <a:latin typeface="Times New Roman" panose="02020603050405020304" charset="0"/>
                    <a:ea typeface="Times New Roman" panose="02020603050405020304"/>
                    <a:cs typeface="Times New Roman" panose="02020603050405020304" charset="0"/>
                    <a:sym typeface="Times New Roman" panose="02020603050405020304"/>
                  </a:rPr>
                  <a:t>tối</a:t>
                </a:r>
                <a:r>
                  <a:rPr lang="en-US" altLang="en-US" sz="1800" dirty="0">
                    <a:latin typeface="Times New Roman" panose="02020603050405020304" charset="0"/>
                    <a:ea typeface="Times New Roman" panose="02020603050405020304"/>
                    <a:cs typeface="Times New Roman" panose="02020603050405020304" charset="0"/>
                    <a:sym typeface="Times New Roman" panose="02020603050405020304"/>
                  </a:rPr>
                  <a:t> </a:t>
                </a:r>
                <a:r>
                  <a:rPr lang="en-US" altLang="en-US" sz="1800" dirty="0" err="1">
                    <a:latin typeface="Times New Roman" panose="02020603050405020304" charset="0"/>
                    <a:ea typeface="Times New Roman" panose="02020603050405020304"/>
                    <a:cs typeface="Times New Roman" panose="02020603050405020304" charset="0"/>
                    <a:sym typeface="Times New Roman" panose="02020603050405020304"/>
                  </a:rPr>
                  <a:t>ưu</a:t>
                </a:r>
                <a:r>
                  <a:rPr lang="en-US" altLang="en-US" sz="1800" dirty="0">
                    <a:latin typeface="Times New Roman" panose="02020603050405020304" charset="0"/>
                    <a:ea typeface="Times New Roman" panose="02020603050405020304"/>
                    <a:cs typeface="Times New Roman" panose="02020603050405020304" charset="0"/>
                    <a:sym typeface="Times New Roman" panose="02020603050405020304"/>
                  </a:rPr>
                  <a:t> (</a:t>
                </a:r>
                <a:r>
                  <a:rPr lang="en-US" altLang="en-US" sz="1800" dirty="0" err="1">
                    <a:latin typeface="Times New Roman" panose="02020603050405020304" charset="0"/>
                    <a:ea typeface="Times New Roman" panose="02020603050405020304"/>
                    <a:cs typeface="Times New Roman" panose="02020603050405020304" charset="0"/>
                    <a:sym typeface="Times New Roman" panose="02020603050405020304"/>
                  </a:rPr>
                  <a:t>đường</a:t>
                </a:r>
                <a:r>
                  <a:rPr lang="en-US" altLang="en-US" sz="1800" dirty="0">
                    <a:latin typeface="Times New Roman" panose="02020603050405020304" charset="0"/>
                    <a:ea typeface="Times New Roman" panose="02020603050405020304"/>
                    <a:cs typeface="Times New Roman" panose="02020603050405020304" charset="0"/>
                    <a:sym typeface="Times New Roman" panose="02020603050405020304"/>
                  </a:rPr>
                  <a:t> </a:t>
                </a:r>
                <a:r>
                  <a:rPr lang="en-US" altLang="en-US" sz="1800" dirty="0" err="1">
                    <a:latin typeface="Times New Roman" panose="02020603050405020304" charset="0"/>
                    <a:ea typeface="Times New Roman" panose="02020603050405020304"/>
                    <a:cs typeface="Times New Roman" panose="02020603050405020304" charset="0"/>
                    <a:sym typeface="Times New Roman" panose="02020603050405020304"/>
                  </a:rPr>
                  <a:t>ngắn</a:t>
                </a:r>
                <a:r>
                  <a:rPr lang="en-US" altLang="en-US" sz="1800" dirty="0">
                    <a:latin typeface="Times New Roman" panose="02020603050405020304" charset="0"/>
                    <a:ea typeface="Times New Roman" panose="02020603050405020304"/>
                    <a:cs typeface="Times New Roman" panose="02020603050405020304" charset="0"/>
                    <a:sym typeface="Times New Roman" panose="02020603050405020304"/>
                  </a:rPr>
                  <a:t> </a:t>
                </a:r>
                <a:r>
                  <a:rPr lang="en-US" altLang="en-US" sz="1800" dirty="0" err="1">
                    <a:latin typeface="Times New Roman" panose="02020603050405020304" charset="0"/>
                    <a:ea typeface="Times New Roman" panose="02020603050405020304"/>
                    <a:cs typeface="Times New Roman" panose="02020603050405020304" charset="0"/>
                    <a:sym typeface="Times New Roman" panose="02020603050405020304"/>
                  </a:rPr>
                  <a:t>hơn</a:t>
                </a:r>
                <a:r>
                  <a:rPr lang="en-US" altLang="en-US" sz="1800" dirty="0">
                    <a:latin typeface="Times New Roman" panose="02020603050405020304" charset="0"/>
                    <a:ea typeface="Times New Roman" panose="02020603050405020304"/>
                    <a:cs typeface="Times New Roman" panose="02020603050405020304" charset="0"/>
                    <a:sym typeface="Times New Roman" panose="02020603050405020304"/>
                  </a:rPr>
                  <a:t>), pheromone </a:t>
                </a:r>
                <a:r>
                  <a:rPr lang="en-US" altLang="en-US" sz="1800" dirty="0" err="1">
                    <a:latin typeface="Times New Roman" panose="02020603050405020304" charset="0"/>
                    <a:ea typeface="Times New Roman" panose="02020603050405020304"/>
                    <a:cs typeface="Times New Roman" panose="02020603050405020304" charset="0"/>
                    <a:sym typeface="Times New Roman" panose="02020603050405020304"/>
                  </a:rPr>
                  <a:t>càng</a:t>
                </a:r>
                <a:r>
                  <a:rPr lang="en-US" altLang="en-US" sz="1800" dirty="0">
                    <a:latin typeface="Times New Roman" panose="02020603050405020304" charset="0"/>
                    <a:ea typeface="Times New Roman" panose="02020603050405020304"/>
                    <a:cs typeface="Times New Roman" panose="02020603050405020304" charset="0"/>
                    <a:sym typeface="Times New Roman" panose="02020603050405020304"/>
                  </a:rPr>
                  <a:t> </a:t>
                </a:r>
                <a:r>
                  <a:rPr lang="en-US" altLang="en-US" sz="1800" dirty="0" err="1">
                    <a:latin typeface="Times New Roman" panose="02020603050405020304" charset="0"/>
                    <a:ea typeface="Times New Roman" panose="02020603050405020304"/>
                    <a:cs typeface="Times New Roman" panose="02020603050405020304" charset="0"/>
                    <a:sym typeface="Times New Roman" panose="02020603050405020304"/>
                  </a:rPr>
                  <a:t>nhiều</a:t>
                </a:r>
                <a:r>
                  <a:rPr lang="en-US" altLang="en-US" sz="1800" dirty="0">
                    <a:latin typeface="Times New Roman" panose="02020603050405020304" charset="0"/>
                    <a:ea typeface="Times New Roman" panose="02020603050405020304"/>
                    <a:cs typeface="Times New Roman" panose="02020603050405020304" charset="0"/>
                    <a:sym typeface="Times New Roman" panose="02020603050405020304"/>
                  </a:rPr>
                  <a:t>.</a:t>
                </a:r>
              </a:p>
              <a:p>
                <a:pPr marL="0" lvl="0" indent="0">
                  <a:buSzPts val="1800"/>
                  <a:buNone/>
                </a:pPr>
                <a14:m>
                  <m:oMath xmlns:m="http://schemas.openxmlformats.org/officeDocument/2006/math">
                    <m:sSub>
                      <m:sSubPr>
                        <m:ctrlPr>
                          <a:rPr lang="en-US" altLang="en-US" sz="1800" i="1" dirty="0">
                            <a:latin typeface="Cambria Math" panose="02040503050406030204" pitchFamily="18" charset="0"/>
                            <a:cs typeface="Times New Roman" panose="02020603050405020304"/>
                            <a:sym typeface="Times New Roman" panose="02020603050405020304"/>
                          </a:rPr>
                        </m:ctrlPr>
                      </m:sSubPr>
                      <m:e>
                        <m:r>
                          <a:rPr lang="en-US" altLang="en-US" sz="1800" i="1" dirty="0">
                            <a:latin typeface="Cambria Math" panose="02040503050406030204" pitchFamily="18" charset="0"/>
                            <a:ea typeface="Cambria Math" panose="02040503050406030204" pitchFamily="18" charset="0"/>
                            <a:cs typeface="Times New Roman" panose="02020603050405020304"/>
                            <a:sym typeface="Times New Roman" panose="02020603050405020304"/>
                          </a:rPr>
                          <m:t>∆</m:t>
                        </m:r>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𝜏</m:t>
                        </m:r>
                      </m:e>
                      <m:sub>
                        <m:r>
                          <m:rPr>
                            <m:sty m:val="p"/>
                          </m:rPr>
                          <a:rPr lang="vi-VN" altLang="en-US" sz="1800" i="1" dirty="0">
                            <a:latin typeface="Cambria Math" panose="02040503050406030204" pitchFamily="18" charset="0"/>
                            <a:cs typeface="Times New Roman" panose="02020603050405020304"/>
                            <a:sym typeface="Times New Roman" panose="02020603050405020304"/>
                          </a:rPr>
                          <m:t>ij</m:t>
                        </m:r>
                      </m:sub>
                    </m:sSub>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m:t>
                    </m:r>
                  </m:oMath>
                </a14:m>
                <a:r>
                  <a:rPr lang="vi-VN" sz="1800" dirty="0">
                    <a:latin typeface="Times New Roman" panose="02020603050405020304" charset="0"/>
                    <a:ea typeface="Times New Roman" panose="02020603050405020304"/>
                    <a:cs typeface="Times New Roman" panose="02020603050405020304" charset="0"/>
                    <a:sym typeface="Times New Roman" panose="02020603050405020304"/>
                  </a:rPr>
                  <a:t>                 pheromone tăng thêm do kiến đi qua cạnh (i,j)</a:t>
                </a:r>
              </a:p>
              <a:p>
                <a:pPr marL="0" lvl="0" indent="0">
                  <a:buSzPts val="1800"/>
                  <a:buNone/>
                </a:pPr>
                <a14:m>
                  <m:oMath xmlns:m="http://schemas.openxmlformats.org/officeDocument/2006/math">
                    <m:r>
                      <m:rPr>
                        <m:sty m:val="p"/>
                      </m:rPr>
                      <a:rPr lang="vi-VN" sz="1800" i="1" dirty="0">
                        <a:latin typeface="Cambria Math" panose="02040503050406030204" pitchFamily="18" charset="0"/>
                        <a:ea typeface="Times New Roman" panose="02020603050405020304"/>
                        <a:cs typeface="Times New Roman" panose="02020603050405020304" charset="0"/>
                        <a:sym typeface="Times New Roman" panose="02020603050405020304"/>
                      </a:rPr>
                      <m:t>Q</m:t>
                    </m:r>
                  </m:oMath>
                </a14:m>
                <a:r>
                  <a:rPr lang="vi-VN" sz="1800" dirty="0">
                    <a:latin typeface="Times New Roman" panose="02020603050405020304" charset="0"/>
                    <a:ea typeface="Times New Roman" panose="02020603050405020304"/>
                    <a:cs typeface="Times New Roman" panose="02020603050405020304" charset="0"/>
                    <a:sym typeface="Times New Roman" panose="02020603050405020304"/>
                  </a:rPr>
                  <a:t>                     hằng số cường độ pheromone</a:t>
                </a:r>
              </a:p>
              <a:p>
                <a:pPr marL="0" lvl="0" indent="0">
                  <a:buSzPts val="1800"/>
                  <a:buNone/>
                </a:pPr>
                <a14:m>
                  <m:oMath xmlns:m="http://schemas.openxmlformats.org/officeDocument/2006/math">
                    <m:sSub>
                      <m:sSubPr>
                        <m:ctrlPr>
                          <a:rPr lang="vi-VN" sz="1800" i="1" smtClean="0">
                            <a:latin typeface="Cambria Math" panose="02040503050406030204" pitchFamily="18" charset="0"/>
                            <a:cs typeface="Times New Roman" panose="02020603050405020304" charset="0"/>
                            <a:sym typeface="Times New Roman" panose="02020603050405020304"/>
                          </a:rPr>
                        </m:ctrlPr>
                      </m:sSubPr>
                      <m:e>
                        <m:r>
                          <m:rPr>
                            <m:sty m:val="p"/>
                          </m:rPr>
                          <a:rPr lang="vi-VN" sz="1800" i="1">
                            <a:latin typeface="Cambria Math" panose="02040503050406030204" pitchFamily="18" charset="0"/>
                            <a:cs typeface="Times New Roman" panose="02020603050405020304" charset="0"/>
                            <a:sym typeface="Times New Roman" panose="02020603050405020304"/>
                          </a:rPr>
                          <m:t>L</m:t>
                        </m:r>
                      </m:e>
                      <m:sub>
                        <m:r>
                          <m:rPr>
                            <m:sty m:val="p"/>
                          </m:rPr>
                          <a:rPr lang="vi-VN" sz="1800" i="1">
                            <a:latin typeface="Cambria Math" panose="02040503050406030204" pitchFamily="18" charset="0"/>
                            <a:cs typeface="Times New Roman" panose="02020603050405020304" charset="0"/>
                            <a:sym typeface="Times New Roman" panose="02020603050405020304"/>
                          </a:rPr>
                          <m:t>k</m:t>
                        </m:r>
                      </m:sub>
                    </m:sSub>
                  </m:oMath>
                </a14:m>
                <a:r>
                  <a:rPr lang="vi-VN" sz="1800" dirty="0">
                    <a:latin typeface="Times New Roman" panose="02020603050405020304" charset="0"/>
                    <a:ea typeface="Times New Roman" panose="02020603050405020304"/>
                    <a:cs typeface="Times New Roman" panose="02020603050405020304" charset="0"/>
                    <a:sym typeface="Times New Roman" panose="02020603050405020304"/>
                  </a:rPr>
                  <a:t>                    độ dài hành trình của kiến k</a:t>
                </a:r>
              </a:p>
              <a:p>
                <a:pPr marL="0" lvl="0" indent="0">
                  <a:buSzPts val="1800"/>
                  <a:buNone/>
                </a:pPr>
                <a:endParaRPr sz="1800" dirty="0">
                  <a:latin typeface="Times New Roman" panose="02020603050405020304" charset="0"/>
                  <a:ea typeface="Times New Roman" panose="02020603050405020304"/>
                  <a:cs typeface="Times New Roman" panose="02020603050405020304" charset="0"/>
                  <a:sym typeface="Times New Roman" panose="02020603050405020304"/>
                </a:endParaRPr>
              </a:p>
            </p:txBody>
          </p:sp>
        </mc:Choice>
        <mc:Fallback xmlns="">
          <p:sp>
            <p:nvSpPr>
              <p:cNvPr id="263" name="Google Shape;263;p40"/>
              <p:cNvSpPr txBox="1">
                <a:spLocks noRot="1" noChangeAspect="1" noMove="1" noResize="1" noEditPoints="1" noAdjustHandles="1" noChangeArrowheads="1" noChangeShapeType="1" noTextEdit="1"/>
              </p:cNvSpPr>
              <p:nvPr>
                <p:ph type="body" idx="1"/>
              </p:nvPr>
            </p:nvSpPr>
            <p:spPr>
              <a:xfrm>
                <a:off x="234950" y="963168"/>
                <a:ext cx="8674200" cy="5132700"/>
              </a:xfrm>
              <a:prstGeom prst="rect">
                <a:avLst/>
              </a:prstGeom>
              <a:blipFill rotWithShape="1">
                <a:blip r:embed="rId3"/>
                <a:stretch>
                  <a:fillRect t="-10" r="1" b="10"/>
                </a:stretch>
              </a:blipFill>
              <a:ln>
                <a:noFill/>
              </a:ln>
            </p:spPr>
            <p:txBody>
              <a:bodyPr/>
              <a:lstStyle/>
              <a:p>
                <a:r>
                  <a:rPr lang="en-US" altLang="en-US">
                    <a:noFill/>
                  </a:rPr>
                  <a:t> </a:t>
                </a:r>
              </a:p>
            </p:txBody>
          </p:sp>
        </mc:Fallback>
      </mc:AlternateContent>
      <p:pic>
        <p:nvPicPr>
          <p:cNvPr id="2" name="Picture 1"/>
          <p:cNvPicPr>
            <a:picLocks noChangeAspect="1"/>
          </p:cNvPicPr>
          <p:nvPr/>
        </p:nvPicPr>
        <p:blipFill>
          <a:blip r:embed="rId4"/>
          <a:stretch>
            <a:fillRect/>
          </a:stretch>
        </p:blipFill>
        <p:spPr>
          <a:xfrm>
            <a:off x="2123440" y="2132965"/>
            <a:ext cx="3941445" cy="98806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9"/>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33</a:t>
            </a:fld>
            <a:endParaRPr lang="en-US"/>
          </a:p>
        </p:txBody>
      </p:sp>
      <p:sp>
        <p:nvSpPr>
          <p:cNvPr id="255" name="Google Shape;255;p39"/>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latin typeface="Times New Roman" panose="02020603050405020304" charset="0"/>
                <a:cs typeface="Times New Roman" panose="02020603050405020304" charset="0"/>
                <a:sym typeface="+mn-ea"/>
              </a:rPr>
              <a:t>3. </a:t>
            </a:r>
            <a:r>
              <a:rPr lang="vi-VN" altLang="en-US">
                <a:latin typeface="Times New Roman" panose="02020603050405020304" charset="0"/>
                <a:cs typeface="Times New Roman" panose="02020603050405020304" charset="0"/>
                <a:sym typeface="+mn-ea"/>
              </a:rPr>
              <a:t>P</a:t>
            </a:r>
            <a:r>
              <a:rPr lang="en-US">
                <a:latin typeface="Times New Roman" panose="02020603050405020304" charset="0"/>
                <a:cs typeface="Times New Roman" panose="02020603050405020304" charset="0"/>
                <a:sym typeface="+mn-ea"/>
              </a:rPr>
              <a:t>hương pháp</a:t>
            </a:r>
            <a:r>
              <a:rPr lang="vi-VN" altLang="en-US">
                <a:latin typeface="Times New Roman" panose="02020603050405020304" charset="0"/>
                <a:cs typeface="Times New Roman" panose="02020603050405020304" charset="0"/>
                <a:sym typeface="+mn-ea"/>
              </a:rPr>
              <a:t> đề xuất</a:t>
            </a:r>
            <a:r>
              <a:rPr lang="en-US">
                <a:latin typeface="Times New Roman" panose="02020603050405020304" charset="0"/>
                <a:cs typeface="Times New Roman" panose="02020603050405020304" charset="0"/>
                <a:sym typeface="+mn-ea"/>
              </a:rPr>
              <a:t> AC-ACO</a:t>
            </a:r>
            <a:br>
              <a:rPr lang="en-US">
                <a:latin typeface="Times New Roman" panose="02020603050405020304" charset="0"/>
                <a:cs typeface="Times New Roman" panose="02020603050405020304" charset="0"/>
                <a:sym typeface="+mn-ea"/>
              </a:rPr>
            </a:br>
            <a:endParaRPr lang="en-US">
              <a:latin typeface="Times New Roman" panose="02020603050405020304" charset="0"/>
              <a:cs typeface="Times New Roman" panose="02020603050405020304" charset="0"/>
            </a:endParaRPr>
          </a:p>
        </p:txBody>
      </p:sp>
      <p:sp>
        <p:nvSpPr>
          <p:cNvPr id="256" name="Google Shape;256;p39"/>
          <p:cNvSpPr txBox="1">
            <a:spLocks noGrp="1"/>
          </p:cNvSpPr>
          <p:nvPr>
            <p:ph type="body" idx="1"/>
          </p:nvPr>
        </p:nvSpPr>
        <p:spPr>
          <a:xfrm>
            <a:off x="234950" y="963168"/>
            <a:ext cx="8674100" cy="513283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sz="1800" dirty="0">
                <a:latin typeface="Times New Roman" panose="02020603050405020304"/>
                <a:ea typeface="Times New Roman" panose="02020603050405020304"/>
                <a:cs typeface="Times New Roman" panose="02020603050405020304"/>
                <a:sym typeface="Times New Roman" panose="02020603050405020304"/>
              </a:rPr>
              <a:t>Chi </a:t>
            </a:r>
            <a:r>
              <a:rPr lang="en-US" sz="1800" dirty="0" err="1">
                <a:latin typeface="Times New Roman" panose="02020603050405020304"/>
                <a:ea typeface="Times New Roman" panose="02020603050405020304"/>
                <a:cs typeface="Times New Roman" panose="02020603050405020304"/>
                <a:sym typeface="Times New Roman" panose="02020603050405020304"/>
              </a:rPr>
              <a:t>tiết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về</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Thuật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toán</a:t>
            </a:r>
            <a:r>
              <a:rPr lang="en-US" sz="1800" dirty="0">
                <a:latin typeface="Times New Roman" panose="02020603050405020304"/>
                <a:ea typeface="Times New Roman" panose="02020603050405020304"/>
                <a:cs typeface="Times New Roman" panose="02020603050405020304"/>
                <a:sym typeface="Times New Roman" panose="02020603050405020304"/>
              </a:rPr>
              <a:t> AC-ACO</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800"/>
              <a:buNone/>
            </a:pP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dirty="0">
                <a:latin typeface="Times New Roman" panose="02020603050405020304"/>
                <a:ea typeface="Times New Roman" panose="02020603050405020304"/>
                <a:cs typeface="Times New Roman" panose="02020603050405020304"/>
                <a:sym typeface="Times New Roman" panose="02020603050405020304"/>
              </a:rPr>
              <a:t>1. </a:t>
            </a:r>
            <a:r>
              <a:rPr lang="en-US" sz="1800" dirty="0" err="1">
                <a:latin typeface="Times New Roman" panose="02020603050405020304"/>
                <a:ea typeface="Times New Roman" panose="02020603050405020304"/>
                <a:cs typeface="Times New Roman" panose="02020603050405020304"/>
                <a:sym typeface="Times New Roman" panose="02020603050405020304"/>
              </a:rPr>
              <a:t>Tối</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ưu</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hóa</a:t>
            </a:r>
            <a:r>
              <a:rPr lang="en-US" sz="1800" dirty="0">
                <a:latin typeface="Times New Roman" panose="02020603050405020304"/>
                <a:ea typeface="Times New Roman" panose="02020603050405020304"/>
                <a:cs typeface="Times New Roman" panose="02020603050405020304"/>
                <a:sym typeface="Times New Roman" panose="02020603050405020304"/>
              </a:rPr>
              <a:t> ACO </a:t>
            </a:r>
            <a:r>
              <a:rPr lang="en-US" sz="1800" dirty="0" err="1">
                <a:latin typeface="Times New Roman" panose="02020603050405020304"/>
                <a:ea typeface="Times New Roman" panose="02020603050405020304"/>
                <a:cs typeface="Times New Roman" panose="02020603050405020304"/>
                <a:sym typeface="Times New Roman" panose="02020603050405020304"/>
              </a:rPr>
              <a:t>truyền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thống</a:t>
            </a:r>
            <a:r>
              <a:rPr lang="en-US" sz="1800" dirty="0">
                <a:latin typeface="Times New Roman" panose="02020603050405020304"/>
                <a:ea typeface="Times New Roman" panose="02020603050405020304"/>
                <a:cs typeface="Times New Roman" panose="02020603050405020304"/>
                <a:sym typeface="Times New Roman" panose="02020603050405020304"/>
              </a:rPr>
              <a:t>:</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Thuật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toán</a:t>
            </a:r>
            <a:r>
              <a:rPr lang="en-US" sz="1800" dirty="0">
                <a:latin typeface="Times New Roman" panose="02020603050405020304"/>
                <a:ea typeface="Times New Roman" panose="02020603050405020304"/>
                <a:cs typeface="Times New Roman" panose="02020603050405020304"/>
                <a:sym typeface="Times New Roman" panose="02020603050405020304"/>
              </a:rPr>
              <a:t> ACO </a:t>
            </a:r>
            <a:r>
              <a:rPr lang="en-US" sz="1800" dirty="0" err="1">
                <a:latin typeface="Times New Roman" panose="02020603050405020304"/>
                <a:ea typeface="Times New Roman" panose="02020603050405020304"/>
                <a:cs typeface="Times New Roman" panose="02020603050405020304"/>
                <a:sym typeface="Times New Roman" panose="02020603050405020304"/>
              </a:rPr>
              <a:t>tiêu</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chuẩn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dễ</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bị</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mắc</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kẹt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ở</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các</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cực</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tiểu</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cục</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bộ</a:t>
            </a:r>
            <a:r>
              <a:rPr lang="en-US" sz="1800" dirty="0">
                <a:latin typeface="Times New Roman" panose="02020603050405020304"/>
                <a:ea typeface="Times New Roman" panose="02020603050405020304"/>
                <a:cs typeface="Times New Roman" panose="02020603050405020304"/>
                <a:sym typeface="Times New Roman" panose="02020603050405020304"/>
              </a:rPr>
              <a:t>.</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dirty="0">
                <a:latin typeface="Times New Roman" panose="02020603050405020304"/>
                <a:ea typeface="Times New Roman" panose="02020603050405020304"/>
                <a:cs typeface="Times New Roman" panose="02020603050405020304"/>
                <a:sym typeface="Times New Roman" panose="02020603050405020304"/>
              </a:rPr>
              <a:t>• AC-ACO </a:t>
            </a:r>
            <a:r>
              <a:rPr lang="en-US" sz="1800" dirty="0" err="1">
                <a:latin typeface="Times New Roman" panose="02020603050405020304"/>
                <a:ea typeface="Times New Roman" panose="02020603050405020304"/>
                <a:cs typeface="Times New Roman" panose="02020603050405020304"/>
                <a:sym typeface="Times New Roman" panose="02020603050405020304"/>
              </a:rPr>
              <a:t>đưa</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vào</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các</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nhiễu</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loạn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hỗn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loạn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để</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tăng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cường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khả</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thoát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khỏi</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các</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cực</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tiểu</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cục</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bộ</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này</a:t>
            </a:r>
            <a:r>
              <a:rPr lang="en-US" sz="1800" dirty="0">
                <a:latin typeface="Times New Roman" panose="02020603050405020304"/>
                <a:ea typeface="Times New Roman" panose="02020603050405020304"/>
                <a:cs typeface="Times New Roman" panose="02020603050405020304"/>
                <a:sym typeface="Times New Roman" panose="02020603050405020304"/>
              </a:rPr>
              <a:t>.</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Ánh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xạ</a:t>
            </a:r>
            <a:r>
              <a:rPr lang="en-US" sz="1800" dirty="0">
                <a:latin typeface="Times New Roman" panose="02020603050405020304"/>
                <a:ea typeface="Times New Roman" panose="02020603050405020304"/>
                <a:cs typeface="Times New Roman" panose="02020603050405020304"/>
                <a:sym typeface="Times New Roman" panose="02020603050405020304"/>
              </a:rPr>
              <a:t> Logistic </a:t>
            </a:r>
            <a:r>
              <a:rPr lang="en-US" sz="1800" dirty="0" err="1">
                <a:latin typeface="Times New Roman" panose="02020603050405020304"/>
                <a:ea typeface="Times New Roman" panose="02020603050405020304"/>
                <a:cs typeface="Times New Roman" panose="02020603050405020304"/>
                <a:sym typeface="Times New Roman" panose="02020603050405020304"/>
              </a:rPr>
              <a:t>được</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sử</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dụng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để</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tạo</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ra</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các</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chuỗi</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hỗn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loạn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giúp</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thuật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toán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khám</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phá</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không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gian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giải</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pháp</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một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cách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rộng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rãi</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hơn</a:t>
            </a:r>
            <a:r>
              <a:rPr lang="en-US" sz="1800" dirty="0">
                <a:latin typeface="Times New Roman" panose="02020603050405020304"/>
                <a:ea typeface="Times New Roman" panose="02020603050405020304"/>
                <a:cs typeface="Times New Roman" panose="02020603050405020304"/>
                <a:sym typeface="Times New Roman" panose="02020603050405020304"/>
              </a:rPr>
              <a:t>.</a:t>
            </a:r>
            <a:endParaRPr sz="1800"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9"/>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34</a:t>
            </a:fld>
            <a:endParaRPr lang="en-US"/>
          </a:p>
        </p:txBody>
      </p:sp>
      <p:sp>
        <p:nvSpPr>
          <p:cNvPr id="255" name="Google Shape;255;p39"/>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sym typeface="+mn-ea"/>
              </a:rPr>
              <a:t>3. </a:t>
            </a:r>
            <a:r>
              <a:rPr lang="vi-VN" altLang="en-US">
                <a:sym typeface="+mn-ea"/>
              </a:rPr>
              <a:t>P</a:t>
            </a:r>
            <a:r>
              <a:rPr lang="en-US">
                <a:sym typeface="+mn-ea"/>
              </a:rPr>
              <a:t>hương pháp</a:t>
            </a:r>
            <a:r>
              <a:rPr lang="vi-VN" altLang="en-US">
                <a:sym typeface="+mn-ea"/>
              </a:rPr>
              <a:t> đề xuất</a:t>
            </a:r>
            <a:r>
              <a:rPr lang="en-US">
                <a:sym typeface="+mn-ea"/>
              </a:rPr>
              <a:t> AC-ACO</a:t>
            </a:r>
            <a:br>
              <a:rPr lang="en-US">
                <a:sym typeface="+mn-ea"/>
              </a:rPr>
            </a:br>
            <a:endParaRPr lang="en-US"/>
          </a:p>
        </p:txBody>
      </p:sp>
      <p:sp>
        <p:nvSpPr>
          <p:cNvPr id="256" name="Google Shape;256;p39"/>
          <p:cNvSpPr txBox="1">
            <a:spLocks noGrp="1"/>
          </p:cNvSpPr>
          <p:nvPr>
            <p:ph type="body" idx="1"/>
          </p:nvPr>
        </p:nvSpPr>
        <p:spPr>
          <a:xfrm>
            <a:off x="234950" y="963168"/>
            <a:ext cx="8674100" cy="513283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endParaRPr lang="en-US" altLang="en-US"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800"/>
              <a:buNone/>
            </a:pPr>
            <a:r>
              <a:rPr lang="en-US" altLang="en-US" sz="1800">
                <a:latin typeface="Times New Roman" panose="02020603050405020304"/>
                <a:ea typeface="Times New Roman" panose="02020603050405020304"/>
                <a:cs typeface="Times New Roman" panose="02020603050405020304"/>
                <a:sym typeface="Times New Roman" panose="02020603050405020304"/>
              </a:rPr>
              <a:t>Chi tiết về Thuật toán AC-ACO</a:t>
            </a:r>
          </a:p>
          <a:p>
            <a:pPr marL="0" lvl="0" indent="0" algn="l" rtl="0">
              <a:lnSpc>
                <a:spcPct val="90000"/>
              </a:lnSpc>
              <a:spcBef>
                <a:spcPts val="0"/>
              </a:spcBef>
              <a:spcAft>
                <a:spcPts val="0"/>
              </a:spcAft>
              <a:buClr>
                <a:schemeClr val="dk1"/>
              </a:buClr>
              <a:buSzPts val="1800"/>
              <a:buNone/>
            </a:pPr>
            <a:r>
              <a:rPr lang="en-US" altLang="en-US" sz="1800">
                <a:latin typeface="Times New Roman" panose="02020603050405020304"/>
                <a:ea typeface="Times New Roman" panose="02020603050405020304"/>
                <a:cs typeface="Times New Roman" panose="02020603050405020304"/>
                <a:sym typeface="Times New Roman" panose="02020603050405020304"/>
              </a:rPr>
              <a:t>Chaotic Mapping in AC-ACO</a:t>
            </a:r>
          </a:p>
          <a:p>
            <a:pPr marL="0" lvl="0" indent="0" algn="l" rtl="0">
              <a:lnSpc>
                <a:spcPct val="90000"/>
              </a:lnSpc>
              <a:spcBef>
                <a:spcPts val="0"/>
              </a:spcBef>
              <a:spcAft>
                <a:spcPts val="0"/>
              </a:spcAft>
              <a:buClr>
                <a:schemeClr val="dk1"/>
              </a:buClr>
              <a:buSzPts val="1800"/>
              <a:buNone/>
            </a:pPr>
            <a:endParaRPr lang="en-US" altLang="en-US"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800"/>
              <a:buNone/>
            </a:pPr>
            <a:r>
              <a:rPr lang="vi-VN" altLang="en-US" sz="1800" b="1">
                <a:latin typeface="Times New Roman" panose="02020603050405020304"/>
                <a:ea typeface="Times New Roman" panose="02020603050405020304"/>
                <a:cs typeface="Times New Roman" panose="02020603050405020304"/>
                <a:sym typeface="Times New Roman" panose="02020603050405020304"/>
              </a:rPr>
              <a:t>(11) </a:t>
            </a:r>
            <a:r>
              <a:rPr lang="en-US" altLang="en-US" sz="1800" b="1">
                <a:latin typeface="Times New Roman" panose="02020603050405020304"/>
                <a:ea typeface="Times New Roman" panose="02020603050405020304"/>
                <a:cs typeface="Times New Roman" panose="02020603050405020304"/>
                <a:sym typeface="Times New Roman" panose="02020603050405020304"/>
              </a:rPr>
              <a:t>Logistic Chaotic Map</a:t>
            </a:r>
            <a:r>
              <a:rPr lang="vi-VN" altLang="en-US" sz="1800" b="1">
                <a:latin typeface="Times New Roman" panose="02020603050405020304"/>
                <a:ea typeface="Times New Roman" panose="02020603050405020304"/>
                <a:cs typeface="Times New Roman" panose="02020603050405020304"/>
                <a:sym typeface="Times New Roman" panose="02020603050405020304"/>
              </a:rPr>
              <a:t>(Chaos)</a:t>
            </a:r>
            <a:endParaRPr lang="en-US" altLang="en-US" sz="1800" b="1">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800"/>
              <a:buNone/>
            </a:pPr>
            <a:endParaRPr lang="zh-CN" altLang="en-US"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800"/>
              <a:buNone/>
            </a:pPr>
            <a:r>
              <a:rPr lang="en-US" altLang="zh-CN" sz="1800">
                <a:latin typeface="Times New Roman" panose="02020603050405020304"/>
                <a:ea typeface="Times New Roman" panose="02020603050405020304"/>
                <a:cs typeface="Times New Roman" panose="02020603050405020304"/>
                <a:sym typeface="Times New Roman" panose="02020603050405020304"/>
              </a:rPr>
              <a:t>                             							</a:t>
            </a:r>
            <a:r>
              <a:rPr lang="en-US" altLang="en-US" sz="1800" b="1">
                <a:latin typeface="Times New Roman" panose="02020603050405020304"/>
                <a:ea typeface="Times New Roman" panose="02020603050405020304"/>
                <a:cs typeface="Times New Roman" panose="02020603050405020304"/>
                <a:sym typeface="Times New Roman" panose="02020603050405020304"/>
              </a:rPr>
              <a:t>(1.1) </a:t>
            </a:r>
            <a:endParaRPr lang="zh-CN" altLang="en-US"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800"/>
              <a:buNone/>
            </a:pPr>
            <a:endParaRPr lang="zh-CN" altLang="en-US"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800"/>
              <a:buNone/>
            </a:pPr>
            <a:endParaRPr lang="zh-CN" altLang="en-US"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800"/>
              <a:buNone/>
            </a:pPr>
            <a:r>
              <a:rPr lang="zh-CN" altLang="en-US" sz="1800">
                <a:latin typeface="Times New Roman" panose="02020603050405020304"/>
                <a:ea typeface="Times New Roman" panose="02020603050405020304"/>
                <a:cs typeface="Times New Roman" panose="02020603050405020304"/>
                <a:sym typeface="Times New Roman" panose="02020603050405020304"/>
              </a:rPr>
              <a:t>🔹</a:t>
            </a:r>
            <a:r>
              <a:rPr lang="en-US" altLang="en-US" sz="1800">
                <a:latin typeface="Times New Roman" panose="02020603050405020304"/>
                <a:ea typeface="Times New Roman" panose="02020603050405020304"/>
                <a:cs typeface="Times New Roman" panose="02020603050405020304"/>
                <a:sym typeface="Times New Roman" panose="02020603050405020304"/>
              </a:rPr>
              <a:t> Ý nghĩa:</a:t>
            </a:r>
          </a:p>
          <a:p>
            <a:pPr marL="0" lvl="0" indent="0" algn="l" rtl="0">
              <a:lnSpc>
                <a:spcPct val="90000"/>
              </a:lnSpc>
              <a:spcBef>
                <a:spcPts val="0"/>
              </a:spcBef>
              <a:spcAft>
                <a:spcPts val="0"/>
              </a:spcAft>
              <a:buClr>
                <a:schemeClr val="dk1"/>
              </a:buClr>
              <a:buSzPts val="1800"/>
              <a:buNone/>
            </a:pPr>
            <a:r>
              <a:rPr lang="en-US" altLang="en-US" sz="1800">
                <a:latin typeface="Times New Roman" panose="02020603050405020304"/>
                <a:ea typeface="Times New Roman" panose="02020603050405020304"/>
                <a:cs typeface="Times New Roman" panose="02020603050405020304"/>
                <a:sym typeface="Times New Roman" panose="02020603050405020304"/>
              </a:rPr>
              <a:t>Sinh chuỗi hỗn loạn dùng để tạo nhiễu toàn cục, giúp thuật toán tránh hội tụ sớm và khám </a:t>
            </a:r>
          </a:p>
          <a:p>
            <a:pPr marL="0" lvl="0" indent="0" algn="l" rtl="0">
              <a:lnSpc>
                <a:spcPct val="90000"/>
              </a:lnSpc>
              <a:spcBef>
                <a:spcPts val="0"/>
              </a:spcBef>
              <a:spcAft>
                <a:spcPts val="0"/>
              </a:spcAft>
              <a:buClr>
                <a:schemeClr val="dk1"/>
              </a:buClr>
              <a:buSzPts val="1800"/>
              <a:buNone/>
            </a:pPr>
            <a:r>
              <a:rPr lang="en-US" altLang="en-US" sz="1800">
                <a:latin typeface="Times New Roman" panose="02020603050405020304"/>
                <a:ea typeface="Times New Roman" panose="02020603050405020304"/>
                <a:cs typeface="Times New Roman" panose="02020603050405020304"/>
                <a:sym typeface="Times New Roman" panose="02020603050405020304"/>
              </a:rPr>
              <a:t>phá không gian lời giải tốt hơn</a:t>
            </a:r>
          </a:p>
        </p:txBody>
      </p:sp>
      <p:pic>
        <p:nvPicPr>
          <p:cNvPr id="3" name="Picture 2"/>
          <p:cNvPicPr>
            <a:picLocks noChangeAspect="1"/>
          </p:cNvPicPr>
          <p:nvPr/>
        </p:nvPicPr>
        <p:blipFill>
          <a:blip r:embed="rId3"/>
          <a:stretch>
            <a:fillRect/>
          </a:stretch>
        </p:blipFill>
        <p:spPr>
          <a:xfrm>
            <a:off x="2195830" y="2204720"/>
            <a:ext cx="4542155" cy="847725"/>
          </a:xfrm>
          <a:prstGeom prst="rect">
            <a:avLst/>
          </a:prstGeom>
        </p:spPr>
      </p:pic>
      <mc:AlternateContent xmlns:mc="http://schemas.openxmlformats.org/markup-compatibility/2006" xmlns:a14="http://schemas.microsoft.com/office/drawing/2010/main">
        <mc:Choice Requires="a14">
          <p:graphicFrame>
            <p:nvGraphicFramePr>
              <p:cNvPr id="2" name="Table 1"/>
              <p:cNvGraphicFramePr/>
              <p:nvPr/>
            </p:nvGraphicFramePr>
            <p:xfrm>
              <a:off x="32243" y="4745990"/>
              <a:ext cx="7863840" cy="822960"/>
            </p:xfrm>
            <a:graphic>
              <a:graphicData uri="http://schemas.openxmlformats.org/drawingml/2006/table">
                <a:tbl>
                  <a:tblPr/>
                  <a:tblGrid>
                    <a:gridCol w="1304290">
                      <a:extLst>
                        <a:ext uri="{9D8B030D-6E8A-4147-A177-3AD203B41FA5}">
                          <a16:colId xmlns:a16="http://schemas.microsoft.com/office/drawing/2014/main" val="20000"/>
                        </a:ext>
                      </a:extLst>
                    </a:gridCol>
                    <a:gridCol w="3938270">
                      <a:extLst>
                        <a:ext uri="{9D8B030D-6E8A-4147-A177-3AD203B41FA5}">
                          <a16:colId xmlns:a16="http://schemas.microsoft.com/office/drawing/2014/main" val="20001"/>
                        </a:ext>
                      </a:extLst>
                    </a:gridCol>
                    <a:gridCol w="2621280">
                      <a:extLst>
                        <a:ext uri="{9D8B030D-6E8A-4147-A177-3AD203B41FA5}">
                          <a16:colId xmlns:a16="http://schemas.microsoft.com/office/drawing/2014/main" val="20002"/>
                        </a:ext>
                      </a:extLst>
                    </a:gridCol>
                  </a:tblGrid>
                  <a:tr h="0">
                    <a:tc>
                      <a:txBody>
                        <a:bodyPr/>
                        <a:lstStyle/>
                        <a:p>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Ký</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hiệu</a:t>
                          </a:r>
                          <a:endParaRPr lang="en-US" altLang="zh-CN" sz="1800" dirty="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c>
                      <a:txBody>
                        <a:bodyPr/>
                        <a:lstStyle/>
                        <a:p>
                          <a:r>
                            <a:rPr lang="en-US" altLang="zh-CN" sz="1800">
                              <a:latin typeface="Times New Roman" panose="02020603050405020304" charset="0"/>
                              <a:cs typeface="Times New Roman" panose="02020603050405020304" charset="0"/>
                            </a:rPr>
                            <a:t>Giải thích</a:t>
                          </a:r>
                        </a:p>
                      </a:txBody>
                      <a:tcPr marL="0" marR="0" marT="0" marB="0" anchor="ctr">
                        <a:lnL>
                          <a:noFill/>
                        </a:lnL>
                        <a:lnR>
                          <a:noFill/>
                        </a:lnR>
                        <a:lnT>
                          <a:noFill/>
                        </a:lnT>
                        <a:lnB>
                          <a:noFill/>
                        </a:lnB>
                        <a:noFill/>
                      </a:tcPr>
                    </a:tc>
                    <a:tc>
                      <a:txBody>
                        <a:bodyPr/>
                        <a:lstStyle/>
                        <a:p>
                          <a:r>
                            <a:rPr lang="en-US" altLang="zh-CN" sz="1800" dirty="0">
                              <a:latin typeface="Times New Roman" panose="02020603050405020304" charset="0"/>
                              <a:cs typeface="Times New Roman" panose="02020603050405020304" charset="0"/>
                            </a:rPr>
                            <a:t>          Phạm vi/</a:t>
                          </a:r>
                          <a:r>
                            <a:rPr lang="en-US" altLang="zh-CN" sz="1800" dirty="0" err="1">
                              <a:latin typeface="Times New Roman" panose="02020603050405020304" charset="0"/>
                              <a:cs typeface="Times New Roman" panose="02020603050405020304" charset="0"/>
                            </a:rPr>
                            <a:t>Giá</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trị</a:t>
                          </a:r>
                          <a:endParaRPr lang="en-US" altLang="zh-CN" sz="1800" dirty="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extLst>
                      <a:ext uri="{0D108BD9-81ED-4DB2-BD59-A6C34878D82A}">
                        <a16:rowId xmlns:a16="http://schemas.microsoft.com/office/drawing/2014/main" val="10000"/>
                      </a:ext>
                    </a:extLst>
                  </a:tr>
                  <a:tr h="188595">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dirty="0" smtClean="0">
                                        <a:latin typeface="Cambria Math" panose="02040503050406030204" pitchFamily="18" charset="0"/>
                                        <a:cs typeface="Times New Roman" panose="02020603050405020304" charset="0"/>
                                      </a:rPr>
                                    </m:ctrlPr>
                                  </m:sSubPr>
                                  <m:e>
                                    <m:r>
                                      <m:rPr>
                                        <m:sty m:val="p"/>
                                      </m:rPr>
                                      <a:rPr lang="en-US" altLang="zh-CN" sz="1800" i="1" dirty="0" smtClean="0">
                                        <a:latin typeface="Cambria Math" panose="02040503050406030204" pitchFamily="18" charset="0"/>
                                        <a:cs typeface="Times New Roman" panose="02020603050405020304" charset="0"/>
                                      </a:rPr>
                                      <m:t>x</m:t>
                                    </m:r>
                                  </m:e>
                                  <m:sub>
                                    <m:r>
                                      <m:rPr>
                                        <m:sty m:val="p"/>
                                      </m:rPr>
                                      <a:rPr lang="en-US" altLang="zh-CN" sz="1800" i="1" dirty="0" smtClean="0">
                                        <a:latin typeface="Cambria Math" panose="02040503050406030204" pitchFamily="18" charset="0"/>
                                        <a:cs typeface="Times New Roman" panose="02020603050405020304" charset="0"/>
                                      </a:rPr>
                                      <m:t>n</m:t>
                                    </m:r>
                                  </m:sub>
                                </m:sSub>
                              </m:oMath>
                            </m:oMathPara>
                          </a14:m>
                          <a:endParaRPr/>
                        </a:p>
                      </a:txBody>
                      <a:tcPr marL="0" marR="0" marT="0" marB="0" anchor="ctr">
                        <a:lnL>
                          <a:noFill/>
                        </a:lnL>
                        <a:lnR>
                          <a:noFill/>
                        </a:lnR>
                        <a:lnT>
                          <a:noFill/>
                        </a:lnT>
                        <a:lnB>
                          <a:noFill/>
                        </a:lnB>
                        <a:noFill/>
                      </a:tcPr>
                    </a:tc>
                    <a:tc>
                      <a:txBody>
                        <a:bodyPr/>
                        <a:lstStyle/>
                        <a:p>
                          <a:r>
                            <a:rPr lang="en-US" altLang="zh-CN" sz="1800">
                              <a:latin typeface="Times New Roman" panose="02020603050405020304" charset="0"/>
                              <a:cs typeface="Times New Roman" panose="02020603050405020304" charset="0"/>
                            </a:rPr>
                            <a:t>Giá trị hỗn loạn tại bước n</a:t>
                          </a:r>
                        </a:p>
                      </a:txBody>
                      <a:tcPr marL="0" marR="0" marT="0" marB="0" anchor="ctr">
                        <a:lnL>
                          <a:noFill/>
                        </a:lnL>
                        <a:lnR>
                          <a:noFill/>
                        </a:lnR>
                        <a:lnT>
                          <a:noFill/>
                        </a:lnT>
                        <a:lnB>
                          <a:noFill/>
                        </a:lnB>
                        <a:noFill/>
                      </a:tcPr>
                    </a:tc>
                    <a:tc>
                      <a:txBody>
                        <a:bodyPr/>
                        <a:lstStyle/>
                        <a:p>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cs typeface="Times New Roman" panose="02020603050405020304" charset="0"/>
                                  </a:rPr>
                                  <m:t>(0, 1)</m:t>
                                </m:r>
                              </m:oMath>
                            </m:oMathPara>
                          </a14:m>
                          <a:endParaRPr/>
                        </a:p>
                      </a:txBody>
                      <a:tcPr marL="0" marR="0" marT="0" marB="0" anchor="ctr">
                        <a:lnL>
                          <a:noFill/>
                        </a:lnL>
                        <a:lnR>
                          <a:noFill/>
                        </a:lnR>
                        <a:lnT>
                          <a:noFill/>
                        </a:lnT>
                        <a:lnB>
                          <a:noFill/>
                        </a:lnB>
                        <a:noFill/>
                      </a:tcPr>
                    </a:tc>
                    <a:extLst>
                      <a:ext uri="{0D108BD9-81ED-4DB2-BD59-A6C34878D82A}">
                        <a16:rowId xmlns:a16="http://schemas.microsoft.com/office/drawing/2014/main" val="10001"/>
                      </a:ext>
                    </a:extLst>
                  </a:tr>
                  <a:tr h="0">
                    <a:tc>
                      <a:txBody>
                        <a:bodyPr/>
                        <a:lstStyle/>
                        <a:p>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cs typeface="Times New Roman" panose="02020603050405020304" charset="0"/>
                                  </a:rPr>
                                  <m:t>𝑟</m:t>
                                </m:r>
                              </m:oMath>
                            </m:oMathPara>
                          </a14:m>
                          <a:endParaRPr/>
                        </a:p>
                      </a:txBody>
                      <a:tcPr marL="0" marR="0" marT="0" marB="0" anchor="ctr">
                        <a:lnL>
                          <a:noFill/>
                        </a:lnL>
                        <a:lnR>
                          <a:noFill/>
                        </a:lnR>
                        <a:lnT>
                          <a:noFill/>
                        </a:lnT>
                        <a:lnB>
                          <a:noFill/>
                        </a:lnB>
                        <a:noFill/>
                      </a:tcPr>
                    </a:tc>
                    <a:tc>
                      <a:txBody>
                        <a:bodyPr/>
                        <a:lstStyle/>
                        <a:p>
                          <a:r>
                            <a:rPr lang="en-US" altLang="zh-CN" sz="1800">
                              <a:latin typeface="Times New Roman" panose="02020603050405020304" charset="0"/>
                              <a:cs typeface="Times New Roman" panose="02020603050405020304" charset="0"/>
                            </a:rPr>
                            <a:t>Tham số điều khiển mức độ hỗn loạn</a:t>
                          </a:r>
                        </a:p>
                      </a:txBody>
                      <a:tcPr marL="0" marR="0" marT="0" marB="0" anchor="ctr">
                        <a:lnL>
                          <a:noFill/>
                        </a:lnL>
                        <a:lnR>
                          <a:noFill/>
                        </a:lnR>
                        <a:lnT>
                          <a:noFill/>
                        </a:lnT>
                        <a:lnB>
                          <a:noFill/>
                        </a:lnB>
                        <a:noFill/>
                      </a:tcPr>
                    </a:tc>
                    <a:tc>
                      <a:txBody>
                        <a:bodyPr/>
                        <a:lstStyle/>
                        <a:p>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cs typeface="Times New Roman" panose="02020603050405020304" charset="0"/>
                                  </a:rPr>
                                  <m:t>3.57 ≤ </m:t>
                                </m:r>
                                <m:r>
                                  <a:rPr lang="en-US" altLang="zh-CN" sz="1800" i="1" dirty="0" smtClean="0">
                                    <a:latin typeface="Cambria Math" panose="02040503050406030204" pitchFamily="18" charset="0"/>
                                    <a:cs typeface="Times New Roman" panose="02020603050405020304" charset="0"/>
                                  </a:rPr>
                                  <m:t>𝑟</m:t>
                                </m:r>
                                <m:r>
                                  <a:rPr lang="en-US" altLang="zh-CN" sz="1800" i="1" dirty="0" smtClean="0">
                                    <a:latin typeface="Cambria Math" panose="02040503050406030204" pitchFamily="18" charset="0"/>
                                    <a:cs typeface="Times New Roman" panose="02020603050405020304" charset="0"/>
                                  </a:rPr>
                                  <m:t> ≤ 4</m:t>
                                </m:r>
                              </m:oMath>
                            </m:oMathPara>
                          </a14:m>
                          <a:endParaRPr/>
                        </a:p>
                      </a:txBody>
                      <a:tcPr marL="0" marR="0" marT="0" marB="0" anchor="ctr">
                        <a:lnL>
                          <a:noFill/>
                        </a:lnL>
                        <a:lnR>
                          <a:noFill/>
                        </a:lnR>
                        <a:lnT>
                          <a:noFill/>
                        </a:lnT>
                        <a:lnB>
                          <a:noFill/>
                        </a:lnB>
                        <a:noFill/>
                      </a:tcPr>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p:nvPr/>
            </p:nvGraphicFramePr>
            <p:xfrm>
              <a:off x="32243" y="4745990"/>
              <a:ext cx="7863840" cy="822960"/>
            </p:xfrm>
            <a:graphic>
              <a:graphicData uri="http://schemas.openxmlformats.org/drawingml/2006/table">
                <a:tbl>
                  <a:tblPr/>
                  <a:tblGrid>
                    <a:gridCol w="1304290"/>
                    <a:gridCol w="3938270"/>
                    <a:gridCol w="2621280"/>
                  </a:tblGrid>
                  <a:tr h="0">
                    <a:tc>
                      <a:txBody>
                        <a:bodyPr/>
                        <a:lstStyle/>
                        <a:p>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Ký</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hiệu</a:t>
                          </a:r>
                          <a:endParaRPr lang="en-US" altLang="zh-CN" sz="1800" dirty="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c>
                      <a:txBody>
                        <a:bodyPr/>
                        <a:lstStyle/>
                        <a:p>
                          <a:r>
                            <a:rPr lang="en-US" altLang="zh-CN" sz="1800">
                              <a:latin typeface="Times New Roman" panose="02020603050405020304" charset="0"/>
                              <a:cs typeface="Times New Roman" panose="02020603050405020304" charset="0"/>
                            </a:rPr>
                            <a:t>Giải thích</a:t>
                          </a:r>
                          <a:endParaRPr lang="en-US" altLang="zh-CN" sz="180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c>
                      <a:txBody>
                        <a:bodyPr/>
                        <a:lstStyle/>
                        <a:p>
                          <a:r>
                            <a:rPr lang="en-US" altLang="zh-CN" sz="1800" dirty="0">
                              <a:latin typeface="Times New Roman" panose="02020603050405020304" charset="0"/>
                              <a:cs typeface="Times New Roman" panose="02020603050405020304" charset="0"/>
                            </a:rPr>
                            <a:t>          Phạm vi/</a:t>
                          </a:r>
                          <a:r>
                            <a:rPr lang="en-US" altLang="zh-CN" sz="1800" dirty="0" err="1">
                              <a:latin typeface="Times New Roman" panose="02020603050405020304" charset="0"/>
                              <a:cs typeface="Times New Roman" panose="02020603050405020304" charset="0"/>
                            </a:rPr>
                            <a:t>Giá</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trị</a:t>
                          </a:r>
                          <a:endParaRPr lang="en-US" altLang="zh-CN" sz="1800" dirty="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r>
                  <a:tr h="274320">
                    <a:tc>
                      <a:txBody>
                        <a:bodyPr/>
                        <a:lstStyle/>
                        <a:p>
                          <a:endParaRPr lang="en-US"/>
                        </a:p>
                      </a:txBody>
                      <a:tcPr marL="0" marR="0" marT="0" marB="0" anchor="ctr">
                        <a:lnL>
                          <a:noFill/>
                        </a:lnL>
                        <a:lnR>
                          <a:noFill/>
                        </a:lnR>
                        <a:lnT>
                          <a:noFill/>
                        </a:lnT>
                        <a:lnB>
                          <a:noFill/>
                        </a:lnB>
                        <a:blipFill>
                          <a:blip r:embed="rId4"/>
                        </a:blipFill>
                      </a:tcPr>
                    </a:tc>
                    <a:tc>
                      <a:txBody>
                        <a:bodyPr/>
                        <a:lstStyle/>
                        <a:p>
                          <a:r>
                            <a:rPr lang="en-US" altLang="zh-CN" sz="1800">
                              <a:latin typeface="Times New Roman" panose="02020603050405020304" charset="0"/>
                              <a:cs typeface="Times New Roman" panose="02020603050405020304" charset="0"/>
                            </a:rPr>
                            <a:t>Giá trị hỗn loạn tại bước n</a:t>
                          </a:r>
                          <a:endParaRPr lang="en-US" altLang="zh-CN" sz="180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c>
                      <a:txBody>
                        <a:bodyPr/>
                        <a:lstStyle/>
                        <a:p>
                          <a:endParaRPr lang="en-US"/>
                        </a:p>
                      </a:txBody>
                      <a:tcPr marL="0" marR="0" marT="0" marB="0" anchor="ctr">
                        <a:lnL>
                          <a:noFill/>
                        </a:lnL>
                        <a:lnR>
                          <a:noFill/>
                        </a:lnR>
                        <a:lnT>
                          <a:noFill/>
                        </a:lnT>
                        <a:lnB>
                          <a:noFill/>
                        </a:lnB>
                        <a:blipFill>
                          <a:blip r:embed="rId4"/>
                        </a:blipFill>
                      </a:tcPr>
                    </a:tc>
                  </a:tr>
                  <a:tr h="274320">
                    <a:tc>
                      <a:txBody>
                        <a:bodyPr/>
                        <a:lstStyle/>
                        <a:p>
                          <a:endParaRPr lang="en-US"/>
                        </a:p>
                      </a:txBody>
                      <a:tcPr marL="0" marR="0" marT="0" marB="0" anchor="ctr">
                        <a:lnL>
                          <a:noFill/>
                        </a:lnL>
                        <a:lnR>
                          <a:noFill/>
                        </a:lnR>
                        <a:lnT>
                          <a:noFill/>
                        </a:lnT>
                        <a:lnB>
                          <a:noFill/>
                        </a:lnB>
                        <a:blipFill>
                          <a:blip r:embed="rId4"/>
                        </a:blipFill>
                      </a:tcPr>
                    </a:tc>
                    <a:tc>
                      <a:txBody>
                        <a:bodyPr/>
                        <a:lstStyle/>
                        <a:p>
                          <a:r>
                            <a:rPr lang="en-US" altLang="zh-CN" sz="1800">
                              <a:latin typeface="Times New Roman" panose="02020603050405020304" charset="0"/>
                              <a:cs typeface="Times New Roman" panose="02020603050405020304" charset="0"/>
                            </a:rPr>
                            <a:t>Tham số điều khiển mức độ hỗn loạn</a:t>
                          </a:r>
                          <a:endParaRPr lang="en-US" altLang="zh-CN" sz="180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c>
                      <a:txBody>
                        <a:bodyPr/>
                        <a:lstStyle/>
                        <a:p>
                          <a:endParaRPr lang="en-US"/>
                        </a:p>
                      </a:txBody>
                      <a:tcPr marL="0" marR="0" marT="0" marB="0" anchor="ctr">
                        <a:lnL>
                          <a:noFill/>
                        </a:lnL>
                        <a:lnR>
                          <a:noFill/>
                        </a:lnR>
                        <a:lnT>
                          <a:noFill/>
                        </a:lnT>
                        <a:lnB>
                          <a:noFill/>
                        </a:lnB>
                        <a:blipFill>
                          <a:blip r:embed="rId4"/>
                        </a:blipFill>
                      </a:tcPr>
                    </a:tc>
                  </a:tr>
                </a:tbl>
              </a:graphicData>
            </a:graphic>
          </p:graphicFrame>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41"/>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35</a:t>
            </a:fld>
            <a:endParaRPr lang="en-US"/>
          </a:p>
        </p:txBody>
      </p:sp>
      <p:sp>
        <p:nvSpPr>
          <p:cNvPr id="270" name="Google Shape;270;p41"/>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sym typeface="+mn-ea"/>
              </a:rPr>
              <a:t>3. </a:t>
            </a:r>
            <a:r>
              <a:rPr lang="vi-VN" altLang="en-US">
                <a:sym typeface="+mn-ea"/>
              </a:rPr>
              <a:t>P</a:t>
            </a:r>
            <a:r>
              <a:rPr lang="en-US">
                <a:sym typeface="+mn-ea"/>
              </a:rPr>
              <a:t>hương pháp</a:t>
            </a:r>
            <a:r>
              <a:rPr lang="vi-VN" altLang="en-US">
                <a:sym typeface="+mn-ea"/>
              </a:rPr>
              <a:t> đề xuất</a:t>
            </a:r>
            <a:r>
              <a:rPr lang="en-US">
                <a:sym typeface="+mn-ea"/>
              </a:rPr>
              <a:t> AC-ACO</a:t>
            </a:r>
            <a:br>
              <a:rPr lang="en-US">
                <a:sym typeface="+mn-ea"/>
              </a:rPr>
            </a:br>
            <a:endParaRPr lang="en-US"/>
          </a:p>
        </p:txBody>
      </p:sp>
      <mc:AlternateContent xmlns:mc="http://schemas.openxmlformats.org/markup-compatibility/2006" xmlns:a14="http://schemas.microsoft.com/office/drawing/2010/main">
        <mc:Choice Requires="a14">
          <p:sp>
            <p:nvSpPr>
              <p:cNvPr id="271" name="Google Shape;271;p41"/>
              <p:cNvSpPr txBox="1">
                <a:spLocks noGrp="1"/>
              </p:cNvSpPr>
              <p:nvPr>
                <p:ph type="body" idx="1"/>
              </p:nvPr>
            </p:nvSpPr>
            <p:spPr>
              <a:xfrm>
                <a:off x="234950" y="963168"/>
                <a:ext cx="8674200" cy="51327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sz="1800" dirty="0">
                    <a:latin typeface="Times New Roman" panose="02020603050405020304"/>
                    <a:ea typeface="Times New Roman" panose="02020603050405020304"/>
                    <a:cs typeface="Times New Roman" panose="02020603050405020304"/>
                    <a:sym typeface="Times New Roman" panose="02020603050405020304"/>
                  </a:rPr>
                  <a:t>Chi </a:t>
                </a:r>
                <a:r>
                  <a:rPr lang="en-US" sz="1800" dirty="0" err="1">
                    <a:latin typeface="Times New Roman" panose="02020603050405020304"/>
                    <a:ea typeface="Times New Roman" panose="02020603050405020304"/>
                    <a:cs typeface="Times New Roman" panose="02020603050405020304"/>
                    <a:sym typeface="Times New Roman" panose="02020603050405020304"/>
                  </a:rPr>
                  <a:t>tiết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về</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Thuật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toán</a:t>
                </a:r>
                <a:r>
                  <a:rPr lang="en-US" sz="1800" dirty="0">
                    <a:latin typeface="Times New Roman" panose="02020603050405020304"/>
                    <a:ea typeface="Times New Roman" panose="02020603050405020304"/>
                    <a:cs typeface="Times New Roman" panose="02020603050405020304"/>
                    <a:sym typeface="Times New Roman" panose="02020603050405020304"/>
                  </a:rPr>
                  <a:t> AC-ACO</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800"/>
                  <a:buNone/>
                </a:pP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vi-VN" altLang="en-US" sz="1800" b="1" dirty="0">
                    <a:latin typeface="Times New Roman" panose="02020603050405020304"/>
                    <a:ea typeface="Times New Roman" panose="02020603050405020304"/>
                    <a:cs typeface="Times New Roman" panose="02020603050405020304"/>
                    <a:sym typeface="Times New Roman" panose="02020603050405020304"/>
                  </a:rPr>
                  <a:t>(</a:t>
                </a:r>
                <a:r>
                  <a:rPr lang="en-US" sz="1800" b="1" dirty="0">
                    <a:latin typeface="Times New Roman" panose="02020603050405020304"/>
                    <a:ea typeface="Times New Roman" panose="02020603050405020304"/>
                    <a:cs typeface="Times New Roman" panose="02020603050405020304"/>
                    <a:sym typeface="Times New Roman" panose="02020603050405020304"/>
                  </a:rPr>
                  <a:t>12</a:t>
                </a:r>
                <a:r>
                  <a:rPr lang="vi-VN" altLang="en-US" sz="1800" b="1" dirty="0">
                    <a:latin typeface="Times New Roman" panose="02020603050405020304"/>
                    <a:ea typeface="Times New Roman" panose="02020603050405020304"/>
                    <a:cs typeface="Times New Roman" panose="02020603050405020304"/>
                    <a:sym typeface="Times New Roman" panose="02020603050405020304"/>
                  </a:rPr>
                  <a: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err="1">
                    <a:latin typeface="Times New Roman" panose="02020603050405020304"/>
                    <a:ea typeface="Times New Roman" panose="02020603050405020304"/>
                    <a:cs typeface="Times New Roman" panose="02020603050405020304"/>
                    <a:sym typeface="Times New Roman" panose="02020603050405020304"/>
                  </a:rPr>
                  <a:t>Cập</a:t>
                </a:r>
                <a:r>
                  <a:rPr 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err="1">
                    <a:latin typeface="Times New Roman" panose="02020603050405020304"/>
                    <a:ea typeface="Times New Roman" panose="02020603050405020304"/>
                    <a:cs typeface="Times New Roman" panose="02020603050405020304"/>
                    <a:sym typeface="Times New Roman" panose="02020603050405020304"/>
                  </a:rPr>
                  <a:t>nhật</a:t>
                </a:r>
                <a:r>
                  <a:rPr lang="en-US" sz="1800" b="1" dirty="0">
                    <a:latin typeface="Times New Roman" panose="02020603050405020304"/>
                    <a:ea typeface="Times New Roman" panose="02020603050405020304"/>
                    <a:cs typeface="Times New Roman" panose="02020603050405020304"/>
                    <a:sym typeface="Times New Roman" panose="02020603050405020304"/>
                  </a:rPr>
                  <a:t> pheromone </a:t>
                </a:r>
                <a:r>
                  <a:rPr lang="en-US" sz="1800" b="1" dirty="0" err="1">
                    <a:latin typeface="Times New Roman" panose="02020603050405020304"/>
                    <a:ea typeface="Times New Roman" panose="02020603050405020304"/>
                    <a:cs typeface="Times New Roman" panose="02020603050405020304"/>
                    <a:sym typeface="Times New Roman" panose="02020603050405020304"/>
                  </a:rPr>
                  <a:t>hỗn</a:t>
                </a:r>
                <a:r>
                  <a:rPr 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err="1">
                    <a:latin typeface="Times New Roman" panose="02020603050405020304"/>
                    <a:ea typeface="Times New Roman" panose="02020603050405020304"/>
                    <a:cs typeface="Times New Roman" panose="02020603050405020304"/>
                    <a:sym typeface="Times New Roman" panose="02020603050405020304"/>
                  </a:rPr>
                  <a:t>loạn</a:t>
                </a:r>
                <a:endParaRPr sz="1800" b="1"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100" b="1" dirty="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1800"/>
                  <a:buNone/>
                </a:pPr>
                <a:endParaRPr sz="1100" b="1" dirty="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1800"/>
                  <a:buNone/>
                </a:pPr>
                <a:r>
                  <a:rPr lang="en-US" sz="1100" b="1" dirty="0">
                    <a:latin typeface="Arial" panose="020B0604020202020204"/>
                    <a:ea typeface="Arial" panose="020B0604020202020204"/>
                    <a:cs typeface="Arial" panose="020B0604020202020204"/>
                    <a:sym typeface="Arial" panose="020B0604020202020204"/>
                  </a:rPr>
                  <a:t>															</a:t>
                </a:r>
                <a:r>
                  <a:rPr lang="en-US" sz="1400" b="1" dirty="0">
                    <a:latin typeface="Arial" panose="020B0604020202020204"/>
                    <a:ea typeface="Arial" panose="020B0604020202020204"/>
                    <a:cs typeface="Arial" panose="020B0604020202020204"/>
                    <a:sym typeface="Arial" panose="020B0604020202020204"/>
                  </a:rPr>
                  <a:t>		</a:t>
                </a:r>
                <a:r>
                  <a:rPr lang="en-US" sz="1800" b="1" dirty="0">
                    <a:latin typeface="Arial" panose="020B0604020202020204"/>
                    <a:ea typeface="Arial" panose="020B0604020202020204"/>
                    <a:cs typeface="Arial" panose="020B0604020202020204"/>
                    <a:sym typeface="Arial" panose="020B0604020202020204"/>
                  </a:rPr>
                  <a:t>(1.2)</a:t>
                </a:r>
                <a:endParaRPr sz="1800" b="1" dirty="0">
                  <a:latin typeface="Arial" panose="020B0604020202020204"/>
                  <a:ea typeface="Arial" panose="020B0604020202020204"/>
                  <a:cs typeface="Arial" panose="020B0604020202020204"/>
                  <a:sym typeface="Arial" panose="020B0604020202020204"/>
                </a:endParaRPr>
              </a:p>
              <a:p>
                <a:pPr marL="0" lvl="0" indent="0" algn="l" rtl="0">
                  <a:lnSpc>
                    <a:spcPct val="90000"/>
                  </a:lnSpc>
                  <a:spcBef>
                    <a:spcPts val="1000"/>
                  </a:spcBef>
                  <a:spcAft>
                    <a:spcPts val="0"/>
                  </a:spcAft>
                  <a:buClr>
                    <a:schemeClr val="dk1"/>
                  </a:buClr>
                  <a:buSzPts val="1800"/>
                  <a:buNone/>
                </a:pPr>
                <a:r>
                  <a:rPr lang="zh-CN" altLang="en-US" sz="1800" b="1" dirty="0">
                    <a:latin typeface="Times New Roman" panose="02020603050405020304" charset="0"/>
                    <a:ea typeface="Arial" panose="020B0604020202020204"/>
                    <a:cs typeface="Times New Roman" panose="02020603050405020304" charset="0"/>
                    <a:sym typeface="Arial" panose="020B0604020202020204"/>
                  </a:rPr>
                  <a:t>🔹</a:t>
                </a:r>
                <a:r>
                  <a:rPr lang="en-US" altLang="en-US" sz="1800" b="1"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b="1" dirty="0" err="1">
                    <a:latin typeface="Times New Roman" panose="02020603050405020304" charset="0"/>
                    <a:ea typeface="Arial" panose="020B0604020202020204"/>
                    <a:cs typeface="Times New Roman" panose="02020603050405020304" charset="0"/>
                    <a:sym typeface="Arial" panose="020B0604020202020204"/>
                  </a:rPr>
                  <a:t>Ý</a:t>
                </a:r>
                <a:r>
                  <a:rPr lang="en-US" altLang="en-US" sz="1800" b="1"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b="1" dirty="0" err="1">
                    <a:latin typeface="Times New Roman" panose="02020603050405020304" charset="0"/>
                    <a:ea typeface="Arial" panose="020B0604020202020204"/>
                    <a:cs typeface="Times New Roman" panose="02020603050405020304" charset="0"/>
                    <a:sym typeface="Arial" panose="020B0604020202020204"/>
                  </a:rPr>
                  <a:t>nghĩa</a:t>
                </a:r>
                <a:r>
                  <a:rPr lang="en-US" altLang="en-US" sz="1800" b="1" dirty="0">
                    <a:latin typeface="Times New Roman" panose="02020603050405020304" charset="0"/>
                    <a:ea typeface="Arial" panose="020B0604020202020204"/>
                    <a:cs typeface="Times New Roman" panose="02020603050405020304" charset="0"/>
                    <a:sym typeface="Arial" panose="020B0604020202020204"/>
                  </a:rPr>
                  <a:t>:</a:t>
                </a:r>
                <a:r>
                  <a:rPr lang="vi-VN" altLang="en-US" sz="1800" b="1"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Cập</a:t>
                </a:r>
                <a:r>
                  <a:rPr lang="en-US" altLang="en-US" sz="1800"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nhật</a:t>
                </a:r>
                <a:r>
                  <a:rPr lang="en-US" altLang="en-US" sz="1800" dirty="0">
                    <a:latin typeface="Times New Roman" panose="02020603050405020304" charset="0"/>
                    <a:ea typeface="Arial" panose="020B0604020202020204"/>
                    <a:cs typeface="Times New Roman" panose="02020603050405020304" charset="0"/>
                    <a:sym typeface="Arial" panose="020B0604020202020204"/>
                  </a:rPr>
                  <a:t> pheromone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với</a:t>
                </a:r>
                <a:r>
                  <a:rPr lang="en-US" altLang="en-US" sz="1800"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nhiễu</a:t>
                </a:r>
                <a:r>
                  <a:rPr lang="en-US" altLang="en-US" sz="1800"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hỗn</a:t>
                </a:r>
                <a:r>
                  <a:rPr lang="en-US" altLang="en-US" sz="1800"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loạn</a:t>
                </a:r>
                <a:r>
                  <a:rPr lang="en-US" altLang="en-US" sz="1800"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để</a:t>
                </a:r>
                <a:r>
                  <a:rPr lang="en-US" altLang="en-US" sz="1800"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đa</a:t>
                </a:r>
                <a:r>
                  <a:rPr lang="en-US" altLang="en-US" sz="1800"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dạng</a:t>
                </a:r>
                <a:r>
                  <a:rPr lang="en-US" altLang="en-US" sz="1800"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hóa</a:t>
                </a:r>
                <a:r>
                  <a:rPr lang="en-US" altLang="en-US" sz="1800"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quá</a:t>
                </a:r>
                <a:r>
                  <a:rPr lang="en-US" altLang="en-US" sz="1800"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trình</a:t>
                </a:r>
                <a:r>
                  <a:rPr lang="en-US" altLang="en-US" sz="1800"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tìm</a:t>
                </a:r>
                <a:r>
                  <a:rPr lang="en-US" altLang="en-US" sz="1800"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kiếm</a:t>
                </a:r>
                <a:r>
                  <a:rPr lang="en-US" altLang="en-US" sz="1800"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giúp</a:t>
                </a:r>
                <a:r>
                  <a:rPr lang="en-US" altLang="en-US" sz="1800"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kiến</a:t>
                </a:r>
                <a:r>
                  <a:rPr lang="en-US" altLang="en-US" sz="1800"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thoát</a:t>
                </a:r>
                <a:r>
                  <a:rPr lang="en-US" altLang="en-US" sz="1800"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khỏi</a:t>
                </a:r>
                <a:r>
                  <a:rPr lang="en-US" altLang="en-US" sz="1800"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bẫy</a:t>
                </a:r>
                <a:r>
                  <a:rPr lang="en-US" altLang="en-US" sz="1800"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cục</a:t>
                </a:r>
                <a:r>
                  <a:rPr lang="en-US" altLang="en-US" sz="1800" dirty="0">
                    <a:latin typeface="Times New Roman" panose="02020603050405020304" charset="0"/>
                    <a:ea typeface="Arial" panose="020B0604020202020204"/>
                    <a:cs typeface="Times New Roman" panose="02020603050405020304" charset="0"/>
                    <a:sym typeface="Arial" panose="020B0604020202020204"/>
                  </a:rPr>
                  <a:t> </a:t>
                </a:r>
                <a:r>
                  <a:rPr lang="en-US" altLang="en-US" sz="1800" dirty="0" err="1">
                    <a:latin typeface="Times New Roman" panose="02020603050405020304" charset="0"/>
                    <a:ea typeface="Arial" panose="020B0604020202020204"/>
                    <a:cs typeface="Times New Roman" panose="02020603050405020304" charset="0"/>
                    <a:sym typeface="Arial" panose="020B0604020202020204"/>
                  </a:rPr>
                  <a:t>bộ</a:t>
                </a:r>
                <a:r>
                  <a:rPr lang="en-US" altLang="en-US" sz="1800" dirty="0">
                    <a:latin typeface="Times New Roman" panose="02020603050405020304" charset="0"/>
                    <a:ea typeface="Arial" panose="020B0604020202020204"/>
                    <a:cs typeface="Times New Roman" panose="02020603050405020304" charset="0"/>
                    <a:sym typeface="Arial" panose="020B0604020202020204"/>
                  </a:rPr>
                  <a:t>.</a:t>
                </a:r>
                <a:endParaRPr lang="en-US" altLang="en-US" sz="1800" b="1" dirty="0">
                  <a:latin typeface="Times New Roman" panose="02020603050405020304" charset="0"/>
                  <a:ea typeface="Arial" panose="020B0604020202020204"/>
                  <a:cs typeface="Times New Roman" panose="02020603050405020304" charset="0"/>
                  <a:sym typeface="Arial" panose="020B0604020202020204"/>
                </a:endParaRPr>
              </a:p>
              <a:p>
                <a:pPr marL="0" lvl="0" indent="0" algn="l" rtl="0">
                  <a:lnSpc>
                    <a:spcPct val="90000"/>
                  </a:lnSpc>
                  <a:spcBef>
                    <a:spcPts val="1000"/>
                  </a:spcBef>
                  <a:spcAft>
                    <a:spcPts val="0"/>
                  </a:spcAft>
                  <a:buClr>
                    <a:schemeClr val="dk1"/>
                  </a:buClr>
                  <a:buSzPts val="1800"/>
                  <a:buNone/>
                </a:pPr>
                <a:endParaRPr sz="1100" b="1" dirty="0">
                  <a:latin typeface="Arial" panose="020B0604020202020204"/>
                  <a:ea typeface="Arial" panose="020B0604020202020204"/>
                  <a:cs typeface="Arial" panose="020B0604020202020204"/>
                  <a:sym typeface="Arial" panose="020B0604020202020204"/>
                </a:endParaRPr>
              </a:p>
              <a:p>
                <a:pPr marL="0" lvl="0" indent="0">
                  <a:buSzPts val="1100"/>
                  <a:buNone/>
                </a:pPr>
                <a14:m>
                  <m:oMath xmlns:m="http://schemas.openxmlformats.org/officeDocument/2006/math">
                    <m:sSub>
                      <m:sSubPr>
                        <m:ctrlPr>
                          <a:rPr lang="en-US" altLang="en-US" sz="1800" i="1" dirty="0">
                            <a:latin typeface="Cambria Math" panose="02040503050406030204" pitchFamily="18" charset="0"/>
                            <a:cs typeface="Times New Roman" panose="02020603050405020304"/>
                            <a:sym typeface="Times New Roman" panose="02020603050405020304"/>
                          </a:rPr>
                        </m:ctrlPr>
                      </m:sSubPr>
                      <m:e>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𝜏</m:t>
                        </m:r>
                      </m:e>
                      <m:sub>
                        <m:r>
                          <m:rPr>
                            <m:sty m:val="p"/>
                          </m:rPr>
                          <a:rPr lang="vi-VN" altLang="en-US" sz="1800" i="1" dirty="0">
                            <a:latin typeface="Cambria Math" panose="02040503050406030204" pitchFamily="18" charset="0"/>
                            <a:cs typeface="Times New Roman" panose="02020603050405020304"/>
                            <a:sym typeface="Times New Roman" panose="02020603050405020304"/>
                          </a:rPr>
                          <m:t>ij</m:t>
                        </m:r>
                      </m:sub>
                    </m:sSub>
                    <m:r>
                      <a:rPr lang="vi-VN" altLang="en-US" sz="1800" i="1" dirty="0">
                        <a:latin typeface="Cambria Math" panose="02040503050406030204" pitchFamily="18" charset="0"/>
                        <a:cs typeface="Times New Roman" panose="02020603050405020304"/>
                        <a:sym typeface="Times New Roman" panose="02020603050405020304"/>
                      </a:rPr>
                      <m:t> </m:t>
                    </m:r>
                  </m:oMath>
                </a14:m>
                <a:r>
                  <a:rPr lang="en-US" sz="1800" dirty="0">
                    <a:latin typeface="Times New Roman" panose="02020603050405020304"/>
                    <a:ea typeface="Times New Roman" panose="02020603050405020304"/>
                    <a:cs typeface="Times New Roman" panose="02020603050405020304"/>
                    <a:sym typeface="Times New Roman" panose="02020603050405020304"/>
                  </a:rPr>
                  <a:t>		 ​: </a:t>
                </a:r>
                <a:r>
                  <a:rPr lang="en-US" sz="1800" dirty="0" err="1">
                    <a:latin typeface="Times New Roman" panose="02020603050405020304"/>
                    <a:ea typeface="Times New Roman" panose="02020603050405020304"/>
                    <a:cs typeface="Times New Roman" panose="02020603050405020304"/>
                    <a:sym typeface="Times New Roman" panose="02020603050405020304"/>
                  </a:rPr>
                  <a:t>lượng</a:t>
                </a:r>
                <a:r>
                  <a:rPr lang="en-US" sz="1800" dirty="0">
                    <a:latin typeface="Times New Roman" panose="02020603050405020304"/>
                    <a:ea typeface="Times New Roman" panose="02020603050405020304"/>
                    <a:cs typeface="Times New Roman" panose="02020603050405020304"/>
                    <a:sym typeface="Times New Roman" panose="02020603050405020304"/>
                  </a:rPr>
                  <a:t> pheromone </a:t>
                </a:r>
                <a:r>
                  <a:rPr lang="en-US" sz="1800" dirty="0" err="1">
                    <a:latin typeface="Times New Roman" panose="02020603050405020304"/>
                    <a:ea typeface="Times New Roman" panose="02020603050405020304"/>
                    <a:cs typeface="Times New Roman" panose="02020603050405020304"/>
                    <a:sym typeface="Times New Roman" panose="02020603050405020304"/>
                  </a:rPr>
                  <a:t>trên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cạnh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i</a:t>
                </a:r>
                <a:r>
                  <a:rPr lang="en-US" sz="1800" dirty="0">
                    <a:latin typeface="Times New Roman" panose="02020603050405020304"/>
                    <a:ea typeface="Times New Roman" panose="02020603050405020304"/>
                    <a:cs typeface="Times New Roman" panose="02020603050405020304"/>
                    <a:sym typeface="Times New Roman" panose="02020603050405020304"/>
                  </a:rPr>
                  <a:t>, j).</a:t>
                </a:r>
                <a:endParaRPr sz="1800" b="1"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Clr>
                    <a:schemeClr val="dk1"/>
                  </a:buClr>
                  <a:buSzPts val="1100"/>
                  <a:buNone/>
                </a:pPr>
                <a14:m>
                  <m:oMath xmlns:m="http://schemas.openxmlformats.org/officeDocument/2006/math">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𝜌</m:t>
                    </m:r>
                  </m:oMath>
                </a14:m>
                <a:r>
                  <a:rPr lang="en-US" sz="1800" dirty="0">
                    <a:latin typeface="Times New Roman" panose="02020603050405020304"/>
                    <a:ea typeface="Times New Roman" panose="02020603050405020304"/>
                    <a:cs typeface="Times New Roman" panose="02020603050405020304"/>
                    <a:sym typeface="Times New Roman" panose="02020603050405020304"/>
                  </a:rPr>
                  <a:t>		: </a:t>
                </a:r>
                <a:r>
                  <a:rPr lang="en-US" sz="1800" dirty="0" err="1">
                    <a:latin typeface="Times New Roman" panose="02020603050405020304"/>
                    <a:ea typeface="Times New Roman" panose="02020603050405020304"/>
                    <a:cs typeface="Times New Roman" panose="02020603050405020304"/>
                    <a:sym typeface="Times New Roman" panose="02020603050405020304"/>
                  </a:rPr>
                  <a:t>hệ</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số</a:t>
                </a:r>
                <a:r>
                  <a:rPr lang="en-US" sz="1800" dirty="0">
                    <a:latin typeface="Times New Roman" panose="02020603050405020304"/>
                    <a:ea typeface="Times New Roman" panose="02020603050405020304"/>
                    <a:cs typeface="Times New Roman" panose="02020603050405020304"/>
                    <a:sym typeface="Times New Roman" panose="02020603050405020304"/>
                  </a:rPr>
                  <a:t> bay </a:t>
                </a:r>
                <a:r>
                  <a:rPr lang="en-US" sz="1800" dirty="0" err="1">
                    <a:latin typeface="Times New Roman" panose="02020603050405020304"/>
                    <a:ea typeface="Times New Roman" panose="02020603050405020304"/>
                    <a:cs typeface="Times New Roman" panose="02020603050405020304"/>
                    <a:sym typeface="Times New Roman" panose="02020603050405020304"/>
                  </a:rPr>
                  <a:t>hơi</a:t>
                </a:r>
                <a:r>
                  <a:rPr lang="en-US" sz="1800" dirty="0">
                    <a:latin typeface="Times New Roman" panose="02020603050405020304"/>
                    <a:ea typeface="Times New Roman" panose="02020603050405020304"/>
                    <a:cs typeface="Times New Roman" panose="02020603050405020304"/>
                    <a:sym typeface="Times New Roman" panose="02020603050405020304"/>
                  </a:rPr>
                  <a:t> pheromone.</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buSzPts val="1100"/>
                  <a:buNone/>
                </a:pPr>
                <a14:m>
                  <m:oMath xmlns:m="http://schemas.openxmlformats.org/officeDocument/2006/math">
                    <m:sSub>
                      <m:sSubPr>
                        <m:ctrlPr>
                          <a:rPr lang="en-US" altLang="en-US" sz="1800" i="1" dirty="0">
                            <a:latin typeface="Cambria Math" panose="02040503050406030204" pitchFamily="18" charset="0"/>
                            <a:cs typeface="Times New Roman" panose="02020603050405020304"/>
                            <a:sym typeface="Times New Roman" panose="02020603050405020304"/>
                          </a:rPr>
                        </m:ctrlPr>
                      </m:sSubPr>
                      <m:e>
                        <m:r>
                          <a:rPr lang="en-US" altLang="en-US" sz="1800" i="1" dirty="0">
                            <a:latin typeface="Cambria Math" panose="02040503050406030204" pitchFamily="18" charset="0"/>
                            <a:ea typeface="Cambria Math" panose="02040503050406030204" pitchFamily="18" charset="0"/>
                            <a:cs typeface="Times New Roman" panose="02020603050405020304"/>
                            <a:sym typeface="Times New Roman" panose="02020603050405020304"/>
                          </a:rPr>
                          <m:t>∆</m:t>
                        </m:r>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𝜏</m:t>
                        </m:r>
                      </m:e>
                      <m:sub>
                        <m:r>
                          <m:rPr>
                            <m:sty m:val="p"/>
                          </m:rPr>
                          <a:rPr lang="vi-VN" altLang="en-US" sz="1800" i="1" dirty="0">
                            <a:latin typeface="Cambria Math" panose="02040503050406030204" pitchFamily="18" charset="0"/>
                            <a:cs typeface="Times New Roman" panose="02020603050405020304"/>
                            <a:sym typeface="Times New Roman" panose="02020603050405020304"/>
                          </a:rPr>
                          <m:t>ij</m:t>
                        </m:r>
                      </m:sub>
                    </m:sSub>
                    <m:r>
                      <a:rPr lang="vi-VN" altLang="en-US" sz="1800" i="1" dirty="0">
                        <a:latin typeface="Cambria Math" panose="02040503050406030204" pitchFamily="18" charset="0"/>
                        <a:cs typeface="Times New Roman" panose="02020603050405020304"/>
                        <a:sym typeface="Times New Roman" panose="02020603050405020304"/>
                      </a:rPr>
                      <m:t> </m:t>
                    </m:r>
                  </m:oMath>
                </a14:m>
                <a:r>
                  <a:rPr lang="en-US" sz="1800" dirty="0">
                    <a:latin typeface="Times New Roman" panose="02020603050405020304"/>
                    <a:ea typeface="Times New Roman" panose="02020603050405020304"/>
                    <a:cs typeface="Times New Roman" panose="02020603050405020304"/>
                    <a:sym typeface="Times New Roman" panose="02020603050405020304"/>
                  </a:rPr>
                  <a:t>		: pheromone </a:t>
                </a:r>
                <a:r>
                  <a:rPr lang="en-US" sz="1800" dirty="0" err="1">
                    <a:latin typeface="Times New Roman" panose="02020603050405020304"/>
                    <a:ea typeface="Times New Roman" panose="02020603050405020304"/>
                    <a:cs typeface="Times New Roman" panose="02020603050405020304"/>
                    <a:sym typeface="Times New Roman" panose="02020603050405020304"/>
                  </a:rPr>
                  <a:t>tăng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thêm</a:t>
                </a:r>
                <a:r>
                  <a:rPr lang="en-US" sz="1800" dirty="0">
                    <a:latin typeface="Times New Roman" panose="02020603050405020304"/>
                    <a:ea typeface="Times New Roman" panose="02020603050405020304"/>
                    <a:cs typeface="Times New Roman" panose="02020603050405020304"/>
                    <a:sym typeface="Times New Roman" panose="02020603050405020304"/>
                  </a:rPr>
                  <a:t> do </a:t>
                </a:r>
                <a:r>
                  <a:rPr lang="en-US" sz="1800" dirty="0" err="1">
                    <a:latin typeface="Times New Roman" panose="02020603050405020304"/>
                    <a:ea typeface="Times New Roman" panose="02020603050405020304"/>
                    <a:cs typeface="Times New Roman" panose="02020603050405020304"/>
                    <a:sym typeface="Times New Roman" panose="02020603050405020304"/>
                  </a:rPr>
                  <a:t>kiến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đi</a:t>
                </a:r>
                <a:r>
                  <a:rPr lang="en-US" sz="1800" dirty="0">
                    <a:latin typeface="Times New Roman" panose="02020603050405020304"/>
                    <a:ea typeface="Times New Roman" panose="02020603050405020304"/>
                    <a:cs typeface="Times New Roman" panose="02020603050405020304"/>
                    <a:sym typeface="Times New Roman" panose="02020603050405020304"/>
                  </a:rPr>
                  <a:t> qua </a:t>
                </a:r>
                <a:r>
                  <a:rPr lang="en-US" sz="1800" dirty="0" err="1">
                    <a:latin typeface="Times New Roman" panose="02020603050405020304"/>
                    <a:ea typeface="Times New Roman" panose="02020603050405020304"/>
                    <a:cs typeface="Times New Roman" panose="02020603050405020304"/>
                    <a:sym typeface="Times New Roman" panose="02020603050405020304"/>
                  </a:rPr>
                  <a:t>cạnh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i</a:t>
                </a:r>
                <a:r>
                  <a:rPr lang="en-US" sz="1800" dirty="0">
                    <a:latin typeface="Times New Roman" panose="02020603050405020304"/>
                    <a:ea typeface="Times New Roman" panose="02020603050405020304"/>
                    <a:cs typeface="Times New Roman" panose="02020603050405020304"/>
                    <a:sym typeface="Times New Roman" panose="02020603050405020304"/>
                  </a:rPr>
                  <a:t>, j).</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Clr>
                    <a:schemeClr val="dk1"/>
                  </a:buClr>
                  <a:buSzPts val="1100"/>
                  <a:buNone/>
                </a:pPr>
                <a14:m>
                  <m:oMath xmlns:m="http://schemas.openxmlformats.org/officeDocument/2006/math">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𝐶h𝑎𝑜𝑠</m:t>
                    </m:r>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m:t>
                    </m:r>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𝑥𝑖</m:t>
                    </m:r>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	</m:t>
                    </m:r>
                  </m:oMath>
                </a14:m>
                <a:r>
                  <a:rPr lang="en-US" sz="1800" dirty="0">
                    <a:latin typeface="Times New Roman" panose="02020603050405020304"/>
                    <a:ea typeface="Times New Roman" panose="02020603050405020304"/>
                    <a:cs typeface="Times New Roman" panose="02020603050405020304"/>
                    <a:sym typeface="Times New Roman" panose="02020603050405020304"/>
                  </a:rPr>
                  <a:t>  	: </a:t>
                </a:r>
                <a:r>
                  <a:rPr lang="en-US" sz="1800" dirty="0" err="1">
                    <a:latin typeface="Times New Roman" panose="02020603050405020304"/>
                    <a:ea typeface="Times New Roman" panose="02020603050405020304"/>
                    <a:cs typeface="Times New Roman" panose="02020603050405020304"/>
                    <a:sym typeface="Times New Roman" panose="02020603050405020304"/>
                  </a:rPr>
                  <a:t>nhiễu</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hỗn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loạn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sinh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bởi</a:t>
                </a:r>
                <a:r>
                  <a:rPr lang="en-US" sz="1800" dirty="0">
                    <a:latin typeface="Times New Roman" panose="02020603050405020304"/>
                    <a:ea typeface="Times New Roman" panose="02020603050405020304"/>
                    <a:cs typeface="Times New Roman" panose="02020603050405020304"/>
                    <a:sym typeface="Times New Roman" panose="02020603050405020304"/>
                  </a:rPr>
                  <a:t> logistic map.</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Clr>
                    <a:schemeClr val="dk1"/>
                  </a:buClr>
                  <a:buSzPts val="1100"/>
                  <a:buNone/>
                </a:pPr>
                <a14:m>
                  <m:oMath xmlns:m="http://schemas.openxmlformats.org/officeDocument/2006/math">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𝛼</m:t>
                    </m:r>
                  </m:oMath>
                </a14:m>
                <a:r>
                  <a:rPr lang="en-US" sz="1800" dirty="0">
                    <a:latin typeface="Times New Roman" panose="02020603050405020304"/>
                    <a:ea typeface="Times New Roman" panose="02020603050405020304"/>
                    <a:cs typeface="Times New Roman" panose="02020603050405020304"/>
                    <a:sym typeface="Times New Roman" panose="02020603050405020304"/>
                  </a:rPr>
                  <a:t>		: </a:t>
                </a:r>
                <a:r>
                  <a:rPr lang="en-US" sz="1800" dirty="0" err="1">
                    <a:latin typeface="Times New Roman" panose="02020603050405020304"/>
                    <a:ea typeface="Times New Roman" panose="02020603050405020304"/>
                    <a:cs typeface="Times New Roman" panose="02020603050405020304"/>
                    <a:sym typeface="Times New Roman" panose="02020603050405020304"/>
                  </a:rPr>
                  <a:t>trọng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số</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mức</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ảnh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hưởng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của</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hỗn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loạn</a:t>
                </a:r>
                <a:r>
                  <a:rPr lang="en-US" sz="1800" dirty="0">
                    <a:latin typeface="Times New Roman" panose="02020603050405020304"/>
                    <a:ea typeface="Times New Roman" panose="02020603050405020304"/>
                    <a:cs typeface="Times New Roman" panose="02020603050405020304"/>
                    <a:sym typeface="Times New Roman" panose="02020603050405020304"/>
                  </a:rPr>
                  <a:t>.(</a:t>
                </a:r>
                <a:r>
                  <a:rPr lang="en-US" sz="1800" dirty="0" err="1">
                    <a:latin typeface="Times New Roman" panose="02020603050405020304"/>
                    <a:ea typeface="Times New Roman" panose="02020603050405020304"/>
                    <a:cs typeface="Times New Roman" panose="02020603050405020304"/>
                    <a:sym typeface="Times New Roman" panose="02020603050405020304"/>
                  </a:rPr>
                  <a:t>ở</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đây</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khác</a:t>
                </a:r>
                <a:r>
                  <a:rPr lang="en-US" sz="1800" dirty="0">
                    <a:latin typeface="Times New Roman" panose="02020603050405020304"/>
                    <a:ea typeface="Times New Roman" panose="02020603050405020304"/>
                    <a:cs typeface="Times New Roman" panose="02020603050405020304"/>
                    <a:sym typeface="Times New Roman" panose="02020603050405020304"/>
                  </a:rPr>
                  <a:t> α </a:t>
                </a:r>
                <a:r>
                  <a:rPr lang="en-US" sz="1800" dirty="0" err="1">
                    <a:latin typeface="Times New Roman" panose="02020603050405020304"/>
                    <a:ea typeface="Times New Roman" panose="02020603050405020304"/>
                    <a:cs typeface="Times New Roman" panose="02020603050405020304"/>
                    <a:sym typeface="Times New Roman" panose="02020603050405020304"/>
                  </a:rPr>
                  <a:t>trên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xác</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suất</a:t>
                </a:r>
                <a:r>
                  <a:rPr lang="en-US" sz="1800" dirty="0">
                    <a:latin typeface="Times New Roman" panose="02020603050405020304"/>
                    <a:ea typeface="Times New Roman" panose="02020603050405020304"/>
                    <a:cs typeface="Times New Roman" panose="02020603050405020304"/>
                    <a:sym typeface="Times New Roman" panose="02020603050405020304"/>
                  </a:rPr>
                  <a:t>)</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Clr>
                    <a:schemeClr val="dk1"/>
                  </a:buClr>
                  <a:buSzPts val="1100"/>
                  <a:buNone/>
                </a:pPr>
                <a:br>
                  <a:rPr lang="en-US" sz="1100" b="1" dirty="0">
                    <a:latin typeface="Arial" panose="020B0604020202020204"/>
                    <a:ea typeface="Arial" panose="020B0604020202020204"/>
                    <a:cs typeface="Arial" panose="020B0604020202020204"/>
                    <a:sym typeface="Arial" panose="020B0604020202020204"/>
                  </a:rPr>
                </a:br>
                <a:r>
                  <a:rPr lang="en-US" sz="1100" b="1" dirty="0">
                    <a:latin typeface="Arial" panose="020B0604020202020204"/>
                    <a:ea typeface="Arial" panose="020B0604020202020204"/>
                    <a:cs typeface="Arial" panose="020B0604020202020204"/>
                    <a:sym typeface="Arial" panose="020B0604020202020204"/>
                  </a:rPr>
                  <a:t>	</a:t>
                </a:r>
                <a:br>
                  <a:rPr lang="en-US" sz="1100" b="1" dirty="0">
                    <a:latin typeface="Arial" panose="020B0604020202020204"/>
                    <a:ea typeface="Arial" panose="020B0604020202020204"/>
                    <a:cs typeface="Arial" panose="020B0604020202020204"/>
                    <a:sym typeface="Arial" panose="020B0604020202020204"/>
                  </a:rPr>
                </a:br>
                <a:r>
                  <a:rPr lang="en-US" sz="1100" b="1" dirty="0">
                    <a:latin typeface="Arial" panose="020B0604020202020204"/>
                    <a:ea typeface="Arial" panose="020B0604020202020204"/>
                    <a:cs typeface="Arial" panose="020B0604020202020204"/>
                    <a:sym typeface="Arial" panose="020B0604020202020204"/>
                  </a:rPr>
                  <a:t>	</a:t>
                </a:r>
                <a:endParaRPr sz="1800" dirty="0">
                  <a:latin typeface="Times New Roman" panose="02020603050405020304"/>
                  <a:ea typeface="Times New Roman" panose="02020603050405020304"/>
                  <a:cs typeface="Times New Roman" panose="02020603050405020304"/>
                  <a:sym typeface="Times New Roman" panose="02020603050405020304"/>
                </a:endParaRPr>
              </a:p>
            </p:txBody>
          </p:sp>
        </mc:Choice>
        <mc:Fallback xmlns="">
          <p:sp>
            <p:nvSpPr>
              <p:cNvPr id="271" name="Google Shape;271;p41"/>
              <p:cNvSpPr txBox="1">
                <a:spLocks noRot="1" noChangeAspect="1" noMove="1" noResize="1" noEditPoints="1" noAdjustHandles="1" noChangeArrowheads="1" noChangeShapeType="1" noTextEdit="1"/>
              </p:cNvSpPr>
              <p:nvPr>
                <p:ph type="body" idx="1"/>
              </p:nvPr>
            </p:nvSpPr>
            <p:spPr>
              <a:xfrm>
                <a:off x="234950" y="963168"/>
                <a:ext cx="8674200" cy="5132700"/>
              </a:xfrm>
              <a:prstGeom prst="rect">
                <a:avLst/>
              </a:prstGeom>
              <a:blipFill rotWithShape="1">
                <a:blip r:embed="rId3"/>
                <a:stretch>
                  <a:fillRect t="-10" r="1" b="-4172"/>
                </a:stretch>
              </a:blipFill>
              <a:ln>
                <a:noFill/>
              </a:ln>
            </p:spPr>
            <p:txBody>
              <a:bodyPr/>
              <a:lstStyle/>
              <a:p>
                <a:r>
                  <a:rPr lang="en-US" altLang="en-US">
                    <a:noFill/>
                  </a:rPr>
                  <a:t> </a:t>
                </a:r>
              </a:p>
            </p:txBody>
          </p:sp>
        </mc:Fallback>
      </mc:AlternateContent>
      <p:pic>
        <p:nvPicPr>
          <p:cNvPr id="272" name="Google Shape;272;p41"/>
          <p:cNvPicPr preferRelativeResize="0"/>
          <p:nvPr/>
        </p:nvPicPr>
        <p:blipFill>
          <a:blip r:embed="rId4"/>
          <a:stretch>
            <a:fillRect/>
          </a:stretch>
        </p:blipFill>
        <p:spPr>
          <a:xfrm>
            <a:off x="1992713" y="2397893"/>
            <a:ext cx="4993318" cy="457332"/>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42"/>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36</a:t>
            </a:fld>
            <a:endParaRPr lang="en-US"/>
          </a:p>
        </p:txBody>
      </p:sp>
      <p:sp>
        <p:nvSpPr>
          <p:cNvPr id="278" name="Google Shape;278;p42"/>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sym typeface="+mn-ea"/>
              </a:rPr>
              <a:t>3. </a:t>
            </a:r>
            <a:r>
              <a:rPr lang="vi-VN" altLang="en-US">
                <a:sym typeface="+mn-ea"/>
              </a:rPr>
              <a:t>P</a:t>
            </a:r>
            <a:r>
              <a:rPr lang="en-US">
                <a:sym typeface="+mn-ea"/>
              </a:rPr>
              <a:t>hương pháp</a:t>
            </a:r>
            <a:r>
              <a:rPr lang="vi-VN" altLang="en-US">
                <a:sym typeface="+mn-ea"/>
              </a:rPr>
              <a:t> đề xuất</a:t>
            </a:r>
            <a:r>
              <a:rPr lang="en-US">
                <a:sym typeface="+mn-ea"/>
              </a:rPr>
              <a:t> AC-ACO</a:t>
            </a:r>
            <a:br>
              <a:rPr lang="en-US">
                <a:sym typeface="+mn-ea"/>
              </a:rPr>
            </a:br>
            <a:endParaRPr lang="en-US"/>
          </a:p>
        </p:txBody>
      </p:sp>
      <mc:AlternateContent xmlns:mc="http://schemas.openxmlformats.org/markup-compatibility/2006" xmlns:a14="http://schemas.microsoft.com/office/drawing/2010/main">
        <mc:Choice Requires="a14">
          <p:sp>
            <p:nvSpPr>
              <p:cNvPr id="279" name="Google Shape;279;p42"/>
              <p:cNvSpPr txBox="1">
                <a:spLocks noGrp="1"/>
              </p:cNvSpPr>
              <p:nvPr>
                <p:ph type="body" idx="1"/>
              </p:nvPr>
            </p:nvSpPr>
            <p:spPr>
              <a:xfrm>
                <a:off x="234950" y="963168"/>
                <a:ext cx="8674200" cy="5132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None/>
                </a:pPr>
                <a:r>
                  <a:rPr lang="en-US" sz="1800" dirty="0">
                    <a:latin typeface="Times New Roman" panose="02020603050405020304"/>
                    <a:ea typeface="Times New Roman" panose="02020603050405020304"/>
                    <a:cs typeface="Times New Roman" panose="02020603050405020304"/>
                    <a:sym typeface="Times New Roman" panose="02020603050405020304"/>
                  </a:rPr>
                  <a:t>Chi </a:t>
                </a:r>
                <a:r>
                  <a:rPr lang="en-US" sz="1800" dirty="0" err="1">
                    <a:latin typeface="Times New Roman" panose="02020603050405020304"/>
                    <a:ea typeface="Times New Roman" panose="02020603050405020304"/>
                    <a:cs typeface="Times New Roman" panose="02020603050405020304"/>
                    <a:sym typeface="Times New Roman" panose="02020603050405020304"/>
                  </a:rPr>
                  <a:t>tiết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về</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Thuật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toán</a:t>
                </a:r>
                <a:r>
                  <a:rPr lang="en-US" sz="1800" dirty="0">
                    <a:latin typeface="Times New Roman" panose="02020603050405020304"/>
                    <a:ea typeface="Times New Roman" panose="02020603050405020304"/>
                    <a:cs typeface="Times New Roman" panose="02020603050405020304"/>
                    <a:sym typeface="Times New Roman" panose="02020603050405020304"/>
                  </a:rPr>
                  <a:t> AC-ACO</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800"/>
                  <a:buNone/>
                </a:pP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800"/>
                  <a:buNone/>
                </a:pPr>
                <a:r>
                  <a:rPr lang="en-US" sz="1800" dirty="0">
                    <a:latin typeface="Times New Roman" panose="02020603050405020304"/>
                    <a:ea typeface="Times New Roman" panose="02020603050405020304"/>
                    <a:cs typeface="Times New Roman" panose="02020603050405020304"/>
                    <a:sym typeface="Times New Roman" panose="02020603050405020304"/>
                  </a:rPr>
                  <a:t>2. </a:t>
                </a:r>
                <a:r>
                  <a:rPr lang="en-US" sz="1800" dirty="0" err="1">
                    <a:latin typeface="Times New Roman" panose="02020603050405020304"/>
                    <a:ea typeface="Times New Roman" panose="02020603050405020304"/>
                    <a:cs typeface="Times New Roman" panose="02020603050405020304"/>
                    <a:sym typeface="Times New Roman" panose="02020603050405020304"/>
                  </a:rPr>
                  <a:t>Cơ</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chế</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điều</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chỉnh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thích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ứng</a:t>
                </a:r>
                <a:r>
                  <a:rPr lang="en-US" sz="1800" dirty="0">
                    <a:latin typeface="Times New Roman" panose="02020603050405020304"/>
                    <a:ea typeface="Times New Roman" panose="02020603050405020304"/>
                    <a:cs typeface="Times New Roman" panose="02020603050405020304"/>
                    <a:sym typeface="Times New Roman" panose="02020603050405020304"/>
                  </a:rPr>
                  <a:t> 3 </a:t>
                </a:r>
                <a:r>
                  <a:rPr lang="en-US" sz="1800" dirty="0" err="1">
                    <a:latin typeface="Times New Roman" panose="02020603050405020304"/>
                    <a:ea typeface="Times New Roman" panose="02020603050405020304"/>
                    <a:cs typeface="Times New Roman" panose="02020603050405020304"/>
                    <a:sym typeface="Times New Roman" panose="02020603050405020304"/>
                  </a:rPr>
                  <a:t>cấp</a:t>
                </a:r>
                <a:r>
                  <a:rPr lang="en-US" sz="1800" dirty="0">
                    <a:latin typeface="Times New Roman" panose="02020603050405020304"/>
                    <a:ea typeface="Times New Roman" panose="02020603050405020304"/>
                    <a:cs typeface="Times New Roman" panose="02020603050405020304"/>
                    <a:sym typeface="Times New Roman" panose="02020603050405020304"/>
                  </a:rPr>
                  <a:t>:</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800"/>
                  <a:buNone/>
                </a:pP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vi-VN" altLang="en-US" sz="1800" b="1" dirty="0">
                    <a:latin typeface="Times New Roman" panose="02020603050405020304"/>
                    <a:ea typeface="Times New Roman" panose="02020603050405020304"/>
                    <a:cs typeface="Times New Roman" panose="02020603050405020304"/>
                    <a:sym typeface="Times New Roman" panose="02020603050405020304"/>
                  </a:rPr>
                  <a:t>(13) </a:t>
                </a:r>
                <a:r>
                  <a:rPr 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err="1">
                    <a:latin typeface="Times New Roman" panose="02020603050405020304"/>
                    <a:ea typeface="Times New Roman" panose="02020603050405020304"/>
                    <a:cs typeface="Times New Roman" panose="02020603050405020304"/>
                    <a:sym typeface="Times New Roman" panose="02020603050405020304"/>
                  </a:rPr>
                  <a:t>Điều</a:t>
                </a:r>
                <a:r>
                  <a:rPr 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err="1">
                    <a:latin typeface="Times New Roman" panose="02020603050405020304"/>
                    <a:ea typeface="Times New Roman" panose="02020603050405020304"/>
                    <a:cs typeface="Times New Roman" panose="02020603050405020304"/>
                    <a:sym typeface="Times New Roman" panose="02020603050405020304"/>
                  </a:rPr>
                  <a:t>chỉnh</a:t>
                </a:r>
                <a:r>
                  <a:rPr 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err="1">
                    <a:latin typeface="Times New Roman" panose="02020603050405020304"/>
                    <a:ea typeface="Times New Roman" panose="02020603050405020304"/>
                    <a:cs typeface="Times New Roman" panose="02020603050405020304"/>
                    <a:sym typeface="Times New Roman" panose="02020603050405020304"/>
                  </a:rPr>
                  <a:t>động</a:t>
                </a:r>
                <a:r>
                  <a:rPr 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err="1">
                    <a:latin typeface="Times New Roman" panose="02020603050405020304"/>
                    <a:ea typeface="Times New Roman" panose="02020603050405020304"/>
                    <a:cs typeface="Times New Roman" panose="02020603050405020304"/>
                    <a:sym typeface="Times New Roman" panose="02020603050405020304"/>
                  </a:rPr>
                  <a:t>hệ</a:t>
                </a:r>
                <a:r>
                  <a:rPr 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sz="1800" b="1" dirty="0" err="1">
                    <a:latin typeface="Times New Roman" panose="02020603050405020304"/>
                    <a:ea typeface="Times New Roman" panose="02020603050405020304"/>
                    <a:cs typeface="Times New Roman" panose="02020603050405020304"/>
                    <a:sym typeface="Times New Roman" panose="02020603050405020304"/>
                  </a:rPr>
                  <a:t>số</a:t>
                </a:r>
                <a:r>
                  <a:rPr lang="en-US" sz="1800" b="1" dirty="0">
                    <a:latin typeface="Times New Roman" panose="02020603050405020304"/>
                    <a:ea typeface="Times New Roman" panose="02020603050405020304"/>
                    <a:cs typeface="Times New Roman" panose="02020603050405020304"/>
                    <a:sym typeface="Times New Roman" panose="02020603050405020304"/>
                  </a:rPr>
                  <a:t> bay </a:t>
                </a:r>
                <a:r>
                  <a:rPr lang="en-US" sz="1800" b="1" dirty="0" err="1">
                    <a:latin typeface="Times New Roman" panose="02020603050405020304"/>
                    <a:ea typeface="Times New Roman" panose="02020603050405020304"/>
                    <a:cs typeface="Times New Roman" panose="02020603050405020304"/>
                    <a:sym typeface="Times New Roman" panose="02020603050405020304"/>
                  </a:rPr>
                  <a:t>hơi</a:t>
                </a:r>
                <a:r>
                  <a:rPr lang="en-US" sz="1800" b="1" dirty="0">
                    <a:latin typeface="Times New Roman" panose="02020603050405020304"/>
                    <a:ea typeface="Times New Roman" panose="02020603050405020304"/>
                    <a:cs typeface="Times New Roman" panose="02020603050405020304"/>
                    <a:sym typeface="Times New Roman" panose="02020603050405020304"/>
                  </a:rPr>
                  <a:t> pheromone (</a:t>
                </a:r>
                <a:r>
                  <a:rPr lang="en-US" sz="1800" b="1" dirty="0" err="1">
                    <a:latin typeface="Times New Roman" panose="02020603050405020304"/>
                    <a:ea typeface="Times New Roman" panose="02020603050405020304"/>
                    <a:cs typeface="Times New Roman" panose="02020603050405020304"/>
                    <a:sym typeface="Times New Roman" panose="02020603050405020304"/>
                  </a:rPr>
                  <a:t>ρ</a:t>
                </a:r>
                <a:r>
                  <a:rPr lang="en-US" sz="1800" b="1" dirty="0">
                    <a:latin typeface="Times New Roman" panose="02020603050405020304"/>
                    <a:ea typeface="Times New Roman" panose="02020603050405020304"/>
                    <a:cs typeface="Times New Roman" panose="02020603050405020304"/>
                    <a:sym typeface="Times New Roman" panose="02020603050405020304"/>
                  </a:rPr>
                  <a:t>): </a:t>
                </a:r>
              </a:p>
              <a:p>
                <a:pPr marL="0" lvl="0" indent="0" algn="l" rtl="0">
                  <a:lnSpc>
                    <a:spcPct val="90000"/>
                  </a:lnSpc>
                  <a:spcBef>
                    <a:spcPts val="1000"/>
                  </a:spcBef>
                  <a:spcAft>
                    <a:spcPts val="0"/>
                  </a:spcAft>
                  <a:buClr>
                    <a:schemeClr val="dk1"/>
                  </a:buClr>
                  <a:buSzPts val="1800"/>
                  <a:buNone/>
                </a:pPr>
                <a:endParaRPr lang="en-US" sz="1800" dirty="0">
                  <a:latin typeface="Times New Roman" panose="02020603050405020304"/>
                  <a:ea typeface="Times New Roman" panose="02020603050405020304"/>
                  <a:cs typeface="Times New Roman" panose="02020603050405020304"/>
                  <a:sym typeface="Times New Roman" panose="02020603050405020304"/>
                </a:endParaRPr>
              </a:p>
              <a:p>
                <a:pPr marL="4114800" lvl="8" indent="457200" algn="l" rtl="0">
                  <a:lnSpc>
                    <a:spcPct val="90000"/>
                  </a:lnSpc>
                  <a:spcBef>
                    <a:spcPts val="1000"/>
                  </a:spcBef>
                  <a:spcAft>
                    <a:spcPts val="0"/>
                  </a:spcAft>
                  <a:buClr>
                    <a:schemeClr val="dk1"/>
                  </a:buClr>
                  <a:buSzPts val="1800"/>
                  <a:buNone/>
                </a:pP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b="1" dirty="0">
                    <a:latin typeface="Times New Roman" panose="02020603050405020304"/>
                    <a:ea typeface="Times New Roman" panose="02020603050405020304"/>
                    <a:cs typeface="Times New Roman" panose="02020603050405020304"/>
                    <a:sym typeface="Times New Roman" panose="02020603050405020304"/>
                  </a:rPr>
                  <a:t>(1.3) </a:t>
                </a:r>
                <a:endParaRPr lang="en-US"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lang="en-US"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zh-CN" altLang="en-US" sz="1800" dirty="0">
                    <a:latin typeface="Times New Roman" panose="02020603050405020304"/>
                    <a:ea typeface="Times New Roman" panose="02020603050405020304"/>
                    <a:cs typeface="Times New Roman" panose="02020603050405020304"/>
                    <a:sym typeface="Times New Roman" panose="02020603050405020304"/>
                  </a:rPr>
                  <a:t>🔹</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Ý</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nghĩa</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Giảm</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dần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hệ</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số</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bay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hơi</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theo</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thời</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gian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đầu</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quá</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trình</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thiên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về</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khám</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phá</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cuối</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quá</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trình</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thiên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về</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khai</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thác</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a:t>
                </a:r>
                <a:r>
                  <a:rPr lang="en-US" sz="1800" dirty="0">
                    <a:latin typeface="Times New Roman" panose="02020603050405020304"/>
                    <a:ea typeface="Times New Roman" panose="02020603050405020304"/>
                    <a:cs typeface="Times New Roman" panose="02020603050405020304"/>
                    <a:sym typeface="Times New Roman" panose="02020603050405020304"/>
                  </a:rPr>
                  <a:t>				</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lang="en-US" sz="1800" dirty="0">
                  <a:latin typeface="Times New Roman" panose="02020603050405020304"/>
                  <a:ea typeface="Times New Roman" panose="02020603050405020304"/>
                  <a:cs typeface="Times New Roman" panose="02020603050405020304"/>
                  <a:sym typeface="Times New Roman" panose="02020603050405020304"/>
                </a:endParaRPr>
              </a:p>
              <a:p>
                <a:pPr marL="0" lvl="0" indent="457200" algn="l" rtl="0">
                  <a:lnSpc>
                    <a:spcPct val="90000"/>
                  </a:lnSpc>
                  <a:spcBef>
                    <a:spcPts val="1000"/>
                  </a:spcBef>
                  <a:spcAft>
                    <a:spcPts val="0"/>
                  </a:spcAft>
                  <a:buClr>
                    <a:schemeClr val="dk1"/>
                  </a:buClr>
                  <a:buSzPts val="1800"/>
                  <a:buNone/>
                </a:pPr>
                <a14:m>
                  <m:oMath xmlns:m="http://schemas.openxmlformats.org/officeDocument/2006/math">
                    <m:sSub>
                      <m:sSubPr>
                        <m:ctrlPr>
                          <a:rPr lang="en-US" sz="1800" i="1" dirty="0" smtClean="0">
                            <a:latin typeface="Cambria Math" panose="02040503050406030204" pitchFamily="18" charset="0"/>
                            <a:cs typeface="Times New Roman" panose="02020603050405020304"/>
                            <a:sym typeface="Times New Roman" panose="02020603050405020304"/>
                          </a:rPr>
                        </m:ctrlPr>
                      </m:sSubPr>
                      <m:e>
                        <m:r>
                          <a:rPr lang="en-US" sz="1800" i="1" dirty="0" smtClean="0">
                            <a:latin typeface="Cambria Math" panose="02040503050406030204" pitchFamily="18" charset="0"/>
                            <a:ea typeface="Cambria Math" panose="02040503050406030204" pitchFamily="18" charset="0"/>
                            <a:cs typeface="Times New Roman" panose="02020603050405020304"/>
                            <a:sym typeface="Times New Roman" panose="02020603050405020304"/>
                          </a:rPr>
                          <m:t>𝜌</m:t>
                        </m:r>
                      </m:e>
                      <m:sub>
                        <m:r>
                          <m:rPr>
                            <m:sty m:val="p"/>
                          </m:rPr>
                          <a:rPr lang="en-US" sz="1800" i="1" dirty="0">
                            <a:latin typeface="Cambria Math" panose="02040503050406030204" pitchFamily="18" charset="0"/>
                            <a:cs typeface="Times New Roman" panose="02020603050405020304"/>
                            <a:sym typeface="Times New Roman" panose="02020603050405020304"/>
                          </a:rPr>
                          <m:t>max</m:t>
                        </m:r>
                      </m:sub>
                    </m:sSub>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m:t>
                    </m:r>
                    <m:sSub>
                      <m:sSubPr>
                        <m:ctrlPr>
                          <a:rPr lang="en-US" sz="1800" i="1" dirty="0" smtClean="0">
                            <a:latin typeface="Cambria Math" panose="02040503050406030204" pitchFamily="18" charset="0"/>
                            <a:cs typeface="Times New Roman" panose="02020603050405020304"/>
                            <a:sym typeface="Times New Roman" panose="02020603050405020304"/>
                          </a:rPr>
                        </m:ctrlPr>
                      </m:sSubPr>
                      <m:e>
                        <m:r>
                          <a:rPr lang="en-US" sz="1800" i="1" dirty="0" smtClean="0">
                            <a:latin typeface="Cambria Math" panose="02040503050406030204" pitchFamily="18" charset="0"/>
                            <a:ea typeface="Cambria Math" panose="02040503050406030204" pitchFamily="18" charset="0"/>
                            <a:cs typeface="Times New Roman" panose="02020603050405020304"/>
                            <a:sym typeface="Times New Roman" panose="02020603050405020304"/>
                          </a:rPr>
                          <m:t>𝜌</m:t>
                        </m:r>
                      </m:e>
                      <m:sub>
                        <m:r>
                          <m:rPr>
                            <m:sty m:val="p"/>
                          </m:rPr>
                          <a:rPr lang="en-US" sz="1800" i="1" dirty="0">
                            <a:latin typeface="Cambria Math" panose="02040503050406030204" pitchFamily="18" charset="0"/>
                            <a:cs typeface="Times New Roman" panose="02020603050405020304"/>
                            <a:sym typeface="Times New Roman" panose="02020603050405020304"/>
                          </a:rPr>
                          <m:t>min</m:t>
                        </m:r>
                      </m:sub>
                    </m:sSub>
                    <m:r>
                      <a:rPr lang="en-US" sz="1800" i="1" dirty="0">
                        <a:latin typeface="Cambria Math" panose="02040503050406030204" pitchFamily="18" charset="0"/>
                        <a:ea typeface="Times New Roman" panose="02020603050405020304"/>
                        <a:cs typeface="Times New Roman" panose="02020603050405020304"/>
                        <a:sym typeface="Times New Roman" panose="02020603050405020304"/>
                      </a:rPr>
                      <m:t>⁡</m:t>
                    </m:r>
                    <m:r>
                      <a:rPr lang="en-US" sz="1800" i="1" dirty="0">
                        <a:latin typeface="Cambria Math" panose="02040503050406030204" pitchFamily="18" charset="0"/>
                        <a:ea typeface="Times New Roman" panose="02020603050405020304"/>
                        <a:cs typeface="Times New Roman" panose="02020603050405020304"/>
                        <a:sym typeface="Times New Roman" panose="02020603050405020304"/>
                      </a:rPr>
                      <m:t>​</m:t>
                    </m:r>
                  </m:oMath>
                </a14:m>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ngưỡng</a:t>
                </a:r>
                <a:r>
                  <a:rPr lang="en-US" sz="1800" dirty="0">
                    <a:latin typeface="Times New Roman" panose="02020603050405020304"/>
                    <a:ea typeface="Times New Roman" panose="02020603050405020304"/>
                    <a:cs typeface="Times New Roman" panose="02020603050405020304"/>
                    <a:sym typeface="Times New Roman" panose="02020603050405020304"/>
                  </a:rPr>
                  <a:t> bay </a:t>
                </a:r>
                <a:r>
                  <a:rPr lang="en-US" sz="1800" dirty="0" err="1">
                    <a:latin typeface="Times New Roman" panose="02020603050405020304"/>
                    <a:ea typeface="Times New Roman" panose="02020603050405020304"/>
                    <a:cs typeface="Times New Roman" panose="02020603050405020304"/>
                    <a:sym typeface="Times New Roman" panose="02020603050405020304"/>
                  </a:rPr>
                  <a:t>hơi</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lớn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nhất</a:t>
                </a:r>
                <a:r>
                  <a:rPr lang="en-US" sz="1800" dirty="0">
                    <a:latin typeface="Times New Roman" panose="02020603050405020304"/>
                    <a:ea typeface="Times New Roman" panose="02020603050405020304"/>
                    <a:cs typeface="Times New Roman" panose="02020603050405020304"/>
                    <a:sym typeface="Times New Roman" panose="02020603050405020304"/>
                  </a:rPr>
                  <a:t>/</a:t>
                </a:r>
                <a:r>
                  <a:rPr lang="en-US" sz="1800" dirty="0" err="1">
                    <a:latin typeface="Times New Roman" panose="02020603050405020304"/>
                    <a:ea typeface="Times New Roman" panose="02020603050405020304"/>
                    <a:cs typeface="Times New Roman" panose="02020603050405020304"/>
                    <a:sym typeface="Times New Roman" panose="02020603050405020304"/>
                  </a:rPr>
                  <a:t>nhỏ</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nhất</a:t>
                </a:r>
                <a:r>
                  <a:rPr lang="en-US" sz="1800" dirty="0">
                    <a:latin typeface="Times New Roman" panose="02020603050405020304"/>
                    <a:ea typeface="Times New Roman" panose="02020603050405020304"/>
                    <a:cs typeface="Times New Roman" panose="02020603050405020304"/>
                    <a:sym typeface="Times New Roman" panose="02020603050405020304"/>
                  </a:rPr>
                  <a:t>.</a:t>
                </a:r>
                <a:br>
                  <a:rPr lang="en-US" sz="1800" dirty="0">
                    <a:latin typeface="Times New Roman" panose="02020603050405020304"/>
                    <a:ea typeface="Times New Roman" panose="02020603050405020304"/>
                    <a:cs typeface="Times New Roman" panose="02020603050405020304"/>
                    <a:sym typeface="Times New Roman" panose="02020603050405020304"/>
                  </a:rPr>
                </a:b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457200" algn="l" rtl="0">
                  <a:spcBef>
                    <a:spcPts val="1000"/>
                  </a:spcBef>
                  <a:spcAft>
                    <a:spcPts val="0"/>
                  </a:spcAft>
                  <a:buClr>
                    <a:schemeClr val="dk1"/>
                  </a:buClr>
                  <a:buSzPts val="1100"/>
                  <a:buFont typeface="Arial" panose="020B0604020202020204"/>
                  <a:buNone/>
                </a:pPr>
                <a14:m>
                  <m:oMath xmlns:m="http://schemas.openxmlformats.org/officeDocument/2006/math">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𝑡</m:t>
                    </m:r>
                  </m:oMath>
                </a14:m>
                <a:r>
                  <a:rPr lang="en-US" sz="1800" dirty="0">
                    <a:latin typeface="Times New Roman" panose="02020603050405020304"/>
                    <a:ea typeface="Times New Roman" panose="02020603050405020304"/>
                    <a:cs typeface="Times New Roman" panose="02020603050405020304"/>
                    <a:sym typeface="Times New Roman" panose="02020603050405020304"/>
                  </a:rPr>
                  <a:t>			: </a:t>
                </a:r>
                <a:r>
                  <a:rPr lang="en-US" sz="1800" dirty="0" err="1">
                    <a:latin typeface="Times New Roman" panose="02020603050405020304"/>
                    <a:ea typeface="Times New Roman" panose="02020603050405020304"/>
                    <a:cs typeface="Times New Roman" panose="02020603050405020304"/>
                    <a:sym typeface="Times New Roman" panose="02020603050405020304"/>
                  </a:rPr>
                  <a:t>số</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vòng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lặp</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hiện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tại</a:t>
                </a:r>
                <a:r>
                  <a:rPr lang="en-US" sz="1800" dirty="0">
                    <a:latin typeface="Times New Roman" panose="02020603050405020304"/>
                    <a:ea typeface="Times New Roman" panose="02020603050405020304"/>
                    <a:cs typeface="Times New Roman" panose="02020603050405020304"/>
                    <a:sym typeface="Times New Roman" panose="02020603050405020304"/>
                  </a:rPr>
                  <a:t>.</a:t>
                </a:r>
                <a:br>
                  <a:rPr lang="en-US" sz="1800" dirty="0">
                    <a:latin typeface="Times New Roman" panose="02020603050405020304"/>
                    <a:ea typeface="Times New Roman" panose="02020603050405020304"/>
                    <a:cs typeface="Times New Roman" panose="02020603050405020304"/>
                    <a:sym typeface="Times New Roman" panose="02020603050405020304"/>
                  </a:rPr>
                </a:b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457200" algn="l" rtl="0">
                  <a:spcBef>
                    <a:spcPts val="1000"/>
                  </a:spcBef>
                  <a:spcAft>
                    <a:spcPts val="0"/>
                  </a:spcAft>
                  <a:buClr>
                    <a:schemeClr val="dk1"/>
                  </a:buClr>
                  <a:buSzPts val="1100"/>
                  <a:buFont typeface="Arial" panose="020B0604020202020204"/>
                  <a:buNone/>
                </a:pPr>
                <a14:m>
                  <m:oMath xmlns:m="http://schemas.openxmlformats.org/officeDocument/2006/math">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𝑇</m:t>
                    </m:r>
                  </m:oMath>
                </a14:m>
                <a:r>
                  <a:rPr lang="en-US" sz="1800" dirty="0">
                    <a:latin typeface="Times New Roman" panose="02020603050405020304"/>
                    <a:ea typeface="Times New Roman" panose="02020603050405020304"/>
                    <a:cs typeface="Times New Roman" panose="02020603050405020304"/>
                    <a:sym typeface="Times New Roman" panose="02020603050405020304"/>
                  </a:rPr>
                  <a:t>			: </a:t>
                </a:r>
                <a:r>
                  <a:rPr lang="en-US" sz="1800" dirty="0" err="1">
                    <a:latin typeface="Times New Roman" panose="02020603050405020304"/>
                    <a:ea typeface="Times New Roman" panose="02020603050405020304"/>
                    <a:cs typeface="Times New Roman" panose="02020603050405020304"/>
                    <a:sym typeface="Times New Roman" panose="02020603050405020304"/>
                  </a:rPr>
                  <a:t>tổng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số</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vòng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lặp</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tối</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đa</a:t>
                </a:r>
                <a:r>
                  <a:rPr lang="en-US" sz="1800" dirty="0">
                    <a:latin typeface="Times New Roman" panose="02020603050405020304"/>
                    <a:ea typeface="Times New Roman" panose="02020603050405020304"/>
                    <a:cs typeface="Times New Roman" panose="02020603050405020304"/>
                    <a:sym typeface="Times New Roman" panose="02020603050405020304"/>
                  </a:rPr>
                  <a:t>.</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dirty="0">
                  <a:latin typeface="Times New Roman" panose="02020603050405020304"/>
                  <a:ea typeface="Times New Roman" panose="02020603050405020304"/>
                  <a:cs typeface="Times New Roman" panose="02020603050405020304"/>
                  <a:sym typeface="Times New Roman" panose="02020603050405020304"/>
                </a:endParaRPr>
              </a:p>
            </p:txBody>
          </p:sp>
        </mc:Choice>
        <mc:Fallback xmlns="">
          <p:sp>
            <p:nvSpPr>
              <p:cNvPr id="279" name="Google Shape;279;p42"/>
              <p:cNvSpPr txBox="1">
                <a:spLocks noRot="1" noChangeAspect="1" noMove="1" noResize="1" noEditPoints="1" noAdjustHandles="1" noChangeArrowheads="1" noChangeShapeType="1" noTextEdit="1"/>
              </p:cNvSpPr>
              <p:nvPr>
                <p:ph type="body" idx="1"/>
              </p:nvPr>
            </p:nvSpPr>
            <p:spPr>
              <a:xfrm>
                <a:off x="234950" y="963168"/>
                <a:ext cx="8674200" cy="5132700"/>
              </a:xfrm>
              <a:prstGeom prst="rect">
                <a:avLst/>
              </a:prstGeom>
              <a:blipFill rotWithShape="1">
                <a:blip r:embed="rId3"/>
                <a:stretch>
                  <a:fillRect t="-10" r="1" b="-7215"/>
                </a:stretch>
              </a:blipFill>
              <a:ln>
                <a:noFill/>
              </a:ln>
            </p:spPr>
            <p:txBody>
              <a:bodyPr/>
              <a:lstStyle/>
              <a:p>
                <a:r>
                  <a:rPr lang="en-US" altLang="en-US">
                    <a:noFill/>
                  </a:rPr>
                  <a:t> </a:t>
                </a:r>
              </a:p>
            </p:txBody>
          </p:sp>
        </mc:Fallback>
      </mc:AlternateContent>
      <p:pic>
        <p:nvPicPr>
          <p:cNvPr id="280" name="Google Shape;280;p42"/>
          <p:cNvPicPr preferRelativeResize="0"/>
          <p:nvPr/>
        </p:nvPicPr>
        <p:blipFill>
          <a:blip r:embed="rId4"/>
          <a:stretch>
            <a:fillRect/>
          </a:stretch>
        </p:blipFill>
        <p:spPr>
          <a:xfrm>
            <a:off x="2955850" y="2734888"/>
            <a:ext cx="3371850" cy="8667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43"/>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37</a:t>
            </a:fld>
            <a:endParaRPr lang="en-US"/>
          </a:p>
        </p:txBody>
      </p:sp>
      <p:sp>
        <p:nvSpPr>
          <p:cNvPr id="286" name="Google Shape;286;p43"/>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sym typeface="+mn-ea"/>
              </a:rPr>
              <a:t>3. </a:t>
            </a:r>
            <a:r>
              <a:rPr lang="vi-VN" altLang="en-US">
                <a:sym typeface="+mn-ea"/>
              </a:rPr>
              <a:t>P</a:t>
            </a:r>
            <a:r>
              <a:rPr lang="en-US">
                <a:sym typeface="+mn-ea"/>
              </a:rPr>
              <a:t>hương pháp</a:t>
            </a:r>
            <a:r>
              <a:rPr lang="vi-VN" altLang="en-US">
                <a:sym typeface="+mn-ea"/>
              </a:rPr>
              <a:t> đề xuất</a:t>
            </a:r>
            <a:r>
              <a:rPr lang="en-US">
                <a:sym typeface="+mn-ea"/>
              </a:rPr>
              <a:t> AC-ACO</a:t>
            </a:r>
            <a:br>
              <a:rPr lang="en-US">
                <a:sym typeface="+mn-ea"/>
              </a:rPr>
            </a:br>
            <a:endParaRPr lang="en-US"/>
          </a:p>
        </p:txBody>
      </p:sp>
      <mc:AlternateContent xmlns:mc="http://schemas.openxmlformats.org/markup-compatibility/2006" xmlns:a14="http://schemas.microsoft.com/office/drawing/2010/main">
        <mc:Choice Requires="a14">
          <p:sp>
            <p:nvSpPr>
              <p:cNvPr id="287" name="Google Shape;287;p43"/>
              <p:cNvSpPr txBox="1">
                <a:spLocks noGrp="1"/>
              </p:cNvSpPr>
              <p:nvPr>
                <p:ph type="body" idx="1"/>
              </p:nvPr>
            </p:nvSpPr>
            <p:spPr>
              <a:xfrm>
                <a:off x="234950" y="963168"/>
                <a:ext cx="8674200" cy="5132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None/>
                </a:pPr>
                <a:r>
                  <a:rPr lang="vi-VN" sz="1800" dirty="0">
                    <a:latin typeface="Times New Roman" panose="02020603050405020304"/>
                    <a:ea typeface="Times New Roman" panose="02020603050405020304"/>
                    <a:cs typeface="Times New Roman" panose="02020603050405020304"/>
                    <a:sym typeface="Times New Roman" panose="02020603050405020304"/>
                  </a:rPr>
                  <a:t>Chi </a:t>
                </a:r>
                <a:r>
                  <a:rPr lang="vi-VN" sz="1800" dirty="0" err="1">
                    <a:latin typeface="Times New Roman" panose="02020603050405020304"/>
                    <a:ea typeface="Times New Roman" panose="02020603050405020304"/>
                    <a:cs typeface="Times New Roman" panose="02020603050405020304"/>
                    <a:sym typeface="Times New Roman" panose="02020603050405020304"/>
                  </a:rPr>
                  <a:t>tiết</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về</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Thuật</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toán</a:t>
                </a:r>
                <a:r>
                  <a:rPr lang="vi-VN" sz="1800" dirty="0">
                    <a:latin typeface="Times New Roman" panose="02020603050405020304"/>
                    <a:ea typeface="Times New Roman" panose="02020603050405020304"/>
                    <a:cs typeface="Times New Roman" panose="02020603050405020304"/>
                    <a:sym typeface="Times New Roman" panose="02020603050405020304"/>
                  </a:rPr>
                  <a:t> AC-ACO</a:t>
                </a:r>
              </a:p>
              <a:p>
                <a:pPr marL="0" lvl="0" indent="0" algn="l" rtl="0">
                  <a:lnSpc>
                    <a:spcPct val="90000"/>
                  </a:lnSpc>
                  <a:spcBef>
                    <a:spcPts val="0"/>
                  </a:spcBef>
                  <a:spcAft>
                    <a:spcPts val="0"/>
                  </a:spcAft>
                  <a:buClr>
                    <a:schemeClr val="dk1"/>
                  </a:buClr>
                  <a:buSzPts val="1800"/>
                  <a:buNone/>
                </a:pPr>
                <a:endParaRPr lang="vi-VN"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800"/>
                  <a:buNone/>
                </a:pPr>
                <a:r>
                  <a:rPr lang="vi-VN" sz="1800" dirty="0">
                    <a:latin typeface="Times New Roman" panose="02020603050405020304"/>
                    <a:ea typeface="Times New Roman" panose="02020603050405020304"/>
                    <a:cs typeface="Times New Roman" panose="02020603050405020304"/>
                    <a:sym typeface="Times New Roman" panose="02020603050405020304"/>
                  </a:rPr>
                  <a:t>2. </a:t>
                </a:r>
                <a:r>
                  <a:rPr lang="vi-VN" sz="1800" dirty="0" err="1">
                    <a:latin typeface="Times New Roman" panose="02020603050405020304"/>
                    <a:ea typeface="Times New Roman" panose="02020603050405020304"/>
                    <a:cs typeface="Times New Roman" panose="02020603050405020304"/>
                    <a:sym typeface="Times New Roman" panose="02020603050405020304"/>
                  </a:rPr>
                  <a:t>Cơ</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chế</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điều</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chỉnh</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thích</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ứng</a:t>
                </a:r>
                <a:r>
                  <a:rPr lang="vi-VN" sz="1800" dirty="0">
                    <a:latin typeface="Times New Roman" panose="02020603050405020304"/>
                    <a:ea typeface="Times New Roman" panose="02020603050405020304"/>
                    <a:cs typeface="Times New Roman" panose="02020603050405020304"/>
                    <a:sym typeface="Times New Roman" panose="02020603050405020304"/>
                  </a:rPr>
                  <a:t> 3 </a:t>
                </a:r>
                <a:r>
                  <a:rPr lang="vi-VN" sz="1800" dirty="0" err="1">
                    <a:latin typeface="Times New Roman" panose="02020603050405020304"/>
                    <a:ea typeface="Times New Roman" panose="02020603050405020304"/>
                    <a:cs typeface="Times New Roman" panose="02020603050405020304"/>
                    <a:sym typeface="Times New Roman" panose="02020603050405020304"/>
                  </a:rPr>
                  <a:t>cấp</a:t>
                </a:r>
                <a:r>
                  <a:rPr lang="vi-VN" sz="1800" dirty="0">
                    <a:latin typeface="Times New Roman" panose="02020603050405020304"/>
                    <a:ea typeface="Times New Roman" panose="02020603050405020304"/>
                    <a:cs typeface="Times New Roman" panose="02020603050405020304"/>
                    <a:sym typeface="Times New Roman" panose="02020603050405020304"/>
                  </a:rPr>
                  <a:t>:</a:t>
                </a:r>
              </a:p>
              <a:p>
                <a:pPr marL="0" lvl="0" indent="0" algn="l" rtl="0">
                  <a:lnSpc>
                    <a:spcPct val="90000"/>
                  </a:lnSpc>
                  <a:spcBef>
                    <a:spcPts val="0"/>
                  </a:spcBef>
                  <a:spcAft>
                    <a:spcPts val="0"/>
                  </a:spcAft>
                  <a:buClr>
                    <a:schemeClr val="dk1"/>
                  </a:buClr>
                  <a:buSzPts val="1800"/>
                  <a:buNone/>
                </a:pPr>
                <a:endParaRPr lang="vi-VN"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vi-VN" sz="1800" b="1" dirty="0">
                    <a:latin typeface="Times New Roman" panose="02020603050405020304"/>
                    <a:ea typeface="Times New Roman" panose="02020603050405020304"/>
                    <a:cs typeface="Times New Roman" panose="02020603050405020304"/>
                    <a:sym typeface="Times New Roman" panose="02020603050405020304"/>
                  </a:rPr>
                  <a:t>•</a:t>
                </a:r>
                <a:r>
                  <a:rPr lang="vi-VN" altLang="en-US" sz="1800" b="1" dirty="0">
                    <a:latin typeface="Times New Roman" panose="02020603050405020304"/>
                    <a:ea typeface="Times New Roman" panose="02020603050405020304"/>
                    <a:cs typeface="Times New Roman" panose="02020603050405020304"/>
                    <a:sym typeface="Times New Roman" panose="02020603050405020304"/>
                  </a:rPr>
                  <a:t>(14) </a:t>
                </a:r>
                <a:r>
                  <a:rPr lang="vi-VN" sz="1800" b="1" dirty="0" err="1">
                    <a:latin typeface="Times New Roman" panose="02020603050405020304"/>
                    <a:ea typeface="Times New Roman" panose="02020603050405020304"/>
                    <a:cs typeface="Times New Roman" panose="02020603050405020304"/>
                    <a:sym typeface="Times New Roman" panose="02020603050405020304"/>
                  </a:rPr>
                  <a:t>Điều</a:t>
                </a:r>
                <a:r>
                  <a:rPr lang="vi-VN" sz="1800" b="1" dirty="0">
                    <a:latin typeface="Times New Roman" panose="02020603050405020304"/>
                    <a:ea typeface="Times New Roman" panose="02020603050405020304"/>
                    <a:cs typeface="Times New Roman" panose="02020603050405020304"/>
                    <a:sym typeface="Times New Roman" panose="02020603050405020304"/>
                  </a:rPr>
                  <a:t> </a:t>
                </a:r>
                <a:r>
                  <a:rPr lang="vi-VN" sz="1800" b="1" dirty="0" err="1">
                    <a:latin typeface="Times New Roman" panose="02020603050405020304"/>
                    <a:ea typeface="Times New Roman" panose="02020603050405020304"/>
                    <a:cs typeface="Times New Roman" panose="02020603050405020304"/>
                    <a:sym typeface="Times New Roman" panose="02020603050405020304"/>
                  </a:rPr>
                  <a:t>chỉnh</a:t>
                </a:r>
                <a:r>
                  <a:rPr lang="vi-VN" sz="1800" b="1" dirty="0">
                    <a:latin typeface="Times New Roman" panose="02020603050405020304"/>
                    <a:ea typeface="Times New Roman" panose="02020603050405020304"/>
                    <a:cs typeface="Times New Roman" panose="02020603050405020304"/>
                    <a:sym typeface="Times New Roman" panose="02020603050405020304"/>
                  </a:rPr>
                  <a:t> </a:t>
                </a:r>
                <a:r>
                  <a:rPr lang="vi-VN" sz="1800" b="1" dirty="0" err="1">
                    <a:latin typeface="Times New Roman" panose="02020603050405020304"/>
                    <a:ea typeface="Times New Roman" panose="02020603050405020304"/>
                    <a:cs typeface="Times New Roman" panose="02020603050405020304"/>
                    <a:sym typeface="Times New Roman" panose="02020603050405020304"/>
                  </a:rPr>
                  <a:t>thích</a:t>
                </a:r>
                <a:r>
                  <a:rPr lang="vi-VN" sz="1800" b="1" dirty="0">
                    <a:latin typeface="Times New Roman" panose="02020603050405020304"/>
                    <a:ea typeface="Times New Roman" panose="02020603050405020304"/>
                    <a:cs typeface="Times New Roman" panose="02020603050405020304"/>
                    <a:sym typeface="Times New Roman" panose="02020603050405020304"/>
                  </a:rPr>
                  <a:t> </a:t>
                </a:r>
                <a:r>
                  <a:rPr lang="vi-VN" sz="1800" b="1" dirty="0" err="1">
                    <a:latin typeface="Times New Roman" panose="02020603050405020304"/>
                    <a:ea typeface="Times New Roman" panose="02020603050405020304"/>
                    <a:cs typeface="Times New Roman" panose="02020603050405020304"/>
                    <a:sym typeface="Times New Roman" panose="02020603050405020304"/>
                  </a:rPr>
                  <a:t>ứng</a:t>
                </a:r>
                <a:r>
                  <a:rPr lang="vi-VN" sz="1800" b="1" dirty="0">
                    <a:latin typeface="Times New Roman" panose="02020603050405020304"/>
                    <a:ea typeface="Times New Roman" panose="02020603050405020304"/>
                    <a:cs typeface="Times New Roman" panose="02020603050405020304"/>
                    <a:sym typeface="Times New Roman" panose="02020603050405020304"/>
                  </a:rPr>
                  <a:t> </a:t>
                </a:r>
                <a:r>
                  <a:rPr lang="vi-VN" sz="1800" b="1" dirty="0" err="1">
                    <a:latin typeface="Times New Roman" panose="02020603050405020304"/>
                    <a:ea typeface="Times New Roman" panose="02020603050405020304"/>
                    <a:cs typeface="Times New Roman" panose="02020603050405020304"/>
                    <a:sym typeface="Times New Roman" panose="02020603050405020304"/>
                  </a:rPr>
                  <a:t>trọng</a:t>
                </a:r>
                <a:r>
                  <a:rPr lang="vi-VN" sz="1800" b="1" dirty="0">
                    <a:latin typeface="Times New Roman" panose="02020603050405020304"/>
                    <a:ea typeface="Times New Roman" panose="02020603050405020304"/>
                    <a:cs typeface="Times New Roman" panose="02020603050405020304"/>
                    <a:sym typeface="Times New Roman" panose="02020603050405020304"/>
                  </a:rPr>
                  <a:t> </a:t>
                </a:r>
                <a:r>
                  <a:rPr lang="vi-VN" sz="1800" b="1" dirty="0" err="1">
                    <a:latin typeface="Times New Roman" panose="02020603050405020304"/>
                    <a:ea typeface="Times New Roman" panose="02020603050405020304"/>
                    <a:cs typeface="Times New Roman" panose="02020603050405020304"/>
                    <a:sym typeface="Times New Roman" panose="02020603050405020304"/>
                  </a:rPr>
                  <a:t>số</a:t>
                </a:r>
                <a:r>
                  <a:rPr lang="vi-VN" sz="1800" b="1" dirty="0">
                    <a:latin typeface="Times New Roman" panose="02020603050405020304"/>
                    <a:ea typeface="Times New Roman" panose="02020603050405020304"/>
                    <a:cs typeface="Times New Roman" panose="02020603050405020304"/>
                    <a:sym typeface="Times New Roman" panose="02020603050405020304"/>
                  </a:rPr>
                  <a:t> heuristic (</a:t>
                </a:r>
                <a:r>
                  <a:rPr lang="el-GR" sz="1800" b="1" dirty="0">
                    <a:latin typeface="Times New Roman" panose="02020603050405020304"/>
                    <a:ea typeface="Times New Roman" panose="02020603050405020304"/>
                    <a:cs typeface="Times New Roman" panose="02020603050405020304"/>
                    <a:sym typeface="Times New Roman" panose="02020603050405020304"/>
                  </a:rPr>
                  <a:t>β): 	</a:t>
                </a:r>
                <a:r>
                  <a:rPr lang="el-GR" sz="1800" dirty="0">
                    <a:latin typeface="Times New Roman" panose="02020603050405020304"/>
                    <a:ea typeface="Times New Roman" panose="02020603050405020304"/>
                    <a:cs typeface="Times New Roman" panose="02020603050405020304"/>
                    <a:sym typeface="Times New Roman" panose="02020603050405020304"/>
                  </a:rPr>
                  <a:t>	</a:t>
                </a:r>
              </a:p>
              <a:p>
                <a:pPr marL="0" lvl="0" indent="0" algn="l" rtl="0">
                  <a:lnSpc>
                    <a:spcPct val="90000"/>
                  </a:lnSpc>
                  <a:spcBef>
                    <a:spcPts val="1000"/>
                  </a:spcBef>
                  <a:spcAft>
                    <a:spcPts val="0"/>
                  </a:spcAft>
                  <a:buClr>
                    <a:schemeClr val="dk1"/>
                  </a:buClr>
                  <a:buSzPts val="1800"/>
                  <a:buNone/>
                </a:pPr>
                <a:r>
                  <a:rPr lang="el-GR" sz="1800" dirty="0">
                    <a:latin typeface="Times New Roman" panose="02020603050405020304"/>
                    <a:ea typeface="Times New Roman" panose="02020603050405020304"/>
                    <a:cs typeface="Times New Roman" panose="02020603050405020304"/>
                    <a:sym typeface="Times New Roman" panose="02020603050405020304"/>
                  </a:rPr>
                  <a:t>						</a:t>
                </a:r>
                <a:endParaRPr lang="el-GR" sz="1800" b="1" dirty="0">
                  <a:latin typeface="Times New Roman" panose="02020603050405020304"/>
                  <a:ea typeface="Times New Roman" panose="02020603050405020304"/>
                  <a:cs typeface="Times New Roman" panose="02020603050405020304"/>
                  <a:sym typeface="Times New Roman" panose="02020603050405020304"/>
                </a:endParaRPr>
              </a:p>
              <a:p>
                <a:pPr marL="4114800" lvl="8" indent="457200" algn="l" rtl="0">
                  <a:lnSpc>
                    <a:spcPct val="90000"/>
                  </a:lnSpc>
                  <a:spcBef>
                    <a:spcPts val="1000"/>
                  </a:spcBef>
                  <a:spcAft>
                    <a:spcPts val="0"/>
                  </a:spcAft>
                  <a:buClr>
                    <a:schemeClr val="dk1"/>
                  </a:buClr>
                  <a:buSzPts val="1800"/>
                  <a:buNone/>
                </a:pPr>
                <a:r>
                  <a:rPr lang="el-GR" sz="1800" dirty="0">
                    <a:latin typeface="Times New Roman" panose="02020603050405020304"/>
                    <a:ea typeface="Times New Roman" panose="02020603050405020304"/>
                    <a:cs typeface="Times New Roman" panose="02020603050405020304"/>
                    <a:sym typeface="Times New Roman" panose="02020603050405020304"/>
                  </a:rPr>
                  <a:t> 			</a:t>
                </a:r>
                <a:r>
                  <a:rPr lang="el-GR" altLang="en-US" b="1" dirty="0">
                    <a:latin typeface="Times New Roman" panose="02020603050405020304"/>
                    <a:ea typeface="Times New Roman" panose="02020603050405020304"/>
                    <a:cs typeface="Times New Roman" panose="02020603050405020304"/>
                    <a:sym typeface="Times New Roman" panose="02020603050405020304"/>
                  </a:rPr>
                  <a:t>(1.4) </a:t>
                </a:r>
                <a:endParaRPr lang="el-G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lang="el-G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altLang="zh-CN" sz="1800" dirty="0">
                    <a:latin typeface="Times New Roman" panose="02020603050405020304"/>
                    <a:ea typeface="Times New Roman" panose="02020603050405020304"/>
                    <a:cs typeface="Times New Roman" panose="02020603050405020304"/>
                    <a:sym typeface="Times New Roman" panose="02020603050405020304"/>
                  </a:rPr>
                  <a:t>🔹</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Ý</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nghĩa</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Tăng</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dần</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tầm</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quan</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trọng</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của</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heuristic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khoảng</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cách</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lượng</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khi</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thuật</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toán</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tiến</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gần</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đến</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hội</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tụ</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a:t>
                </a:r>
              </a:p>
              <a:p>
                <a:pPr marL="0" lvl="0" indent="457200" algn="l" rtl="0">
                  <a:lnSpc>
                    <a:spcPct val="90000"/>
                  </a:lnSpc>
                  <a:spcBef>
                    <a:spcPts val="1000"/>
                  </a:spcBef>
                  <a:spcAft>
                    <a:spcPts val="0"/>
                  </a:spcAft>
                  <a:buClr>
                    <a:schemeClr val="dk1"/>
                  </a:buClr>
                  <a:buSzPts val="1800"/>
                  <a:buNone/>
                </a:pPr>
                <a:endParaRPr lang="vi-VN" sz="1800" dirty="0">
                  <a:latin typeface="Times New Roman" panose="02020603050405020304"/>
                  <a:ea typeface="Times New Roman" panose="02020603050405020304"/>
                  <a:cs typeface="Times New Roman" panose="02020603050405020304"/>
                  <a:sym typeface="Times New Roman" panose="02020603050405020304"/>
                </a:endParaRPr>
              </a:p>
              <a:p>
                <a:pPr marL="0" lvl="0" indent="457200">
                  <a:buSzPts val="1800"/>
                  <a:buNone/>
                </a:pPr>
                <a14:m>
                  <m:oMath xmlns:m="http://schemas.openxmlformats.org/officeDocument/2006/math">
                    <m:sSub>
                      <m:sSubPr>
                        <m:ctrlPr>
                          <a:rPr lang="ar-AE" sz="1800" i="1" dirty="0" smtClean="0">
                            <a:latin typeface="Cambria Math" panose="02040503050406030204" pitchFamily="18" charset="0"/>
                            <a:cs typeface="Times New Roman" panose="02020603050405020304"/>
                            <a:sym typeface="Times New Roman" panose="02020603050405020304"/>
                          </a:rPr>
                        </m:ctrlPr>
                      </m:sSubPr>
                      <m:e>
                        <m:r>
                          <a:rPr lang="ar-AE" sz="1800" i="1" dirty="0">
                            <a:latin typeface="Cambria Math" panose="02040503050406030204" pitchFamily="18" charset="0"/>
                            <a:ea typeface="Times New Roman" panose="02020603050405020304"/>
                            <a:cs typeface="Times New Roman" panose="02020603050405020304"/>
                            <a:sym typeface="Times New Roman" panose="02020603050405020304"/>
                          </a:rPr>
                          <m:t>𝛽</m:t>
                        </m:r>
                      </m:e>
                      <m:sub>
                        <m:r>
                          <m:rPr>
                            <m:sty m:val="p"/>
                          </m:rPr>
                          <a:rPr lang="vi-VN" sz="1800" i="1" dirty="0">
                            <a:latin typeface="Cambria Math" panose="02040503050406030204" pitchFamily="18" charset="0"/>
                            <a:cs typeface="Times New Roman" panose="02020603050405020304"/>
                            <a:sym typeface="Times New Roman" panose="02020603050405020304"/>
                          </a:rPr>
                          <m:t>min</m:t>
                        </m:r>
                      </m:sub>
                    </m:sSub>
                    <m:r>
                      <a:rPr lang="ar-AE" sz="1800" b="0" i="1" dirty="0" smtClean="0">
                        <a:latin typeface="Cambria Math" panose="02040503050406030204" pitchFamily="18" charset="0"/>
                        <a:cs typeface="Times New Roman" panose="02020603050405020304"/>
                        <a:sym typeface="Times New Roman" panose="02020603050405020304"/>
                      </a:rPr>
                      <m:t>,</m:t>
                    </m:r>
                    <m:sSub>
                      <m:sSubPr>
                        <m:ctrlPr>
                          <a:rPr lang="ar-AE" sz="1800" b="0" i="1" dirty="0" smtClean="0">
                            <a:latin typeface="Cambria Math" panose="02040503050406030204" pitchFamily="18" charset="0"/>
                            <a:cs typeface="Times New Roman" panose="02020603050405020304"/>
                            <a:sym typeface="Times New Roman" panose="02020603050405020304"/>
                          </a:rPr>
                        </m:ctrlPr>
                      </m:sSubPr>
                      <m:e>
                        <m:r>
                          <a:rPr lang="en-US" sz="1800" i="1" dirty="0">
                            <a:latin typeface="Cambria Math" panose="02040503050406030204" pitchFamily="18" charset="0"/>
                            <a:ea typeface="Times New Roman" panose="02020603050405020304"/>
                            <a:cs typeface="Times New Roman" panose="02020603050405020304"/>
                            <a:sym typeface="Times New Roman" panose="02020603050405020304"/>
                          </a:rPr>
                          <m:t>𝛽</m:t>
                        </m:r>
                      </m:e>
                      <m:sub>
                        <m:r>
                          <m:rPr>
                            <m:sty m:val="p"/>
                          </m:rPr>
                          <a:rPr lang="ar-AE" sz="1800" i="1" dirty="0">
                            <a:latin typeface="Cambria Math" panose="02040503050406030204" pitchFamily="18" charset="0"/>
                            <a:cs typeface="Times New Roman" panose="02020603050405020304"/>
                            <a:sym typeface="Times New Roman" panose="02020603050405020304"/>
                          </a:rPr>
                          <m:t>max</m:t>
                        </m:r>
                      </m:sub>
                    </m:sSub>
                    <m:r>
                      <a:rPr lang="ar-AE" sz="1800" i="1" dirty="0">
                        <a:latin typeface="Cambria Math" panose="02040503050406030204" pitchFamily="18" charset="0"/>
                        <a:ea typeface="Times New Roman" panose="02020603050405020304"/>
                        <a:cs typeface="Times New Roman" panose="02020603050405020304"/>
                        <a:sym typeface="Times New Roman" panose="02020603050405020304"/>
                      </a:rPr>
                      <m:t>⁡</m:t>
                    </m:r>
                  </m:oMath>
                </a14:m>
                <a:r>
                  <a:rPr lang="ar-AE"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ngưỡng</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dưới</a:t>
                </a:r>
                <a:r>
                  <a:rPr lang="vi-VN" sz="1800" dirty="0">
                    <a:latin typeface="Times New Roman" panose="02020603050405020304"/>
                    <a:ea typeface="Times New Roman" panose="02020603050405020304"/>
                    <a:cs typeface="Times New Roman" panose="02020603050405020304"/>
                    <a:sym typeface="Times New Roman" panose="02020603050405020304"/>
                  </a:rPr>
                  <a:t>/</a:t>
                </a:r>
                <a:r>
                  <a:rPr lang="vi-VN" sz="1800" dirty="0" err="1">
                    <a:latin typeface="Times New Roman" panose="02020603050405020304"/>
                    <a:ea typeface="Times New Roman" panose="02020603050405020304"/>
                    <a:cs typeface="Times New Roman" panose="02020603050405020304"/>
                    <a:sym typeface="Times New Roman" panose="02020603050405020304"/>
                  </a:rPr>
                  <a:t>trên</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của</a:t>
                </a:r>
                <a:r>
                  <a:rPr lang="vi-VN" sz="1800" dirty="0">
                    <a:latin typeface="Times New Roman" panose="02020603050405020304"/>
                    <a:ea typeface="Times New Roman" panose="02020603050405020304"/>
                    <a:cs typeface="Times New Roman" panose="02020603050405020304"/>
                    <a:sym typeface="Times New Roman" panose="02020603050405020304"/>
                  </a:rPr>
                  <a:t> heuristic weight.</a:t>
                </a:r>
                <a:br>
                  <a:rPr lang="vi-VN" sz="1800" dirty="0">
                    <a:latin typeface="Times New Roman" panose="02020603050405020304"/>
                    <a:ea typeface="Times New Roman" panose="02020603050405020304"/>
                    <a:cs typeface="Times New Roman" panose="02020603050405020304"/>
                    <a:sym typeface="Times New Roman" panose="02020603050405020304"/>
                  </a:rPr>
                </a:br>
                <a:endParaRPr lang="vi-VN" sz="1800" dirty="0">
                  <a:latin typeface="Times New Roman" panose="02020603050405020304"/>
                  <a:ea typeface="Times New Roman" panose="02020603050405020304"/>
                  <a:cs typeface="Times New Roman" panose="02020603050405020304"/>
                  <a:sym typeface="Times New Roman" panose="02020603050405020304"/>
                </a:endParaRPr>
              </a:p>
              <a:p>
                <a:pPr marL="0" lvl="0" indent="457200" algn="l" rtl="0">
                  <a:spcBef>
                    <a:spcPts val="1000"/>
                  </a:spcBef>
                  <a:spcAft>
                    <a:spcPts val="0"/>
                  </a:spcAft>
                  <a:buClr>
                    <a:schemeClr val="dk1"/>
                  </a:buClr>
                  <a:buSzPts val="1100"/>
                  <a:buFont typeface="Arial" panose="020B0604020202020204"/>
                  <a:buNone/>
                </a:pPr>
                <a14:m>
                  <m:oMath xmlns:m="http://schemas.openxmlformats.org/officeDocument/2006/math">
                    <m:r>
                      <a:rPr lang="vi-VN"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𝑘</m:t>
                    </m:r>
                  </m:oMath>
                </a14:m>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độ</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dốc</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của</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hàm</a:t>
                </a:r>
                <a:r>
                  <a:rPr lang="vi-VN" sz="1800" dirty="0">
                    <a:latin typeface="Times New Roman" panose="02020603050405020304"/>
                    <a:ea typeface="Times New Roman" panose="02020603050405020304"/>
                    <a:cs typeface="Times New Roman" panose="02020603050405020304"/>
                    <a:sym typeface="Times New Roman" panose="02020603050405020304"/>
                  </a:rPr>
                  <a:t> sigmoid (</a:t>
                </a:r>
                <a:r>
                  <a:rPr lang="vi-VN" sz="1800" dirty="0" err="1">
                    <a:latin typeface="Times New Roman" panose="02020603050405020304"/>
                    <a:ea typeface="Times New Roman" panose="02020603050405020304"/>
                    <a:cs typeface="Times New Roman" panose="02020603050405020304"/>
                    <a:sym typeface="Times New Roman" panose="02020603050405020304"/>
                  </a:rPr>
                  <a:t>tốc</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độ</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tăng</a:t>
                </a:r>
                <a:r>
                  <a:rPr lang="vi-VN" sz="1800" dirty="0">
                    <a:latin typeface="Times New Roman" panose="02020603050405020304"/>
                    <a:ea typeface="Times New Roman" panose="02020603050405020304"/>
                    <a:cs typeface="Times New Roman" panose="02020603050405020304"/>
                    <a:sym typeface="Times New Roman" panose="02020603050405020304"/>
                  </a:rPr>
                  <a:t>).</a:t>
                </a:r>
                <a:br>
                  <a:rPr lang="vi-VN" sz="1800" dirty="0">
                    <a:latin typeface="Times New Roman" panose="02020603050405020304"/>
                    <a:ea typeface="Times New Roman" panose="02020603050405020304"/>
                    <a:cs typeface="Times New Roman" panose="02020603050405020304"/>
                    <a:sym typeface="Times New Roman" panose="02020603050405020304"/>
                  </a:rPr>
                </a:br>
                <a:endParaRPr lang="vi-VN" sz="1800" dirty="0">
                  <a:latin typeface="Times New Roman" panose="02020603050405020304"/>
                  <a:ea typeface="Times New Roman" panose="02020603050405020304"/>
                  <a:cs typeface="Times New Roman" panose="02020603050405020304"/>
                  <a:sym typeface="Times New Roman" panose="02020603050405020304"/>
                </a:endParaRPr>
              </a:p>
              <a:p>
                <a:pPr marL="0" lvl="0" indent="457200" algn="l" rtl="0">
                  <a:spcBef>
                    <a:spcPts val="1000"/>
                  </a:spcBef>
                  <a:spcAft>
                    <a:spcPts val="0"/>
                  </a:spcAft>
                  <a:buClr>
                    <a:schemeClr val="dk1"/>
                  </a:buClr>
                  <a:buSzPts val="1100"/>
                  <a:buFont typeface="Arial" panose="020B0604020202020204"/>
                  <a:buNone/>
                </a:pPr>
                <a14:m>
                  <m:oMath xmlns:m="http://schemas.openxmlformats.org/officeDocument/2006/math">
                    <m:r>
                      <a:rPr lang="vi-VN"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𝑡</m:t>
                    </m:r>
                    <m:r>
                      <a:rPr lang="vi-VN" sz="1800" i="1" dirty="0" smtClean="0">
                        <a:latin typeface="Cambria Math" panose="02040503050406030204" pitchFamily="18" charset="0"/>
                        <a:ea typeface="Times New Roman" panose="02020603050405020304"/>
                        <a:cs typeface="Times New Roman" panose="02020603050405020304"/>
                        <a:sym typeface="Times New Roman" panose="02020603050405020304"/>
                      </a:rPr>
                      <m:t>,</m:t>
                    </m:r>
                    <m:r>
                      <a:rPr lang="vi-VN"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𝑇</m:t>
                    </m:r>
                  </m:oMath>
                </a14:m>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vòng</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lặp</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hiện</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tại</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và</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tổng</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vòng</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lặp</a:t>
                </a:r>
                <a:r>
                  <a:rPr lang="vi-VN" sz="1800" dirty="0">
                    <a:latin typeface="Times New Roman" panose="02020603050405020304"/>
                    <a:ea typeface="Times New Roman" panose="02020603050405020304"/>
                    <a:cs typeface="Times New Roman" panose="02020603050405020304"/>
                    <a:sym typeface="Times New Roman" panose="02020603050405020304"/>
                  </a:rPr>
                  <a:t>.</a:t>
                </a:r>
              </a:p>
              <a:p>
                <a:pPr marL="0" lvl="0" indent="0" algn="l" rtl="0">
                  <a:lnSpc>
                    <a:spcPct val="90000"/>
                  </a:lnSpc>
                  <a:spcBef>
                    <a:spcPts val="1000"/>
                  </a:spcBef>
                  <a:spcAft>
                    <a:spcPts val="0"/>
                  </a:spcAft>
                  <a:buClr>
                    <a:schemeClr val="dk1"/>
                  </a:buClr>
                  <a:buSzPts val="1800"/>
                  <a:buNone/>
                </a:pPr>
                <a:endParaRPr lang="vi-VN"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vi-VN" sz="1800" dirty="0">
                    <a:latin typeface="Times New Roman" panose="02020603050405020304"/>
                    <a:ea typeface="Times New Roman" panose="02020603050405020304"/>
                    <a:cs typeface="Times New Roman" panose="02020603050405020304"/>
                    <a:sym typeface="Times New Roman" panose="02020603050405020304"/>
                  </a:rPr>
                  <a:t>	</a:t>
                </a:r>
              </a:p>
              <a:p>
                <a:pPr marL="0" lvl="0" indent="0" algn="l" rtl="0">
                  <a:lnSpc>
                    <a:spcPct val="90000"/>
                  </a:lnSpc>
                  <a:spcBef>
                    <a:spcPts val="1000"/>
                  </a:spcBef>
                  <a:spcAft>
                    <a:spcPts val="0"/>
                  </a:spcAft>
                  <a:buClr>
                    <a:schemeClr val="dk1"/>
                  </a:buClr>
                  <a:buSzPts val="1800"/>
                  <a:buNone/>
                </a:pPr>
                <a:endParaRPr sz="1800" dirty="0">
                  <a:latin typeface="Times New Roman" panose="02020603050405020304"/>
                  <a:ea typeface="Times New Roman" panose="02020603050405020304"/>
                  <a:cs typeface="Times New Roman" panose="02020603050405020304"/>
                  <a:sym typeface="Times New Roman" panose="02020603050405020304"/>
                </a:endParaRPr>
              </a:p>
            </p:txBody>
          </p:sp>
        </mc:Choice>
        <mc:Fallback xmlns="">
          <p:sp>
            <p:nvSpPr>
              <p:cNvPr id="287" name="Google Shape;287;p43"/>
              <p:cNvSpPr txBox="1">
                <a:spLocks noRot="1" noChangeAspect="1" noMove="1" noResize="1" noEditPoints="1" noAdjustHandles="1" noChangeArrowheads="1" noChangeShapeType="1" noTextEdit="1"/>
              </p:cNvSpPr>
              <p:nvPr>
                <p:ph type="body" idx="1"/>
              </p:nvPr>
            </p:nvSpPr>
            <p:spPr>
              <a:xfrm>
                <a:off x="234950" y="963168"/>
                <a:ext cx="8674200" cy="5132700"/>
              </a:xfrm>
              <a:prstGeom prst="rect">
                <a:avLst/>
              </a:prstGeom>
              <a:blipFill rotWithShape="1">
                <a:blip r:embed="rId3"/>
                <a:stretch>
                  <a:fillRect t="-10" r="1" b="-22284"/>
                </a:stretch>
              </a:blipFill>
              <a:ln>
                <a:noFill/>
              </a:ln>
            </p:spPr>
            <p:txBody>
              <a:bodyPr/>
              <a:lstStyle/>
              <a:p>
                <a:r>
                  <a:rPr lang="en-US" altLang="en-US">
                    <a:noFill/>
                  </a:rPr>
                  <a:t> </a:t>
                </a:r>
              </a:p>
            </p:txBody>
          </p:sp>
        </mc:Fallback>
      </mc:AlternateContent>
      <p:pic>
        <p:nvPicPr>
          <p:cNvPr id="288" name="Google Shape;288;p43"/>
          <p:cNvPicPr preferRelativeResize="0"/>
          <p:nvPr/>
        </p:nvPicPr>
        <p:blipFill>
          <a:blip r:embed="rId4"/>
          <a:stretch>
            <a:fillRect/>
          </a:stretch>
        </p:blipFill>
        <p:spPr>
          <a:xfrm>
            <a:off x="2051445" y="2493029"/>
            <a:ext cx="4662725" cy="7013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44"/>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38</a:t>
            </a:fld>
            <a:endParaRPr lang="en-US"/>
          </a:p>
        </p:txBody>
      </p:sp>
      <p:sp>
        <p:nvSpPr>
          <p:cNvPr id="294" name="Google Shape;294;p44"/>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sym typeface="+mn-ea"/>
              </a:rPr>
              <a:t>3. </a:t>
            </a:r>
            <a:r>
              <a:rPr lang="vi-VN" altLang="en-US">
                <a:sym typeface="+mn-ea"/>
              </a:rPr>
              <a:t>P</a:t>
            </a:r>
            <a:r>
              <a:rPr lang="en-US">
                <a:sym typeface="+mn-ea"/>
              </a:rPr>
              <a:t>hương pháp</a:t>
            </a:r>
            <a:r>
              <a:rPr lang="vi-VN" altLang="en-US">
                <a:sym typeface="+mn-ea"/>
              </a:rPr>
              <a:t> đề xuất</a:t>
            </a:r>
            <a:r>
              <a:rPr lang="en-US">
                <a:sym typeface="+mn-ea"/>
              </a:rPr>
              <a:t> AC-ACO</a:t>
            </a:r>
            <a:br>
              <a:rPr lang="en-US">
                <a:sym typeface="+mn-ea"/>
              </a:rPr>
            </a:br>
            <a:endParaRPr lang="en-US"/>
          </a:p>
        </p:txBody>
      </p:sp>
      <mc:AlternateContent xmlns:mc="http://schemas.openxmlformats.org/markup-compatibility/2006" xmlns:a14="http://schemas.microsoft.com/office/drawing/2010/main">
        <mc:Choice Requires="a14">
          <p:sp>
            <p:nvSpPr>
              <p:cNvPr id="295" name="Google Shape;295;p44"/>
              <p:cNvSpPr txBox="1">
                <a:spLocks noGrp="1"/>
              </p:cNvSpPr>
              <p:nvPr>
                <p:ph type="body" idx="1"/>
              </p:nvPr>
            </p:nvSpPr>
            <p:spPr>
              <a:xfrm>
                <a:off x="234950" y="963168"/>
                <a:ext cx="8674200" cy="5132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None/>
                </a:pPr>
                <a:r>
                  <a:rPr lang="vi-VN" sz="1800" dirty="0">
                    <a:latin typeface="Times New Roman" panose="02020603050405020304"/>
                    <a:ea typeface="Times New Roman" panose="02020603050405020304"/>
                    <a:cs typeface="Times New Roman" panose="02020603050405020304"/>
                    <a:sym typeface="Times New Roman" panose="02020603050405020304"/>
                  </a:rPr>
                  <a:t>Chi </a:t>
                </a:r>
                <a:r>
                  <a:rPr lang="vi-VN" sz="1800" dirty="0" err="1">
                    <a:latin typeface="Times New Roman" panose="02020603050405020304"/>
                    <a:ea typeface="Times New Roman" panose="02020603050405020304"/>
                    <a:cs typeface="Times New Roman" panose="02020603050405020304"/>
                    <a:sym typeface="Times New Roman" panose="02020603050405020304"/>
                  </a:rPr>
                  <a:t>tiết</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về</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Thuật</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toán</a:t>
                </a:r>
                <a:r>
                  <a:rPr lang="vi-VN" sz="1800" dirty="0">
                    <a:latin typeface="Times New Roman" panose="02020603050405020304"/>
                    <a:ea typeface="Times New Roman" panose="02020603050405020304"/>
                    <a:cs typeface="Times New Roman" panose="02020603050405020304"/>
                    <a:sym typeface="Times New Roman" panose="02020603050405020304"/>
                  </a:rPr>
                  <a:t> AC-ACO</a:t>
                </a:r>
              </a:p>
              <a:p>
                <a:pPr marL="0" lvl="0" indent="0" algn="l" rtl="0">
                  <a:lnSpc>
                    <a:spcPct val="90000"/>
                  </a:lnSpc>
                  <a:spcBef>
                    <a:spcPts val="0"/>
                  </a:spcBef>
                  <a:spcAft>
                    <a:spcPts val="0"/>
                  </a:spcAft>
                  <a:buClr>
                    <a:schemeClr val="dk1"/>
                  </a:buClr>
                  <a:buSzPts val="1800"/>
                  <a:buNone/>
                </a:pPr>
                <a:endParaRPr lang="vi-VN"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800"/>
                  <a:buNone/>
                </a:pPr>
                <a:r>
                  <a:rPr lang="vi-VN" sz="1800" dirty="0">
                    <a:latin typeface="Times New Roman" panose="02020603050405020304"/>
                    <a:ea typeface="Times New Roman" panose="02020603050405020304"/>
                    <a:cs typeface="Times New Roman" panose="02020603050405020304"/>
                    <a:sym typeface="Times New Roman" panose="02020603050405020304"/>
                  </a:rPr>
                  <a:t>2. </a:t>
                </a:r>
                <a:r>
                  <a:rPr lang="vi-VN" sz="1800" dirty="0" err="1">
                    <a:latin typeface="Times New Roman" panose="02020603050405020304"/>
                    <a:ea typeface="Times New Roman" panose="02020603050405020304"/>
                    <a:cs typeface="Times New Roman" panose="02020603050405020304"/>
                    <a:sym typeface="Times New Roman" panose="02020603050405020304"/>
                  </a:rPr>
                  <a:t>Cơ</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chế</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điều</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chỉnh</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thích</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ứng</a:t>
                </a:r>
                <a:r>
                  <a:rPr lang="vi-VN" sz="1800" dirty="0">
                    <a:latin typeface="Times New Roman" panose="02020603050405020304"/>
                    <a:ea typeface="Times New Roman" panose="02020603050405020304"/>
                    <a:cs typeface="Times New Roman" panose="02020603050405020304"/>
                    <a:sym typeface="Times New Roman" panose="02020603050405020304"/>
                  </a:rPr>
                  <a:t> 3 </a:t>
                </a:r>
                <a:r>
                  <a:rPr lang="vi-VN" sz="1800" dirty="0" err="1">
                    <a:latin typeface="Times New Roman" panose="02020603050405020304"/>
                    <a:ea typeface="Times New Roman" panose="02020603050405020304"/>
                    <a:cs typeface="Times New Roman" panose="02020603050405020304"/>
                    <a:sym typeface="Times New Roman" panose="02020603050405020304"/>
                  </a:rPr>
                  <a:t>cấp</a:t>
                </a:r>
                <a:r>
                  <a:rPr lang="vi-VN" sz="1800" dirty="0">
                    <a:latin typeface="Times New Roman" panose="02020603050405020304"/>
                    <a:ea typeface="Times New Roman" panose="02020603050405020304"/>
                    <a:cs typeface="Times New Roman" panose="02020603050405020304"/>
                    <a:sym typeface="Times New Roman" panose="02020603050405020304"/>
                  </a:rPr>
                  <a:t>:</a:t>
                </a:r>
              </a:p>
              <a:p>
                <a:pPr marL="0" lvl="0" indent="0" algn="l" rtl="0">
                  <a:lnSpc>
                    <a:spcPct val="90000"/>
                  </a:lnSpc>
                  <a:spcBef>
                    <a:spcPts val="0"/>
                  </a:spcBef>
                  <a:spcAft>
                    <a:spcPts val="0"/>
                  </a:spcAft>
                  <a:buClr>
                    <a:schemeClr val="dk1"/>
                  </a:buClr>
                  <a:buSzPts val="1800"/>
                  <a:buNone/>
                </a:pPr>
                <a:endParaRPr lang="vi-VN"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vi-VN" sz="1800" b="1" dirty="0">
                    <a:latin typeface="Times New Roman" panose="02020603050405020304"/>
                    <a:ea typeface="Times New Roman" panose="02020603050405020304"/>
                    <a:cs typeface="Times New Roman" panose="02020603050405020304"/>
                    <a:sym typeface="Times New Roman" panose="02020603050405020304"/>
                  </a:rPr>
                  <a:t>•</a:t>
                </a:r>
                <a:r>
                  <a:rPr lang="vi-VN" altLang="en-US" sz="1800" b="1" dirty="0">
                    <a:latin typeface="Times New Roman" panose="02020603050405020304"/>
                    <a:ea typeface="Times New Roman" panose="02020603050405020304"/>
                    <a:cs typeface="Times New Roman" panose="02020603050405020304"/>
                    <a:sym typeface="Times New Roman" panose="02020603050405020304"/>
                  </a:rPr>
                  <a:t>(15) </a:t>
                </a:r>
                <a:r>
                  <a:rPr lang="vi-VN" sz="1800" b="1" dirty="0" err="1">
                    <a:latin typeface="Times New Roman" panose="02020603050405020304"/>
                    <a:ea typeface="Times New Roman" panose="02020603050405020304"/>
                    <a:cs typeface="Times New Roman" panose="02020603050405020304"/>
                    <a:sym typeface="Times New Roman" panose="02020603050405020304"/>
                  </a:rPr>
                  <a:t>Điều</a:t>
                </a:r>
                <a:r>
                  <a:rPr lang="vi-VN" sz="1800" b="1" dirty="0">
                    <a:latin typeface="Times New Roman" panose="02020603050405020304"/>
                    <a:ea typeface="Times New Roman" panose="02020603050405020304"/>
                    <a:cs typeface="Times New Roman" panose="02020603050405020304"/>
                    <a:sym typeface="Times New Roman" panose="02020603050405020304"/>
                  </a:rPr>
                  <a:t> </a:t>
                </a:r>
                <a:r>
                  <a:rPr lang="vi-VN" sz="1800" b="1" dirty="0" err="1">
                    <a:latin typeface="Times New Roman" panose="02020603050405020304"/>
                    <a:ea typeface="Times New Roman" panose="02020603050405020304"/>
                    <a:cs typeface="Times New Roman" panose="02020603050405020304"/>
                    <a:sym typeface="Times New Roman" panose="02020603050405020304"/>
                  </a:rPr>
                  <a:t>chỉnh</a:t>
                </a:r>
                <a:r>
                  <a:rPr lang="vi-VN" sz="1800" b="1" dirty="0">
                    <a:latin typeface="Times New Roman" panose="02020603050405020304"/>
                    <a:ea typeface="Times New Roman" panose="02020603050405020304"/>
                    <a:cs typeface="Times New Roman" panose="02020603050405020304"/>
                    <a:sym typeface="Times New Roman" panose="02020603050405020304"/>
                  </a:rPr>
                  <a:t> </a:t>
                </a:r>
                <a:r>
                  <a:rPr lang="vi-VN" sz="1800" b="1" dirty="0" err="1">
                    <a:latin typeface="Times New Roman" panose="02020603050405020304"/>
                    <a:ea typeface="Times New Roman" panose="02020603050405020304"/>
                    <a:cs typeface="Times New Roman" panose="02020603050405020304"/>
                    <a:sym typeface="Times New Roman" panose="02020603050405020304"/>
                  </a:rPr>
                  <a:t>nhiễu</a:t>
                </a:r>
                <a:r>
                  <a:rPr lang="vi-VN" sz="1800" b="1" dirty="0">
                    <a:latin typeface="Times New Roman" panose="02020603050405020304"/>
                    <a:ea typeface="Times New Roman" panose="02020603050405020304"/>
                    <a:cs typeface="Times New Roman" panose="02020603050405020304"/>
                    <a:sym typeface="Times New Roman" panose="02020603050405020304"/>
                  </a:rPr>
                  <a:t> </a:t>
                </a:r>
                <a:r>
                  <a:rPr lang="vi-VN" sz="1800" b="1" dirty="0" err="1">
                    <a:latin typeface="Times New Roman" panose="02020603050405020304"/>
                    <a:ea typeface="Times New Roman" panose="02020603050405020304"/>
                    <a:cs typeface="Times New Roman" panose="02020603050405020304"/>
                    <a:sym typeface="Times New Roman" panose="02020603050405020304"/>
                  </a:rPr>
                  <a:t>loạn</a:t>
                </a:r>
                <a:r>
                  <a:rPr lang="vi-VN" sz="1800" b="1" dirty="0">
                    <a:latin typeface="Times New Roman" panose="02020603050405020304"/>
                    <a:ea typeface="Times New Roman" panose="02020603050405020304"/>
                    <a:cs typeface="Times New Roman" panose="02020603050405020304"/>
                    <a:sym typeface="Times New Roman" panose="02020603050405020304"/>
                  </a:rPr>
                  <a:t> </a:t>
                </a:r>
                <a:r>
                  <a:rPr lang="vi-VN" sz="1800" b="1" dirty="0" err="1">
                    <a:latin typeface="Times New Roman" panose="02020603050405020304"/>
                    <a:ea typeface="Times New Roman" panose="02020603050405020304"/>
                    <a:cs typeface="Times New Roman" panose="02020603050405020304"/>
                    <a:sym typeface="Times New Roman" panose="02020603050405020304"/>
                  </a:rPr>
                  <a:t>hỗn</a:t>
                </a:r>
                <a:r>
                  <a:rPr lang="vi-VN" sz="1800" b="1" dirty="0">
                    <a:latin typeface="Times New Roman" panose="02020603050405020304"/>
                    <a:ea typeface="Times New Roman" panose="02020603050405020304"/>
                    <a:cs typeface="Times New Roman" panose="02020603050405020304"/>
                    <a:sym typeface="Times New Roman" panose="02020603050405020304"/>
                  </a:rPr>
                  <a:t> </a:t>
                </a:r>
                <a:r>
                  <a:rPr lang="vi-VN" sz="1800" b="1" dirty="0" err="1">
                    <a:latin typeface="Times New Roman" panose="02020603050405020304"/>
                    <a:ea typeface="Times New Roman" panose="02020603050405020304"/>
                    <a:cs typeface="Times New Roman" panose="02020603050405020304"/>
                    <a:sym typeface="Times New Roman" panose="02020603050405020304"/>
                  </a:rPr>
                  <a:t>loạn</a:t>
                </a:r>
                <a:r>
                  <a:rPr lang="vi-VN" sz="1800" b="1" dirty="0">
                    <a:latin typeface="Times New Roman" panose="02020603050405020304"/>
                    <a:ea typeface="Times New Roman" panose="02020603050405020304"/>
                    <a:cs typeface="Times New Roman" panose="02020603050405020304"/>
                    <a:sym typeface="Times New Roman" panose="02020603050405020304"/>
                  </a:rPr>
                  <a:t> </a:t>
                </a:r>
                <a:r>
                  <a:rPr lang="vi-VN" sz="1800" b="1" dirty="0" err="1">
                    <a:latin typeface="Times New Roman" panose="02020603050405020304"/>
                    <a:ea typeface="Times New Roman" panose="02020603050405020304"/>
                    <a:cs typeface="Times New Roman" panose="02020603050405020304"/>
                    <a:sym typeface="Times New Roman" panose="02020603050405020304"/>
                  </a:rPr>
                  <a:t>dựa</a:t>
                </a:r>
                <a:r>
                  <a:rPr lang="vi-VN" sz="1800" b="1" dirty="0">
                    <a:latin typeface="Times New Roman" panose="02020603050405020304"/>
                    <a:ea typeface="Times New Roman" panose="02020603050405020304"/>
                    <a:cs typeface="Times New Roman" panose="02020603050405020304"/>
                    <a:sym typeface="Times New Roman" panose="02020603050405020304"/>
                  </a:rPr>
                  <a:t> </a:t>
                </a:r>
                <a:r>
                  <a:rPr lang="vi-VN" sz="1800" b="1" dirty="0" err="1">
                    <a:latin typeface="Times New Roman" panose="02020603050405020304"/>
                    <a:ea typeface="Times New Roman" panose="02020603050405020304"/>
                    <a:cs typeface="Times New Roman" panose="02020603050405020304"/>
                    <a:sym typeface="Times New Roman" panose="02020603050405020304"/>
                  </a:rPr>
                  <a:t>trên</a:t>
                </a:r>
                <a:r>
                  <a:rPr lang="vi-VN" sz="1800" b="1" dirty="0">
                    <a:latin typeface="Times New Roman" panose="02020603050405020304"/>
                    <a:ea typeface="Times New Roman" panose="02020603050405020304"/>
                    <a:cs typeface="Times New Roman" panose="02020603050405020304"/>
                    <a:sym typeface="Times New Roman" panose="02020603050405020304"/>
                  </a:rPr>
                  <a:t> </a:t>
                </a:r>
                <a:r>
                  <a:rPr lang="vi-VN" sz="1800" b="1" dirty="0" err="1">
                    <a:latin typeface="Times New Roman" panose="02020603050405020304"/>
                    <a:ea typeface="Times New Roman" panose="02020603050405020304"/>
                    <a:cs typeface="Times New Roman" panose="02020603050405020304"/>
                    <a:sym typeface="Times New Roman" panose="02020603050405020304"/>
                  </a:rPr>
                  <a:t>năng</a:t>
                </a:r>
                <a:r>
                  <a:rPr lang="vi-VN" sz="1800" b="1" dirty="0">
                    <a:latin typeface="Times New Roman" panose="02020603050405020304"/>
                    <a:ea typeface="Times New Roman" panose="02020603050405020304"/>
                    <a:cs typeface="Times New Roman" panose="02020603050405020304"/>
                    <a:sym typeface="Times New Roman" panose="02020603050405020304"/>
                  </a:rPr>
                  <a:t> </a:t>
                </a:r>
                <a:r>
                  <a:rPr lang="vi-VN" sz="1800" b="1" dirty="0" err="1">
                    <a:latin typeface="Times New Roman" panose="02020603050405020304"/>
                    <a:ea typeface="Times New Roman" panose="02020603050405020304"/>
                    <a:cs typeface="Times New Roman" panose="02020603050405020304"/>
                    <a:sym typeface="Times New Roman" panose="02020603050405020304"/>
                  </a:rPr>
                  <a:t>lượng</a:t>
                </a:r>
                <a:r>
                  <a:rPr lang="vi-VN" sz="1800" b="1" dirty="0">
                    <a:latin typeface="Times New Roman" panose="02020603050405020304"/>
                    <a:ea typeface="Times New Roman" panose="02020603050405020304"/>
                    <a:cs typeface="Times New Roman" panose="02020603050405020304"/>
                    <a:sym typeface="Times New Roman" panose="02020603050405020304"/>
                  </a:rPr>
                  <a:t> (</a:t>
                </a:r>
                <a:r>
                  <a:rPr lang="el-GR" sz="1800" b="1" dirty="0">
                    <a:latin typeface="Times New Roman" panose="02020603050405020304"/>
                    <a:ea typeface="Times New Roman" panose="02020603050405020304"/>
                    <a:cs typeface="Times New Roman" panose="02020603050405020304"/>
                    <a:sym typeface="Times New Roman" panose="02020603050405020304"/>
                  </a:rPr>
                  <a:t>α):</a:t>
                </a:r>
                <a:r>
                  <a:rPr lang="el-GR" sz="1800" dirty="0">
                    <a:latin typeface="Times New Roman" panose="02020603050405020304"/>
                    <a:ea typeface="Times New Roman" panose="02020603050405020304"/>
                    <a:cs typeface="Times New Roman" panose="02020603050405020304"/>
                    <a:sym typeface="Times New Roman" panose="02020603050405020304"/>
                  </a:rPr>
                  <a:t> 															</a:t>
                </a:r>
              </a:p>
              <a:p>
                <a:pPr marL="6400800" lvl="0" indent="457200" algn="l" rtl="0">
                  <a:lnSpc>
                    <a:spcPct val="90000"/>
                  </a:lnSpc>
                  <a:spcBef>
                    <a:spcPts val="1000"/>
                  </a:spcBef>
                  <a:spcAft>
                    <a:spcPts val="0"/>
                  </a:spcAft>
                  <a:buClr>
                    <a:schemeClr val="dk1"/>
                  </a:buClr>
                  <a:buSzPts val="1800"/>
                  <a:buNone/>
                </a:pPr>
                <a:r>
                  <a:rPr lang="el-GR" sz="1800" b="1" dirty="0">
                    <a:latin typeface="Times New Roman" panose="02020603050405020304"/>
                    <a:ea typeface="Times New Roman" panose="02020603050405020304"/>
                    <a:cs typeface="Times New Roman" panose="02020603050405020304"/>
                    <a:sym typeface="Times New Roman" panose="02020603050405020304"/>
                  </a:rPr>
                  <a:t>(1.5)</a:t>
                </a:r>
              </a:p>
              <a:p>
                <a:pPr marL="0" lvl="0" indent="0" algn="l" rtl="0">
                  <a:lnSpc>
                    <a:spcPct val="90000"/>
                  </a:lnSpc>
                  <a:spcBef>
                    <a:spcPts val="1000"/>
                  </a:spcBef>
                  <a:spcAft>
                    <a:spcPts val="0"/>
                  </a:spcAft>
                  <a:buClr>
                    <a:schemeClr val="dk1"/>
                  </a:buClr>
                  <a:buSzPts val="1800"/>
                  <a:buNone/>
                </a:pPr>
                <a:endParaRPr lang="el-G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altLang="zh-CN" sz="1800" dirty="0">
                    <a:latin typeface="Times New Roman" panose="02020603050405020304"/>
                    <a:ea typeface="Times New Roman" panose="02020603050405020304"/>
                    <a:cs typeface="Times New Roman" panose="02020603050405020304"/>
                    <a:sym typeface="Times New Roman" panose="02020603050405020304"/>
                  </a:rPr>
                  <a:t>🔹</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Ý</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nghĩa</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Khi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lượng</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toàn</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mạng</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giảm</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mạnh</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tăng</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nhiễu</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hỗn</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loạn</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khám</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phá</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lời</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giải</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vi-VN" altLang="en-US" sz="1800" dirty="0" err="1">
                    <a:latin typeface="Times New Roman" panose="02020603050405020304"/>
                    <a:ea typeface="Times New Roman" panose="02020603050405020304"/>
                    <a:cs typeface="Times New Roman" panose="02020603050405020304"/>
                    <a:sym typeface="Times New Roman" panose="02020603050405020304"/>
                  </a:rPr>
                  <a:t>mới</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a:t>
                </a:r>
              </a:p>
              <a:p>
                <a:pPr lvl="0" indent="0">
                  <a:buSzPts val="1100"/>
                  <a:buNone/>
                </a:pPr>
                <a14:m>
                  <m:oMath xmlns:m="http://schemas.openxmlformats.org/officeDocument/2006/math">
                    <m:sSub>
                      <m:sSubPr>
                        <m:ctrlPr>
                          <a:rPr lang="ar-AE" sz="1800" i="1" dirty="0" smtClean="0">
                            <a:latin typeface="Cambria Math" panose="02040503050406030204" pitchFamily="18" charset="0"/>
                            <a:cs typeface="Times New Roman" panose="02020603050405020304"/>
                            <a:sym typeface="Times New Roman" panose="02020603050405020304"/>
                          </a:rPr>
                        </m:ctrlPr>
                      </m:sSubPr>
                      <m:e>
                        <m:r>
                          <a:rPr lang="ar-AE" sz="1800" i="1" dirty="0">
                            <a:latin typeface="Cambria Math" panose="02040503050406030204" pitchFamily="18" charset="0"/>
                            <a:ea typeface="Times New Roman" panose="02020603050405020304"/>
                            <a:cs typeface="Times New Roman" panose="02020603050405020304"/>
                            <a:sym typeface="Times New Roman" panose="02020603050405020304"/>
                          </a:rPr>
                          <m:t>𝛼</m:t>
                        </m:r>
                      </m:e>
                      <m:sub>
                        <m:r>
                          <m:rPr>
                            <m:sty m:val="p"/>
                          </m:rPr>
                          <a:rPr lang="vi-VN" sz="1800" i="1" dirty="0">
                            <a:latin typeface="Cambria Math" panose="02040503050406030204" pitchFamily="18" charset="0"/>
                            <a:cs typeface="Times New Roman" panose="02020603050405020304"/>
                            <a:sym typeface="Times New Roman" panose="02020603050405020304"/>
                          </a:rPr>
                          <m:t>min</m:t>
                        </m:r>
                      </m:sub>
                    </m:sSub>
                    <m:r>
                      <a:rPr lang="ar-AE" sz="1800" i="1" dirty="0">
                        <a:latin typeface="Cambria Math" panose="02040503050406030204" pitchFamily="18" charset="0"/>
                        <a:ea typeface="Times New Roman" panose="02020603050405020304"/>
                        <a:cs typeface="Times New Roman" panose="02020603050405020304"/>
                        <a:sym typeface="Times New Roman" panose="02020603050405020304"/>
                      </a:rPr>
                      <m:t>​</m:t>
                    </m:r>
                    <m:r>
                      <a:rPr lang="ar-AE" sz="1800" i="1" dirty="0">
                        <a:latin typeface="Cambria Math" panose="02040503050406030204" pitchFamily="18" charset="0"/>
                        <a:ea typeface="Times New Roman" panose="02020603050405020304"/>
                        <a:cs typeface="Times New Roman" panose="02020603050405020304"/>
                        <a:sym typeface="Times New Roman" panose="02020603050405020304"/>
                      </a:rPr>
                      <m:t>,</m:t>
                    </m:r>
                    <m:sSub>
                      <m:sSubPr>
                        <m:ctrlPr>
                          <a:rPr lang="ar-AE" sz="1800" i="1" dirty="0" smtClean="0">
                            <a:latin typeface="Cambria Math" panose="02040503050406030204" pitchFamily="18" charset="0"/>
                            <a:cs typeface="Times New Roman" panose="02020603050405020304"/>
                            <a:sym typeface="Times New Roman" panose="02020603050405020304"/>
                          </a:rPr>
                        </m:ctrlPr>
                      </m:sSubPr>
                      <m:e>
                        <m:r>
                          <a:rPr lang="ar-AE" sz="1800" i="1" dirty="0">
                            <a:latin typeface="Cambria Math" panose="02040503050406030204" pitchFamily="18" charset="0"/>
                            <a:ea typeface="Times New Roman" panose="02020603050405020304"/>
                            <a:cs typeface="Times New Roman" panose="02020603050405020304"/>
                            <a:sym typeface="Times New Roman" panose="02020603050405020304"/>
                          </a:rPr>
                          <m:t>𝛼</m:t>
                        </m:r>
                      </m:e>
                      <m:sub>
                        <m:r>
                          <m:rPr>
                            <m:sty m:val="p"/>
                          </m:rPr>
                          <a:rPr lang="vi-VN" sz="1800" i="1" dirty="0">
                            <a:latin typeface="Cambria Math" panose="02040503050406030204" pitchFamily="18" charset="0"/>
                            <a:cs typeface="Times New Roman" panose="02020603050405020304"/>
                            <a:sym typeface="Times New Roman" panose="02020603050405020304"/>
                          </a:rPr>
                          <m:t>max</m:t>
                        </m:r>
                      </m:sub>
                    </m:sSub>
                    <m:r>
                      <a:rPr lang="ar-AE" sz="1800" i="1" dirty="0">
                        <a:latin typeface="Cambria Math" panose="02040503050406030204" pitchFamily="18" charset="0"/>
                        <a:ea typeface="Times New Roman" panose="02020603050405020304"/>
                        <a:cs typeface="Times New Roman" panose="02020603050405020304"/>
                        <a:sym typeface="Times New Roman" panose="02020603050405020304"/>
                      </a:rPr>
                      <m:t>​</m:t>
                    </m:r>
                  </m:oMath>
                </a14:m>
                <a:r>
                  <a:rPr lang="ar-AE" sz="1800" dirty="0">
                    <a:latin typeface="Times New Roman" panose="02020603050405020304"/>
                    <a:ea typeface="Times New Roman" panose="02020603050405020304"/>
                    <a:cs typeface="Times New Roman" panose="02020603050405020304"/>
                    <a:sym typeface="Times New Roman" panose="02020603050405020304"/>
                  </a:rPr>
                  <a:t>	</a:t>
                </a:r>
                <a:r>
                  <a:rPr lang="ar-AE" altLang="en-US" sz="1800" dirty="0">
                    <a:latin typeface="Times New Roman" panose="02020603050405020304"/>
                    <a:ea typeface="Times New Roman" panose="02020603050405020304"/>
                    <a:cs typeface="Times New Roman" panose="02020603050405020304"/>
                    <a:sym typeface="Times New Roman" panose="02020603050405020304"/>
                  </a:rPr>
                  <a:t>	</a:t>
                </a:r>
                <a:r>
                  <a:rPr lang="ar-AE"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ngưỡng</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dưới</a:t>
                </a:r>
                <a:r>
                  <a:rPr lang="vi-VN" sz="1800" dirty="0">
                    <a:latin typeface="Times New Roman" panose="02020603050405020304"/>
                    <a:ea typeface="Times New Roman" panose="02020603050405020304"/>
                    <a:cs typeface="Times New Roman" panose="02020603050405020304"/>
                    <a:sym typeface="Times New Roman" panose="02020603050405020304"/>
                  </a:rPr>
                  <a:t>/</a:t>
                </a:r>
                <a:r>
                  <a:rPr lang="vi-VN" sz="1800" dirty="0" err="1">
                    <a:latin typeface="Times New Roman" panose="02020603050405020304"/>
                    <a:ea typeface="Times New Roman" panose="02020603050405020304"/>
                    <a:cs typeface="Times New Roman" panose="02020603050405020304"/>
                    <a:sym typeface="Times New Roman" panose="02020603050405020304"/>
                  </a:rPr>
                  <a:t>trên</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của</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hệ</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số</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hỗn</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loạn</a:t>
                </a:r>
                <a:r>
                  <a:rPr lang="vi-VN" sz="1800" dirty="0">
                    <a:latin typeface="Times New Roman" panose="02020603050405020304"/>
                    <a:ea typeface="Times New Roman" panose="02020603050405020304"/>
                    <a:cs typeface="Times New Roman" panose="02020603050405020304"/>
                    <a:sym typeface="Times New Roman" panose="02020603050405020304"/>
                  </a:rPr>
                  <a:t>.</a:t>
                </a:r>
                <a:br>
                  <a:rPr lang="vi-VN" sz="1800" dirty="0">
                    <a:latin typeface="Times New Roman" panose="02020603050405020304"/>
                    <a:ea typeface="Times New Roman" panose="02020603050405020304"/>
                    <a:cs typeface="Times New Roman" panose="02020603050405020304"/>
                    <a:sym typeface="Times New Roman" panose="02020603050405020304"/>
                  </a:rPr>
                </a:br>
                <a:endParaRPr lang="vi-VN" sz="1800" dirty="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1000"/>
                  </a:spcBef>
                  <a:spcAft>
                    <a:spcPts val="0"/>
                  </a:spcAft>
                  <a:buClr>
                    <a:schemeClr val="dk1"/>
                  </a:buClr>
                  <a:buSzPts val="1100"/>
                  <a:buFont typeface="Arial" panose="020B0604020202020204"/>
                  <a:buNone/>
                </a:pPr>
                <a14:m>
                  <m:oMath xmlns:m="http://schemas.openxmlformats.org/officeDocument/2006/math">
                    <m:sSub>
                      <m:sSubPr>
                        <m:ctrlPr>
                          <a:rPr lang="ar-AE" sz="1800" i="1" dirty="0" smtClean="0">
                            <a:latin typeface="Cambria Math" panose="02040503050406030204" pitchFamily="18" charset="0"/>
                            <a:cs typeface="Times New Roman" panose="02020603050405020304"/>
                            <a:sym typeface="Times New Roman" panose="02020603050405020304"/>
                          </a:rPr>
                        </m:ctrlPr>
                      </m:sSubPr>
                      <m:e>
                        <m:r>
                          <m:rPr>
                            <m:sty m:val="p"/>
                          </m:rPr>
                          <a:rPr lang="vi-VN" sz="1800" i="1" dirty="0">
                            <a:latin typeface="Cambria Math" panose="02040503050406030204" pitchFamily="18" charset="0"/>
                            <a:cs typeface="Times New Roman" panose="02020603050405020304"/>
                            <a:sym typeface="Times New Roman" panose="02020603050405020304"/>
                          </a:rPr>
                          <m:t>E</m:t>
                        </m:r>
                      </m:e>
                      <m:sub>
                        <m:r>
                          <m:rPr>
                            <m:sty m:val="p"/>
                          </m:rPr>
                          <a:rPr lang="vi-VN" sz="1800" i="1" dirty="0">
                            <a:latin typeface="Cambria Math" panose="02040503050406030204" pitchFamily="18" charset="0"/>
                            <a:cs typeface="Times New Roman" panose="02020603050405020304"/>
                            <a:sym typeface="Times New Roman" panose="02020603050405020304"/>
                          </a:rPr>
                          <m:t>total</m:t>
                        </m:r>
                      </m:sub>
                    </m:sSub>
                    <m:r>
                      <a:rPr lang="ar-AE" sz="1800" i="1" dirty="0">
                        <a:latin typeface="Cambria Math" panose="02040503050406030204" pitchFamily="18" charset="0"/>
                        <a:ea typeface="Times New Roman" panose="02020603050405020304"/>
                        <a:cs typeface="Times New Roman" panose="02020603050405020304"/>
                        <a:sym typeface="Times New Roman" panose="02020603050405020304"/>
                      </a:rPr>
                      <m:t>​</m:t>
                    </m:r>
                  </m:oMath>
                </a14:m>
                <a:r>
                  <a:rPr lang="ar-AE" sz="1800" dirty="0">
                    <a:latin typeface="Times New Roman" panose="02020603050405020304"/>
                    <a:ea typeface="Times New Roman" panose="02020603050405020304"/>
                    <a:cs typeface="Times New Roman" panose="02020603050405020304"/>
                    <a:sym typeface="Times New Roman" panose="02020603050405020304"/>
                  </a:rPr>
                  <a:t>		: </a:t>
                </a:r>
                <a:r>
                  <a:rPr lang="vi-VN" sz="1800" dirty="0" err="1">
                    <a:latin typeface="Times New Roman" panose="02020603050405020304"/>
                    <a:ea typeface="Times New Roman" panose="02020603050405020304"/>
                    <a:cs typeface="Times New Roman" panose="02020603050405020304"/>
                    <a:sym typeface="Times New Roman" panose="02020603050405020304"/>
                  </a:rPr>
                  <a:t>tổng</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năng</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lượng</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hiện</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tại</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còn</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lại</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trong</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mạng</a:t>
                </a:r>
                <a:r>
                  <a:rPr lang="vi-VN" sz="1800" dirty="0">
                    <a:latin typeface="Times New Roman" panose="02020603050405020304"/>
                    <a:ea typeface="Times New Roman" panose="02020603050405020304"/>
                    <a:cs typeface="Times New Roman" panose="02020603050405020304"/>
                    <a:sym typeface="Times New Roman" panose="02020603050405020304"/>
                  </a:rPr>
                  <a:t>.</a:t>
                </a:r>
                <a:br>
                  <a:rPr lang="vi-VN" sz="1800" dirty="0">
                    <a:latin typeface="Times New Roman" panose="02020603050405020304"/>
                    <a:ea typeface="Times New Roman" panose="02020603050405020304"/>
                    <a:cs typeface="Times New Roman" panose="02020603050405020304"/>
                    <a:sym typeface="Times New Roman" panose="02020603050405020304"/>
                  </a:rPr>
                </a:br>
                <a:endParaRPr lang="vi-VN" sz="1800" dirty="0">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spcBef>
                    <a:spcPts val="1000"/>
                  </a:spcBef>
                  <a:spcAft>
                    <a:spcPts val="0"/>
                  </a:spcAft>
                  <a:buClr>
                    <a:schemeClr val="dk1"/>
                  </a:buClr>
                  <a:buSzPts val="1100"/>
                  <a:buFont typeface="Arial" panose="020B0604020202020204"/>
                  <a:buNone/>
                </a:pPr>
                <a14:m>
                  <m:oMath xmlns:m="http://schemas.openxmlformats.org/officeDocument/2006/math">
                    <m:sSub>
                      <m:sSubPr>
                        <m:ctrlPr>
                          <a:rPr lang="ar-AE" sz="1800" i="1" smtClean="0">
                            <a:latin typeface="Cambria Math" panose="02040503050406030204" pitchFamily="18" charset="0"/>
                            <a:cs typeface="Times New Roman" panose="02020603050405020304"/>
                            <a:sym typeface="Times New Roman" panose="02020603050405020304"/>
                          </a:rPr>
                        </m:ctrlPr>
                      </m:sSubPr>
                      <m:e>
                        <m:r>
                          <m:rPr>
                            <m:sty m:val="p"/>
                          </m:rPr>
                          <a:rPr lang="vi-VN" sz="1800" i="1">
                            <a:latin typeface="Cambria Math" panose="02040503050406030204" pitchFamily="18" charset="0"/>
                            <a:cs typeface="Times New Roman" panose="02020603050405020304"/>
                            <a:sym typeface="Times New Roman" panose="02020603050405020304"/>
                          </a:rPr>
                          <m:t>E</m:t>
                        </m:r>
                      </m:e>
                      <m:sub>
                        <m:r>
                          <m:rPr>
                            <m:sty m:val="p"/>
                          </m:rPr>
                          <a:rPr lang="vi-VN" sz="1800" i="1">
                            <a:latin typeface="Cambria Math" panose="02040503050406030204" pitchFamily="18" charset="0"/>
                            <a:cs typeface="Times New Roman" panose="02020603050405020304"/>
                            <a:sym typeface="Times New Roman" panose="02020603050405020304"/>
                          </a:rPr>
                          <m:t>lb</m:t>
                        </m:r>
                      </m:sub>
                    </m:sSub>
                    <m:r>
                      <a:rPr lang="ar-AE" sz="1800" b="0" i="1" smtClean="0">
                        <a:latin typeface="Cambria Math" panose="02040503050406030204" pitchFamily="18" charset="0"/>
                        <a:cs typeface="Times New Roman" panose="02020603050405020304"/>
                        <a:sym typeface="Times New Roman" panose="02020603050405020304"/>
                      </a:rPr>
                      <m:t>,</m:t>
                    </m:r>
                    <m:sSub>
                      <m:sSubPr>
                        <m:ctrlPr>
                          <a:rPr lang="ar-AE" sz="1800" b="0" i="1" smtClean="0">
                            <a:latin typeface="Cambria Math" panose="02040503050406030204" pitchFamily="18" charset="0"/>
                            <a:cs typeface="Times New Roman" panose="02020603050405020304"/>
                            <a:sym typeface="Times New Roman" panose="02020603050405020304"/>
                          </a:rPr>
                        </m:ctrlPr>
                      </m:sSubPr>
                      <m:e>
                        <m:r>
                          <m:rPr>
                            <m:sty m:val="p"/>
                          </m:rPr>
                          <a:rPr lang="ar-AE" sz="1800" i="1">
                            <a:latin typeface="Cambria Math" panose="02040503050406030204" pitchFamily="18" charset="0"/>
                            <a:cs typeface="Times New Roman" panose="02020603050405020304"/>
                            <a:sym typeface="Times New Roman" panose="02020603050405020304"/>
                          </a:rPr>
                          <m:t>E</m:t>
                        </m:r>
                      </m:e>
                      <m:sub>
                        <m:r>
                          <m:rPr>
                            <m:sty m:val="p"/>
                          </m:rPr>
                          <a:rPr lang="ar-AE" sz="1800" i="1">
                            <a:latin typeface="Cambria Math" panose="02040503050406030204" pitchFamily="18" charset="0"/>
                            <a:cs typeface="Times New Roman" panose="02020603050405020304"/>
                            <a:sym typeface="Times New Roman" panose="02020603050405020304"/>
                          </a:rPr>
                          <m:t>ub</m:t>
                        </m:r>
                      </m:sub>
                    </m:sSub>
                  </m:oMath>
                </a14:m>
                <a:r>
                  <a:rPr lang="ar-AE" sz="1800" dirty="0">
                    <a:latin typeface="Times New Roman" panose="02020603050405020304"/>
                    <a:ea typeface="Times New Roman" panose="02020603050405020304"/>
                    <a:cs typeface="Times New Roman" panose="02020603050405020304"/>
                    <a:sym typeface="Times New Roman" panose="02020603050405020304"/>
                  </a:rPr>
                  <a:t>		: </a:t>
                </a:r>
                <a:r>
                  <a:rPr lang="vi-VN" sz="1800" dirty="0" err="1">
                    <a:latin typeface="Times New Roman" panose="02020603050405020304"/>
                    <a:ea typeface="Times New Roman" panose="02020603050405020304"/>
                    <a:cs typeface="Times New Roman" panose="02020603050405020304"/>
                    <a:sym typeface="Times New Roman" panose="02020603050405020304"/>
                  </a:rPr>
                  <a:t>giới</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hạn</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năng</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lượng</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dưới</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và</a:t>
                </a:r>
                <a:r>
                  <a:rPr lang="vi-VN" sz="1800" dirty="0">
                    <a:latin typeface="Times New Roman" panose="02020603050405020304"/>
                    <a:ea typeface="Times New Roman" panose="02020603050405020304"/>
                    <a:cs typeface="Times New Roman" panose="02020603050405020304"/>
                    <a:sym typeface="Times New Roman" panose="02020603050405020304"/>
                  </a:rPr>
                  <a:t> </a:t>
                </a:r>
                <a:r>
                  <a:rPr lang="vi-VN" sz="1800" dirty="0" err="1">
                    <a:latin typeface="Times New Roman" panose="02020603050405020304"/>
                    <a:ea typeface="Times New Roman" panose="02020603050405020304"/>
                    <a:cs typeface="Times New Roman" panose="02020603050405020304"/>
                    <a:sym typeface="Times New Roman" panose="02020603050405020304"/>
                  </a:rPr>
                  <a:t>trên</a:t>
                </a:r>
                <a:r>
                  <a:rPr lang="vi-VN" sz="1800" dirty="0">
                    <a:latin typeface="Times New Roman" panose="02020603050405020304"/>
                    <a:ea typeface="Times New Roman" panose="02020603050405020304"/>
                    <a:cs typeface="Times New Roman" panose="02020603050405020304"/>
                    <a:sym typeface="Times New Roman" panose="02020603050405020304"/>
                  </a:rPr>
                  <a:t>.</a:t>
                </a:r>
              </a:p>
              <a:p>
                <a:pPr marL="0" lvl="0" indent="0" algn="l" rtl="0">
                  <a:lnSpc>
                    <a:spcPct val="90000"/>
                  </a:lnSpc>
                  <a:spcBef>
                    <a:spcPts val="1000"/>
                  </a:spcBef>
                  <a:spcAft>
                    <a:spcPts val="0"/>
                  </a:spcAft>
                  <a:buClr>
                    <a:schemeClr val="dk1"/>
                  </a:buClr>
                  <a:buSzPts val="1800"/>
                  <a:buNone/>
                </a:pPr>
                <a:endParaRPr sz="1800" dirty="0">
                  <a:latin typeface="Times New Roman" panose="02020603050405020304"/>
                  <a:ea typeface="Times New Roman" panose="02020603050405020304"/>
                  <a:cs typeface="Times New Roman" panose="02020603050405020304"/>
                  <a:sym typeface="Times New Roman" panose="02020603050405020304"/>
                </a:endParaRPr>
              </a:p>
            </p:txBody>
          </p:sp>
        </mc:Choice>
        <mc:Fallback xmlns="">
          <p:sp>
            <p:nvSpPr>
              <p:cNvPr id="295" name="Google Shape;295;p44"/>
              <p:cNvSpPr txBox="1">
                <a:spLocks noRot="1" noChangeAspect="1" noMove="1" noResize="1" noEditPoints="1" noAdjustHandles="1" noChangeArrowheads="1" noChangeShapeType="1" noTextEdit="1"/>
              </p:cNvSpPr>
              <p:nvPr>
                <p:ph type="body" idx="1"/>
              </p:nvPr>
            </p:nvSpPr>
            <p:spPr>
              <a:xfrm>
                <a:off x="234950" y="963168"/>
                <a:ext cx="8674200" cy="5132700"/>
              </a:xfrm>
              <a:prstGeom prst="rect">
                <a:avLst/>
              </a:prstGeom>
              <a:blipFill rotWithShape="1">
                <a:blip r:embed="rId3"/>
                <a:stretch>
                  <a:fillRect t="-10" r="1" b="-3825"/>
                </a:stretch>
              </a:blipFill>
              <a:ln>
                <a:noFill/>
              </a:ln>
            </p:spPr>
            <p:txBody>
              <a:bodyPr/>
              <a:lstStyle/>
              <a:p>
                <a:r>
                  <a:rPr lang="en-US" altLang="en-US">
                    <a:noFill/>
                  </a:rPr>
                  <a:t> </a:t>
                </a:r>
              </a:p>
            </p:txBody>
          </p:sp>
        </mc:Fallback>
      </mc:AlternateContent>
      <p:pic>
        <p:nvPicPr>
          <p:cNvPr id="296" name="Google Shape;296;p44"/>
          <p:cNvPicPr preferRelativeResize="0"/>
          <p:nvPr/>
        </p:nvPicPr>
        <p:blipFill>
          <a:blip r:embed="rId4"/>
          <a:stretch>
            <a:fillRect/>
          </a:stretch>
        </p:blipFill>
        <p:spPr>
          <a:xfrm>
            <a:off x="2195960" y="2636905"/>
            <a:ext cx="4174359" cy="7218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44"/>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39</a:t>
            </a:fld>
            <a:endParaRPr lang="en-US"/>
          </a:p>
        </p:txBody>
      </p:sp>
      <p:sp>
        <p:nvSpPr>
          <p:cNvPr id="294" name="Google Shape;294;p44"/>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sym typeface="+mn-ea"/>
              </a:rPr>
              <a:t>3. </a:t>
            </a:r>
            <a:r>
              <a:rPr lang="vi-VN" altLang="en-US">
                <a:sym typeface="+mn-ea"/>
              </a:rPr>
              <a:t>P</a:t>
            </a:r>
            <a:r>
              <a:rPr lang="en-US">
                <a:sym typeface="+mn-ea"/>
              </a:rPr>
              <a:t>hương pháp</a:t>
            </a:r>
            <a:r>
              <a:rPr lang="vi-VN" altLang="en-US">
                <a:sym typeface="+mn-ea"/>
              </a:rPr>
              <a:t> đề xuất</a:t>
            </a:r>
            <a:r>
              <a:rPr lang="en-US">
                <a:sym typeface="+mn-ea"/>
              </a:rPr>
              <a:t> AC-ACO</a:t>
            </a:r>
            <a:br>
              <a:rPr lang="en-US">
                <a:sym typeface="+mn-ea"/>
              </a:rPr>
            </a:br>
            <a:endParaRPr lang="en-US"/>
          </a:p>
        </p:txBody>
      </p:sp>
      <p:sp>
        <p:nvSpPr>
          <p:cNvPr id="295" name="Google Shape;295;p44"/>
          <p:cNvSpPr txBox="1">
            <a:spLocks noGrp="1"/>
          </p:cNvSpPr>
          <p:nvPr>
            <p:ph type="body" idx="1"/>
          </p:nvPr>
        </p:nvSpPr>
        <p:spPr>
          <a:xfrm>
            <a:off x="234950" y="963168"/>
            <a:ext cx="8674200" cy="5132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Chi tiết về Thuật toán AC-ACO</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altLang="en-US" sz="1800" b="1">
                <a:latin typeface="Times New Roman" panose="02020603050405020304"/>
                <a:ea typeface="Times New Roman" panose="02020603050405020304"/>
                <a:cs typeface="Times New Roman" panose="02020603050405020304"/>
                <a:sym typeface="Times New Roman" panose="02020603050405020304"/>
              </a:rPr>
              <a:t>(</a:t>
            </a:r>
            <a:r>
              <a:rPr lang="vi-VN" altLang="en-US" sz="1800" b="1">
                <a:latin typeface="Times New Roman" panose="02020603050405020304"/>
                <a:ea typeface="Times New Roman" panose="02020603050405020304"/>
                <a:cs typeface="Times New Roman" panose="02020603050405020304"/>
                <a:sym typeface="Times New Roman" panose="02020603050405020304"/>
              </a:rPr>
              <a:t>16</a:t>
            </a:r>
            <a:r>
              <a:rPr lang="en-US" altLang="en-US" sz="1800" b="1">
                <a:latin typeface="Times New Roman" panose="02020603050405020304"/>
                <a:ea typeface="Times New Roman" panose="02020603050405020304"/>
                <a:cs typeface="Times New Roman" panose="02020603050405020304"/>
                <a:sym typeface="Times New Roman" panose="02020603050405020304"/>
              </a:rPr>
              <a:t>) Xác suất chọn nút kế tiếp</a:t>
            </a:r>
            <a:r>
              <a:rPr lang="en-US" sz="1800" b="1">
                <a:latin typeface="Times New Roman" panose="02020603050405020304"/>
                <a:ea typeface="Times New Roman" panose="02020603050405020304"/>
                <a:cs typeface="Times New Roman" panose="02020603050405020304"/>
                <a:sym typeface="Times New Roman" panose="02020603050405020304"/>
              </a:rPr>
              <a:t>	</a:t>
            </a:r>
            <a:r>
              <a:rPr lang="en-US" sz="1800">
                <a:latin typeface="Times New Roman" panose="02020603050405020304"/>
                <a:ea typeface="Times New Roman" panose="02020603050405020304"/>
                <a:cs typeface="Times New Roman" panose="02020603050405020304"/>
                <a:sym typeface="Times New Roman" panose="02020603050405020304"/>
              </a:rPr>
              <a:t>														</a:t>
            </a:r>
            <a:endParaRPr sz="1800">
              <a:latin typeface="Times New Roman" panose="02020603050405020304"/>
              <a:ea typeface="Times New Roman" panose="02020603050405020304"/>
              <a:cs typeface="Times New Roman" panose="02020603050405020304"/>
              <a:sym typeface="Times New Roman" panose="02020603050405020304"/>
            </a:endParaRPr>
          </a:p>
          <a:p>
            <a:pPr marL="6400800" lvl="0" indent="457200" algn="l" rtl="0">
              <a:lnSpc>
                <a:spcPct val="90000"/>
              </a:lnSpc>
              <a:spcBef>
                <a:spcPts val="1000"/>
              </a:spcBef>
              <a:spcAft>
                <a:spcPts val="0"/>
              </a:spcAft>
              <a:buClr>
                <a:schemeClr val="dk1"/>
              </a:buClr>
              <a:buSzPts val="1800"/>
              <a:buNone/>
            </a:pPr>
            <a:r>
              <a:rPr lang="en-US" sz="1800" b="1">
                <a:latin typeface="Times New Roman" panose="02020603050405020304"/>
                <a:ea typeface="Times New Roman" panose="02020603050405020304"/>
                <a:cs typeface="Times New Roman" panose="02020603050405020304"/>
                <a:sym typeface="Times New Roman" panose="02020603050405020304"/>
              </a:rPr>
              <a:t>(</a:t>
            </a:r>
            <a:endParaRPr sz="1800" b="1">
              <a:latin typeface="Times New Roman" panose="02020603050405020304"/>
              <a:ea typeface="Times New Roman" panose="02020603050405020304"/>
              <a:cs typeface="Times New Roman" panose="02020603050405020304"/>
              <a:sym typeface="Times New Roman" panose="02020603050405020304"/>
            </a:endParaRPr>
          </a:p>
          <a:p>
            <a:pPr marL="4114800" lvl="8" indent="45720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a:t>
            </a:r>
            <a:r>
              <a:rPr lang="en-US" altLang="en-US" b="1">
                <a:latin typeface="Times New Roman" panose="02020603050405020304"/>
                <a:ea typeface="Times New Roman" panose="02020603050405020304"/>
                <a:cs typeface="Times New Roman" panose="02020603050405020304"/>
                <a:sym typeface="Times New Roman" panose="02020603050405020304"/>
              </a:rPr>
              <a:t>(1.6) </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zh-CN" altLang="en-US" sz="1800">
                <a:latin typeface="Times New Roman" panose="02020603050405020304"/>
                <a:ea typeface="Times New Roman" panose="02020603050405020304"/>
                <a:cs typeface="Times New Roman" panose="02020603050405020304"/>
                <a:sym typeface="Times New Roman" panose="02020603050405020304"/>
              </a:rPr>
              <a:t>🔹</a:t>
            </a:r>
            <a:r>
              <a:rPr lang="en-US" altLang="en-US" sz="1800">
                <a:latin typeface="Times New Roman" panose="02020603050405020304"/>
                <a:ea typeface="Times New Roman" panose="02020603050405020304"/>
                <a:cs typeface="Times New Roman" panose="02020603050405020304"/>
                <a:sym typeface="Times New Roman" panose="02020603050405020304"/>
              </a:rPr>
              <a:t> Ý nghĩa:</a:t>
            </a:r>
            <a:r>
              <a:rPr lang="vi-VN" altLang="en-US" sz="1800">
                <a:latin typeface="Times New Roman" panose="02020603050405020304"/>
                <a:ea typeface="Times New Roman" panose="02020603050405020304"/>
                <a:cs typeface="Times New Roman" panose="02020603050405020304"/>
                <a:sym typeface="Times New Roman" panose="02020603050405020304"/>
              </a:rPr>
              <a:t> </a:t>
            </a:r>
            <a:r>
              <a:rPr lang="en-US" altLang="en-US" sz="1800">
                <a:latin typeface="Times New Roman" panose="02020603050405020304"/>
                <a:ea typeface="Times New Roman" panose="02020603050405020304"/>
                <a:cs typeface="Times New Roman" panose="02020603050405020304"/>
                <a:sym typeface="Times New Roman" panose="02020603050405020304"/>
              </a:rPr>
              <a:t>Xác suất để kiến chọn nút j tiếp theo dựa trên pheromone, heuristic, và năng lượng.</a:t>
            </a: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p:txBody>
      </p:sp>
      <p:pic>
        <p:nvPicPr>
          <p:cNvPr id="3" name="Picture 2"/>
          <p:cNvPicPr>
            <a:picLocks noChangeAspect="1"/>
          </p:cNvPicPr>
          <p:nvPr/>
        </p:nvPicPr>
        <p:blipFill>
          <a:blip r:embed="rId3"/>
          <a:stretch>
            <a:fillRect/>
          </a:stretch>
        </p:blipFill>
        <p:spPr>
          <a:xfrm>
            <a:off x="1835785" y="2348865"/>
            <a:ext cx="5476875" cy="828675"/>
          </a:xfrm>
          <a:prstGeom prst="rect">
            <a:avLst/>
          </a:prstGeom>
        </p:spPr>
      </p:pic>
      <mc:AlternateContent xmlns:mc="http://schemas.openxmlformats.org/markup-compatibility/2006" xmlns:a14="http://schemas.microsoft.com/office/drawing/2010/main">
        <mc:Choice Requires="a14">
          <p:graphicFrame>
            <p:nvGraphicFramePr>
              <p:cNvPr id="2" name="Table 1"/>
              <p:cNvGraphicFramePr/>
              <p:nvPr/>
            </p:nvGraphicFramePr>
            <p:xfrm>
              <a:off x="-28717" y="4223448"/>
              <a:ext cx="7863840" cy="1671384"/>
            </p:xfrm>
            <a:graphic>
              <a:graphicData uri="http://schemas.openxmlformats.org/drawingml/2006/table">
                <a:tbl>
                  <a:tblPr/>
                  <a:tblGrid>
                    <a:gridCol w="1983105">
                      <a:extLst>
                        <a:ext uri="{9D8B030D-6E8A-4147-A177-3AD203B41FA5}">
                          <a16:colId xmlns:a16="http://schemas.microsoft.com/office/drawing/2014/main" val="20000"/>
                        </a:ext>
                      </a:extLst>
                    </a:gridCol>
                    <a:gridCol w="5880735">
                      <a:extLst>
                        <a:ext uri="{9D8B030D-6E8A-4147-A177-3AD203B41FA5}">
                          <a16:colId xmlns:a16="http://schemas.microsoft.com/office/drawing/2014/main" val="20001"/>
                        </a:ext>
                      </a:extLst>
                    </a:gridCol>
                  </a:tblGrid>
                  <a:tr h="0">
                    <a:tc>
                      <a:txBody>
                        <a:bodyPr/>
                        <a:lstStyle/>
                        <a:p>
                          <a:pPr algn="ctr"/>
                          <a:r>
                            <a:rPr lang="en-US" altLang="zh-CN" sz="1800" dirty="0" err="1">
                              <a:latin typeface="Times New Roman" panose="02020603050405020304" charset="0"/>
                              <a:cs typeface="Times New Roman" panose="02020603050405020304" charset="0"/>
                            </a:rPr>
                            <a:t>Ký</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hiệu</a:t>
                          </a:r>
                          <a:endParaRPr lang="en-US" altLang="zh-CN" sz="1800" dirty="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c>
                      <a:txBody>
                        <a:bodyPr/>
                        <a:lstStyle/>
                        <a:p>
                          <a:r>
                            <a:rPr lang="en-US" altLang="zh-CN" sz="1800" dirty="0" err="1">
                              <a:latin typeface="Times New Roman" panose="02020603050405020304" charset="0"/>
                              <a:cs typeface="Times New Roman" panose="02020603050405020304" charset="0"/>
                            </a:rPr>
                            <a:t>Giải</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thích</a:t>
                          </a:r>
                          <a:endParaRPr lang="en-US" altLang="zh-CN" sz="1800" dirty="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extLst>
                      <a:ext uri="{0D108BD9-81ED-4DB2-BD59-A6C34878D82A}">
                        <a16:rowId xmlns:a16="http://schemas.microsoft.com/office/drawing/2014/main" val="10000"/>
                      </a:ext>
                    </a:extLst>
                  </a:tr>
                  <a:tr h="0">
                    <a:tc>
                      <a:txBody>
                        <a:bodyPr/>
                        <a:lstStyle/>
                        <a:p>
                          <a:pPr/>
                          <a14:m>
                            <m:oMathPara xmlns:m="http://schemas.openxmlformats.org/officeDocument/2006/math">
                              <m:oMathParaPr>
                                <m:jc m:val="centerGroup"/>
                              </m:oMathParaPr>
                              <m:oMath xmlns:m="http://schemas.openxmlformats.org/officeDocument/2006/math">
                                <m:sSub>
                                  <m:sSubPr>
                                    <m:ctrlPr>
                                      <a:rPr lang="en-US" altLang="en-US" sz="1800" i="1" dirty="0" smtClean="0">
                                        <a:latin typeface="Cambria Math" panose="02040503050406030204" pitchFamily="18" charset="0"/>
                                        <a:cs typeface="Times New Roman" panose="02020603050405020304"/>
                                        <a:sym typeface="Times New Roman" panose="02020603050405020304"/>
                                      </a:rPr>
                                    </m:ctrlPr>
                                  </m:sSubPr>
                                  <m:e>
                                    <m:r>
                                      <a:rPr lang="en-US" altLang="en-US" sz="1800" i="1" dirty="0">
                                        <a:latin typeface="Cambria Math" panose="02040503050406030204" pitchFamily="18" charset="0"/>
                                        <a:ea typeface="Times New Roman" panose="02020603050405020304"/>
                                        <a:cs typeface="Times New Roman" panose="02020603050405020304"/>
                                        <a:sym typeface="Times New Roman" panose="02020603050405020304"/>
                                      </a:rPr>
                                      <m:t>𝜏</m:t>
                                    </m:r>
                                  </m:e>
                                  <m:sub>
                                    <m:r>
                                      <m:rPr>
                                        <m:sty m:val="p"/>
                                      </m:rPr>
                                      <a:rPr lang="vi-VN" altLang="en-US" sz="1800" i="1" dirty="0">
                                        <a:latin typeface="Cambria Math" panose="02040503050406030204" pitchFamily="18" charset="0"/>
                                        <a:cs typeface="Times New Roman" panose="02020603050405020304"/>
                                        <a:sym typeface="Times New Roman" panose="02020603050405020304"/>
                                      </a:rPr>
                                      <m:t>ij</m:t>
                                    </m:r>
                                  </m:sub>
                                </m:sSub>
                              </m:oMath>
                            </m:oMathPara>
                          </a14:m>
                          <a:endParaRPr/>
                        </a:p>
                      </a:txBody>
                      <a:tcPr marL="0" marR="0" marT="0" marB="0" anchor="ctr">
                        <a:lnL>
                          <a:noFill/>
                        </a:lnL>
                        <a:lnR>
                          <a:noFill/>
                        </a:lnR>
                        <a:lnT>
                          <a:noFill/>
                        </a:lnT>
                        <a:lnB>
                          <a:noFill/>
                        </a:lnB>
                        <a:noFill/>
                      </a:tcPr>
                    </a:tc>
                    <a:tc>
                      <a:txBody>
                        <a:bodyPr/>
                        <a:lstStyle/>
                        <a:p>
                          <a:r>
                            <a:rPr lang="en-US" altLang="zh-CN" sz="1800">
                              <a:latin typeface="Times New Roman" panose="02020603050405020304" charset="0"/>
                              <a:cs typeface="Times New Roman" panose="02020603050405020304" charset="0"/>
                            </a:rPr>
                            <a:t>Pheromone giữa i và j</a:t>
                          </a:r>
                        </a:p>
                      </a:txBody>
                      <a:tcPr marL="0" marR="0" marT="0" marB="0" anchor="ctr">
                        <a:lnL>
                          <a:noFill/>
                        </a:lnL>
                        <a:lnR>
                          <a:noFill/>
                        </a:lnR>
                        <a:lnT>
                          <a:noFill/>
                        </a:lnT>
                        <a:lnB>
                          <a:noFill/>
                        </a:lnB>
                        <a:noFill/>
                      </a:tcPr>
                    </a:tc>
                    <a:extLst>
                      <a:ext uri="{0D108BD9-81ED-4DB2-BD59-A6C34878D82A}">
                        <a16:rowId xmlns:a16="http://schemas.microsoft.com/office/drawing/2014/main" val="10001"/>
                      </a:ext>
                    </a:extLst>
                  </a:tr>
                  <a:tr h="0">
                    <a:tc>
                      <a:txBody>
                        <a:bodyPr/>
                        <a:lstStyle/>
                        <a:p>
                          <a:pPr/>
                          <a14:m>
                            <m:oMathPara xmlns:m="http://schemas.openxmlformats.org/officeDocument/2006/math">
                              <m:oMathParaPr>
                                <m:jc m:val="centerGroup"/>
                              </m:oMathParaPr>
                              <m:oMath xmlns:m="http://schemas.openxmlformats.org/officeDocument/2006/math">
                                <m:r>
                                  <a:rPr lang="en-US" altLang="en-US" sz="1800" i="1" dirty="0" smtClean="0">
                                    <a:latin typeface="Cambria Math" panose="02040503050406030204" pitchFamily="18" charset="0"/>
                                    <a:cs typeface="Times New Roman" panose="02020603050405020304" charset="0"/>
                                  </a:rPr>
                                  <m:t>𝜂</m:t>
                                </m:r>
                                <m:r>
                                  <a:rPr lang="en-US" altLang="en-US" sz="1800" i="1" dirty="0">
                                    <a:latin typeface="Cambria Math" panose="02040503050406030204" pitchFamily="18" charset="0"/>
                                    <a:cs typeface="Times New Roman" panose="02020603050405020304" charset="0"/>
                                  </a:rPr>
                                  <m:t>(</m:t>
                                </m:r>
                                <m:r>
                                  <a:rPr lang="en-US" altLang="en-US" sz="1800" i="1" dirty="0" err="1">
                                    <a:latin typeface="Cambria Math" panose="02040503050406030204" pitchFamily="18" charset="0"/>
                                    <a:cs typeface="Times New Roman" panose="02020603050405020304" charset="0"/>
                                  </a:rPr>
                                  <m:t>𝑖</m:t>
                                </m:r>
                                <m:r>
                                  <a:rPr lang="en-US" altLang="en-US" sz="1800" i="1" dirty="0" err="1">
                                    <a:latin typeface="Cambria Math" panose="02040503050406030204" pitchFamily="18" charset="0"/>
                                    <a:cs typeface="Times New Roman" panose="02020603050405020304" charset="0"/>
                                  </a:rPr>
                                  <m:t>,</m:t>
                                </m:r>
                                <m:r>
                                  <a:rPr lang="en-US" altLang="en-US" sz="1800" i="1" dirty="0" err="1">
                                    <a:latin typeface="Cambria Math" panose="02040503050406030204" pitchFamily="18" charset="0"/>
                                    <a:cs typeface="Times New Roman" panose="02020603050405020304" charset="0"/>
                                  </a:rPr>
                                  <m:t>𝑗</m:t>
                                </m:r>
                                <m:r>
                                  <a:rPr lang="en-US" altLang="en-US" sz="1800" i="1" dirty="0">
                                    <a:latin typeface="Cambria Math" panose="02040503050406030204" pitchFamily="18" charset="0"/>
                                    <a:cs typeface="Times New Roman" panose="02020603050405020304" charset="0"/>
                                  </a:rPr>
                                  <m:t>)</m:t>
                                </m:r>
                              </m:oMath>
                            </m:oMathPara>
                          </a14:m>
                          <a:endParaRPr/>
                        </a:p>
                      </a:txBody>
                      <a:tcPr marL="0" marR="0" marT="0" marB="0" anchor="ctr">
                        <a:lnL>
                          <a:noFill/>
                        </a:lnL>
                        <a:lnR>
                          <a:noFill/>
                        </a:lnR>
                        <a:lnT>
                          <a:noFill/>
                        </a:lnT>
                        <a:lnB>
                          <a:noFill/>
                        </a:lnB>
                        <a:noFill/>
                      </a:tcPr>
                    </a:tc>
                    <a:tc>
                      <a:txBody>
                        <a:bodyPr/>
                        <a:lstStyle/>
                        <a:p>
                          <a:r>
                            <a:rPr lang="en-US" altLang="zh-CN" sz="1800">
                              <a:latin typeface="Times New Roman" panose="02020603050405020304" charset="0"/>
                              <a:cs typeface="Times New Roman" panose="02020603050405020304" charset="0"/>
                            </a:rPr>
                            <a:t>Heuristic (liên quan khoảng cách và năng lượng)</a:t>
                          </a:r>
                        </a:p>
                      </a:txBody>
                      <a:tcPr marL="0" marR="0" marT="0" marB="0" anchor="ctr">
                        <a:lnL>
                          <a:noFill/>
                        </a:lnL>
                        <a:lnR>
                          <a:noFill/>
                        </a:lnR>
                        <a:lnT>
                          <a:noFill/>
                        </a:lnT>
                        <a:lnB>
                          <a:noFill/>
                        </a:lnB>
                        <a:noFill/>
                      </a:tcPr>
                    </a:tc>
                    <a:extLst>
                      <a:ext uri="{0D108BD9-81ED-4DB2-BD59-A6C34878D82A}">
                        <a16:rowId xmlns:a16="http://schemas.microsoft.com/office/drawing/2014/main" val="10002"/>
                      </a:ext>
                    </a:extLst>
                  </a:tr>
                  <a:tr h="0">
                    <a:tc>
                      <a:txBody>
                        <a:bodyPr/>
                        <a:lstStyle/>
                        <a:p>
                          <a:pPr/>
                          <a14:m>
                            <m:oMathPara xmlns:m="http://schemas.openxmlformats.org/officeDocument/2006/math">
                              <m:oMathParaPr>
                                <m:jc m:val="centerGroup"/>
                              </m:oMathParaPr>
                              <m:oMath xmlns:m="http://schemas.openxmlformats.org/officeDocument/2006/math">
                                <m:r>
                                  <a:rPr lang="en-US" altLang="en-US" sz="1800" i="1" dirty="0" smtClean="0">
                                    <a:latin typeface="Cambria Math" panose="02040503050406030204" pitchFamily="18" charset="0"/>
                                    <a:cs typeface="Times New Roman" panose="02020603050405020304" charset="0"/>
                                  </a:rPr>
                                  <m:t>𝐸𝑚</m:t>
                                </m:r>
                                <m:r>
                                  <a:rPr lang="en-US" altLang="en-US" sz="1800" i="1" dirty="0" smtClean="0">
                                    <a:latin typeface="Cambria Math" panose="02040503050406030204" pitchFamily="18" charset="0"/>
                                    <a:cs typeface="Times New Roman" panose="02020603050405020304" charset="0"/>
                                  </a:rPr>
                                  <m:t>​(</m:t>
                                </m:r>
                                <m:r>
                                  <a:rPr lang="en-US" altLang="en-US" sz="1800" i="1" dirty="0" err="1">
                                    <a:latin typeface="Cambria Math" panose="02040503050406030204" pitchFamily="18" charset="0"/>
                                    <a:cs typeface="Times New Roman" panose="02020603050405020304" charset="0"/>
                                  </a:rPr>
                                  <m:t>𝑖</m:t>
                                </m:r>
                                <m:r>
                                  <a:rPr lang="en-US" altLang="en-US" sz="1800" i="1" dirty="0" err="1">
                                    <a:latin typeface="Cambria Math" panose="02040503050406030204" pitchFamily="18" charset="0"/>
                                    <a:cs typeface="Times New Roman" panose="02020603050405020304" charset="0"/>
                                  </a:rPr>
                                  <m:t>,</m:t>
                                </m:r>
                                <m:r>
                                  <a:rPr lang="en-US" altLang="en-US" sz="1800" i="1" dirty="0" err="1">
                                    <a:latin typeface="Cambria Math" panose="02040503050406030204" pitchFamily="18" charset="0"/>
                                    <a:cs typeface="Times New Roman" panose="02020603050405020304" charset="0"/>
                                  </a:rPr>
                                  <m:t>𝑗</m:t>
                                </m:r>
                                <m:r>
                                  <a:rPr lang="en-US" altLang="en-US" sz="1800" i="1" dirty="0">
                                    <a:latin typeface="Cambria Math" panose="02040503050406030204" pitchFamily="18" charset="0"/>
                                    <a:cs typeface="Times New Roman" panose="02020603050405020304" charset="0"/>
                                  </a:rPr>
                                  <m:t>)</m:t>
                                </m:r>
                              </m:oMath>
                            </m:oMathPara>
                          </a14:m>
                          <a:endParaRPr/>
                        </a:p>
                      </a:txBody>
                      <a:tcPr marL="0" marR="0" marT="0" marB="0" anchor="ctr">
                        <a:lnL>
                          <a:noFill/>
                        </a:lnL>
                        <a:lnR>
                          <a:noFill/>
                        </a:lnR>
                        <a:lnT>
                          <a:noFill/>
                        </a:lnT>
                        <a:lnB>
                          <a:noFill/>
                        </a:lnB>
                        <a:noFill/>
                      </a:tcPr>
                    </a:tc>
                    <a:tc>
                      <a:txBody>
                        <a:bodyPr/>
                        <a:lstStyle/>
                        <a:p>
                          <a:r>
                            <a:rPr lang="en-US" altLang="zh-CN" sz="1800">
                              <a:latin typeface="Times New Roman" panose="02020603050405020304" charset="0"/>
                              <a:cs typeface="Times New Roman" panose="02020603050405020304" charset="0"/>
                            </a:rPr>
                            <a:t>Năng lượng tiêu thụ khi truyền giữa i–j</a:t>
                          </a:r>
                        </a:p>
                      </a:txBody>
                      <a:tcPr marL="0" marR="0" marT="0" marB="0" anchor="ctr">
                        <a:lnL>
                          <a:noFill/>
                        </a:lnL>
                        <a:lnR>
                          <a:noFill/>
                        </a:lnR>
                        <a:lnT>
                          <a:noFill/>
                        </a:lnT>
                        <a:lnB>
                          <a:noFill/>
                        </a:lnB>
                        <a:noFill/>
                      </a:tcPr>
                    </a:tc>
                    <a:extLst>
                      <a:ext uri="{0D108BD9-81ED-4DB2-BD59-A6C34878D82A}">
                        <a16:rowId xmlns:a16="http://schemas.microsoft.com/office/drawing/2014/main" val="10003"/>
                      </a:ext>
                    </a:extLst>
                  </a:tr>
                  <a:tr h="0">
                    <a:tc>
                      <a:txBody>
                        <a:bodyPr/>
                        <a:lstStyle/>
                        <a:p>
                          <a:pPr/>
                          <a14:m>
                            <m:oMathPara xmlns:m="http://schemas.openxmlformats.org/officeDocument/2006/math">
                              <m:oMathParaPr>
                                <m:jc m:val="centerGroup"/>
                              </m:oMathParaPr>
                              <m:oMath xmlns:m="http://schemas.openxmlformats.org/officeDocument/2006/math">
                                <m:r>
                                  <a:rPr lang="en-US" altLang="en-US" sz="1800" i="1" dirty="0" smtClean="0">
                                    <a:latin typeface="Cambria Math" panose="02040503050406030204" pitchFamily="18" charset="0"/>
                                    <a:cs typeface="Times New Roman" panose="02020603050405020304" charset="0"/>
                                  </a:rPr>
                                  <m:t>𝛼</m:t>
                                </m:r>
                                <m:r>
                                  <a:rPr lang="en-US" altLang="en-US" sz="1800" i="1" dirty="0" smtClean="0">
                                    <a:latin typeface="Cambria Math" panose="02040503050406030204" pitchFamily="18" charset="0"/>
                                    <a:cs typeface="Times New Roman" panose="02020603050405020304" charset="0"/>
                                  </a:rPr>
                                  <m:t>,</m:t>
                                </m:r>
                                <m:r>
                                  <a:rPr lang="en-US" altLang="en-US" sz="1800" i="1" dirty="0" smtClean="0">
                                    <a:latin typeface="Cambria Math" panose="02040503050406030204" pitchFamily="18" charset="0"/>
                                    <a:cs typeface="Times New Roman" panose="02020603050405020304" charset="0"/>
                                  </a:rPr>
                                  <m:t>𝛽</m:t>
                                </m:r>
                                <m:r>
                                  <a:rPr lang="en-US" altLang="en-US" sz="1800" i="1" dirty="0" smtClean="0">
                                    <a:latin typeface="Cambria Math" panose="02040503050406030204" pitchFamily="18" charset="0"/>
                                    <a:cs typeface="Times New Roman" panose="02020603050405020304" charset="0"/>
                                  </a:rPr>
                                  <m:t>,</m:t>
                                </m:r>
                                <m:r>
                                  <a:rPr lang="en-US" altLang="en-US" sz="1800" i="1" dirty="0" err="1">
                                    <a:latin typeface="Cambria Math" panose="02040503050406030204" pitchFamily="18" charset="0"/>
                                    <a:cs typeface="Times New Roman" panose="02020603050405020304" charset="0"/>
                                  </a:rPr>
                                  <m:t>𝛾</m:t>
                                </m:r>
                              </m:oMath>
                            </m:oMathPara>
                          </a14:m>
                          <a:endParaRPr/>
                        </a:p>
                      </a:txBody>
                      <a:tcPr marL="0" marR="0" marT="0" marB="0" anchor="ctr">
                        <a:lnL>
                          <a:noFill/>
                        </a:lnL>
                        <a:lnR>
                          <a:noFill/>
                        </a:lnR>
                        <a:lnT>
                          <a:noFill/>
                        </a:lnT>
                        <a:lnB>
                          <a:noFill/>
                        </a:lnB>
                        <a:noFill/>
                      </a:tcPr>
                    </a:tc>
                    <a:tc>
                      <a:txBody>
                        <a:bodyPr/>
                        <a:lstStyle/>
                        <a:p>
                          <a:r>
                            <a:rPr lang="en-US" altLang="zh-CN" sz="1800" dirty="0" err="1">
                              <a:latin typeface="Times New Roman" panose="02020603050405020304" charset="0"/>
                              <a:cs typeface="Times New Roman" panose="02020603050405020304" charset="0"/>
                            </a:rPr>
                            <a:t>Trọng</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số</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cho</a:t>
                          </a:r>
                          <a:r>
                            <a:rPr lang="en-US" altLang="zh-CN" sz="1800" dirty="0">
                              <a:latin typeface="Times New Roman" panose="02020603050405020304" charset="0"/>
                              <a:cs typeface="Times New Roman" panose="02020603050405020304" charset="0"/>
                            </a:rPr>
                            <a:t> pheromone, heuristic, </a:t>
                          </a:r>
                          <a:r>
                            <a:rPr lang="en-US" altLang="zh-CN" sz="1800" dirty="0" err="1">
                              <a:latin typeface="Times New Roman" panose="02020603050405020304" charset="0"/>
                              <a:cs typeface="Times New Roman" panose="02020603050405020304" charset="0"/>
                            </a:rPr>
                            <a:t>và</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năng</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lượng</a:t>
                          </a:r>
                          <a:endParaRPr lang="en-US" altLang="zh-CN" sz="1800" dirty="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extLst>
                      <a:ext uri="{0D108BD9-81ED-4DB2-BD59-A6C34878D82A}">
                        <a16:rowId xmlns:a16="http://schemas.microsoft.com/office/drawing/2014/main" val="10004"/>
                      </a:ext>
                    </a:extLst>
                  </a:tr>
                  <a:tr h="0">
                    <a:tc>
                      <a:txBody>
                        <a:bodyPr/>
                        <a:lstStyle/>
                        <a:p>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cs typeface="Times New Roman" panose="02020603050405020304" charset="0"/>
                                  </a:rPr>
                                  <m:t>( </m:t>
                                </m:r>
                                <m:r>
                                  <a:rPr lang="en-US" altLang="zh-CN" sz="1800" i="1" dirty="0" smtClean="0">
                                    <a:latin typeface="Cambria Math" panose="02040503050406030204" pitchFamily="18" charset="0"/>
                                    <a:cs typeface="Times New Roman" panose="02020603050405020304" charset="0"/>
                                  </a:rPr>
                                  <m:t>𝑎𝑙𝑙𝑜𝑤𝑒𝑑</m:t>
                                </m:r>
                                <m:r>
                                  <a:rPr lang="en-US" altLang="zh-CN" sz="1800" i="1" dirty="0" smtClean="0">
                                    <a:latin typeface="Cambria Math" panose="02040503050406030204" pitchFamily="18" charset="0"/>
                                    <a:cs typeface="Times New Roman" panose="02020603050405020304" charset="0"/>
                                  </a:rPr>
                                  <m:t> )</m:t>
                                </m:r>
                              </m:oMath>
                            </m:oMathPara>
                          </a14:m>
                          <a:endParaRPr/>
                        </a:p>
                      </a:txBody>
                      <a:tcPr marL="0" marR="0" marT="0" marB="0" anchor="ctr">
                        <a:lnL>
                          <a:noFill/>
                        </a:lnL>
                        <a:lnR>
                          <a:noFill/>
                        </a:lnR>
                        <a:lnT>
                          <a:noFill/>
                        </a:lnT>
                        <a:lnB>
                          <a:noFill/>
                        </a:lnB>
                        <a:noFill/>
                      </a:tcPr>
                    </a:tc>
                    <a:tc>
                      <a:txBody>
                        <a:bodyPr/>
                        <a:lstStyle/>
                        <a:p>
                          <a:r>
                            <a:rPr lang="en-US" altLang="zh-CN" sz="1800" dirty="0" err="1">
                              <a:latin typeface="Times New Roman" panose="02020603050405020304" charset="0"/>
                              <a:cs typeface="Times New Roman" panose="02020603050405020304" charset="0"/>
                            </a:rPr>
                            <a:t>Tập</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các</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nút</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có</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thể</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đi</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tới</a:t>
                          </a:r>
                          <a:endParaRPr lang="en-US" altLang="zh-CN" sz="1800" dirty="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extLst>
                      <a:ext uri="{0D108BD9-81ED-4DB2-BD59-A6C34878D82A}">
                        <a16:rowId xmlns:a16="http://schemas.microsoft.com/office/drawing/2014/main" val="10005"/>
                      </a:ext>
                    </a:extLst>
                  </a:tr>
                </a:tbl>
              </a:graphicData>
            </a:graphic>
          </p:graphicFrame>
        </mc:Choice>
        <mc:Fallback xmlns="">
          <p:graphicFrame>
            <p:nvGraphicFramePr>
              <p:cNvPr id="2" name="Table 1"/>
              <p:cNvGraphicFramePr/>
              <p:nvPr/>
            </p:nvGraphicFramePr>
            <p:xfrm>
              <a:off x="-28717" y="4223448"/>
              <a:ext cx="7863840" cy="1671384"/>
            </p:xfrm>
            <a:graphic>
              <a:graphicData uri="http://schemas.openxmlformats.org/drawingml/2006/table">
                <a:tbl>
                  <a:tblPr/>
                  <a:tblGrid>
                    <a:gridCol w="1983105"/>
                    <a:gridCol w="5880735"/>
                  </a:tblGrid>
                  <a:tr h="0">
                    <a:tc>
                      <a:txBody>
                        <a:bodyPr/>
                        <a:lstStyle/>
                        <a:p>
                          <a:pPr algn="ctr"/>
                          <a:r>
                            <a:rPr lang="en-US" altLang="zh-CN" sz="1800" dirty="0" err="1">
                              <a:latin typeface="Times New Roman" panose="02020603050405020304" charset="0"/>
                              <a:cs typeface="Times New Roman" panose="02020603050405020304" charset="0"/>
                            </a:rPr>
                            <a:t>Ký</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hiệu</a:t>
                          </a:r>
                          <a:endParaRPr lang="en-US" altLang="zh-CN" sz="1800" dirty="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c>
                      <a:txBody>
                        <a:bodyPr/>
                        <a:lstStyle/>
                        <a:p>
                          <a:r>
                            <a:rPr lang="en-US" altLang="zh-CN" sz="1800" dirty="0" err="1">
                              <a:latin typeface="Times New Roman" panose="02020603050405020304" charset="0"/>
                              <a:cs typeface="Times New Roman" panose="02020603050405020304" charset="0"/>
                            </a:rPr>
                            <a:t>Giải</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thích</a:t>
                          </a:r>
                          <a:endParaRPr lang="en-US" altLang="zh-CN" sz="1800" dirty="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r>
                  <a:tr h="288290">
                    <a:tc>
                      <a:txBody>
                        <a:bodyPr/>
                        <a:lstStyle/>
                        <a:p>
                          <a:endParaRPr lang="en-US"/>
                        </a:p>
                      </a:txBody>
                      <a:tcPr marL="0" marR="0" marT="0" marB="0" anchor="ctr">
                        <a:lnL>
                          <a:noFill/>
                        </a:lnL>
                        <a:lnR>
                          <a:noFill/>
                        </a:lnR>
                        <a:lnT>
                          <a:noFill/>
                        </a:lnT>
                        <a:lnB>
                          <a:noFill/>
                        </a:lnB>
                        <a:blipFill>
                          <a:blip r:embed="rId4"/>
                        </a:blipFill>
                      </a:tcPr>
                    </a:tc>
                    <a:tc>
                      <a:txBody>
                        <a:bodyPr/>
                        <a:lstStyle/>
                        <a:p>
                          <a:r>
                            <a:rPr lang="en-US" altLang="zh-CN" sz="1800">
                              <a:latin typeface="Times New Roman" panose="02020603050405020304" charset="0"/>
                              <a:cs typeface="Times New Roman" panose="02020603050405020304" charset="0"/>
                            </a:rPr>
                            <a:t>Pheromone giữa i và j</a:t>
                          </a:r>
                          <a:endParaRPr lang="en-US" altLang="zh-CN" sz="180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r>
                  <a:tr h="274320">
                    <a:tc>
                      <a:txBody>
                        <a:bodyPr/>
                        <a:lstStyle/>
                        <a:p>
                          <a:endParaRPr lang="en-US"/>
                        </a:p>
                      </a:txBody>
                      <a:tcPr marL="0" marR="0" marT="0" marB="0" anchor="ctr">
                        <a:lnL>
                          <a:noFill/>
                        </a:lnL>
                        <a:lnR>
                          <a:noFill/>
                        </a:lnR>
                        <a:lnT>
                          <a:noFill/>
                        </a:lnT>
                        <a:lnB>
                          <a:noFill/>
                        </a:lnB>
                        <a:blipFill>
                          <a:blip r:embed="rId4"/>
                        </a:blipFill>
                      </a:tcPr>
                    </a:tc>
                    <a:tc>
                      <a:txBody>
                        <a:bodyPr/>
                        <a:lstStyle/>
                        <a:p>
                          <a:r>
                            <a:rPr lang="en-US" altLang="zh-CN" sz="1800">
                              <a:latin typeface="Times New Roman" panose="02020603050405020304" charset="0"/>
                              <a:cs typeface="Times New Roman" panose="02020603050405020304" charset="0"/>
                            </a:rPr>
                            <a:t>Heuristic (liên quan khoảng cách và năng lượng)</a:t>
                          </a:r>
                          <a:endParaRPr lang="en-US" altLang="zh-CN" sz="180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r>
                  <a:tr h="274320">
                    <a:tc>
                      <a:txBody>
                        <a:bodyPr/>
                        <a:lstStyle/>
                        <a:p>
                          <a:endParaRPr lang="en-US"/>
                        </a:p>
                      </a:txBody>
                      <a:tcPr marL="0" marR="0" marT="0" marB="0" anchor="ctr">
                        <a:lnL>
                          <a:noFill/>
                        </a:lnL>
                        <a:lnR>
                          <a:noFill/>
                        </a:lnR>
                        <a:lnT>
                          <a:noFill/>
                        </a:lnT>
                        <a:lnB>
                          <a:noFill/>
                        </a:lnB>
                        <a:blipFill>
                          <a:blip r:embed="rId4"/>
                        </a:blipFill>
                      </a:tcPr>
                    </a:tc>
                    <a:tc>
                      <a:txBody>
                        <a:bodyPr/>
                        <a:lstStyle/>
                        <a:p>
                          <a:r>
                            <a:rPr lang="en-US" altLang="zh-CN" sz="1800">
                              <a:latin typeface="Times New Roman" panose="02020603050405020304" charset="0"/>
                              <a:cs typeface="Times New Roman" panose="02020603050405020304" charset="0"/>
                            </a:rPr>
                            <a:t>Năng lượng tiêu thụ khi truyền giữa i–j</a:t>
                          </a:r>
                          <a:endParaRPr lang="en-US" altLang="zh-CN" sz="180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r>
                  <a:tr h="274320">
                    <a:tc>
                      <a:txBody>
                        <a:bodyPr/>
                        <a:lstStyle/>
                        <a:p>
                          <a:endParaRPr lang="en-US"/>
                        </a:p>
                      </a:txBody>
                      <a:tcPr marL="0" marR="0" marT="0" marB="0" anchor="ctr">
                        <a:lnL>
                          <a:noFill/>
                        </a:lnL>
                        <a:lnR>
                          <a:noFill/>
                        </a:lnR>
                        <a:lnT>
                          <a:noFill/>
                        </a:lnT>
                        <a:lnB>
                          <a:noFill/>
                        </a:lnB>
                        <a:blipFill>
                          <a:blip r:embed="rId4"/>
                        </a:blipFill>
                      </a:tcPr>
                    </a:tc>
                    <a:tc>
                      <a:txBody>
                        <a:bodyPr/>
                        <a:lstStyle/>
                        <a:p>
                          <a:r>
                            <a:rPr lang="en-US" altLang="zh-CN" sz="1800" dirty="0" err="1">
                              <a:latin typeface="Times New Roman" panose="02020603050405020304" charset="0"/>
                              <a:cs typeface="Times New Roman" panose="02020603050405020304" charset="0"/>
                            </a:rPr>
                            <a:t>Trọng</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số</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cho</a:t>
                          </a:r>
                          <a:r>
                            <a:rPr lang="en-US" altLang="zh-CN" sz="1800" dirty="0">
                              <a:latin typeface="Times New Roman" panose="02020603050405020304" charset="0"/>
                              <a:cs typeface="Times New Roman" panose="02020603050405020304" charset="0"/>
                            </a:rPr>
                            <a:t> pheromone, heuristic, </a:t>
                          </a:r>
                          <a:r>
                            <a:rPr lang="en-US" altLang="zh-CN" sz="1800" dirty="0" err="1">
                              <a:latin typeface="Times New Roman" panose="02020603050405020304" charset="0"/>
                              <a:cs typeface="Times New Roman" panose="02020603050405020304" charset="0"/>
                            </a:rPr>
                            <a:t>và</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năng</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lượng</a:t>
                          </a:r>
                          <a:endParaRPr lang="en-US" altLang="zh-CN" sz="1800" dirty="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r>
                  <a:tr h="274320">
                    <a:tc>
                      <a:txBody>
                        <a:bodyPr/>
                        <a:lstStyle/>
                        <a:p>
                          <a:endParaRPr lang="en-US"/>
                        </a:p>
                      </a:txBody>
                      <a:tcPr marL="0" marR="0" marT="0" marB="0" anchor="ctr">
                        <a:lnL>
                          <a:noFill/>
                        </a:lnL>
                        <a:lnR>
                          <a:noFill/>
                        </a:lnR>
                        <a:lnT>
                          <a:noFill/>
                        </a:lnT>
                        <a:lnB>
                          <a:noFill/>
                        </a:lnB>
                        <a:blipFill>
                          <a:blip r:embed="rId4"/>
                        </a:blipFill>
                      </a:tcPr>
                    </a:tc>
                    <a:tc>
                      <a:txBody>
                        <a:bodyPr/>
                        <a:lstStyle/>
                        <a:p>
                          <a:r>
                            <a:rPr lang="en-US" altLang="zh-CN" sz="1800" dirty="0" err="1">
                              <a:latin typeface="Times New Roman" panose="02020603050405020304" charset="0"/>
                              <a:cs typeface="Times New Roman" panose="02020603050405020304" charset="0"/>
                            </a:rPr>
                            <a:t>Tập</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các</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nút</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có</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thể</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đi</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tới</a:t>
                          </a:r>
                          <a:endParaRPr lang="en-US" altLang="zh-CN" sz="1800" dirty="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r>
                </a:tbl>
              </a:graphicData>
            </a:graphic>
          </p:graphicFrame>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44"/>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40</a:t>
            </a:fld>
            <a:endParaRPr lang="en-US"/>
          </a:p>
        </p:txBody>
      </p:sp>
      <p:sp>
        <p:nvSpPr>
          <p:cNvPr id="294" name="Google Shape;294;p44"/>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sym typeface="+mn-ea"/>
              </a:rPr>
              <a:t>3. </a:t>
            </a:r>
            <a:r>
              <a:rPr lang="vi-VN" altLang="en-US">
                <a:sym typeface="+mn-ea"/>
              </a:rPr>
              <a:t>P</a:t>
            </a:r>
            <a:r>
              <a:rPr lang="en-US">
                <a:sym typeface="+mn-ea"/>
              </a:rPr>
              <a:t>hương pháp</a:t>
            </a:r>
            <a:r>
              <a:rPr lang="vi-VN" altLang="en-US">
                <a:sym typeface="+mn-ea"/>
              </a:rPr>
              <a:t> đề xuất</a:t>
            </a:r>
            <a:r>
              <a:rPr lang="en-US">
                <a:sym typeface="+mn-ea"/>
              </a:rPr>
              <a:t> AC-ACO</a:t>
            </a:r>
            <a:br>
              <a:rPr lang="en-US">
                <a:sym typeface="+mn-ea"/>
              </a:rPr>
            </a:br>
            <a:endParaRPr lang="en-US"/>
          </a:p>
        </p:txBody>
      </p:sp>
      <p:sp>
        <p:nvSpPr>
          <p:cNvPr id="295" name="Google Shape;295;p44"/>
          <p:cNvSpPr txBox="1">
            <a:spLocks noGrp="1"/>
          </p:cNvSpPr>
          <p:nvPr>
            <p:ph type="body" idx="1"/>
          </p:nvPr>
        </p:nvSpPr>
        <p:spPr>
          <a:xfrm>
            <a:off x="234950" y="963295"/>
            <a:ext cx="8903335" cy="513270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None/>
            </a:pPr>
            <a:r>
              <a:rPr lang="en-US" sz="1800" dirty="0">
                <a:latin typeface="Times New Roman" panose="02020603050405020304"/>
                <a:ea typeface="Times New Roman" panose="02020603050405020304"/>
                <a:cs typeface="Times New Roman" panose="02020603050405020304"/>
                <a:sym typeface="Times New Roman" panose="02020603050405020304"/>
              </a:rPr>
              <a:t>Chi </a:t>
            </a:r>
            <a:r>
              <a:rPr lang="en-US" sz="1800" dirty="0" err="1">
                <a:latin typeface="Times New Roman" panose="02020603050405020304"/>
                <a:ea typeface="Times New Roman" panose="02020603050405020304"/>
                <a:cs typeface="Times New Roman" panose="02020603050405020304"/>
                <a:sym typeface="Times New Roman" panose="02020603050405020304"/>
              </a:rPr>
              <a:t>tiết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về</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Thuật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toán</a:t>
            </a:r>
            <a:r>
              <a:rPr lang="en-US" sz="1800" dirty="0">
                <a:latin typeface="Times New Roman" panose="02020603050405020304"/>
                <a:ea typeface="Times New Roman" panose="02020603050405020304"/>
                <a:cs typeface="Times New Roman" panose="02020603050405020304"/>
                <a:sym typeface="Times New Roman" panose="02020603050405020304"/>
              </a:rPr>
              <a:t> AC-ACO</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800"/>
              <a:buNone/>
            </a:pP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altLang="en-US" sz="1800" b="1" dirty="0">
                <a:latin typeface="Times New Roman" panose="02020603050405020304"/>
                <a:ea typeface="Times New Roman" panose="02020603050405020304"/>
                <a:cs typeface="Times New Roman" panose="02020603050405020304"/>
                <a:sym typeface="Times New Roman" panose="02020603050405020304"/>
              </a:rPr>
              <a:t>(</a:t>
            </a:r>
            <a:r>
              <a:rPr lang="vi-VN" altLang="en-US" sz="1800" b="1" dirty="0">
                <a:latin typeface="Times New Roman" panose="02020603050405020304"/>
                <a:ea typeface="Times New Roman" panose="02020603050405020304"/>
                <a:cs typeface="Times New Roman" panose="02020603050405020304"/>
                <a:sym typeface="Times New Roman" panose="02020603050405020304"/>
              </a:rPr>
              <a:t>17</a:t>
            </a:r>
            <a:r>
              <a:rPr lang="en-US" alt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b="1" dirty="0" err="1">
                <a:latin typeface="Times New Roman" panose="02020603050405020304"/>
                <a:ea typeface="Times New Roman" panose="02020603050405020304"/>
                <a:cs typeface="Times New Roman" panose="02020603050405020304"/>
                <a:sym typeface="Times New Roman" panose="02020603050405020304"/>
              </a:rPr>
              <a:t>Cập</a:t>
            </a:r>
            <a:r>
              <a:rPr lang="en-US" alt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b="1" dirty="0" err="1">
                <a:latin typeface="Times New Roman" panose="02020603050405020304"/>
                <a:ea typeface="Times New Roman" panose="02020603050405020304"/>
                <a:cs typeface="Times New Roman" panose="02020603050405020304"/>
                <a:sym typeface="Times New Roman" panose="02020603050405020304"/>
              </a:rPr>
              <a:t>nhật</a:t>
            </a:r>
            <a:r>
              <a:rPr lang="en-US" altLang="en-US" sz="1800" b="1" dirty="0">
                <a:latin typeface="Times New Roman" panose="02020603050405020304"/>
                <a:ea typeface="Times New Roman" panose="02020603050405020304"/>
                <a:cs typeface="Times New Roman" panose="02020603050405020304"/>
                <a:sym typeface="Times New Roman" panose="02020603050405020304"/>
              </a:rPr>
              <a:t> pheromone </a:t>
            </a:r>
            <a:r>
              <a:rPr lang="en-US" altLang="en-US" sz="1800" b="1" dirty="0" err="1">
                <a:latin typeface="Times New Roman" panose="02020603050405020304"/>
                <a:ea typeface="Times New Roman" panose="02020603050405020304"/>
                <a:cs typeface="Times New Roman" panose="02020603050405020304"/>
                <a:sym typeface="Times New Roman" panose="02020603050405020304"/>
              </a:rPr>
              <a:t>toàn</a:t>
            </a:r>
            <a:r>
              <a:rPr lang="en-US" alt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b="1" dirty="0" err="1">
                <a:latin typeface="Times New Roman" panose="02020603050405020304"/>
                <a:ea typeface="Times New Roman" panose="02020603050405020304"/>
                <a:cs typeface="Times New Roman" panose="02020603050405020304"/>
                <a:sym typeface="Times New Roman" panose="02020603050405020304"/>
              </a:rPr>
              <a:t>cục</a:t>
            </a:r>
            <a:r>
              <a:rPr lang="en-US" alt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b="1" dirty="0" err="1">
                <a:latin typeface="Times New Roman" panose="02020603050405020304"/>
                <a:ea typeface="Times New Roman" panose="02020603050405020304"/>
                <a:cs typeface="Times New Roman" panose="02020603050405020304"/>
                <a:sym typeface="Times New Roman" panose="02020603050405020304"/>
              </a:rPr>
              <a:t>có</a:t>
            </a:r>
            <a:r>
              <a:rPr lang="en-US" alt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b="1" dirty="0" err="1">
                <a:latin typeface="Times New Roman" panose="02020603050405020304"/>
                <a:ea typeface="Times New Roman" panose="02020603050405020304"/>
                <a:cs typeface="Times New Roman" panose="02020603050405020304"/>
                <a:sym typeface="Times New Roman" panose="02020603050405020304"/>
              </a:rPr>
              <a:t>hỗn</a:t>
            </a:r>
            <a:r>
              <a:rPr lang="en-US" altLang="en-US" sz="1800" b="1"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b="1" dirty="0" err="1">
                <a:latin typeface="Times New Roman" panose="02020603050405020304"/>
                <a:ea typeface="Times New Roman" panose="02020603050405020304"/>
                <a:cs typeface="Times New Roman" panose="02020603050405020304"/>
                <a:sym typeface="Times New Roman" panose="02020603050405020304"/>
              </a:rPr>
              <a:t>loạn</a:t>
            </a:r>
            <a:r>
              <a:rPr lang="en-US" sz="1800" dirty="0">
                <a:latin typeface="Times New Roman" panose="02020603050405020304"/>
                <a:ea typeface="Times New Roman" panose="02020603050405020304"/>
                <a:cs typeface="Times New Roman" panose="02020603050405020304"/>
                <a:sym typeface="Times New Roman" panose="02020603050405020304"/>
              </a:rPr>
              <a:t>															</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6400800" lvl="0" indent="457200" algn="l" rtl="0">
              <a:lnSpc>
                <a:spcPct val="90000"/>
              </a:lnSpc>
              <a:spcBef>
                <a:spcPts val="1000"/>
              </a:spcBef>
              <a:spcAft>
                <a:spcPts val="0"/>
              </a:spcAft>
              <a:buClr>
                <a:schemeClr val="dk1"/>
              </a:buClr>
              <a:buSzPts val="1800"/>
              <a:buNone/>
            </a:pPr>
            <a:r>
              <a:rPr lang="en-US" sz="1800" b="1" dirty="0">
                <a:latin typeface="Times New Roman" panose="02020603050405020304"/>
                <a:ea typeface="Times New Roman" panose="02020603050405020304"/>
                <a:cs typeface="Times New Roman" panose="02020603050405020304"/>
                <a:sym typeface="Times New Roman" panose="02020603050405020304"/>
              </a:rPr>
              <a:t>(1.7)</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zh-CN" altLang="en-US" sz="1800" dirty="0">
                <a:latin typeface="Times New Roman" panose="02020603050405020304"/>
                <a:ea typeface="Times New Roman" panose="02020603050405020304"/>
                <a:cs typeface="Times New Roman" panose="02020603050405020304"/>
                <a:sym typeface="Times New Roman" panose="02020603050405020304"/>
              </a:rPr>
              <a:t>🔹</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Ý</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nghĩa</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Kết</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hợp</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pheromone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toàn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cục</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và</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hỗn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loạn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để</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giữ</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cân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bằng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giữa</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hội</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tụ</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và</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đa</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dạng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a:t>
            </a:r>
          </a:p>
          <a:p>
            <a:pPr marL="0" lvl="0" indent="0" algn="l" rtl="0">
              <a:lnSpc>
                <a:spcPct val="90000"/>
              </a:lnSpc>
              <a:spcBef>
                <a:spcPts val="1000"/>
              </a:spcBef>
              <a:spcAft>
                <a:spcPts val="0"/>
              </a:spcAft>
              <a:buClr>
                <a:schemeClr val="dk1"/>
              </a:buClr>
              <a:buSzPts val="1800"/>
              <a:buNone/>
            </a:pPr>
            <a:r>
              <a:rPr lang="en-US" altLang="en-US" sz="1800" b="1" dirty="0">
                <a:latin typeface="Times New Roman" panose="02020603050405020304"/>
                <a:ea typeface="Times New Roman" panose="02020603050405020304"/>
                <a:cs typeface="Times New Roman" panose="02020603050405020304"/>
                <a:sym typeface="Times New Roman" panose="02020603050405020304"/>
              </a:rPr>
              <a:t>(18) </a:t>
            </a:r>
            <a:r>
              <a:rPr lang="en-US" altLang="en-US" sz="1800" b="1" dirty="0" err="1">
                <a:latin typeface="Times New Roman" panose="02020603050405020304"/>
                <a:ea typeface="Times New Roman" panose="02020603050405020304"/>
                <a:cs typeface="Times New Roman" panose="02020603050405020304"/>
                <a:sym typeface="Times New Roman" panose="02020603050405020304"/>
              </a:rPr>
              <a:t>Hàm</a:t>
            </a:r>
            <a:r>
              <a:rPr lang="en-US" altLang="en-US" sz="1800" b="1" dirty="0">
                <a:latin typeface="Times New Roman" panose="02020603050405020304"/>
                <a:ea typeface="Times New Roman" panose="02020603050405020304"/>
                <a:cs typeface="Times New Roman" panose="02020603050405020304"/>
                <a:sym typeface="Times New Roman" panose="02020603050405020304"/>
              </a:rPr>
              <a:t> heuristic</a:t>
            </a:r>
            <a:br>
              <a:rPr lang="en-US" altLang="en-US" sz="1800" dirty="0">
                <a:latin typeface="Times New Roman" panose="02020603050405020304"/>
                <a:ea typeface="Times New Roman" panose="02020603050405020304"/>
                <a:cs typeface="Times New Roman" panose="02020603050405020304"/>
                <a:sym typeface="Times New Roman" panose="02020603050405020304"/>
              </a:rPr>
            </a:b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p>
            <a:pPr marL="4114800" lvl="8" indent="457200" algn="l" rtl="0">
              <a:lnSpc>
                <a:spcPct val="90000"/>
              </a:lnSpc>
              <a:spcBef>
                <a:spcPts val="1000"/>
              </a:spcBef>
              <a:spcAft>
                <a:spcPts val="0"/>
              </a:spcAft>
              <a:buClr>
                <a:schemeClr val="dk1"/>
              </a:buClr>
              <a:buSzPts val="1800"/>
              <a:buNone/>
            </a:pPr>
            <a:r>
              <a:rPr lang="en-US" altLang="vi-VN"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b="1" dirty="0">
                <a:latin typeface="Times New Roman" panose="02020603050405020304"/>
                <a:ea typeface="Times New Roman" panose="02020603050405020304"/>
                <a:cs typeface="Times New Roman" panose="02020603050405020304"/>
                <a:sym typeface="Times New Roman" panose="02020603050405020304"/>
              </a:rPr>
              <a:t>(1.8) </a:t>
            </a:r>
            <a:endParaRPr lang="vi-VN" altLang="en-US"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lang="vi-VN" altLang="en-US"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Ý</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nghĩa</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Ưu</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tiên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các</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nút</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có</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lượng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cao</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và</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khoảng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cách</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ngắn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khi</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chọn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trưởng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cụm</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(CH).</a:t>
            </a:r>
          </a:p>
        </p:txBody>
      </p:sp>
      <p:pic>
        <p:nvPicPr>
          <p:cNvPr id="4" name="Picture 3"/>
          <p:cNvPicPr>
            <a:picLocks noChangeAspect="1"/>
          </p:cNvPicPr>
          <p:nvPr/>
        </p:nvPicPr>
        <p:blipFill>
          <a:blip r:embed="rId3"/>
          <a:stretch>
            <a:fillRect/>
          </a:stretch>
        </p:blipFill>
        <p:spPr>
          <a:xfrm>
            <a:off x="1403350" y="2035810"/>
            <a:ext cx="5692140" cy="535305"/>
          </a:xfrm>
          <a:prstGeom prst="rect">
            <a:avLst/>
          </a:prstGeom>
        </p:spPr>
      </p:pic>
      <p:pic>
        <p:nvPicPr>
          <p:cNvPr id="2" name="Picture 1"/>
          <p:cNvPicPr>
            <a:picLocks noChangeAspect="1"/>
          </p:cNvPicPr>
          <p:nvPr/>
        </p:nvPicPr>
        <p:blipFill>
          <a:blip r:embed="rId4"/>
          <a:stretch>
            <a:fillRect/>
          </a:stretch>
        </p:blipFill>
        <p:spPr>
          <a:xfrm>
            <a:off x="2843530" y="3644900"/>
            <a:ext cx="2066925" cy="676275"/>
          </a:xfrm>
          <a:prstGeom prst="rect">
            <a:avLst/>
          </a:prstGeom>
        </p:spPr>
      </p:pic>
      <mc:AlternateContent xmlns:mc="http://schemas.openxmlformats.org/markup-compatibility/2006" xmlns:a14="http://schemas.microsoft.com/office/drawing/2010/main">
        <mc:Choice Requires="a14">
          <p:graphicFrame>
            <p:nvGraphicFramePr>
              <p:cNvPr id="3" name="Table 2"/>
              <p:cNvGraphicFramePr/>
              <p:nvPr/>
            </p:nvGraphicFramePr>
            <p:xfrm>
              <a:off x="-315595" y="5061427"/>
              <a:ext cx="7863840" cy="848424"/>
            </p:xfrm>
            <a:graphic>
              <a:graphicData uri="http://schemas.openxmlformats.org/drawingml/2006/table">
                <a:tbl>
                  <a:tblPr/>
                  <a:tblGrid>
                    <a:gridCol w="2046605">
                      <a:extLst>
                        <a:ext uri="{9D8B030D-6E8A-4147-A177-3AD203B41FA5}">
                          <a16:colId xmlns:a16="http://schemas.microsoft.com/office/drawing/2014/main" val="20000"/>
                        </a:ext>
                      </a:extLst>
                    </a:gridCol>
                    <a:gridCol w="5817235">
                      <a:extLst>
                        <a:ext uri="{9D8B030D-6E8A-4147-A177-3AD203B41FA5}">
                          <a16:colId xmlns:a16="http://schemas.microsoft.com/office/drawing/2014/main" val="20001"/>
                        </a:ext>
                      </a:extLst>
                    </a:gridCol>
                  </a:tblGrid>
                  <a:tr h="0">
                    <a:tc>
                      <a:txBody>
                        <a:bodyPr/>
                        <a:lstStyle/>
                        <a:p>
                          <a:pPr algn="ctr"/>
                          <a:r>
                            <a:rPr lang="en-US" altLang="zh-CN" sz="1800" dirty="0" err="1">
                              <a:latin typeface="Times New Roman" panose="02020603050405020304" charset="0"/>
                              <a:cs typeface="Times New Roman" panose="02020603050405020304" charset="0"/>
                            </a:rPr>
                            <a:t>Ký</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hiệu</a:t>
                          </a:r>
                          <a:endParaRPr lang="en-US" altLang="zh-CN" sz="1800" dirty="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c>
                      <a:txBody>
                        <a:bodyPr/>
                        <a:lstStyle/>
                        <a:p>
                          <a:r>
                            <a:rPr lang="en-US" altLang="zh-CN" sz="1800">
                              <a:latin typeface="Times New Roman" panose="02020603050405020304" charset="0"/>
                              <a:cs typeface="Times New Roman" panose="02020603050405020304" charset="0"/>
                            </a:rPr>
                            <a:t>Giải thích</a:t>
                          </a:r>
                        </a:p>
                      </a:txBody>
                      <a:tcPr marL="0" marR="0" marT="0" marB="0" anchor="ctr">
                        <a:lnL>
                          <a:noFill/>
                        </a:lnL>
                        <a:lnR>
                          <a:noFill/>
                        </a:lnR>
                        <a:lnT>
                          <a:noFill/>
                        </a:lnT>
                        <a:lnB>
                          <a:noFill/>
                        </a:lnB>
                        <a:noFill/>
                      </a:tcPr>
                    </a:tc>
                    <a:extLst>
                      <a:ext uri="{0D108BD9-81ED-4DB2-BD59-A6C34878D82A}">
                        <a16:rowId xmlns:a16="http://schemas.microsoft.com/office/drawing/2014/main" val="10000"/>
                      </a:ext>
                    </a:extLst>
                  </a:tr>
                  <a:tr h="0">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dirty="0" smtClean="0">
                                        <a:latin typeface="Cambria Math" panose="02040503050406030204" pitchFamily="18" charset="0"/>
                                        <a:cs typeface="Times New Roman" panose="02020603050405020304" charset="0"/>
                                      </a:rPr>
                                    </m:ctrlPr>
                                  </m:sSubPr>
                                  <m:e>
                                    <m:r>
                                      <m:rPr>
                                        <m:sty m:val="p"/>
                                      </m:rPr>
                                      <a:rPr lang="en-US" altLang="zh-CN" sz="1800" i="1" dirty="0" smtClean="0">
                                        <a:latin typeface="Cambria Math" panose="02040503050406030204" pitchFamily="18" charset="0"/>
                                        <a:cs typeface="Times New Roman" panose="02020603050405020304" charset="0"/>
                                      </a:rPr>
                                      <m:t>E</m:t>
                                    </m:r>
                                  </m:e>
                                  <m:sub>
                                    <m:r>
                                      <m:rPr>
                                        <m:sty m:val="p"/>
                                      </m:rPr>
                                      <a:rPr lang="en-US" altLang="zh-CN" sz="1800" i="1" dirty="0" smtClean="0">
                                        <a:latin typeface="Cambria Math" panose="02040503050406030204" pitchFamily="18" charset="0"/>
                                        <a:cs typeface="Times New Roman" panose="02020603050405020304" charset="0"/>
                                      </a:rPr>
                                      <m:t>j</m:t>
                                    </m:r>
                                  </m:sub>
                                </m:sSub>
                              </m:oMath>
                            </m:oMathPara>
                          </a14:m>
                          <a:endParaRPr/>
                        </a:p>
                      </a:txBody>
                      <a:tcPr marL="0" marR="0" marT="0" marB="0" anchor="ctr">
                        <a:lnL>
                          <a:noFill/>
                        </a:lnL>
                        <a:lnR>
                          <a:noFill/>
                        </a:lnR>
                        <a:lnT>
                          <a:noFill/>
                        </a:lnT>
                        <a:lnB>
                          <a:noFill/>
                        </a:lnB>
                        <a:noFill/>
                      </a:tcPr>
                    </a:tc>
                    <a:tc>
                      <a:txBody>
                        <a:bodyPr/>
                        <a:lstStyle/>
                        <a:p>
                          <a:r>
                            <a:rPr lang="en-US" altLang="zh-CN" sz="1800">
                              <a:latin typeface="Times New Roman" panose="02020603050405020304" charset="0"/>
                              <a:cs typeface="Times New Roman" panose="02020603050405020304" charset="0"/>
                            </a:rPr>
                            <a:t>Năng lượng còn lại của nút j</a:t>
                          </a:r>
                        </a:p>
                      </a:txBody>
                      <a:tcPr marL="0" marR="0" marT="0" marB="0" anchor="ctr">
                        <a:lnL>
                          <a:noFill/>
                        </a:lnL>
                        <a:lnR>
                          <a:noFill/>
                        </a:lnR>
                        <a:lnT>
                          <a:noFill/>
                        </a:lnT>
                        <a:lnB>
                          <a:noFill/>
                        </a:lnB>
                        <a:noFill/>
                      </a:tcPr>
                    </a:tc>
                    <a:extLst>
                      <a:ext uri="{0D108BD9-81ED-4DB2-BD59-A6C34878D82A}">
                        <a16:rowId xmlns:a16="http://schemas.microsoft.com/office/drawing/2014/main" val="10001"/>
                      </a:ext>
                    </a:extLst>
                  </a:tr>
                  <a:tr h="0">
                    <a:tc>
                      <a:txBody>
                        <a:bodyPr/>
                        <a:lstStyle/>
                        <a:p>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cs typeface="Times New Roman" panose="02020603050405020304" charset="0"/>
                                  </a:rPr>
                                  <m:t> </m:t>
                                </m:r>
                                <m:r>
                                  <a:rPr lang="en-US" altLang="zh-CN" sz="1800" i="1" dirty="0" err="1">
                                    <a:latin typeface="Cambria Math" panose="02040503050406030204" pitchFamily="18" charset="0"/>
                                    <a:cs typeface="Times New Roman" panose="02020603050405020304" charset="0"/>
                                  </a:rPr>
                                  <m:t>𝑑𝑖𝑠𝑡</m:t>
                                </m:r>
                                <m:r>
                                  <a:rPr lang="en-US" altLang="zh-CN" sz="1800" i="1" dirty="0">
                                    <a:latin typeface="Cambria Math" panose="02040503050406030204" pitchFamily="18" charset="0"/>
                                    <a:cs typeface="Times New Roman" panose="02020603050405020304" charset="0"/>
                                  </a:rPr>
                                  <m:t>(</m:t>
                                </m:r>
                                <m:r>
                                  <a:rPr lang="en-US" altLang="zh-CN" sz="1800" i="1" dirty="0" err="1">
                                    <a:latin typeface="Cambria Math" panose="02040503050406030204" pitchFamily="18" charset="0"/>
                                    <a:cs typeface="Times New Roman" panose="02020603050405020304" charset="0"/>
                                  </a:rPr>
                                  <m:t>𝑖</m:t>
                                </m:r>
                                <m:r>
                                  <a:rPr lang="en-US" altLang="zh-CN" sz="1800" i="1" dirty="0">
                                    <a:latin typeface="Cambria Math" panose="02040503050406030204" pitchFamily="18" charset="0"/>
                                    <a:cs typeface="Times New Roman" panose="02020603050405020304" charset="0"/>
                                  </a:rPr>
                                  <m:t>, </m:t>
                                </m:r>
                                <m:r>
                                  <a:rPr lang="en-US" altLang="zh-CN" sz="1800" i="1" dirty="0">
                                    <a:latin typeface="Cambria Math" panose="02040503050406030204" pitchFamily="18" charset="0"/>
                                    <a:cs typeface="Times New Roman" panose="02020603050405020304" charset="0"/>
                                  </a:rPr>
                                  <m:t>𝑗</m:t>
                                </m:r>
                                <m:r>
                                  <a:rPr lang="en-US" altLang="zh-CN" sz="1800" i="1" dirty="0">
                                    <a:latin typeface="Cambria Math" panose="02040503050406030204" pitchFamily="18" charset="0"/>
                                    <a:cs typeface="Times New Roman" panose="02020603050405020304" charset="0"/>
                                  </a:rPr>
                                  <m:t>)</m:t>
                                </m:r>
                              </m:oMath>
                            </m:oMathPara>
                          </a14:m>
                          <a:endParaRPr/>
                        </a:p>
                      </a:txBody>
                      <a:tcPr marL="0" marR="0" marT="0" marB="0" anchor="ctr">
                        <a:lnL>
                          <a:noFill/>
                        </a:lnL>
                        <a:lnR>
                          <a:noFill/>
                        </a:lnR>
                        <a:lnT>
                          <a:noFill/>
                        </a:lnT>
                        <a:lnB>
                          <a:noFill/>
                        </a:lnB>
                        <a:noFill/>
                      </a:tcPr>
                    </a:tc>
                    <a:tc>
                      <a:txBody>
                        <a:bodyPr/>
                        <a:lstStyle/>
                        <a:p>
                          <a:r>
                            <a:rPr lang="en-US" altLang="zh-CN" sz="1800" dirty="0" err="1">
                              <a:latin typeface="Times New Roman" panose="02020603050405020304" charset="0"/>
                              <a:cs typeface="Times New Roman" panose="02020603050405020304" charset="0"/>
                            </a:rPr>
                            <a:t>Khoảng</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cách</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giữa</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i</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và</a:t>
                          </a:r>
                          <a:r>
                            <a:rPr lang="en-US" altLang="zh-CN" sz="1800" dirty="0">
                              <a:latin typeface="Times New Roman" panose="02020603050405020304" charset="0"/>
                              <a:cs typeface="Times New Roman" panose="02020603050405020304" charset="0"/>
                            </a:rPr>
                            <a:t> j</a:t>
                          </a:r>
                        </a:p>
                      </a:txBody>
                      <a:tcPr marL="0" marR="0" marT="0" marB="0" anchor="ctr">
                        <a:lnL>
                          <a:noFill/>
                        </a:lnL>
                        <a:lnR>
                          <a:noFill/>
                        </a:lnR>
                        <a:lnT>
                          <a:noFill/>
                        </a:lnT>
                        <a:lnB>
                          <a:noFill/>
                        </a:lnB>
                        <a:noFill/>
                      </a:tcPr>
                    </a:tc>
                    <a:extLst>
                      <a:ext uri="{0D108BD9-81ED-4DB2-BD59-A6C34878D82A}">
                        <a16:rowId xmlns:a16="http://schemas.microsoft.com/office/drawing/2014/main" val="10002"/>
                      </a:ext>
                    </a:extLst>
                  </a:tr>
                </a:tbl>
              </a:graphicData>
            </a:graphic>
          </p:graphicFrame>
        </mc:Choice>
        <mc:Fallback xmlns="">
          <p:graphicFrame>
            <p:nvGraphicFramePr>
              <p:cNvPr id="3" name="Table 2"/>
              <p:cNvGraphicFramePr/>
              <p:nvPr/>
            </p:nvGraphicFramePr>
            <p:xfrm>
              <a:off x="-315595" y="5061427"/>
              <a:ext cx="7863840" cy="848424"/>
            </p:xfrm>
            <a:graphic>
              <a:graphicData uri="http://schemas.openxmlformats.org/drawingml/2006/table">
                <a:tbl>
                  <a:tblPr/>
                  <a:tblGrid>
                    <a:gridCol w="2046605"/>
                    <a:gridCol w="5817235"/>
                  </a:tblGrid>
                  <a:tr h="0">
                    <a:tc>
                      <a:txBody>
                        <a:bodyPr/>
                        <a:lstStyle/>
                        <a:p>
                          <a:pPr algn="ctr"/>
                          <a:r>
                            <a:rPr lang="en-US" altLang="zh-CN" sz="1800" dirty="0" err="1">
                              <a:latin typeface="Times New Roman" panose="02020603050405020304" charset="0"/>
                              <a:cs typeface="Times New Roman" panose="02020603050405020304" charset="0"/>
                            </a:rPr>
                            <a:t>Ký</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hiệu</a:t>
                          </a:r>
                          <a:endParaRPr lang="en-US" altLang="zh-CN" sz="1800" dirty="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c>
                      <a:txBody>
                        <a:bodyPr/>
                        <a:lstStyle/>
                        <a:p>
                          <a:r>
                            <a:rPr lang="en-US" altLang="zh-CN" sz="1800">
                              <a:latin typeface="Times New Roman" panose="02020603050405020304" charset="0"/>
                              <a:cs typeface="Times New Roman" panose="02020603050405020304" charset="0"/>
                            </a:rPr>
                            <a:t>Giải thích</a:t>
                          </a:r>
                          <a:endParaRPr lang="en-US" altLang="zh-CN" sz="180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r>
                  <a:tr h="274320">
                    <a:tc>
                      <a:txBody>
                        <a:bodyPr/>
                        <a:lstStyle/>
                        <a:p>
                          <a:endParaRPr lang="en-US"/>
                        </a:p>
                      </a:txBody>
                      <a:tcPr marL="0" marR="0" marT="0" marB="0" anchor="ctr">
                        <a:lnL>
                          <a:noFill/>
                        </a:lnL>
                        <a:lnR>
                          <a:noFill/>
                        </a:lnR>
                        <a:lnT>
                          <a:noFill/>
                        </a:lnT>
                        <a:lnB>
                          <a:noFill/>
                        </a:lnB>
                        <a:blipFill>
                          <a:blip r:embed="rId5"/>
                        </a:blipFill>
                      </a:tcPr>
                    </a:tc>
                    <a:tc>
                      <a:txBody>
                        <a:bodyPr/>
                        <a:lstStyle/>
                        <a:p>
                          <a:r>
                            <a:rPr lang="en-US" altLang="zh-CN" sz="1800">
                              <a:latin typeface="Times New Roman" panose="02020603050405020304" charset="0"/>
                              <a:cs typeface="Times New Roman" panose="02020603050405020304" charset="0"/>
                            </a:rPr>
                            <a:t>Năng lượng còn lại của nút j</a:t>
                          </a:r>
                          <a:endParaRPr lang="en-US" altLang="zh-CN" sz="180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r>
                  <a:tr h="274320">
                    <a:tc>
                      <a:txBody>
                        <a:bodyPr/>
                        <a:lstStyle/>
                        <a:p>
                          <a:endParaRPr lang="en-US"/>
                        </a:p>
                      </a:txBody>
                      <a:tcPr marL="0" marR="0" marT="0" marB="0" anchor="ctr">
                        <a:lnL>
                          <a:noFill/>
                        </a:lnL>
                        <a:lnR>
                          <a:noFill/>
                        </a:lnR>
                        <a:lnT>
                          <a:noFill/>
                        </a:lnT>
                        <a:lnB>
                          <a:noFill/>
                        </a:lnB>
                        <a:blipFill>
                          <a:blip r:embed="rId5"/>
                        </a:blipFill>
                      </a:tcPr>
                    </a:tc>
                    <a:tc>
                      <a:txBody>
                        <a:bodyPr/>
                        <a:lstStyle/>
                        <a:p>
                          <a:r>
                            <a:rPr lang="en-US" altLang="zh-CN" sz="1800" dirty="0" err="1">
                              <a:latin typeface="Times New Roman" panose="02020603050405020304" charset="0"/>
                              <a:cs typeface="Times New Roman" panose="02020603050405020304" charset="0"/>
                            </a:rPr>
                            <a:t>Khoảng</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cách</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giữa</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i</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và</a:t>
                          </a:r>
                          <a:r>
                            <a:rPr lang="en-US" altLang="zh-CN" sz="1800" dirty="0">
                              <a:latin typeface="Times New Roman" panose="02020603050405020304" charset="0"/>
                              <a:cs typeface="Times New Roman" panose="02020603050405020304" charset="0"/>
                            </a:rPr>
                            <a:t> j</a:t>
                          </a:r>
                          <a:endParaRPr lang="en-US" altLang="zh-CN" sz="1800" dirty="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r>
                </a:tbl>
              </a:graphicData>
            </a:graphic>
          </p:graphicFrame>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5"/>
          <p:cNvSpPr txBox="1">
            <a:spLocks noGrp="1"/>
          </p:cNvSpPr>
          <p:nvPr>
            <p:ph type="sldNum" idx="12"/>
          </p:nvPr>
        </p:nvSpPr>
        <p:spPr>
          <a:xfrm>
            <a:off x="6867383" y="6572126"/>
            <a:ext cx="2057400" cy="3651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41</a:t>
            </a:fld>
            <a:endParaRPr lang="en-US"/>
          </a:p>
        </p:txBody>
      </p:sp>
      <p:sp>
        <p:nvSpPr>
          <p:cNvPr id="222" name="Google Shape;222;p35"/>
          <p:cNvSpPr txBox="1">
            <a:spLocks noGrp="1"/>
          </p:cNvSpPr>
          <p:nvPr>
            <p:ph type="title"/>
          </p:nvPr>
        </p:nvSpPr>
        <p:spPr>
          <a:xfrm>
            <a:off x="235077" y="78613"/>
            <a:ext cx="8673900" cy="451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sym typeface="+mn-ea"/>
              </a:rPr>
              <a:t>3. </a:t>
            </a:r>
            <a:r>
              <a:rPr lang="vi-VN" altLang="en-US">
                <a:sym typeface="+mn-ea"/>
              </a:rPr>
              <a:t>P</a:t>
            </a:r>
            <a:r>
              <a:rPr lang="en-US">
                <a:sym typeface="+mn-ea"/>
              </a:rPr>
              <a:t>hương pháp</a:t>
            </a:r>
            <a:r>
              <a:rPr lang="vi-VN" altLang="en-US">
                <a:sym typeface="+mn-ea"/>
              </a:rPr>
              <a:t> đề xuất</a:t>
            </a:r>
            <a:r>
              <a:rPr lang="en-US">
                <a:sym typeface="+mn-ea"/>
              </a:rPr>
              <a:t> AC-ACO</a:t>
            </a:r>
            <a:br>
              <a:rPr lang="en-US">
                <a:sym typeface="+mn-ea"/>
              </a:rPr>
            </a:br>
            <a:endParaRPr lang="en-US">
              <a:sym typeface="+mn-ea"/>
            </a:endParaRPr>
          </a:p>
        </p:txBody>
      </p:sp>
      <p:sp>
        <p:nvSpPr>
          <p:cNvPr id="223" name="Google Shape;223;p35"/>
          <p:cNvSpPr txBox="1">
            <a:spLocks noGrp="1"/>
          </p:cNvSpPr>
          <p:nvPr>
            <p:ph type="body" idx="1"/>
          </p:nvPr>
        </p:nvSpPr>
        <p:spPr>
          <a:xfrm>
            <a:off x="234950" y="963176"/>
            <a:ext cx="9035400" cy="5894700"/>
          </a:xfrm>
          <a:prstGeom prst="rect">
            <a:avLst/>
          </a:prstGeom>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US" sz="1800" dirty="0">
                <a:latin typeface="Times New Roman" panose="02020603050405020304"/>
                <a:ea typeface="Times New Roman" panose="02020603050405020304"/>
                <a:cs typeface="Times New Roman" panose="02020603050405020304"/>
                <a:sym typeface="Times New Roman" panose="02020603050405020304"/>
              </a:rPr>
              <a:t>CÁC CÔNG THỨC</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 ĐỀ XUẤT</a:t>
            </a:r>
            <a:r>
              <a:rPr lang="en-US" sz="1800" dirty="0">
                <a:latin typeface="Times New Roman" panose="02020603050405020304"/>
                <a:ea typeface="Times New Roman" panose="02020603050405020304"/>
                <a:cs typeface="Times New Roman" panose="02020603050405020304"/>
                <a:sym typeface="Times New Roman" panose="02020603050405020304"/>
              </a:rPr>
              <a:t> TRONG WSN (Wireless Sensor Network)</a:t>
            </a:r>
          </a:p>
          <a:p>
            <a:pPr marL="0" lvl="0" indent="0" algn="l" rtl="0">
              <a:lnSpc>
                <a:spcPct val="100000"/>
              </a:lnSpc>
              <a:spcBef>
                <a:spcPts val="0"/>
              </a:spcBef>
              <a:spcAft>
                <a:spcPts val="0"/>
              </a:spcAft>
              <a:buNone/>
            </a:pPr>
            <a:endParaRPr lang="en-US"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None/>
            </a:pPr>
            <a:r>
              <a:rPr lang="en-US" altLang="en-US" sz="1800" dirty="0">
                <a:latin typeface="Times New Roman" panose="02020603050405020304"/>
                <a:ea typeface="Times New Roman" panose="02020603050405020304"/>
                <a:cs typeface="Times New Roman" panose="02020603050405020304"/>
                <a:sym typeface="Times New Roman" panose="02020603050405020304"/>
              </a:rPr>
              <a:t>Công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thức</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tính</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số</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cụm</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tối</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ưu</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(k)</a:t>
            </a:r>
          </a:p>
          <a:p>
            <a:pPr marL="0" lvl="0" indent="0" algn="l" rtl="0">
              <a:lnSpc>
                <a:spcPct val="100000"/>
              </a:lnSpc>
              <a:spcBef>
                <a:spcPts val="0"/>
              </a:spcBef>
              <a:spcAft>
                <a:spcPts val="0"/>
              </a:spcAft>
              <a:buNone/>
            </a:pPr>
            <a:endParaRPr lang="en-US" altLang="en-US"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0"/>
              </a:spcBef>
              <a:spcAft>
                <a:spcPts val="0"/>
              </a:spcAft>
              <a:buNone/>
            </a:pPr>
            <a:r>
              <a:rPr lang="en-US" altLang="en-US" sz="1800" dirty="0">
                <a:latin typeface="Times New Roman" panose="02020603050405020304"/>
                <a:ea typeface="Times New Roman" panose="02020603050405020304"/>
                <a:cs typeface="Times New Roman" panose="02020603050405020304"/>
                <a:sym typeface="Times New Roman" panose="02020603050405020304"/>
              </a:rPr>
              <a:t>Khi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mạng</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còn</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rất</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 </a:t>
            </a:r>
            <a:r>
              <a:rPr lang="en-US" altLang="en-US" sz="1800" dirty="0" err="1">
                <a:latin typeface="Times New Roman" panose="02020603050405020304"/>
                <a:ea typeface="Times New Roman" panose="02020603050405020304"/>
                <a:cs typeface="Times New Roman" panose="02020603050405020304"/>
                <a:sym typeface="Times New Roman" panose="02020603050405020304"/>
              </a:rPr>
              <a:t>khoẻ</a:t>
            </a:r>
            <a:r>
              <a:rPr lang="vi-VN" altLang="en-US" sz="1800" dirty="0">
                <a:latin typeface="Times New Roman" panose="02020603050405020304"/>
                <a:ea typeface="Times New Roman" panose="02020603050405020304"/>
                <a:cs typeface="Times New Roman" panose="02020603050405020304"/>
                <a:sym typeface="Times New Roman" panose="02020603050405020304"/>
              </a:rPr>
              <a:t>(&gt;90%)</a:t>
            </a:r>
            <a:r>
              <a:rPr lang="en-US" altLang="en-US" sz="1800" dirty="0">
                <a:latin typeface="Times New Roman" panose="02020603050405020304"/>
                <a:ea typeface="Times New Roman" panose="02020603050405020304"/>
                <a:cs typeface="Times New Roman" panose="02020603050405020304"/>
                <a:sym typeface="Times New Roman" panose="02020603050405020304"/>
              </a:rPr>
              <a:t>:</a:t>
            </a:r>
            <a:r>
              <a:rPr lang="vi-VN" sz="1800" dirty="0">
                <a:latin typeface="Times New Roman" panose="02020603050405020304"/>
                <a:ea typeface="Times New Roman" panose="02020603050405020304"/>
                <a:cs typeface="Times New Roman" panose="02020603050405020304"/>
                <a:sym typeface="Times New Roman" panose="02020603050405020304"/>
              </a:rPr>
              <a:t> 		(II)</a:t>
            </a:r>
          </a:p>
        </p:txBody>
      </p:sp>
      <p:graphicFrame>
        <p:nvGraphicFramePr>
          <p:cNvPr id="224" name="Google Shape;224;p35"/>
          <p:cNvGraphicFramePr/>
          <p:nvPr/>
        </p:nvGraphicFramePr>
        <p:xfrm>
          <a:off x="152400" y="152400"/>
          <a:ext cx="208250" cy="396210"/>
        </p:xfrm>
        <a:graphic>
          <a:graphicData uri="http://schemas.openxmlformats.org/drawingml/2006/table">
            <a:tbl>
              <a:tblPr>
                <a:noFill/>
                <a:tableStyleId>{2C94AA5D-8D03-4AD0-AC9E-A1A30640FED9}</a:tableStyleId>
              </a:tblPr>
              <a:tblGrid>
                <a:gridCol w="208250">
                  <a:extLst>
                    <a:ext uri="{9D8B030D-6E8A-4147-A177-3AD203B41FA5}">
                      <a16:colId xmlns:a16="http://schemas.microsoft.com/office/drawing/2014/main" val="20000"/>
                    </a:ext>
                  </a:extLst>
                </a:gridCol>
              </a:tblGrid>
              <a:tr h="0">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0"/>
                  </a:ext>
                </a:extLst>
              </a:tr>
            </a:tbl>
          </a:graphicData>
        </a:graphic>
      </p:graphicFrame>
      <p:pic>
        <p:nvPicPr>
          <p:cNvPr id="3" name="Picture 2"/>
          <p:cNvPicPr>
            <a:picLocks noChangeAspect="1"/>
          </p:cNvPicPr>
          <p:nvPr/>
        </p:nvPicPr>
        <p:blipFill>
          <a:blip r:embed="rId3"/>
          <a:stretch>
            <a:fillRect/>
          </a:stretch>
        </p:blipFill>
        <p:spPr>
          <a:xfrm>
            <a:off x="3131820" y="2348865"/>
            <a:ext cx="3095625" cy="1076325"/>
          </a:xfrm>
          <a:prstGeom prst="rect">
            <a:avLst/>
          </a:prstGeom>
        </p:spPr>
      </p:pic>
      <mc:AlternateContent xmlns:mc="http://schemas.openxmlformats.org/markup-compatibility/2006" xmlns:a14="http://schemas.microsoft.com/office/drawing/2010/main">
        <mc:Choice Requires="a14">
          <p:sp>
            <p:nvSpPr>
              <p:cNvPr id="2" name="Text Box 1"/>
              <p:cNvSpPr txBox="1"/>
              <p:nvPr/>
            </p:nvSpPr>
            <p:spPr>
              <a:xfrm>
                <a:off x="270510" y="3213100"/>
                <a:ext cx="8433435" cy="2105961"/>
              </a:xfrm>
              <a:prstGeom prst="rect">
                <a:avLst/>
              </a:prstGeom>
            </p:spPr>
            <p:txBody>
              <a:bodyPr wrap="square">
                <a:spAutoFit/>
              </a:bodyPr>
              <a:lstStyle/>
              <a:p>
                <a:r>
                  <a:rPr lang="en-US" altLang="zh-CN" sz="1600" dirty="0">
                    <a:latin typeface="Times New Roman" panose="02020603050405020304" charset="0"/>
                    <a:cs typeface="Times New Roman" panose="02020603050405020304" charset="0"/>
                  </a:rPr>
                  <a:t>Trong </a:t>
                </a:r>
                <a:r>
                  <a:rPr lang="en-US" altLang="zh-CN" sz="1600" dirty="0" err="1">
                    <a:latin typeface="Times New Roman" panose="02020603050405020304" charset="0"/>
                    <a:cs typeface="Times New Roman" panose="02020603050405020304" charset="0"/>
                  </a:rPr>
                  <a:t>đó</a:t>
                </a:r>
                <a:r>
                  <a:rPr lang="en-US" altLang="zh-CN" sz="1600" dirty="0">
                    <a:latin typeface="Times New Roman" panose="02020603050405020304" charset="0"/>
                    <a:cs typeface="Times New Roman" panose="02020603050405020304" charset="0"/>
                  </a:rPr>
                  <a:t>:</a:t>
                </a:r>
              </a:p>
              <a:p>
                <a:pPr>
                  <a:buFont typeface="Arial" panose="020B0604020202020204"/>
                  <a:buChar char="•"/>
                </a:pPr>
                <a14:m>
                  <m:oMath xmlns:m="http://schemas.openxmlformats.org/officeDocument/2006/math">
                    <m:sSub>
                      <m:sSubPr>
                        <m:ctrlPr>
                          <a:rPr lang="en-US" altLang="zh-CN" sz="1600" b="1" i="1" dirty="0" smtClean="0">
                            <a:latin typeface="Cambria Math" panose="02040503050406030204" pitchFamily="18" charset="0"/>
                            <a:cs typeface="Times New Roman" panose="02020603050405020304" charset="0"/>
                          </a:rPr>
                        </m:ctrlPr>
                      </m:sSubPr>
                      <m:e>
                        <m:r>
                          <m:rPr>
                            <m:sty m:val="p"/>
                          </m:rPr>
                          <a:rPr lang="en-US" altLang="zh-CN" sz="1600" b="1" i="1" dirty="0">
                            <a:latin typeface="Cambria Math" panose="02040503050406030204" pitchFamily="18" charset="0"/>
                            <a:cs typeface="Times New Roman" panose="02020603050405020304" charset="0"/>
                          </a:rPr>
                          <m:t>k</m:t>
                        </m:r>
                      </m:e>
                      <m:sub>
                        <m:r>
                          <m:rPr>
                            <m:sty m:val="p"/>
                          </m:rPr>
                          <a:rPr lang="en-US" altLang="zh-CN" sz="1600" b="1" i="1" dirty="0">
                            <a:latin typeface="Cambria Math" panose="02040503050406030204" pitchFamily="18" charset="0"/>
                            <a:cs typeface="Times New Roman" panose="02020603050405020304" charset="0"/>
                          </a:rPr>
                          <m:t>opt</m:t>
                        </m:r>
                      </m:sub>
                    </m:sSub>
                  </m:oMath>
                </a14:m>
                <a:r>
                  <a:rPr lang="en-US" altLang="zh-CN" sz="1600" b="1" dirty="0">
                    <a:latin typeface="Times New Roman" panose="02020603050405020304" charset="0"/>
                    <a:cs typeface="Times New Roman" panose="02020603050405020304" charset="0"/>
                  </a:rPr>
                  <a:t>​</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Số</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cụm</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tối</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ưu</a:t>
                </a:r>
                <a:r>
                  <a:rPr lang="en-US" altLang="zh-CN" sz="1600" dirty="0">
                    <a:latin typeface="Times New Roman" panose="02020603050405020304" charset="0"/>
                    <a:cs typeface="Times New Roman" panose="02020603050405020304" charset="0"/>
                  </a:rPr>
                  <a:t>.</a:t>
                </a:r>
              </a:p>
              <a:p>
                <a:pPr>
                  <a:buFont typeface="Arial" panose="020B0604020202020204"/>
                  <a:buChar char="•"/>
                </a:pPr>
                <a14:m>
                  <m:oMath xmlns:m="http://schemas.openxmlformats.org/officeDocument/2006/math">
                    <m:r>
                      <a:rPr lang="en-US" altLang="zh-CN" sz="1600" b="1" i="1" dirty="0" smtClean="0">
                        <a:latin typeface="Cambria Math" panose="02040503050406030204" pitchFamily="18" charset="0"/>
                        <a:cs typeface="Times New Roman" panose="02020603050405020304" charset="0"/>
                      </a:rPr>
                      <m:t>𝑵</m:t>
                    </m:r>
                  </m:oMath>
                </a14:m>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Tổng</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số</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nút</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cảm</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biến</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trong</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mạng</a:t>
                </a:r>
                <a:r>
                  <a:rPr lang="en-US" altLang="zh-CN" sz="1600" dirty="0">
                    <a:latin typeface="Times New Roman" panose="02020603050405020304" charset="0"/>
                    <a:cs typeface="Times New Roman" panose="02020603050405020304" charset="0"/>
                  </a:rPr>
                  <a:t>.</a:t>
                </a:r>
              </a:p>
              <a:p>
                <a:pPr>
                  <a:buFont typeface="Arial" panose="020B0604020202020204"/>
                  <a:buChar char="•"/>
                </a:pPr>
                <a14:m>
                  <m:oMath xmlns:m="http://schemas.openxmlformats.org/officeDocument/2006/math">
                    <m:sSub>
                      <m:sSubPr>
                        <m:ctrlPr>
                          <a:rPr lang="en-US" altLang="zh-CN" sz="1600" b="1" i="1" dirty="0" smtClean="0">
                            <a:latin typeface="Cambria Math" panose="02040503050406030204" pitchFamily="18" charset="0"/>
                            <a:cs typeface="Times New Roman" panose="02020603050405020304" charset="0"/>
                          </a:rPr>
                        </m:ctrlPr>
                      </m:sSubPr>
                      <m:e>
                        <m:r>
                          <a:rPr lang="en-US" altLang="zh-CN" sz="1600" b="1" i="1" dirty="0" smtClean="0">
                            <a:latin typeface="Cambria Math" panose="02040503050406030204" pitchFamily="18" charset="0"/>
                            <a:ea typeface="Cambria Math" panose="02040503050406030204" pitchFamily="18" charset="0"/>
                            <a:cs typeface="Times New Roman" panose="02020603050405020304" charset="0"/>
                          </a:rPr>
                          <m:t>∈</m:t>
                        </m:r>
                      </m:e>
                      <m:sub>
                        <m:r>
                          <m:rPr>
                            <m:sty m:val="p"/>
                          </m:rPr>
                          <a:rPr lang="en-US" altLang="zh-CN" sz="1600" b="1" i="1" dirty="0">
                            <a:latin typeface="Cambria Math" panose="02040503050406030204" pitchFamily="18" charset="0"/>
                            <a:cs typeface="Times New Roman" panose="02020603050405020304" charset="0"/>
                          </a:rPr>
                          <m:t>fs</m:t>
                        </m:r>
                      </m:sub>
                    </m:sSub>
                    <m:r>
                      <a:rPr lang="en-US" altLang="zh-CN" sz="1600" b="1" i="1" dirty="0">
                        <a:latin typeface="Cambria Math" panose="02040503050406030204" pitchFamily="18" charset="0"/>
                        <a:cs typeface="Times New Roman" panose="02020603050405020304" charset="0"/>
                      </a:rPr>
                      <m:t>​</m:t>
                    </m:r>
                    <m:r>
                      <a:rPr lang="en-US" altLang="zh-CN" sz="1600" i="1" dirty="0">
                        <a:latin typeface="Cambria Math" panose="02040503050406030204" pitchFamily="18" charset="0"/>
                        <a:cs typeface="Times New Roman" panose="02020603050405020304" charset="0"/>
                      </a:rPr>
                      <m:t> </m:t>
                    </m:r>
                  </m:oMath>
                </a14:m>
                <a:r>
                  <a:rPr lang="en-US" altLang="zh-CN" sz="1600" dirty="0" err="1">
                    <a:latin typeface="Times New Roman" panose="02020603050405020304" charset="0"/>
                    <a:cs typeface="Times New Roman" panose="02020603050405020304" charset="0"/>
                  </a:rPr>
                  <a:t>và</a:t>
                </a:r>
                <a:r>
                  <a:rPr lang="en-US" altLang="zh-CN" sz="1600" dirty="0">
                    <a:latin typeface="Times New Roman" panose="02020603050405020304" charset="0"/>
                    <a:cs typeface="Times New Roman" panose="02020603050405020304" charset="0"/>
                  </a:rPr>
                  <a:t> </a:t>
                </a:r>
                <a14:m>
                  <m:oMath xmlns:m="http://schemas.openxmlformats.org/officeDocument/2006/math">
                    <m:sSub>
                      <m:sSubPr>
                        <m:ctrlPr>
                          <a:rPr lang="en-US" altLang="zh-CN" sz="1600" b="1" i="1" dirty="0">
                            <a:latin typeface="Cambria Math" panose="02040503050406030204" pitchFamily="18" charset="0"/>
                            <a:cs typeface="Times New Roman" panose="02020603050405020304" charset="0"/>
                          </a:rPr>
                        </m:ctrlPr>
                      </m:sSubPr>
                      <m:e>
                        <m:r>
                          <a:rPr lang="en-US" altLang="zh-CN" sz="1600" b="1" i="1" dirty="0">
                            <a:latin typeface="Cambria Math" panose="02040503050406030204" pitchFamily="18" charset="0"/>
                            <a:ea typeface="Cambria Math" panose="02040503050406030204" pitchFamily="18" charset="0"/>
                            <a:cs typeface="Times New Roman" panose="02020603050405020304" charset="0"/>
                          </a:rPr>
                          <m:t>∈</m:t>
                        </m:r>
                      </m:e>
                      <m:sub>
                        <m:r>
                          <m:rPr>
                            <m:sty m:val="p"/>
                          </m:rPr>
                          <a:rPr lang="en-US" altLang="zh-CN" sz="1600" b="1" i="1" dirty="0" smtClean="0">
                            <a:latin typeface="Cambria Math" panose="02040503050406030204" pitchFamily="18" charset="0"/>
                            <a:ea typeface="Cambria Math" panose="02040503050406030204" pitchFamily="18" charset="0"/>
                            <a:cs typeface="Times New Roman" panose="02020603050405020304" charset="0"/>
                          </a:rPr>
                          <m:t>mp</m:t>
                        </m:r>
                      </m:sub>
                    </m:sSub>
                  </m:oMath>
                </a14:m>
                <a:r>
                  <a:rPr lang="en-US" altLang="zh-CN" sz="1600" dirty="0">
                    <a:latin typeface="Times New Roman" panose="02020603050405020304" charset="0"/>
                    <a:cs typeface="Times New Roman" panose="02020603050405020304" charset="0"/>
                  </a:rPr>
                  <a:t>: Các </a:t>
                </a:r>
                <a:r>
                  <a:rPr lang="en-US" altLang="zh-CN" sz="1600" dirty="0" err="1">
                    <a:latin typeface="Times New Roman" panose="02020603050405020304" charset="0"/>
                    <a:cs typeface="Times New Roman" panose="02020603050405020304" charset="0"/>
                  </a:rPr>
                  <a:t>tham</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số</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của</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mô</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hình</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truyền</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sóng</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vô</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tuyến</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đại</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diện</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cho</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năng</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lượng</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tiêu</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thụ</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trong</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không</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gian</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tự</a:t>
                </a:r>
                <a:r>
                  <a:rPr lang="en-US" altLang="zh-CN" sz="1600" dirty="0">
                    <a:latin typeface="Times New Roman" panose="02020603050405020304" charset="0"/>
                    <a:cs typeface="Times New Roman" panose="02020603050405020304" charset="0"/>
                  </a:rPr>
                  <a:t> do (free space) </a:t>
                </a:r>
                <a:r>
                  <a:rPr lang="en-US" altLang="zh-CN" sz="1600" dirty="0" err="1">
                    <a:latin typeface="Times New Roman" panose="02020603050405020304" charset="0"/>
                    <a:cs typeface="Times New Roman" panose="02020603050405020304" charset="0"/>
                  </a:rPr>
                  <a:t>và</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trong</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môi</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trường</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đa</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đường</a:t>
                </a:r>
                <a:r>
                  <a:rPr lang="en-US" altLang="zh-CN" sz="1600" dirty="0">
                    <a:latin typeface="Times New Roman" panose="02020603050405020304" charset="0"/>
                    <a:cs typeface="Times New Roman" panose="02020603050405020304" charset="0"/>
                  </a:rPr>
                  <a:t> (multipath fading).</a:t>
                </a:r>
              </a:p>
              <a:p>
                <a:pPr>
                  <a:buFont typeface="Arial" panose="020B0604020202020204"/>
                  <a:buChar char="•"/>
                </a:pPr>
                <a:r>
                  <a:rPr lang="en-US" altLang="zh-CN" sz="1600" b="1" dirty="0">
                    <a:latin typeface="Times New Roman" panose="02020603050405020304" charset="0"/>
                    <a:cs typeface="Times New Roman" panose="02020603050405020304" charset="0"/>
                  </a:rPr>
                  <a:t>M</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Kích</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thước</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của</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khu</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vực</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mạng</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thường</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là</a:t>
                </a:r>
                <a:r>
                  <a:rPr lang="en-US" altLang="zh-CN" sz="1600" dirty="0">
                    <a:latin typeface="Times New Roman" panose="02020603050405020304" charset="0"/>
                    <a:cs typeface="Times New Roman" panose="02020603050405020304" charset="0"/>
                  </a:rPr>
                  <a:t> </a:t>
                </a:r>
                <a14:m>
                  <m:oMath xmlns:m="http://schemas.openxmlformats.org/officeDocument/2006/math">
                    <m:r>
                      <a:rPr lang="en-US" altLang="zh-CN" sz="1600" i="1" dirty="0" smtClean="0">
                        <a:latin typeface="Cambria Math" panose="02040503050406030204" pitchFamily="18" charset="0"/>
                        <a:cs typeface="Times New Roman" panose="02020603050405020304" charset="0"/>
                      </a:rPr>
                      <m:t>𝑀</m:t>
                    </m:r>
                    <m:r>
                      <a:rPr lang="en-US" altLang="zh-CN" sz="1600" i="1" dirty="0" smtClean="0">
                        <a:latin typeface="Cambria Math" panose="02040503050406030204" pitchFamily="18" charset="0"/>
                        <a:cs typeface="Times New Roman" panose="02020603050405020304" charset="0"/>
                      </a:rPr>
                      <m:t> </m:t>
                    </m:r>
                    <m:r>
                      <a:rPr lang="en-US" altLang="zh-CN" sz="1600" i="1" dirty="0" smtClean="0">
                        <a:latin typeface="Cambria Math" panose="02040503050406030204" pitchFamily="18" charset="0"/>
                        <a:cs typeface="Times New Roman" panose="02020603050405020304" charset="0"/>
                      </a:rPr>
                      <m:t>𝑥</m:t>
                    </m:r>
                    <m:r>
                      <a:rPr lang="en-US" altLang="zh-CN" sz="1600" i="1" dirty="0" smtClean="0">
                        <a:latin typeface="Cambria Math" panose="02040503050406030204" pitchFamily="18" charset="0"/>
                        <a:cs typeface="Times New Roman" panose="02020603050405020304" charset="0"/>
                      </a:rPr>
                      <m:t> </m:t>
                    </m:r>
                    <m:r>
                      <a:rPr lang="en-US" altLang="zh-CN" sz="1600" i="1" dirty="0" smtClean="0">
                        <a:latin typeface="Cambria Math" panose="02040503050406030204" pitchFamily="18" charset="0"/>
                        <a:cs typeface="Times New Roman" panose="02020603050405020304" charset="0"/>
                      </a:rPr>
                      <m:t>𝑀</m:t>
                    </m:r>
                  </m:oMath>
                </a14:m>
                <a:r>
                  <a:rPr lang="en-US" altLang="zh-CN" sz="1600" dirty="0">
                    <a:latin typeface="Times New Roman" panose="02020603050405020304" charset="0"/>
                    <a:cs typeface="Times New Roman" panose="02020603050405020304" charset="0"/>
                  </a:rPr>
                  <a:t>).</a:t>
                </a:r>
              </a:p>
              <a:p>
                <a:pPr>
                  <a:buFont typeface="Arial" panose="020B0604020202020204"/>
                  <a:buChar char="•"/>
                </a:pPr>
                <a14:m>
                  <m:oMath xmlns:m="http://schemas.openxmlformats.org/officeDocument/2006/math">
                    <m:sSub>
                      <m:sSubPr>
                        <m:ctrlPr>
                          <a:rPr lang="en-US" altLang="zh-CN" sz="1600" b="1" i="1" dirty="0" smtClean="0">
                            <a:latin typeface="Cambria Math" panose="02040503050406030204" pitchFamily="18" charset="0"/>
                            <a:cs typeface="Times New Roman" panose="02020603050405020304" charset="0"/>
                          </a:rPr>
                        </m:ctrlPr>
                      </m:sSubPr>
                      <m:e>
                        <m:r>
                          <m:rPr>
                            <m:sty m:val="p"/>
                          </m:rPr>
                          <a:rPr lang="en-US" altLang="zh-CN" sz="1600" b="1" i="1" dirty="0">
                            <a:latin typeface="Cambria Math" panose="02040503050406030204" pitchFamily="18" charset="0"/>
                            <a:cs typeface="Times New Roman" panose="02020603050405020304" charset="0"/>
                          </a:rPr>
                          <m:t>d</m:t>
                        </m:r>
                      </m:e>
                      <m:sub>
                        <m:r>
                          <m:rPr>
                            <m:sty m:val="p"/>
                          </m:rPr>
                          <a:rPr lang="en-US" altLang="zh-CN" sz="1600" b="1" i="1" dirty="0">
                            <a:latin typeface="Cambria Math" panose="02040503050406030204" pitchFamily="18" charset="0"/>
                            <a:cs typeface="Times New Roman" panose="02020603050405020304" charset="0"/>
                          </a:rPr>
                          <m:t>toBS</m:t>
                        </m:r>
                      </m:sub>
                    </m:sSub>
                  </m:oMath>
                </a14:m>
                <a:r>
                  <a:rPr lang="en-US" altLang="zh-CN" sz="1600" b="1" dirty="0">
                    <a:latin typeface="Times New Roman" panose="02020603050405020304" charset="0"/>
                    <a:cs typeface="Times New Roman" panose="02020603050405020304" charset="0"/>
                  </a:rPr>
                  <a:t>​</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Khoảng</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cách</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trung</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bình</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từ</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một</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nút</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trưởng</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cụm</a:t>
                </a:r>
                <a:r>
                  <a:rPr lang="en-US" altLang="zh-CN" sz="1600" dirty="0">
                    <a:latin typeface="Times New Roman" panose="02020603050405020304" charset="0"/>
                    <a:cs typeface="Times New Roman" panose="02020603050405020304" charset="0"/>
                  </a:rPr>
                  <a:t> (Cluster Head - CH) </a:t>
                </a:r>
                <a:r>
                  <a:rPr lang="en-US" altLang="zh-CN" sz="1600" dirty="0" err="1">
                    <a:latin typeface="Times New Roman" panose="02020603050405020304" charset="0"/>
                    <a:cs typeface="Times New Roman" panose="02020603050405020304" charset="0"/>
                  </a:rPr>
                  <a:t>đến</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trạm</a:t>
                </a:r>
                <a:r>
                  <a:rPr lang="en-US" altLang="zh-CN" sz="1600" dirty="0">
                    <a:latin typeface="Times New Roman" panose="02020603050405020304" charset="0"/>
                    <a:cs typeface="Times New Roman" panose="02020603050405020304" charset="0"/>
                  </a:rPr>
                  <a:t> </a:t>
                </a:r>
                <a:r>
                  <a:rPr lang="en-US" altLang="zh-CN" sz="1600" dirty="0" err="1">
                    <a:latin typeface="Times New Roman" panose="02020603050405020304" charset="0"/>
                    <a:cs typeface="Times New Roman" panose="02020603050405020304" charset="0"/>
                  </a:rPr>
                  <a:t>gốc</a:t>
                </a:r>
                <a:r>
                  <a:rPr lang="en-US" altLang="zh-CN" sz="1600" dirty="0">
                    <a:latin typeface="Times New Roman" panose="02020603050405020304" charset="0"/>
                    <a:cs typeface="Times New Roman" panose="02020603050405020304" charset="0"/>
                  </a:rPr>
                  <a:t> (Base Station - BS).</a:t>
                </a:r>
              </a:p>
            </p:txBody>
          </p:sp>
        </mc:Choice>
        <mc:Fallback xmlns="">
          <p:sp>
            <p:nvSpPr>
              <p:cNvPr id="2" name="Text Box 1"/>
              <p:cNvSpPr txBox="1">
                <a:spLocks noRot="1" noChangeAspect="1" noMove="1" noResize="1" noEditPoints="1" noAdjustHandles="1" noChangeArrowheads="1" noChangeShapeType="1" noTextEdit="1"/>
              </p:cNvSpPr>
              <p:nvPr/>
            </p:nvSpPr>
            <p:spPr>
              <a:xfrm>
                <a:off x="270510" y="3213100"/>
                <a:ext cx="8433435" cy="2105961"/>
              </a:xfrm>
              <a:prstGeom prst="rect">
                <a:avLst/>
              </a:prstGeom>
              <a:blipFill rotWithShape="1">
                <a:blip r:embed="rId4"/>
                <a:stretch>
                  <a:fillRect b="14"/>
                </a:stretch>
              </a:blipFill>
            </p:spPr>
            <p:txBody>
              <a:bodyPr/>
              <a:lstStyle/>
              <a:p>
                <a:r>
                  <a:rPr lang="en-US" altLang="en-US">
                    <a:noFill/>
                  </a:rPr>
                  <a:t> </a:t>
                </a:r>
              </a:p>
            </p:txBody>
          </p:sp>
        </mc:Fallback>
      </mc:AlternateContent>
      <p:pic>
        <p:nvPicPr>
          <p:cNvPr id="4" name="Picture 3"/>
          <p:cNvPicPr>
            <a:picLocks noChangeAspect="1"/>
          </p:cNvPicPr>
          <p:nvPr/>
        </p:nvPicPr>
        <p:blipFill>
          <a:blip r:embed="rId5"/>
          <a:stretch>
            <a:fillRect/>
          </a:stretch>
        </p:blipFill>
        <p:spPr>
          <a:xfrm>
            <a:off x="3347720" y="2061210"/>
            <a:ext cx="3028950" cy="342900"/>
          </a:xfrm>
          <a:prstGeom prst="rect">
            <a:avLst/>
          </a:prstGeom>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Shape 260"/>
        <p:cNvGrpSpPr/>
        <p:nvPr/>
      </p:nvGrpSpPr>
      <p:grpSpPr>
        <a:xfrm>
          <a:off x="0" y="0"/>
          <a:ext cx="0" cy="0"/>
          <a:chOff x="0" y="0"/>
          <a:chExt cx="0" cy="0"/>
        </a:xfrm>
      </p:grpSpPr>
      <p:sp>
        <p:nvSpPr>
          <p:cNvPr id="261" name="Google Shape;261;p40"/>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42</a:t>
            </a:fld>
            <a:endParaRPr lang="en-US"/>
          </a:p>
        </p:txBody>
      </p:sp>
      <p:sp>
        <p:nvSpPr>
          <p:cNvPr id="262" name="Google Shape;262;p40"/>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sym typeface="+mn-ea"/>
              </a:rPr>
              <a:t>3. </a:t>
            </a:r>
            <a:r>
              <a:rPr lang="vi-VN" altLang="en-US">
                <a:sym typeface="+mn-ea"/>
              </a:rPr>
              <a:t>P</a:t>
            </a:r>
            <a:r>
              <a:rPr lang="en-US">
                <a:sym typeface="+mn-ea"/>
              </a:rPr>
              <a:t>hương pháp</a:t>
            </a:r>
            <a:r>
              <a:rPr lang="vi-VN" altLang="en-US">
                <a:sym typeface="+mn-ea"/>
              </a:rPr>
              <a:t> đề xuất</a:t>
            </a:r>
            <a:r>
              <a:rPr lang="en-US">
                <a:sym typeface="+mn-ea"/>
              </a:rPr>
              <a:t> AC-ACO</a:t>
            </a:r>
            <a:br>
              <a:rPr lang="en-US">
                <a:sym typeface="+mn-ea"/>
              </a:rPr>
            </a:br>
            <a:endParaRPr lang="en-US"/>
          </a:p>
        </p:txBody>
      </p:sp>
      <p:sp>
        <p:nvSpPr>
          <p:cNvPr id="263" name="Google Shape;263;p40"/>
          <p:cNvSpPr txBox="1">
            <a:spLocks noGrp="1"/>
          </p:cNvSpPr>
          <p:nvPr>
            <p:ph type="body" idx="1"/>
          </p:nvPr>
        </p:nvSpPr>
        <p:spPr>
          <a:xfrm>
            <a:off x="234950" y="963168"/>
            <a:ext cx="8674200" cy="51327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endParaRPr sz="1800">
              <a:latin typeface="Times New Roman" panose="02020603050405020304" charset="0"/>
              <a:ea typeface="Times New Roman" panose="02020603050405020304"/>
              <a:cs typeface="Times New Roman" panose="02020603050405020304" charset="0"/>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CÁC CÔNG THỨC</a:t>
            </a:r>
            <a:r>
              <a:rPr lang="vi-VN" altLang="en-US" sz="1800">
                <a:latin typeface="Times New Roman" panose="02020603050405020304"/>
                <a:ea typeface="Times New Roman" panose="02020603050405020304"/>
                <a:cs typeface="Times New Roman" panose="02020603050405020304"/>
                <a:sym typeface="Times New Roman" panose="02020603050405020304"/>
              </a:rPr>
              <a:t> ĐỀ XUẤT</a:t>
            </a:r>
            <a:r>
              <a:rPr lang="en-US" sz="1800">
                <a:latin typeface="Times New Roman" panose="02020603050405020304"/>
                <a:ea typeface="Times New Roman" panose="02020603050405020304"/>
                <a:cs typeface="Times New Roman" panose="02020603050405020304"/>
                <a:sym typeface="Times New Roman" panose="02020603050405020304"/>
              </a:rPr>
              <a:t> TRONG WSN (Wireless Sensor Network)</a:t>
            </a:r>
          </a:p>
          <a:p>
            <a:pPr marL="0" lvl="0" indent="0" algn="l" rtl="0">
              <a:lnSpc>
                <a:spcPct val="90000"/>
              </a:lnSpc>
              <a:spcBef>
                <a:spcPts val="1000"/>
              </a:spcBef>
              <a:spcAft>
                <a:spcPts val="0"/>
              </a:spcAft>
              <a:buClr>
                <a:schemeClr val="dk1"/>
              </a:buClr>
              <a:buSzPts val="1800"/>
              <a:buNone/>
            </a:pPr>
            <a:r>
              <a:rPr lang="en-US" sz="1800" b="1">
                <a:latin typeface="Times New Roman" panose="02020603050405020304" charset="0"/>
                <a:ea typeface="Arial" panose="020B0604020202020204"/>
                <a:cs typeface="Times New Roman" panose="02020603050405020304" charset="0"/>
                <a:sym typeface="Arial" panose="020B0604020202020204"/>
              </a:rPr>
              <a:t>							</a:t>
            </a:r>
            <a:r>
              <a:rPr lang="en-US" altLang="en-US" sz="1800" b="1">
                <a:latin typeface="Times New Roman" panose="02020603050405020304"/>
                <a:ea typeface="Times New Roman" panose="02020603050405020304"/>
                <a:cs typeface="Times New Roman" panose="02020603050405020304"/>
                <a:sym typeface="Times New Roman" panose="02020603050405020304"/>
              </a:rPr>
              <a:t>(6) </a:t>
            </a:r>
            <a:endParaRPr lang="en-US" altLang="en-US" sz="1800" b="1">
              <a:latin typeface="Times New Roman" panose="02020603050405020304" charset="0"/>
              <a:ea typeface="Arial" panose="020B0604020202020204"/>
              <a:cs typeface="Times New Roman" panose="02020603050405020304" charset="0"/>
              <a:sym typeface="Arial" panose="020B0604020202020204"/>
            </a:endParaRPr>
          </a:p>
          <a:p>
            <a:pPr marL="0" lvl="0" indent="0" algn="l" rtl="0">
              <a:lnSpc>
                <a:spcPct val="90000"/>
              </a:lnSpc>
              <a:spcBef>
                <a:spcPts val="1000"/>
              </a:spcBef>
              <a:spcAft>
                <a:spcPts val="0"/>
              </a:spcAft>
              <a:buClr>
                <a:schemeClr val="dk1"/>
              </a:buClr>
              <a:buSzPts val="1800"/>
              <a:buNone/>
            </a:pPr>
            <a:endParaRPr sz="1800" b="1">
              <a:latin typeface="Times New Roman" panose="02020603050405020304" charset="0"/>
              <a:ea typeface="Times New Roman" panose="02020603050405020304"/>
              <a:cs typeface="Times New Roman" panose="02020603050405020304" charset="0"/>
              <a:sym typeface="Times New Roman" panose="02020603050405020304"/>
            </a:endParaRPr>
          </a:p>
          <a:p>
            <a:pPr marL="0" lvl="0" indent="0" algn="l" rtl="0">
              <a:lnSpc>
                <a:spcPct val="90000"/>
              </a:lnSpc>
              <a:spcBef>
                <a:spcPts val="1000"/>
              </a:spcBef>
              <a:spcAft>
                <a:spcPts val="0"/>
              </a:spcAft>
              <a:buClr>
                <a:schemeClr val="dk1"/>
              </a:buClr>
              <a:buSzPts val="1800"/>
              <a:buNone/>
            </a:pPr>
            <a:r>
              <a:rPr lang="zh-CN" altLang="en-US" sz="1800">
                <a:latin typeface="Times New Roman" panose="02020603050405020304" charset="0"/>
                <a:ea typeface="Times New Roman" panose="02020603050405020304"/>
                <a:cs typeface="Times New Roman" panose="02020603050405020304" charset="0"/>
                <a:sym typeface="Times New Roman" panose="02020603050405020304"/>
              </a:rPr>
              <a:t>🔹</a:t>
            </a:r>
            <a:r>
              <a:rPr lang="en-US" altLang="en-US" sz="1800" b="1">
                <a:latin typeface="Times New Roman" panose="02020603050405020304" charset="0"/>
                <a:ea typeface="Times New Roman" panose="02020603050405020304"/>
                <a:cs typeface="Times New Roman" panose="02020603050405020304" charset="0"/>
                <a:sym typeface="Times New Roman" panose="02020603050405020304"/>
              </a:rPr>
              <a:t> Ý nghĩa: </a:t>
            </a:r>
            <a:r>
              <a:rPr lang="en-US" altLang="en-US" sz="1800">
                <a:latin typeface="Times New Roman" panose="02020603050405020304" charset="0"/>
                <a:ea typeface="Times New Roman" panose="02020603050405020304"/>
                <a:cs typeface="Times New Roman" panose="02020603050405020304" charset="0"/>
                <a:sym typeface="Times New Roman" panose="02020603050405020304"/>
              </a:rPr>
              <a:t>Tối ưu năng lượng, khoảng cách và cân bằng tải.</a:t>
            </a:r>
          </a:p>
        </p:txBody>
      </p:sp>
      <mc:AlternateContent xmlns:mc="http://schemas.openxmlformats.org/markup-compatibility/2006" xmlns:a14="http://schemas.microsoft.com/office/drawing/2010/main">
        <mc:Choice Requires="a14">
          <p:graphicFrame>
            <p:nvGraphicFramePr>
              <p:cNvPr id="4" name="Table 3"/>
              <p:cNvGraphicFramePr/>
              <p:nvPr/>
            </p:nvGraphicFramePr>
            <p:xfrm>
              <a:off x="467360" y="4221480"/>
              <a:ext cx="7863840" cy="1371600"/>
            </p:xfrm>
            <a:graphic>
              <a:graphicData uri="http://schemas.openxmlformats.org/drawingml/2006/table">
                <a:tbl>
                  <a:tblPr/>
                  <a:tblGrid>
                    <a:gridCol w="1762125">
                      <a:extLst>
                        <a:ext uri="{9D8B030D-6E8A-4147-A177-3AD203B41FA5}">
                          <a16:colId xmlns:a16="http://schemas.microsoft.com/office/drawing/2014/main" val="20000"/>
                        </a:ext>
                      </a:extLst>
                    </a:gridCol>
                    <a:gridCol w="6101715">
                      <a:extLst>
                        <a:ext uri="{9D8B030D-6E8A-4147-A177-3AD203B41FA5}">
                          <a16:colId xmlns:a16="http://schemas.microsoft.com/office/drawing/2014/main" val="20001"/>
                        </a:ext>
                      </a:extLst>
                    </a:gridCol>
                  </a:tblGrid>
                  <a:tr h="0">
                    <a:tc>
                      <a:txBody>
                        <a:bodyPr/>
                        <a:lstStyle/>
                        <a:p>
                          <a:pPr algn="ctr"/>
                          <a:r>
                            <a:rPr lang="en-US" altLang="zh-CN" sz="1800" dirty="0" err="1">
                              <a:latin typeface="Times New Roman" panose="02020603050405020304" charset="0"/>
                              <a:cs typeface="Times New Roman" panose="02020603050405020304" charset="0"/>
                            </a:rPr>
                            <a:t>Ký</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hiệu</a:t>
                          </a:r>
                          <a:endParaRPr lang="en-US" altLang="zh-CN" sz="1800" dirty="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c>
                      <a:txBody>
                        <a:bodyPr/>
                        <a:lstStyle/>
                        <a:p>
                          <a:r>
                            <a:rPr lang="en-US" altLang="zh-CN" sz="1800">
                              <a:latin typeface="Times New Roman" panose="02020603050405020304" charset="0"/>
                              <a:cs typeface="Times New Roman" panose="02020603050405020304" charset="0"/>
                            </a:rPr>
                            <a:t>Giải thích</a:t>
                          </a:r>
                        </a:p>
                      </a:txBody>
                      <a:tcPr marL="0" marR="0" marT="0" marB="0" anchor="ctr">
                        <a:lnL>
                          <a:noFill/>
                        </a:lnL>
                        <a:lnR>
                          <a:noFill/>
                        </a:lnR>
                        <a:lnT>
                          <a:noFill/>
                        </a:lnT>
                        <a:lnB>
                          <a:noFill/>
                        </a:lnB>
                        <a:noFill/>
                      </a:tcPr>
                    </a:tc>
                    <a:extLst>
                      <a:ext uri="{0D108BD9-81ED-4DB2-BD59-A6C34878D82A}">
                        <a16:rowId xmlns:a16="http://schemas.microsoft.com/office/drawing/2014/main" val="10000"/>
                      </a:ext>
                    </a:extLst>
                  </a:tr>
                  <a:tr h="0">
                    <a:tc>
                      <a:txBody>
                        <a:bodyPr/>
                        <a:lstStyle/>
                        <a:p>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cs typeface="Times New Roman" panose="02020603050405020304" charset="0"/>
                                  </a:rPr>
                                  <m:t>𝐸</m:t>
                                </m:r>
                              </m:oMath>
                            </m:oMathPara>
                          </a14:m>
                          <a:endParaRPr/>
                        </a:p>
                      </a:txBody>
                      <a:tcPr marL="0" marR="0" marT="0" marB="0" anchor="ctr">
                        <a:lnL>
                          <a:noFill/>
                        </a:lnL>
                        <a:lnR>
                          <a:noFill/>
                        </a:lnR>
                        <a:lnT>
                          <a:noFill/>
                        </a:lnT>
                        <a:lnB>
                          <a:noFill/>
                        </a:lnB>
                        <a:noFill/>
                      </a:tcPr>
                    </a:tc>
                    <a:tc>
                      <a:txBody>
                        <a:bodyPr/>
                        <a:lstStyle/>
                        <a:p>
                          <a:r>
                            <a:rPr lang="en-US" altLang="zh-CN" sz="1800">
                              <a:latin typeface="Times New Roman" panose="02020603050405020304" charset="0"/>
                              <a:cs typeface="Times New Roman" panose="02020603050405020304" charset="0"/>
                            </a:rPr>
                            <a:t>Tổng năng lượng tiêu thụ</a:t>
                          </a:r>
                        </a:p>
                      </a:txBody>
                      <a:tcPr marL="0" marR="0" marT="0" marB="0" anchor="ctr">
                        <a:lnL>
                          <a:noFill/>
                        </a:lnL>
                        <a:lnR>
                          <a:noFill/>
                        </a:lnR>
                        <a:lnT>
                          <a:noFill/>
                        </a:lnT>
                        <a:lnB>
                          <a:noFill/>
                        </a:lnB>
                        <a:noFill/>
                      </a:tcPr>
                    </a:tc>
                    <a:extLst>
                      <a:ext uri="{0D108BD9-81ED-4DB2-BD59-A6C34878D82A}">
                        <a16:rowId xmlns:a16="http://schemas.microsoft.com/office/drawing/2014/main" val="10001"/>
                      </a:ext>
                    </a:extLst>
                  </a:tr>
                  <a:tr h="0">
                    <a:tc>
                      <a:txBody>
                        <a:bodyPr/>
                        <a:lstStyle/>
                        <a:p>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cs typeface="Times New Roman" panose="02020603050405020304" charset="0"/>
                                  </a:rPr>
                                  <m:t>𝐷</m:t>
                                </m:r>
                              </m:oMath>
                            </m:oMathPara>
                          </a14:m>
                          <a:endParaRPr/>
                        </a:p>
                      </a:txBody>
                      <a:tcPr marL="0" marR="0" marT="0" marB="0" anchor="ctr">
                        <a:lnL>
                          <a:noFill/>
                        </a:lnL>
                        <a:lnR>
                          <a:noFill/>
                        </a:lnR>
                        <a:lnT>
                          <a:noFill/>
                        </a:lnT>
                        <a:lnB>
                          <a:noFill/>
                        </a:lnB>
                        <a:noFill/>
                      </a:tcPr>
                    </a:tc>
                    <a:tc>
                      <a:txBody>
                        <a:bodyPr/>
                        <a:lstStyle/>
                        <a:p>
                          <a:r>
                            <a:rPr lang="en-US" altLang="zh-CN" sz="1800">
                              <a:latin typeface="Times New Roman" panose="02020603050405020304" charset="0"/>
                              <a:cs typeface="Times New Roman" panose="02020603050405020304" charset="0"/>
                            </a:rPr>
                            <a:t>Tổng khoảng cách truyền</a:t>
                          </a:r>
                        </a:p>
                      </a:txBody>
                      <a:tcPr marL="0" marR="0" marT="0" marB="0" anchor="ctr">
                        <a:lnL>
                          <a:noFill/>
                        </a:lnL>
                        <a:lnR>
                          <a:noFill/>
                        </a:lnR>
                        <a:lnT>
                          <a:noFill/>
                        </a:lnT>
                        <a:lnB>
                          <a:noFill/>
                        </a:lnB>
                        <a:noFill/>
                      </a:tcPr>
                    </a:tc>
                    <a:extLst>
                      <a:ext uri="{0D108BD9-81ED-4DB2-BD59-A6C34878D82A}">
                        <a16:rowId xmlns:a16="http://schemas.microsoft.com/office/drawing/2014/main" val="10002"/>
                      </a:ext>
                    </a:extLst>
                  </a:tr>
                  <a:tr h="0">
                    <a:tc>
                      <a:txBody>
                        <a:bodyPr/>
                        <a:lstStyle/>
                        <a:p>
                          <a:pPr/>
                          <a14:m>
                            <m:oMathPara xmlns:m="http://schemas.openxmlformats.org/officeDocument/2006/math">
                              <m:oMathParaPr>
                                <m:jc m:val="centerGroup"/>
                              </m:oMathParaPr>
                              <m:oMath xmlns:m="http://schemas.openxmlformats.org/officeDocument/2006/math">
                                <m:r>
                                  <a:rPr lang="en-US" altLang="zh-CN" sz="1800" i="1" dirty="0" smtClean="0">
                                    <a:latin typeface="Cambria Math" panose="02040503050406030204" pitchFamily="18" charset="0"/>
                                    <a:cs typeface="Times New Roman" panose="02020603050405020304" charset="0"/>
                                  </a:rPr>
                                  <m:t>𝐿</m:t>
                                </m:r>
                              </m:oMath>
                            </m:oMathPara>
                          </a14:m>
                          <a:endParaRPr/>
                        </a:p>
                      </a:txBody>
                      <a:tcPr marL="0" marR="0" marT="0" marB="0" anchor="ctr">
                        <a:lnL>
                          <a:noFill/>
                        </a:lnL>
                        <a:lnR>
                          <a:noFill/>
                        </a:lnR>
                        <a:lnT>
                          <a:noFill/>
                        </a:lnT>
                        <a:lnB>
                          <a:noFill/>
                        </a:lnB>
                        <a:noFill/>
                      </a:tcPr>
                    </a:tc>
                    <a:tc>
                      <a:txBody>
                        <a:bodyPr/>
                        <a:lstStyle/>
                        <a:p>
                          <a:r>
                            <a:rPr lang="en-US" altLang="zh-CN" sz="1800">
                              <a:latin typeface="Times New Roman" panose="02020603050405020304" charset="0"/>
                              <a:cs typeface="Times New Roman" panose="02020603050405020304" charset="0"/>
                            </a:rPr>
                            <a:t>Độ lệch tải giữa các nút</a:t>
                          </a:r>
                        </a:p>
                      </a:txBody>
                      <a:tcPr marL="0" marR="0" marT="0" marB="0" anchor="ctr">
                        <a:lnL>
                          <a:noFill/>
                        </a:lnL>
                        <a:lnR>
                          <a:noFill/>
                        </a:lnR>
                        <a:lnT>
                          <a:noFill/>
                        </a:lnT>
                        <a:lnB>
                          <a:noFill/>
                        </a:lnB>
                        <a:noFill/>
                      </a:tcPr>
                    </a:tc>
                    <a:extLst>
                      <a:ext uri="{0D108BD9-81ED-4DB2-BD59-A6C34878D82A}">
                        <a16:rowId xmlns:a16="http://schemas.microsoft.com/office/drawing/2014/main" val="10003"/>
                      </a:ext>
                    </a:extLst>
                  </a:tr>
                  <a:tr h="0">
                    <a:tc>
                      <a:txBody>
                        <a:bodyPr/>
                        <a:lstStyle/>
                        <a:p>
                          <a:pPr/>
                          <a14:m>
                            <m:oMathPara xmlns:m="http://schemas.openxmlformats.org/officeDocument/2006/math">
                              <m:oMathParaPr>
                                <m:jc m:val="centerGroup"/>
                              </m:oMathParaPr>
                              <m:oMath xmlns:m="http://schemas.openxmlformats.org/officeDocument/2006/math">
                                <m:sSub>
                                  <m:sSubPr>
                                    <m:ctrlPr>
                                      <a:rPr lang="en-US" altLang="zh-CN" sz="1800" i="1" dirty="0" smtClean="0">
                                        <a:latin typeface="Cambria Math" panose="02040503050406030204" pitchFamily="18" charset="0"/>
                                        <a:cs typeface="Times New Roman" panose="02020603050405020304" charset="0"/>
                                      </a:rPr>
                                    </m:ctrlPr>
                                  </m:sSubPr>
                                  <m:e>
                                    <m:r>
                                      <m:rPr>
                                        <m:sty m:val="p"/>
                                      </m:rPr>
                                      <a:rPr lang="en-US" altLang="zh-CN" sz="1800" i="1" dirty="0" smtClean="0">
                                        <a:latin typeface="Cambria Math" panose="02040503050406030204" pitchFamily="18" charset="0"/>
                                        <a:cs typeface="Times New Roman" panose="02020603050405020304" charset="0"/>
                                      </a:rPr>
                                      <m:t>w</m:t>
                                    </m:r>
                                  </m:e>
                                  <m:sub>
                                    <m:r>
                                      <m:rPr>
                                        <m:sty m:val="p"/>
                                      </m:rPr>
                                      <a:rPr lang="en-US" altLang="zh-CN" sz="1800" i="1" dirty="0" smtClean="0">
                                        <a:latin typeface="Cambria Math" panose="02040503050406030204" pitchFamily="18" charset="0"/>
                                        <a:cs typeface="Times New Roman" panose="02020603050405020304" charset="0"/>
                                      </a:rPr>
                                      <m:t>i</m:t>
                                    </m:r>
                                  </m:sub>
                                </m:sSub>
                              </m:oMath>
                            </m:oMathPara>
                          </a14:m>
                          <a:endParaRPr/>
                        </a:p>
                      </a:txBody>
                      <a:tcPr marL="0" marR="0" marT="0" marB="0" anchor="ctr">
                        <a:lnL>
                          <a:noFill/>
                        </a:lnL>
                        <a:lnR>
                          <a:noFill/>
                        </a:lnR>
                        <a:lnT>
                          <a:noFill/>
                        </a:lnT>
                        <a:lnB>
                          <a:noFill/>
                        </a:lnB>
                        <a:noFill/>
                      </a:tcPr>
                    </a:tc>
                    <a:tc>
                      <a:txBody>
                        <a:bodyPr/>
                        <a:lstStyle/>
                        <a:p>
                          <a:r>
                            <a:rPr lang="en-US" altLang="zh-CN" sz="1800" dirty="0" err="1">
                              <a:latin typeface="Times New Roman" panose="02020603050405020304" charset="0"/>
                              <a:cs typeface="Times New Roman" panose="02020603050405020304" charset="0"/>
                            </a:rPr>
                            <a:t>Trọng</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số</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từng</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tiêu</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chí</a:t>
                          </a:r>
                          <a:endParaRPr lang="en-US" altLang="zh-CN" sz="1800" dirty="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extLst>
                      <a:ext uri="{0D108BD9-81ED-4DB2-BD59-A6C34878D82A}">
                        <a16:rowId xmlns:a16="http://schemas.microsoft.com/office/drawing/2014/main" val="10004"/>
                      </a:ext>
                    </a:extLst>
                  </a:tr>
                </a:tbl>
              </a:graphicData>
            </a:graphic>
          </p:graphicFrame>
        </mc:Choice>
        <mc:Fallback xmlns="">
          <p:graphicFrame>
            <p:nvGraphicFramePr>
              <p:cNvPr id="4" name="Table 3"/>
              <p:cNvGraphicFramePr/>
              <p:nvPr/>
            </p:nvGraphicFramePr>
            <p:xfrm>
              <a:off x="467360" y="4221480"/>
              <a:ext cx="7863840" cy="1371600"/>
            </p:xfrm>
            <a:graphic>
              <a:graphicData uri="http://schemas.openxmlformats.org/drawingml/2006/table">
                <a:tbl>
                  <a:tblPr/>
                  <a:tblGrid>
                    <a:gridCol w="1762125"/>
                    <a:gridCol w="6101715"/>
                  </a:tblGrid>
                  <a:tr h="0">
                    <a:tc>
                      <a:txBody>
                        <a:bodyPr/>
                        <a:lstStyle/>
                        <a:p>
                          <a:pPr algn="ctr"/>
                          <a:r>
                            <a:rPr lang="en-US" altLang="zh-CN" sz="1800" dirty="0" err="1">
                              <a:latin typeface="Times New Roman" panose="02020603050405020304" charset="0"/>
                              <a:cs typeface="Times New Roman" panose="02020603050405020304" charset="0"/>
                            </a:rPr>
                            <a:t>Ký</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hiệu</a:t>
                          </a:r>
                          <a:endParaRPr lang="en-US" altLang="zh-CN" sz="1800" dirty="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c>
                      <a:txBody>
                        <a:bodyPr/>
                        <a:lstStyle/>
                        <a:p>
                          <a:r>
                            <a:rPr lang="en-US" altLang="zh-CN" sz="1800">
                              <a:latin typeface="Times New Roman" panose="02020603050405020304" charset="0"/>
                              <a:cs typeface="Times New Roman" panose="02020603050405020304" charset="0"/>
                            </a:rPr>
                            <a:t>Giải thích</a:t>
                          </a:r>
                          <a:endParaRPr lang="en-US" altLang="zh-CN" sz="180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r>
                  <a:tr h="274320">
                    <a:tc>
                      <a:txBody>
                        <a:bodyPr/>
                        <a:lstStyle/>
                        <a:p>
                          <a:endParaRPr lang="en-US"/>
                        </a:p>
                      </a:txBody>
                      <a:tcPr marL="0" marR="0" marT="0" marB="0" anchor="ctr">
                        <a:lnL>
                          <a:noFill/>
                        </a:lnL>
                        <a:lnR>
                          <a:noFill/>
                        </a:lnR>
                        <a:lnT>
                          <a:noFill/>
                        </a:lnT>
                        <a:lnB>
                          <a:noFill/>
                        </a:lnB>
                        <a:blipFill>
                          <a:blip r:embed="rId3"/>
                        </a:blipFill>
                      </a:tcPr>
                    </a:tc>
                    <a:tc>
                      <a:txBody>
                        <a:bodyPr/>
                        <a:lstStyle/>
                        <a:p>
                          <a:r>
                            <a:rPr lang="en-US" altLang="zh-CN" sz="1800">
                              <a:latin typeface="Times New Roman" panose="02020603050405020304" charset="0"/>
                              <a:cs typeface="Times New Roman" panose="02020603050405020304" charset="0"/>
                            </a:rPr>
                            <a:t>Tổng năng lượng tiêu thụ</a:t>
                          </a:r>
                          <a:endParaRPr lang="en-US" altLang="zh-CN" sz="180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r>
                  <a:tr h="274320">
                    <a:tc>
                      <a:txBody>
                        <a:bodyPr/>
                        <a:lstStyle/>
                        <a:p>
                          <a:endParaRPr lang="en-US"/>
                        </a:p>
                      </a:txBody>
                      <a:tcPr marL="0" marR="0" marT="0" marB="0" anchor="ctr">
                        <a:lnL>
                          <a:noFill/>
                        </a:lnL>
                        <a:lnR>
                          <a:noFill/>
                        </a:lnR>
                        <a:lnT>
                          <a:noFill/>
                        </a:lnT>
                        <a:lnB>
                          <a:noFill/>
                        </a:lnB>
                        <a:blipFill>
                          <a:blip r:embed="rId3"/>
                        </a:blipFill>
                      </a:tcPr>
                    </a:tc>
                    <a:tc>
                      <a:txBody>
                        <a:bodyPr/>
                        <a:lstStyle/>
                        <a:p>
                          <a:r>
                            <a:rPr lang="en-US" altLang="zh-CN" sz="1800">
                              <a:latin typeface="Times New Roman" panose="02020603050405020304" charset="0"/>
                              <a:cs typeface="Times New Roman" panose="02020603050405020304" charset="0"/>
                            </a:rPr>
                            <a:t>Tổng khoảng cách truyền</a:t>
                          </a:r>
                          <a:endParaRPr lang="en-US" altLang="zh-CN" sz="180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r>
                  <a:tr h="274320">
                    <a:tc>
                      <a:txBody>
                        <a:bodyPr/>
                        <a:lstStyle/>
                        <a:p>
                          <a:endParaRPr lang="en-US"/>
                        </a:p>
                      </a:txBody>
                      <a:tcPr marL="0" marR="0" marT="0" marB="0" anchor="ctr">
                        <a:lnL>
                          <a:noFill/>
                        </a:lnL>
                        <a:lnR>
                          <a:noFill/>
                        </a:lnR>
                        <a:lnT>
                          <a:noFill/>
                        </a:lnT>
                        <a:lnB>
                          <a:noFill/>
                        </a:lnB>
                        <a:blipFill>
                          <a:blip r:embed="rId3"/>
                        </a:blipFill>
                      </a:tcPr>
                    </a:tc>
                    <a:tc>
                      <a:txBody>
                        <a:bodyPr/>
                        <a:lstStyle/>
                        <a:p>
                          <a:r>
                            <a:rPr lang="en-US" altLang="zh-CN" sz="1800">
                              <a:latin typeface="Times New Roman" panose="02020603050405020304" charset="0"/>
                              <a:cs typeface="Times New Roman" panose="02020603050405020304" charset="0"/>
                            </a:rPr>
                            <a:t>Độ lệch tải giữa các nút</a:t>
                          </a:r>
                          <a:endParaRPr lang="en-US" altLang="zh-CN" sz="180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r>
                  <a:tr h="274320">
                    <a:tc>
                      <a:txBody>
                        <a:bodyPr/>
                        <a:lstStyle/>
                        <a:p>
                          <a:endParaRPr lang="en-US"/>
                        </a:p>
                      </a:txBody>
                      <a:tcPr marL="0" marR="0" marT="0" marB="0" anchor="ctr">
                        <a:lnL>
                          <a:noFill/>
                        </a:lnL>
                        <a:lnR>
                          <a:noFill/>
                        </a:lnR>
                        <a:lnT>
                          <a:noFill/>
                        </a:lnT>
                        <a:lnB>
                          <a:noFill/>
                        </a:lnB>
                        <a:blipFill>
                          <a:blip r:embed="rId3"/>
                        </a:blipFill>
                      </a:tcPr>
                    </a:tc>
                    <a:tc>
                      <a:txBody>
                        <a:bodyPr/>
                        <a:lstStyle/>
                        <a:p>
                          <a:r>
                            <a:rPr lang="en-US" altLang="zh-CN" sz="1800" dirty="0" err="1">
                              <a:latin typeface="Times New Roman" panose="02020603050405020304" charset="0"/>
                              <a:cs typeface="Times New Roman" panose="02020603050405020304" charset="0"/>
                            </a:rPr>
                            <a:t>Trọng</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số</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từng</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tiêu</a:t>
                          </a:r>
                          <a:r>
                            <a:rPr lang="en-US" altLang="zh-CN" sz="1800" dirty="0">
                              <a:latin typeface="Times New Roman" panose="02020603050405020304" charset="0"/>
                              <a:cs typeface="Times New Roman" panose="02020603050405020304" charset="0"/>
                            </a:rPr>
                            <a:t> </a:t>
                          </a:r>
                          <a:r>
                            <a:rPr lang="en-US" altLang="zh-CN" sz="1800" dirty="0" err="1">
                              <a:latin typeface="Times New Roman" panose="02020603050405020304" charset="0"/>
                              <a:cs typeface="Times New Roman" panose="02020603050405020304" charset="0"/>
                            </a:rPr>
                            <a:t>chí</a:t>
                          </a:r>
                          <a:endParaRPr lang="en-US" altLang="zh-CN" sz="1800" dirty="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r>
                </a:tbl>
              </a:graphicData>
            </a:graphic>
          </p:graphicFrame>
        </mc:Fallback>
      </mc:AlternateContent>
      <p:pic>
        <p:nvPicPr>
          <p:cNvPr id="5" name="Picture 4"/>
          <p:cNvPicPr>
            <a:picLocks noChangeAspect="1"/>
          </p:cNvPicPr>
          <p:nvPr/>
        </p:nvPicPr>
        <p:blipFill>
          <a:blip r:embed="rId4"/>
          <a:stretch>
            <a:fillRect/>
          </a:stretch>
        </p:blipFill>
        <p:spPr>
          <a:xfrm>
            <a:off x="2627630" y="1988820"/>
            <a:ext cx="3590925" cy="495300"/>
          </a:xfrm>
          <a:prstGeom prst="rect">
            <a:avLst/>
          </a:prstGeom>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0"/>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43</a:t>
            </a:fld>
            <a:endParaRPr lang="en-US"/>
          </a:p>
        </p:txBody>
      </p:sp>
      <p:sp>
        <p:nvSpPr>
          <p:cNvPr id="262" name="Google Shape;262;p40"/>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sym typeface="+mn-ea"/>
              </a:rPr>
              <a:t>3. </a:t>
            </a:r>
            <a:r>
              <a:rPr lang="vi-VN" altLang="en-US">
                <a:sym typeface="+mn-ea"/>
              </a:rPr>
              <a:t>P</a:t>
            </a:r>
            <a:r>
              <a:rPr lang="en-US">
                <a:sym typeface="+mn-ea"/>
              </a:rPr>
              <a:t>hương pháp</a:t>
            </a:r>
            <a:r>
              <a:rPr lang="vi-VN" altLang="en-US">
                <a:sym typeface="+mn-ea"/>
              </a:rPr>
              <a:t> đề xuất</a:t>
            </a:r>
            <a:r>
              <a:rPr lang="en-US">
                <a:sym typeface="+mn-ea"/>
              </a:rPr>
              <a:t> AC-ACO</a:t>
            </a:r>
            <a:br>
              <a:rPr lang="en-US">
                <a:sym typeface="+mn-ea"/>
              </a:rPr>
            </a:br>
            <a:endParaRPr lang="en-US"/>
          </a:p>
        </p:txBody>
      </p:sp>
      <p:sp>
        <p:nvSpPr>
          <p:cNvPr id="263" name="Google Shape;263;p40"/>
          <p:cNvSpPr txBox="1">
            <a:spLocks noGrp="1"/>
          </p:cNvSpPr>
          <p:nvPr>
            <p:ph type="body" idx="1"/>
          </p:nvPr>
        </p:nvSpPr>
        <p:spPr>
          <a:xfrm>
            <a:off x="234950" y="748030"/>
            <a:ext cx="8674100" cy="428434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endParaRPr lang="en-US"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CÁC CÔNG THỨC</a:t>
            </a:r>
            <a:r>
              <a:rPr lang="vi-VN" altLang="en-US" sz="1800">
                <a:latin typeface="Times New Roman" panose="02020603050405020304"/>
                <a:ea typeface="Times New Roman" panose="02020603050405020304"/>
                <a:cs typeface="Times New Roman" panose="02020603050405020304"/>
                <a:sym typeface="Times New Roman" panose="02020603050405020304"/>
              </a:rPr>
              <a:t> ĐỀ XUẤT </a:t>
            </a:r>
            <a:r>
              <a:rPr lang="en-US" sz="1800">
                <a:latin typeface="Times New Roman" panose="02020603050405020304"/>
                <a:ea typeface="Times New Roman" panose="02020603050405020304"/>
                <a:cs typeface="Times New Roman" panose="02020603050405020304"/>
                <a:sym typeface="Times New Roman" panose="02020603050405020304"/>
              </a:rPr>
              <a:t> TRONG WSN (Wireless Sensor Network)</a:t>
            </a:r>
          </a:p>
          <a:p>
            <a:pPr marL="0" lvl="0" indent="0" algn="l" rtl="0">
              <a:lnSpc>
                <a:spcPct val="90000"/>
              </a:lnSpc>
              <a:spcBef>
                <a:spcPts val="0"/>
              </a:spcBef>
              <a:spcAft>
                <a:spcPts val="0"/>
              </a:spcAft>
              <a:buClr>
                <a:schemeClr val="dk1"/>
              </a:buClr>
              <a:buSzPts val="1800"/>
              <a:buNone/>
            </a:pPr>
            <a:endParaRPr lang="en-US" altLang="en-US" sz="1800" b="1">
              <a:latin typeface="Times New Roman" panose="02020603050405020304" charset="0"/>
              <a:ea typeface="Arial" panose="020B0604020202020204"/>
              <a:cs typeface="Times New Roman" panose="02020603050405020304" charset="0"/>
              <a:sym typeface="Arial" panose="020B0604020202020204"/>
            </a:endParaRPr>
          </a:p>
          <a:p>
            <a:pPr marL="0" lvl="0" indent="0" algn="l" rtl="0">
              <a:lnSpc>
                <a:spcPct val="90000"/>
              </a:lnSpc>
              <a:spcBef>
                <a:spcPts val="0"/>
              </a:spcBef>
              <a:spcAft>
                <a:spcPts val="0"/>
              </a:spcAft>
              <a:buClr>
                <a:schemeClr val="dk1"/>
              </a:buClr>
              <a:buSzPts val="1800"/>
              <a:buNone/>
            </a:pPr>
            <a:r>
              <a:rPr lang="vi-VN" altLang="en-US" sz="1800" b="1">
                <a:latin typeface="Times New Roman" panose="02020603050405020304" charset="0"/>
                <a:ea typeface="Arial" panose="020B0604020202020204"/>
                <a:cs typeface="Times New Roman" panose="02020603050405020304" charset="0"/>
                <a:sym typeface="Arial" panose="020B0604020202020204"/>
              </a:rPr>
              <a:t> H</a:t>
            </a:r>
            <a:r>
              <a:rPr lang="en-US" altLang="en-US" sz="1800" b="1">
                <a:latin typeface="Times New Roman" panose="02020603050405020304" charset="0"/>
                <a:ea typeface="Arial" panose="020B0604020202020204"/>
                <a:cs typeface="Times New Roman" panose="02020603050405020304" charset="0"/>
                <a:sym typeface="Arial" panose="020B0604020202020204"/>
              </a:rPr>
              <a:t>àm mục tiêu trong ACO</a:t>
            </a:r>
          </a:p>
          <a:p>
            <a:pPr marL="0" lvl="0" indent="0" algn="l" rtl="0">
              <a:lnSpc>
                <a:spcPct val="90000"/>
              </a:lnSpc>
              <a:spcBef>
                <a:spcPts val="1000"/>
              </a:spcBef>
              <a:spcAft>
                <a:spcPts val="0"/>
              </a:spcAft>
              <a:buClr>
                <a:schemeClr val="dk1"/>
              </a:buClr>
              <a:buSzPts val="1800"/>
              <a:buNone/>
            </a:pPr>
            <a:r>
              <a:rPr lang="en-US" sz="1800" b="1">
                <a:latin typeface="Times New Roman" panose="02020603050405020304" charset="0"/>
                <a:ea typeface="Arial" panose="020B0604020202020204"/>
                <a:cs typeface="Times New Roman" panose="02020603050405020304" charset="0"/>
                <a:sym typeface="Arial" panose="020B0604020202020204"/>
              </a:rPr>
              <a:t>							</a:t>
            </a:r>
            <a:r>
              <a:rPr lang="vi-VN" altLang="en-US" sz="1800" b="1">
                <a:latin typeface="Times New Roman" panose="02020603050405020304" charset="0"/>
                <a:ea typeface="Arial" panose="020B0604020202020204"/>
                <a:cs typeface="Times New Roman" panose="02020603050405020304" charset="0"/>
                <a:sym typeface="Arial" panose="020B0604020202020204"/>
              </a:rPr>
              <a:t>  </a:t>
            </a:r>
            <a:r>
              <a:rPr lang="en-US" altLang="en-US" sz="1800" b="1">
                <a:latin typeface="Times New Roman" panose="02020603050405020304"/>
                <a:ea typeface="Times New Roman" panose="02020603050405020304"/>
                <a:cs typeface="Times New Roman" panose="02020603050405020304"/>
                <a:sym typeface="Times New Roman" panose="02020603050405020304"/>
              </a:rPr>
              <a:t>(6) </a:t>
            </a:r>
          </a:p>
          <a:p>
            <a:pPr marL="0" lvl="0" indent="0" algn="l" rtl="0">
              <a:lnSpc>
                <a:spcPct val="90000"/>
              </a:lnSpc>
              <a:spcBef>
                <a:spcPts val="1000"/>
              </a:spcBef>
              <a:spcAft>
                <a:spcPts val="0"/>
              </a:spcAft>
              <a:buClr>
                <a:schemeClr val="dk1"/>
              </a:buClr>
              <a:buSzPts val="1800"/>
              <a:buNone/>
            </a:pPr>
            <a:r>
              <a:rPr lang="en-US" altLang="en-US" sz="1800" b="1">
                <a:latin typeface="Times New Roman" panose="02020603050405020304"/>
                <a:ea typeface="Times New Roman" panose="02020603050405020304"/>
                <a:cs typeface="Times New Roman" panose="02020603050405020304"/>
                <a:sym typeface="Times New Roman" panose="02020603050405020304"/>
              </a:rPr>
              <a:t> </a:t>
            </a:r>
            <a:r>
              <a:rPr lang="vi-VN" altLang="en-US" sz="1800" b="1">
                <a:latin typeface="Times New Roman" panose="02020603050405020304"/>
                <a:ea typeface="Times New Roman" panose="02020603050405020304"/>
                <a:cs typeface="Times New Roman" panose="02020603050405020304"/>
                <a:sym typeface="Times New Roman" panose="02020603050405020304"/>
              </a:rPr>
              <a:t>        </a:t>
            </a:r>
            <a:endParaRPr lang="zh-CN" altLang="en-US" sz="1800">
              <a:latin typeface="Times New Roman" panose="02020603050405020304" charset="0"/>
              <a:ea typeface="Times New Roman" panose="02020603050405020304"/>
              <a:cs typeface="Times New Roman" panose="02020603050405020304" charset="0"/>
              <a:sym typeface="Times New Roman" panose="02020603050405020304"/>
            </a:endParaRPr>
          </a:p>
          <a:p>
            <a:pPr marL="0" lvl="0" indent="0" algn="l" rtl="0">
              <a:lnSpc>
                <a:spcPct val="90000"/>
              </a:lnSpc>
              <a:spcBef>
                <a:spcPts val="1000"/>
              </a:spcBef>
              <a:spcAft>
                <a:spcPts val="0"/>
              </a:spcAft>
              <a:buClr>
                <a:schemeClr val="dk1"/>
              </a:buClr>
              <a:buSzPts val="1800"/>
              <a:buNone/>
            </a:pPr>
            <a:r>
              <a:rPr lang="zh-CN" altLang="en-US" sz="1800">
                <a:latin typeface="Times New Roman" panose="02020603050405020304" charset="0"/>
                <a:ea typeface="Times New Roman" panose="02020603050405020304"/>
                <a:cs typeface="Times New Roman" panose="02020603050405020304" charset="0"/>
                <a:sym typeface="Times New Roman" panose="02020603050405020304"/>
              </a:rPr>
              <a:t>🔹</a:t>
            </a:r>
            <a:r>
              <a:rPr lang="en-US" altLang="en-US" sz="1800" b="1">
                <a:latin typeface="Times New Roman" panose="02020603050405020304" charset="0"/>
                <a:ea typeface="Times New Roman" panose="02020603050405020304"/>
                <a:cs typeface="Times New Roman" panose="02020603050405020304" charset="0"/>
                <a:sym typeface="Times New Roman" panose="02020603050405020304"/>
              </a:rPr>
              <a:t> Ý nghĩa: </a:t>
            </a:r>
            <a:r>
              <a:rPr lang="en-US" altLang="en-US" sz="1800">
                <a:latin typeface="Times New Roman" panose="02020603050405020304" charset="0"/>
                <a:ea typeface="Times New Roman" panose="02020603050405020304"/>
                <a:cs typeface="Times New Roman" panose="02020603050405020304" charset="0"/>
                <a:sym typeface="Times New Roman" panose="02020603050405020304"/>
              </a:rPr>
              <a:t>Tối ưu năng lượng, khoảng cách và cân bằng tải.</a:t>
            </a:r>
          </a:p>
        </p:txBody>
      </p:sp>
      <p:graphicFrame>
        <p:nvGraphicFramePr>
          <p:cNvPr id="4" name="Table 3"/>
          <p:cNvGraphicFramePr/>
          <p:nvPr>
            <p:custDataLst>
              <p:tags r:id="rId1"/>
            </p:custDataLst>
          </p:nvPr>
        </p:nvGraphicFramePr>
        <p:xfrm>
          <a:off x="400050" y="2997200"/>
          <a:ext cx="8413750" cy="2443480"/>
        </p:xfrm>
        <a:graphic>
          <a:graphicData uri="http://schemas.openxmlformats.org/drawingml/2006/table">
            <a:tbl>
              <a:tblPr/>
              <a:tblGrid>
                <a:gridCol w="1031240">
                  <a:extLst>
                    <a:ext uri="{9D8B030D-6E8A-4147-A177-3AD203B41FA5}">
                      <a16:colId xmlns:a16="http://schemas.microsoft.com/office/drawing/2014/main" val="20000"/>
                    </a:ext>
                  </a:extLst>
                </a:gridCol>
                <a:gridCol w="5046345">
                  <a:extLst>
                    <a:ext uri="{9D8B030D-6E8A-4147-A177-3AD203B41FA5}">
                      <a16:colId xmlns:a16="http://schemas.microsoft.com/office/drawing/2014/main" val="20001"/>
                    </a:ext>
                  </a:extLst>
                </a:gridCol>
                <a:gridCol w="2336165">
                  <a:extLst>
                    <a:ext uri="{9D8B030D-6E8A-4147-A177-3AD203B41FA5}">
                      <a16:colId xmlns:a16="http://schemas.microsoft.com/office/drawing/2014/main" val="20002"/>
                    </a:ext>
                  </a:extLst>
                </a:gridCol>
              </a:tblGrid>
              <a:tr h="339090">
                <a:tc>
                  <a:txBody>
                    <a:bodyPr/>
                    <a:lstStyle/>
                    <a:p>
                      <a:r>
                        <a:rPr lang="en-US" altLang="zh-CN" sz="1800">
                          <a:latin typeface="Times New Roman" panose="02020603050405020304" charset="0"/>
                          <a:cs typeface="Times New Roman" panose="02020603050405020304" charset="0"/>
                        </a:rPr>
                        <a:t>Ký hiệu</a:t>
                      </a:r>
                    </a:p>
                  </a:txBody>
                  <a:tcPr marL="0" marR="0" marT="0" marB="0" anchor="ctr">
                    <a:lnL>
                      <a:noFill/>
                    </a:lnL>
                    <a:lnR>
                      <a:noFill/>
                    </a:lnR>
                    <a:lnT>
                      <a:noFill/>
                    </a:lnT>
                    <a:lnB>
                      <a:noFill/>
                    </a:lnB>
                    <a:noFill/>
                  </a:tcPr>
                </a:tc>
                <a:tc>
                  <a:txBody>
                    <a:bodyPr/>
                    <a:lstStyle/>
                    <a:p>
                      <a:r>
                        <a:rPr lang="en-US" altLang="zh-CN" sz="1800">
                          <a:latin typeface="Times New Roman" panose="02020603050405020304" charset="0"/>
                          <a:cs typeface="Times New Roman" panose="02020603050405020304" charset="0"/>
                        </a:rPr>
                        <a:t>Giải thích</a:t>
                      </a:r>
                    </a:p>
                  </a:txBody>
                  <a:tcPr marL="0" marR="0" marT="0" marB="0" anchor="ctr">
                    <a:lnL>
                      <a:noFill/>
                    </a:lnL>
                    <a:lnR>
                      <a:noFill/>
                    </a:lnR>
                    <a:lnT>
                      <a:noFill/>
                    </a:lnT>
                    <a:lnB>
                      <a:noFill/>
                    </a:lnB>
                    <a:noFill/>
                  </a:tcPr>
                </a:tc>
                <a:tc>
                  <a:txBody>
                    <a:bodyPr/>
                    <a:lstStyle/>
                    <a:p>
                      <a:pPr>
                        <a:buNone/>
                      </a:pPr>
                      <a:r>
                        <a:rPr lang="vi-VN" altLang="en-US" sz="1800">
                          <a:latin typeface="Times New Roman" panose="02020603050405020304" charset="0"/>
                          <a:cs typeface="Times New Roman" panose="02020603050405020304" charset="0"/>
                        </a:rPr>
                        <a:t>Công thức</a:t>
                      </a:r>
                    </a:p>
                  </a:txBody>
                  <a:tcPr marL="0" marR="0" marT="0" marB="0" anchor="ctr">
                    <a:lnL>
                      <a:noFill/>
                    </a:lnL>
                    <a:lnR>
                      <a:noFill/>
                    </a:lnR>
                    <a:lnT>
                      <a:noFill/>
                    </a:lnT>
                    <a:lnB>
                      <a:noFill/>
                    </a:lnB>
                    <a:noFill/>
                  </a:tcPr>
                </a:tc>
                <a:extLst>
                  <a:ext uri="{0D108BD9-81ED-4DB2-BD59-A6C34878D82A}">
                    <a16:rowId xmlns:a16="http://schemas.microsoft.com/office/drawing/2014/main" val="10000"/>
                  </a:ext>
                </a:extLst>
              </a:tr>
              <a:tr h="339725">
                <a:tc>
                  <a:txBody>
                    <a:bodyPr/>
                    <a:lstStyle/>
                    <a:p>
                      <a:endParaRPr lang="en-US" altLang="zh-CN" sz="180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c>
                  <a:txBody>
                    <a:bodyPr/>
                    <a:lstStyle/>
                    <a:p>
                      <a:r>
                        <a:rPr lang="vi-VN" altLang="en-US" sz="1800">
                          <a:latin typeface="Times New Roman" panose="02020603050405020304" charset="0"/>
                          <a:cs typeface="Times New Roman" panose="02020603050405020304" charset="0"/>
                        </a:rPr>
                        <a:t>N</a:t>
                      </a:r>
                      <a:r>
                        <a:rPr lang="en-US" altLang="en-US" sz="1800">
                          <a:latin typeface="Times New Roman" panose="02020603050405020304" charset="0"/>
                          <a:cs typeface="Times New Roman" panose="02020603050405020304" charset="0"/>
                        </a:rPr>
                        <a:t>ăng lượng trung bình của các CH được chọn</a:t>
                      </a:r>
                    </a:p>
                  </a:txBody>
                  <a:tcPr marL="0" marR="0" marT="0" marB="0" anchor="ctr">
                    <a:lnL>
                      <a:noFill/>
                    </a:lnL>
                    <a:lnR>
                      <a:noFill/>
                    </a:lnR>
                    <a:lnT>
                      <a:noFill/>
                    </a:lnT>
                    <a:lnB>
                      <a:noFill/>
                    </a:lnB>
                    <a:noFill/>
                  </a:tcPr>
                </a:tc>
                <a:tc>
                  <a:txBody>
                    <a:bodyPr/>
                    <a:lstStyle/>
                    <a:p>
                      <a:pPr>
                        <a:buNone/>
                      </a:pPr>
                      <a:endParaRPr lang="en-US" altLang="en-US" sz="180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extLst>
                  <a:ext uri="{0D108BD9-81ED-4DB2-BD59-A6C34878D82A}">
                    <a16:rowId xmlns:a16="http://schemas.microsoft.com/office/drawing/2014/main" val="10001"/>
                  </a:ext>
                </a:extLst>
              </a:tr>
              <a:tr h="537210">
                <a:tc>
                  <a:txBody>
                    <a:bodyPr/>
                    <a:lstStyle/>
                    <a:p>
                      <a:pPr>
                        <a:buNone/>
                      </a:pPr>
                      <a:endParaRPr lang="en-US" altLang="zh-CN" sz="180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c>
                  <a:txBody>
                    <a:bodyPr/>
                    <a:lstStyle/>
                    <a:p>
                      <a:pPr>
                        <a:buNone/>
                      </a:pPr>
                      <a:r>
                        <a:rPr lang="en-US" altLang="en-US" sz="1800">
                          <a:latin typeface="Times New Roman" panose="02020603050405020304" charset="0"/>
                          <a:cs typeface="Times New Roman" panose="02020603050405020304" charset="0"/>
                        </a:rPr>
                        <a:t>Thành phần năng lượng nhỏ nhất</a:t>
                      </a:r>
                    </a:p>
                  </a:txBody>
                  <a:tcPr marL="0" marR="0" marT="0" marB="0" anchor="ctr">
                    <a:lnL>
                      <a:noFill/>
                    </a:lnL>
                    <a:lnR>
                      <a:noFill/>
                    </a:lnR>
                    <a:lnT>
                      <a:noFill/>
                    </a:lnT>
                    <a:lnB>
                      <a:noFill/>
                    </a:lnB>
                    <a:noFill/>
                  </a:tcPr>
                </a:tc>
                <a:tc>
                  <a:txBody>
                    <a:bodyPr/>
                    <a:lstStyle/>
                    <a:p>
                      <a:pPr>
                        <a:buNone/>
                      </a:pPr>
                      <a:endParaRPr lang="en-US" altLang="en-US" sz="180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extLst>
                  <a:ext uri="{0D108BD9-81ED-4DB2-BD59-A6C34878D82A}">
                    <a16:rowId xmlns:a16="http://schemas.microsoft.com/office/drawing/2014/main" val="10002"/>
                  </a:ext>
                </a:extLst>
              </a:tr>
              <a:tr h="679450">
                <a:tc>
                  <a:txBody>
                    <a:bodyPr/>
                    <a:lstStyle/>
                    <a:p>
                      <a:endParaRPr lang="en-US" altLang="zh-CN" sz="180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c>
                  <a:txBody>
                    <a:bodyPr/>
                    <a:lstStyle/>
                    <a:p>
                      <a:r>
                        <a:rPr lang="en-US" altLang="en-US" sz="1800">
                          <a:latin typeface="Times New Roman" panose="02020603050405020304" charset="0"/>
                          <a:cs typeface="Times New Roman" panose="02020603050405020304" charset="0"/>
                        </a:rPr>
                        <a:t>tổng khoảng cách giữa các CH với nhau (để tránh CH nằm quá gần</a:t>
                      </a:r>
                      <a:r>
                        <a:rPr lang="vi-VN" altLang="en-US" sz="1800">
                          <a:latin typeface="Times New Roman" panose="02020603050405020304" charset="0"/>
                          <a:cs typeface="Times New Roman" panose="02020603050405020304" charset="0"/>
                        </a:rPr>
                        <a:t>, xa</a:t>
                      </a:r>
                      <a:r>
                        <a:rPr lang="en-US" altLang="en-US" sz="1800">
                          <a:latin typeface="Times New Roman" panose="02020603050405020304" charset="0"/>
                          <a:cs typeface="Times New Roman" panose="02020603050405020304" charset="0"/>
                        </a:rPr>
                        <a:t> nhau)</a:t>
                      </a:r>
                    </a:p>
                  </a:txBody>
                  <a:tcPr marL="0" marR="0" marT="0" marB="0" anchor="ctr">
                    <a:lnL>
                      <a:noFill/>
                    </a:lnL>
                    <a:lnR>
                      <a:noFill/>
                    </a:lnR>
                    <a:lnT>
                      <a:noFill/>
                    </a:lnT>
                    <a:lnB>
                      <a:noFill/>
                    </a:lnB>
                    <a:noFill/>
                  </a:tcPr>
                </a:tc>
                <a:tc>
                  <a:txBody>
                    <a:bodyPr/>
                    <a:lstStyle/>
                    <a:p>
                      <a:pPr>
                        <a:buNone/>
                      </a:pPr>
                      <a:endParaRPr lang="en-US" altLang="en-US" sz="180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extLst>
                  <a:ext uri="{0D108BD9-81ED-4DB2-BD59-A6C34878D82A}">
                    <a16:rowId xmlns:a16="http://schemas.microsoft.com/office/drawing/2014/main" val="10003"/>
                  </a:ext>
                </a:extLst>
              </a:tr>
              <a:tr h="548005">
                <a:tc>
                  <a:txBody>
                    <a:bodyPr/>
                    <a:lstStyle/>
                    <a:p>
                      <a:endParaRPr lang="en-US" altLang="zh-CN" sz="180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tc>
                  <a:txBody>
                    <a:bodyPr/>
                    <a:lstStyle/>
                    <a:p>
                      <a:r>
                        <a:rPr lang="en-US" altLang="en-US" sz="1800">
                          <a:latin typeface="Times New Roman" panose="02020603050405020304" charset="0"/>
                          <a:cs typeface="Times New Roman" panose="02020603050405020304" charset="0"/>
                        </a:rPr>
                        <a:t>tổng khoảng cách từ mỗi CH đến Base Station (BS)</a:t>
                      </a:r>
                    </a:p>
                  </a:txBody>
                  <a:tcPr marL="0" marR="0" marT="0" marB="0" anchor="ctr">
                    <a:lnL>
                      <a:noFill/>
                    </a:lnL>
                    <a:lnR>
                      <a:noFill/>
                    </a:lnR>
                    <a:lnT>
                      <a:noFill/>
                    </a:lnT>
                    <a:lnB>
                      <a:noFill/>
                    </a:lnB>
                    <a:noFill/>
                  </a:tcPr>
                </a:tc>
                <a:tc>
                  <a:txBody>
                    <a:bodyPr/>
                    <a:lstStyle/>
                    <a:p>
                      <a:pPr>
                        <a:buNone/>
                      </a:pPr>
                      <a:endParaRPr lang="en-US" altLang="en-US" sz="1800" dirty="0">
                        <a:latin typeface="Times New Roman" panose="02020603050405020304" charset="0"/>
                        <a:cs typeface="Times New Roman" panose="02020603050405020304" charset="0"/>
                      </a:endParaRPr>
                    </a:p>
                  </a:txBody>
                  <a:tcPr marL="0" marR="0" marT="0" marB="0" anchor="ctr">
                    <a:lnL>
                      <a:noFill/>
                    </a:lnL>
                    <a:lnR>
                      <a:noFill/>
                    </a:lnR>
                    <a:lnT>
                      <a:noFill/>
                    </a:lnT>
                    <a:lnB>
                      <a:noFill/>
                    </a:lnB>
                    <a:noFill/>
                  </a:tcPr>
                </a:tc>
                <a:extLst>
                  <a:ext uri="{0D108BD9-81ED-4DB2-BD59-A6C34878D82A}">
                    <a16:rowId xmlns:a16="http://schemas.microsoft.com/office/drawing/2014/main" val="10004"/>
                  </a:ext>
                </a:extLst>
              </a:tr>
            </a:tbl>
          </a:graphicData>
        </a:graphic>
      </p:graphicFrame>
      <mc:AlternateContent xmlns:mc="http://schemas.openxmlformats.org/markup-compatibility/2006" xmlns:a14="http://schemas.microsoft.com/office/drawing/2010/main">
        <mc:Choice Requires="a14">
          <p:sp>
            <p:nvSpPr>
              <p:cNvPr id="3" name="Text Box 2"/>
              <p:cNvSpPr txBox="1"/>
              <p:nvPr/>
            </p:nvSpPr>
            <p:spPr>
              <a:xfrm>
                <a:off x="539750" y="5517515"/>
                <a:ext cx="9512935" cy="788670"/>
              </a:xfrm>
              <a:prstGeom prst="rect">
                <a:avLst/>
              </a:prstGeom>
            </p:spPr>
            <p:txBody>
              <a:bodyPr wrap="square">
                <a:noAutofit/>
              </a:bodyPr>
              <a:lstStyle/>
              <a:p>
                <a:pPr>
                  <a:spcAft>
                    <a:spcPct val="60000"/>
                  </a:spcAft>
                </a:pPr>
                <a14:m>
                  <m:oMath xmlns:m="http://schemas.openxmlformats.org/officeDocument/2006/math">
                    <m:r>
                      <a:rPr lang="en-US" altLang="en-US" sz="1800" i="1" dirty="0" smtClean="0">
                        <a:latin typeface="Cambria Math" panose="02040503050406030204" pitchFamily="18" charset="0"/>
                        <a:cs typeface="Times New Roman" panose="02020603050405020304" charset="0"/>
                      </a:rPr>
                      <m:t>𝑘</m:t>
                    </m:r>
                  </m:oMath>
                </a14:m>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số</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lượng</a:t>
                </a:r>
                <a:r>
                  <a:rPr lang="en-US" altLang="en-US" sz="1800" dirty="0">
                    <a:latin typeface="Times New Roman" panose="02020603050405020304" charset="0"/>
                    <a:cs typeface="Times New Roman" panose="02020603050405020304" charset="0"/>
                  </a:rPr>
                  <a:t> Cluster Head (CH) </a:t>
                </a:r>
                <a:r>
                  <a:rPr lang="en-US" altLang="en-US" sz="1800" dirty="0" err="1">
                    <a:latin typeface="Times New Roman" panose="02020603050405020304" charset="0"/>
                    <a:cs typeface="Times New Roman" panose="02020603050405020304" charset="0"/>
                  </a:rPr>
                  <a:t>được</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chọn</a:t>
                </a:r>
                <a:endParaRPr lang="en-US" altLang="en-US" sz="1800" dirty="0">
                  <a:latin typeface="Times New Roman" panose="02020603050405020304" charset="0"/>
                  <a:cs typeface="Times New Roman" panose="02020603050405020304" charset="0"/>
                </a:endParaRPr>
              </a:p>
              <a:p>
                <a:pPr>
                  <a:spcAft>
                    <a:spcPct val="60000"/>
                  </a:spcAft>
                </a:pPr>
                <a14:m>
                  <m:oMath xmlns:m="http://schemas.openxmlformats.org/officeDocument/2006/math">
                    <m:sSub>
                      <m:sSubPr>
                        <m:ctrlPr>
                          <a:rPr lang="en-US" altLang="en-US" sz="1800" i="1" dirty="0" smtClean="0">
                            <a:latin typeface="Cambria Math" panose="02040503050406030204" pitchFamily="18" charset="0"/>
                            <a:cs typeface="Times New Roman" panose="02020603050405020304" charset="0"/>
                          </a:rPr>
                        </m:ctrlPr>
                      </m:sSubPr>
                      <m:e>
                        <m:r>
                          <m:rPr>
                            <m:sty m:val="p"/>
                          </m:rPr>
                          <a:rPr lang="en-US" altLang="en-US" sz="1800" i="1" dirty="0">
                            <a:latin typeface="Cambria Math" panose="02040503050406030204" pitchFamily="18" charset="0"/>
                            <a:cs typeface="Times New Roman" panose="02020603050405020304" charset="0"/>
                          </a:rPr>
                          <m:t>E</m:t>
                        </m:r>
                      </m:e>
                      <m:sub>
                        <m:r>
                          <m:rPr>
                            <m:sty m:val="p"/>
                          </m:rPr>
                          <a:rPr lang="en-US" altLang="en-US" sz="1800" i="1" dirty="0">
                            <a:latin typeface="Cambria Math" panose="02040503050406030204" pitchFamily="18" charset="0"/>
                            <a:cs typeface="Times New Roman" panose="02020603050405020304" charset="0"/>
                          </a:rPr>
                          <m:t>i</m:t>
                        </m:r>
                      </m:sub>
                    </m:sSub>
                  </m:oMath>
                </a14:m>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năng</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lượng</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còn</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lại</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của</a:t>
                </a:r>
                <a:r>
                  <a:rPr lang="en-US" altLang="en-US" sz="1800" dirty="0">
                    <a:latin typeface="Times New Roman" panose="02020603050405020304" charset="0"/>
                    <a:cs typeface="Times New Roman" panose="02020603050405020304" charset="0"/>
                  </a:rPr>
                  <a:t> CH </a:t>
                </a:r>
                <a:r>
                  <a:rPr lang="en-US" altLang="en-US" sz="1800" dirty="0" err="1">
                    <a:latin typeface="Times New Roman" panose="02020603050405020304" charset="0"/>
                    <a:cs typeface="Times New Roman" panose="02020603050405020304" charset="0"/>
                  </a:rPr>
                  <a:t>thứ</a:t>
                </a:r>
                <a:r>
                  <a:rPr lang="vi-VN" altLang="en-US" sz="1800" dirty="0">
                    <a:latin typeface="Times New Roman" panose="02020603050405020304" charset="0"/>
                    <a:cs typeface="Times New Roman" panose="02020603050405020304" charset="0"/>
                  </a:rPr>
                  <a:t> i</a:t>
                </a:r>
                <a:r>
                  <a:rPr lang="en-US" altLang="en-US" sz="1800" dirty="0">
                    <a:latin typeface="Times New Roman" panose="02020603050405020304" charset="0"/>
                    <a:cs typeface="Times New Roman" panose="02020603050405020304" charset="0"/>
                  </a:rPr>
                  <a:t> </a:t>
                </a:r>
                <a:r>
                  <a:rPr lang="vi-VN"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Hệ</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số</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môi</a:t>
                </a:r>
                <a:r>
                  <a:rPr lang="en-US"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trường</a:t>
                </a:r>
                <a:r>
                  <a:rPr lang="en-US" altLang="en-US" sz="1800" dirty="0">
                    <a:latin typeface="Times New Roman" panose="02020603050405020304" charset="0"/>
                    <a:cs typeface="Times New Roman" panose="02020603050405020304" charset="0"/>
                  </a:rPr>
                  <a:t> (environment factor):</a:t>
                </a:r>
                <a:r>
                  <a:rPr lang="vi-VN" altLang="en-US" sz="1800" dirty="0">
                    <a:latin typeface="Times New Roman" panose="02020603050405020304" charset="0"/>
                    <a:cs typeface="Times New Roman" panose="02020603050405020304" charset="0"/>
                  </a:rPr>
                  <a:t> </a:t>
                </a:r>
                <a:r>
                  <a:rPr lang="en-US" altLang="en-US" sz="1800" dirty="0" err="1">
                    <a:latin typeface="Times New Roman" panose="02020603050405020304" charset="0"/>
                    <a:cs typeface="Times New Roman" panose="02020603050405020304" charset="0"/>
                  </a:rPr>
                  <a:t>η</a:t>
                </a:r>
                <a:endParaRPr lang="en-US" altLang="en-US" sz="1800" dirty="0">
                  <a:latin typeface="Times New Roman" panose="02020603050405020304" charset="0"/>
                  <a:cs typeface="Times New Roman" panose="02020603050405020304" charset="0"/>
                </a:endParaRPr>
              </a:p>
            </p:txBody>
          </p:sp>
        </mc:Choice>
        <mc:Fallback xmlns="">
          <p:sp>
            <p:nvSpPr>
              <p:cNvPr id="3" name="Text Box 2"/>
              <p:cNvSpPr txBox="1">
                <a:spLocks noRot="1" noChangeAspect="1" noMove="1" noResize="1" noEditPoints="1" noAdjustHandles="1" noChangeArrowheads="1" noChangeShapeType="1" noTextEdit="1"/>
              </p:cNvSpPr>
              <p:nvPr/>
            </p:nvSpPr>
            <p:spPr>
              <a:xfrm>
                <a:off x="539750" y="5517515"/>
                <a:ext cx="9512935" cy="788670"/>
              </a:xfrm>
              <a:prstGeom prst="rect">
                <a:avLst/>
              </a:prstGeom>
              <a:blipFill rotWithShape="1">
                <a:blip r:embed="rId4"/>
                <a:stretch>
                  <a:fillRect/>
                </a:stretch>
              </a:blipFill>
            </p:spPr>
            <p:txBody>
              <a:bodyPr/>
              <a:lstStyle/>
              <a:p>
                <a:r>
                  <a:rPr lang="en-US" altLang="en-US">
                    <a:noFill/>
                  </a:rPr>
                  <a:t> </a:t>
                </a:r>
              </a:p>
            </p:txBody>
          </p:sp>
        </mc:Fallback>
      </mc:AlternateContent>
      <p:pic>
        <p:nvPicPr>
          <p:cNvPr id="5" name="Picture 4"/>
          <p:cNvPicPr>
            <a:picLocks noChangeAspect="1"/>
          </p:cNvPicPr>
          <p:nvPr/>
        </p:nvPicPr>
        <p:blipFill>
          <a:blip r:embed="rId5"/>
          <a:stretch>
            <a:fillRect/>
          </a:stretch>
        </p:blipFill>
        <p:spPr>
          <a:xfrm>
            <a:off x="539750" y="3284855"/>
            <a:ext cx="552450" cy="514350"/>
          </a:xfrm>
          <a:prstGeom prst="rect">
            <a:avLst/>
          </a:prstGeom>
        </p:spPr>
      </p:pic>
      <p:pic>
        <p:nvPicPr>
          <p:cNvPr id="6" name="Picture 5"/>
          <p:cNvPicPr>
            <a:picLocks noChangeAspect="1"/>
          </p:cNvPicPr>
          <p:nvPr/>
        </p:nvPicPr>
        <p:blipFill>
          <a:blip r:embed="rId6"/>
          <a:stretch>
            <a:fillRect/>
          </a:stretch>
        </p:blipFill>
        <p:spPr>
          <a:xfrm>
            <a:off x="6588125" y="3357245"/>
            <a:ext cx="1524000" cy="604520"/>
          </a:xfrm>
          <a:prstGeom prst="rect">
            <a:avLst/>
          </a:prstGeom>
        </p:spPr>
      </p:pic>
      <p:pic>
        <p:nvPicPr>
          <p:cNvPr id="10" name="Picture 9"/>
          <p:cNvPicPr>
            <a:picLocks noChangeAspect="1"/>
          </p:cNvPicPr>
          <p:nvPr/>
        </p:nvPicPr>
        <p:blipFill>
          <a:blip r:embed="rId7"/>
          <a:stretch>
            <a:fillRect/>
          </a:stretch>
        </p:blipFill>
        <p:spPr>
          <a:xfrm>
            <a:off x="1475740" y="1844675"/>
            <a:ext cx="5324475" cy="504825"/>
          </a:xfrm>
          <a:prstGeom prst="rect">
            <a:avLst/>
          </a:prstGeom>
        </p:spPr>
      </p:pic>
      <p:pic>
        <p:nvPicPr>
          <p:cNvPr id="11" name="Picture 10"/>
          <p:cNvPicPr>
            <a:picLocks noChangeAspect="1"/>
          </p:cNvPicPr>
          <p:nvPr/>
        </p:nvPicPr>
        <p:blipFill>
          <a:blip r:embed="rId8"/>
          <a:stretch>
            <a:fillRect/>
          </a:stretch>
        </p:blipFill>
        <p:spPr>
          <a:xfrm>
            <a:off x="444500" y="3789045"/>
            <a:ext cx="647700" cy="447675"/>
          </a:xfrm>
          <a:prstGeom prst="rect">
            <a:avLst/>
          </a:prstGeom>
        </p:spPr>
      </p:pic>
      <p:pic>
        <p:nvPicPr>
          <p:cNvPr id="12" name="Picture 11"/>
          <p:cNvPicPr>
            <a:picLocks noChangeAspect="1"/>
          </p:cNvPicPr>
          <p:nvPr/>
        </p:nvPicPr>
        <p:blipFill>
          <a:blip r:embed="rId9"/>
          <a:stretch>
            <a:fillRect/>
          </a:stretch>
        </p:blipFill>
        <p:spPr>
          <a:xfrm>
            <a:off x="6588125" y="3933190"/>
            <a:ext cx="1452880" cy="374650"/>
          </a:xfrm>
          <a:prstGeom prst="rect">
            <a:avLst/>
          </a:prstGeom>
        </p:spPr>
      </p:pic>
      <p:pic>
        <p:nvPicPr>
          <p:cNvPr id="13" name="Picture 12"/>
          <p:cNvPicPr>
            <a:picLocks noChangeAspect="1"/>
          </p:cNvPicPr>
          <p:nvPr/>
        </p:nvPicPr>
        <p:blipFill>
          <a:blip r:embed="rId10"/>
          <a:stretch>
            <a:fillRect/>
          </a:stretch>
        </p:blipFill>
        <p:spPr>
          <a:xfrm>
            <a:off x="467360" y="4437380"/>
            <a:ext cx="628650" cy="495300"/>
          </a:xfrm>
          <a:prstGeom prst="rect">
            <a:avLst/>
          </a:prstGeom>
        </p:spPr>
      </p:pic>
      <p:pic>
        <p:nvPicPr>
          <p:cNvPr id="14" name="Picture 13"/>
          <p:cNvPicPr>
            <a:picLocks noChangeAspect="1"/>
          </p:cNvPicPr>
          <p:nvPr/>
        </p:nvPicPr>
        <p:blipFill>
          <a:blip r:embed="rId11"/>
          <a:stretch>
            <a:fillRect/>
          </a:stretch>
        </p:blipFill>
        <p:spPr>
          <a:xfrm>
            <a:off x="6660515" y="4358640"/>
            <a:ext cx="1695450" cy="574040"/>
          </a:xfrm>
          <a:prstGeom prst="rect">
            <a:avLst/>
          </a:prstGeom>
        </p:spPr>
      </p:pic>
      <p:pic>
        <p:nvPicPr>
          <p:cNvPr id="15" name="Picture 14"/>
          <p:cNvPicPr>
            <a:picLocks noChangeAspect="1"/>
          </p:cNvPicPr>
          <p:nvPr/>
        </p:nvPicPr>
        <p:blipFill>
          <a:blip r:embed="rId12"/>
          <a:stretch>
            <a:fillRect/>
          </a:stretch>
        </p:blipFill>
        <p:spPr>
          <a:xfrm>
            <a:off x="539115" y="4941570"/>
            <a:ext cx="552450" cy="428625"/>
          </a:xfrm>
          <a:prstGeom prst="rect">
            <a:avLst/>
          </a:prstGeom>
        </p:spPr>
      </p:pic>
      <p:pic>
        <p:nvPicPr>
          <p:cNvPr id="16" name="Picture 15"/>
          <p:cNvPicPr>
            <a:picLocks noChangeAspect="1"/>
          </p:cNvPicPr>
          <p:nvPr/>
        </p:nvPicPr>
        <p:blipFill>
          <a:blip r:embed="rId13"/>
          <a:stretch>
            <a:fillRect/>
          </a:stretch>
        </p:blipFill>
        <p:spPr>
          <a:xfrm>
            <a:off x="6660515" y="4871085"/>
            <a:ext cx="1615440" cy="535940"/>
          </a:xfrm>
          <a:prstGeom prst="rect">
            <a:avLst/>
          </a:prstGeom>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9"/>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44</a:t>
            </a:fld>
            <a:endParaRPr lang="en-US"/>
          </a:p>
        </p:txBody>
      </p:sp>
      <p:sp>
        <p:nvSpPr>
          <p:cNvPr id="255" name="Google Shape;255;p39"/>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sym typeface="+mn-ea"/>
              </a:rPr>
              <a:t>3. </a:t>
            </a:r>
            <a:r>
              <a:rPr lang="vi-VN" altLang="en-US">
                <a:sym typeface="+mn-ea"/>
              </a:rPr>
              <a:t>P</a:t>
            </a:r>
            <a:r>
              <a:rPr lang="en-US">
                <a:sym typeface="+mn-ea"/>
              </a:rPr>
              <a:t>hương pháp</a:t>
            </a:r>
            <a:r>
              <a:rPr lang="vi-VN" altLang="en-US">
                <a:sym typeface="+mn-ea"/>
              </a:rPr>
              <a:t> đề xuất</a:t>
            </a:r>
            <a:r>
              <a:rPr lang="en-US">
                <a:sym typeface="+mn-ea"/>
              </a:rPr>
              <a:t> AC-ACO</a:t>
            </a:r>
            <a:br>
              <a:rPr lang="en-US">
                <a:sym typeface="+mn-ea"/>
              </a:rPr>
            </a:br>
            <a:endParaRPr lang="en-US"/>
          </a:p>
        </p:txBody>
      </p:sp>
      <p:sp>
        <p:nvSpPr>
          <p:cNvPr id="256" name="Google Shape;256;p39"/>
          <p:cNvSpPr txBox="1">
            <a:spLocks noGrp="1"/>
          </p:cNvSpPr>
          <p:nvPr>
            <p:ph type="body" idx="1"/>
          </p:nvPr>
        </p:nvSpPr>
        <p:spPr>
          <a:xfrm>
            <a:off x="234950" y="963168"/>
            <a:ext cx="8674100" cy="513283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altLang="en-US" sz="1800">
                <a:latin typeface="Times New Roman" panose="02020603050405020304"/>
                <a:ea typeface="Times New Roman" panose="02020603050405020304"/>
                <a:cs typeface="Times New Roman" panose="02020603050405020304"/>
                <a:sym typeface="Times New Roman" panose="02020603050405020304"/>
              </a:rPr>
              <a:t>AC-ACO cải tiến từ ACO bằng 3 lớp thích ứng (ρ, β, α).</a:t>
            </a:r>
          </a:p>
          <a:p>
            <a:pPr marL="0" lvl="0" indent="0" algn="l" rtl="0">
              <a:lnSpc>
                <a:spcPct val="90000"/>
              </a:lnSpc>
              <a:spcBef>
                <a:spcPts val="0"/>
              </a:spcBef>
              <a:spcAft>
                <a:spcPts val="0"/>
              </a:spcAft>
              <a:buClr>
                <a:schemeClr val="dk1"/>
              </a:buClr>
              <a:buSzPts val="1800"/>
              <a:buNone/>
            </a:pPr>
            <a:endParaRPr lang="en-US" altLang="en-US"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800"/>
              <a:buNone/>
            </a:pPr>
            <a:r>
              <a:rPr lang="en-US" altLang="en-US" sz="1800">
                <a:latin typeface="Times New Roman" panose="02020603050405020304"/>
                <a:ea typeface="Times New Roman" panose="02020603050405020304"/>
                <a:cs typeface="Times New Roman" panose="02020603050405020304"/>
                <a:sym typeface="Times New Roman" panose="02020603050405020304"/>
              </a:rPr>
              <a:t>Thêm nhiễu hỗn loạn Logistic (Chaos) để tránh hội tụ cục bộ.</a:t>
            </a:r>
          </a:p>
          <a:p>
            <a:pPr marL="0" lvl="0" indent="0" algn="l" rtl="0">
              <a:lnSpc>
                <a:spcPct val="90000"/>
              </a:lnSpc>
              <a:spcBef>
                <a:spcPts val="0"/>
              </a:spcBef>
              <a:spcAft>
                <a:spcPts val="0"/>
              </a:spcAft>
              <a:buClr>
                <a:schemeClr val="dk1"/>
              </a:buClr>
              <a:buSzPts val="1800"/>
              <a:buNone/>
            </a:pPr>
            <a:endParaRPr lang="en-US" altLang="en-US"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800"/>
              <a:buNone/>
            </a:pPr>
            <a:r>
              <a:rPr lang="en-US" altLang="en-US" sz="1800">
                <a:latin typeface="Times New Roman" panose="02020603050405020304"/>
                <a:ea typeface="Times New Roman" panose="02020603050405020304"/>
                <a:cs typeface="Times New Roman" panose="02020603050405020304"/>
                <a:sym typeface="Times New Roman" panose="02020603050405020304"/>
              </a:rPr>
              <a:t>Cân bằng tốt giữa khám phá và khai thác, giúp kéo dài tuổi thọ mạng WSN và phân cụm tối ưu hơn.</a:t>
            </a:r>
          </a:p>
          <a:p>
            <a:pPr marL="0" lvl="0" indent="0" algn="l" rtl="0">
              <a:lnSpc>
                <a:spcPct val="90000"/>
              </a:lnSpc>
              <a:spcBef>
                <a:spcPts val="0"/>
              </a:spcBef>
              <a:spcAft>
                <a:spcPts val="0"/>
              </a:spcAft>
              <a:buClr>
                <a:schemeClr val="dk1"/>
              </a:buClr>
              <a:buSzPts val="1800"/>
              <a:buNone/>
            </a:pPr>
            <a:r>
              <a:rPr lang="en-US" altLang="en-US" sz="1800">
                <a:latin typeface="Times New Roman" panose="02020603050405020304"/>
                <a:ea typeface="Times New Roman" panose="02020603050405020304"/>
                <a:cs typeface="Times New Roman" panose="02020603050405020304"/>
                <a:sym typeface="Times New Roman" panose="02020603050405020304"/>
              </a:rPr>
              <a:t>	</a:t>
            </a:r>
          </a:p>
          <a:p>
            <a:pPr marL="0" lvl="0" indent="0" algn="l" rtl="0">
              <a:lnSpc>
                <a:spcPct val="90000"/>
              </a:lnSpc>
              <a:spcBef>
                <a:spcPts val="0"/>
              </a:spcBef>
              <a:spcAft>
                <a:spcPts val="0"/>
              </a:spcAft>
              <a:buClr>
                <a:schemeClr val="dk1"/>
              </a:buClr>
              <a:buSzPts val="1800"/>
              <a:buNone/>
            </a:pPr>
            <a:r>
              <a:rPr lang="en-US" altLang="en-US" sz="1800">
                <a:latin typeface="Times New Roman" panose="02020603050405020304"/>
                <a:ea typeface="Times New Roman" panose="02020603050405020304"/>
                <a:cs typeface="Times New Roman" panose="02020603050405020304"/>
                <a:sym typeface="Times New Roman" panose="02020603050405020304"/>
              </a:rPr>
              <a:t>	</a:t>
            </a:r>
          </a:p>
          <a:p>
            <a:pPr marL="0" lvl="0" indent="0" algn="l" rtl="0">
              <a:lnSpc>
                <a:spcPct val="90000"/>
              </a:lnSpc>
              <a:spcBef>
                <a:spcPts val="0"/>
              </a:spcBef>
              <a:spcAft>
                <a:spcPts val="0"/>
              </a:spcAft>
              <a:buClr>
                <a:schemeClr val="dk1"/>
              </a:buClr>
              <a:buSzPts val="1800"/>
              <a:buNone/>
            </a:pPr>
            <a:endParaRPr lang="en-US" altLang="en-US"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800"/>
              <a:buNone/>
            </a:pPr>
            <a:endParaRPr lang="en-US" altLang="en-US" sz="18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46"/>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45</a:t>
            </a:fld>
            <a:endParaRPr lang="en-US"/>
          </a:p>
        </p:txBody>
      </p:sp>
      <p:sp>
        <p:nvSpPr>
          <p:cNvPr id="309" name="Google Shape;309;p46"/>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sym typeface="+mn-ea"/>
              </a:rPr>
              <a:t>3. </a:t>
            </a:r>
            <a:r>
              <a:rPr lang="vi-VN" altLang="en-US">
                <a:sym typeface="+mn-ea"/>
              </a:rPr>
              <a:t>P</a:t>
            </a:r>
            <a:r>
              <a:rPr lang="en-US">
                <a:sym typeface="+mn-ea"/>
              </a:rPr>
              <a:t>hương pháp</a:t>
            </a:r>
            <a:r>
              <a:rPr lang="vi-VN" altLang="en-US">
                <a:sym typeface="+mn-ea"/>
              </a:rPr>
              <a:t> đề xuất</a:t>
            </a:r>
            <a:r>
              <a:rPr lang="en-US">
                <a:sym typeface="+mn-ea"/>
              </a:rPr>
              <a:t> AC-ACO</a:t>
            </a:r>
            <a:br>
              <a:rPr lang="en-US">
                <a:sym typeface="+mn-ea"/>
              </a:rPr>
            </a:br>
            <a:endParaRPr lang="en-US"/>
          </a:p>
        </p:txBody>
      </p:sp>
      <mc:AlternateContent xmlns:mc="http://schemas.openxmlformats.org/markup-compatibility/2006" xmlns:a14="http://schemas.microsoft.com/office/drawing/2010/main">
        <mc:Choice Requires="a14">
          <p:sp>
            <p:nvSpPr>
              <p:cNvPr id="310" name="Google Shape;310;p46"/>
              <p:cNvSpPr txBox="1">
                <a:spLocks noGrp="1"/>
              </p:cNvSpPr>
              <p:nvPr>
                <p:ph type="body" idx="1"/>
              </p:nvPr>
            </p:nvSpPr>
            <p:spPr>
              <a:xfrm>
                <a:off x="234950" y="963168"/>
                <a:ext cx="8674100" cy="5132832"/>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Clr>
                    <a:schemeClr val="dk1"/>
                  </a:buClr>
                  <a:buSzPts val="1100"/>
                  <a:buFont typeface="Arial" panose="020B0604020202020204"/>
                  <a:buNone/>
                </a:pPr>
                <a:r>
                  <a:rPr lang="en-US" sz="1800" dirty="0" err="1">
                    <a:latin typeface="Times New Roman" panose="02020603050405020304"/>
                    <a:ea typeface="Times New Roman" panose="02020603050405020304"/>
                    <a:cs typeface="Times New Roman" panose="02020603050405020304"/>
                    <a:sym typeface="Times New Roman" panose="02020603050405020304"/>
                  </a:rPr>
                  <a:t>Phân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tích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độ</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phức</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tạp</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của</a:t>
                </a:r>
                <a:r>
                  <a:rPr lang="en-US" sz="1800" dirty="0">
                    <a:latin typeface="Times New Roman" panose="02020603050405020304"/>
                    <a:ea typeface="Times New Roman" panose="02020603050405020304"/>
                    <a:cs typeface="Times New Roman" panose="02020603050405020304"/>
                    <a:sym typeface="Times New Roman" panose="02020603050405020304"/>
                  </a:rPr>
                  <a:t> AC-ACO</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200"/>
                  </a:spcBef>
                  <a:spcAft>
                    <a:spcPts val="0"/>
                  </a:spcAft>
                  <a:buClr>
                    <a:schemeClr val="dk1"/>
                  </a:buClr>
                  <a:buSzPts val="1100"/>
                  <a:buFont typeface="Arial" panose="020B0604020202020204"/>
                  <a:buNone/>
                </a:pPr>
                <a:r>
                  <a:rPr lang="en-US" sz="1800" dirty="0">
                    <a:latin typeface="Times New Roman" panose="02020603050405020304"/>
                    <a:ea typeface="Times New Roman" panose="02020603050405020304"/>
                    <a:cs typeface="Times New Roman" panose="02020603050405020304"/>
                    <a:sym typeface="Times New Roman" panose="02020603050405020304"/>
                  </a:rPr>
                  <a:t>1. Các </a:t>
                </a:r>
                <a:r>
                  <a:rPr lang="en-US" sz="1800" dirty="0" err="1">
                    <a:latin typeface="Times New Roman" panose="02020603050405020304"/>
                    <a:ea typeface="Times New Roman" panose="02020603050405020304"/>
                    <a:cs typeface="Times New Roman" panose="02020603050405020304"/>
                    <a:sym typeface="Times New Roman" panose="02020603050405020304"/>
                  </a:rPr>
                  <a:t>thành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phần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chính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ảnh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hưởng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đến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độ</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phức</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tạp</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115000"/>
                  </a:lnSpc>
                  <a:spcBef>
                    <a:spcPts val="1200"/>
                  </a:spcBef>
                  <a:spcAft>
                    <a:spcPts val="0"/>
                  </a:spcAft>
                  <a:buSzPts val="1800"/>
                  <a:buChar char="●"/>
                </a:pPr>
                <a:r>
                  <a:rPr lang="en-US" sz="1800" dirty="0" err="1">
                    <a:latin typeface="Times New Roman" panose="02020603050405020304"/>
                    <a:ea typeface="Times New Roman" panose="02020603050405020304"/>
                    <a:cs typeface="Times New Roman" panose="02020603050405020304"/>
                    <a:sym typeface="Times New Roman" panose="02020603050405020304"/>
                  </a:rPr>
                  <a:t>Xây</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dựng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đường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đi</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Mỗi</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kiến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cần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chọn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đường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đi</a:t>
                </a:r>
                <a:r>
                  <a:rPr lang="en-US" sz="1800" dirty="0">
                    <a:latin typeface="Times New Roman" panose="02020603050405020304"/>
                    <a:ea typeface="Times New Roman" panose="02020603050405020304"/>
                    <a:cs typeface="Times New Roman" panose="02020603050405020304"/>
                    <a:sym typeface="Times New Roman" panose="02020603050405020304"/>
                  </a:rPr>
                  <a:t> qua N </a:t>
                </a:r>
                <a:r>
                  <a:rPr lang="en-US" sz="1800" dirty="0" err="1">
                    <a:latin typeface="Times New Roman" panose="02020603050405020304"/>
                    <a:ea typeface="Times New Roman" panose="02020603050405020304"/>
                    <a:cs typeface="Times New Roman" panose="02020603050405020304"/>
                    <a:sym typeface="Times New Roman" panose="02020603050405020304"/>
                  </a:rPr>
                  <a:t>nút</a:t>
                </a:r>
                <a:r>
                  <a:rPr lang="en-US" sz="1800" dirty="0">
                    <a:latin typeface="Times New Roman" panose="02020603050405020304"/>
                    <a:ea typeface="Times New Roman" panose="02020603050405020304"/>
                    <a:cs typeface="Times New Roman" panose="02020603050405020304"/>
                    <a:sym typeface="Times New Roman" panose="02020603050405020304"/>
                  </a:rPr>
                  <a:t> → </a:t>
                </a:r>
                <a:r>
                  <a:rPr lang="en-US" sz="1800" dirty="0" err="1">
                    <a:latin typeface="Times New Roman" panose="02020603050405020304"/>
                    <a:ea typeface="Times New Roman" panose="02020603050405020304"/>
                    <a:cs typeface="Times New Roman" panose="02020603050405020304"/>
                    <a:sym typeface="Times New Roman" panose="02020603050405020304"/>
                  </a:rPr>
                  <a:t>độ</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phức</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tạp</a:t>
                </a:r>
                <a:r>
                  <a:rPr lang="en-US" sz="1800" dirty="0">
                    <a:latin typeface="Times New Roman" panose="02020603050405020304"/>
                    <a:ea typeface="Times New Roman" panose="02020603050405020304"/>
                    <a:cs typeface="Times New Roman" panose="02020603050405020304"/>
                    <a:sym typeface="Times New Roman" panose="02020603050405020304"/>
                  </a:rPr>
                  <a:t> </a:t>
                </a:r>
                <a14:m>
                  <m:oMath xmlns:m="http://schemas.openxmlformats.org/officeDocument/2006/math">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𝑂</m:t>
                    </m:r>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m:t>
                    </m:r>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𝑀</m:t>
                    </m:r>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 ⋅ </m:t>
                    </m:r>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𝑁</m:t>
                    </m:r>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m:t>
                    </m:r>
                  </m:oMath>
                </a14:m>
                <a:br>
                  <a:rPr lang="en-US" sz="1800" dirty="0">
                    <a:latin typeface="Times New Roman" panose="02020603050405020304"/>
                    <a:ea typeface="Times New Roman" panose="02020603050405020304"/>
                    <a:cs typeface="Times New Roman" panose="02020603050405020304"/>
                    <a:sym typeface="Times New Roman" panose="02020603050405020304"/>
                  </a:rPr>
                </a:br>
                <a:endParaRPr sz="1800" dirty="0">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115000"/>
                  </a:lnSpc>
                  <a:spcBef>
                    <a:spcPts val="0"/>
                  </a:spcBef>
                  <a:spcAft>
                    <a:spcPts val="0"/>
                  </a:spcAft>
                  <a:buSzPts val="1800"/>
                  <a:buChar char="●"/>
                </a:pPr>
                <a:r>
                  <a:rPr lang="en-US" sz="1800" dirty="0" err="1">
                    <a:latin typeface="Times New Roman" panose="02020603050405020304"/>
                    <a:ea typeface="Times New Roman" panose="02020603050405020304"/>
                    <a:cs typeface="Times New Roman" panose="02020603050405020304"/>
                    <a:sym typeface="Times New Roman" panose="02020603050405020304"/>
                  </a:rPr>
                  <a:t>Đánh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giá</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thể</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lực</a:t>
                </a:r>
                <a:r>
                  <a:rPr lang="en-US" sz="1800" dirty="0">
                    <a:latin typeface="Times New Roman" panose="02020603050405020304"/>
                    <a:ea typeface="Times New Roman" panose="02020603050405020304"/>
                    <a:cs typeface="Times New Roman" panose="02020603050405020304"/>
                    <a:sym typeface="Times New Roman" panose="02020603050405020304"/>
                  </a:rPr>
                  <a:t> (fitness): </a:t>
                </a:r>
                <a:r>
                  <a:rPr lang="en-US" sz="1800" dirty="0" err="1">
                    <a:latin typeface="Times New Roman" panose="02020603050405020304"/>
                    <a:ea typeface="Times New Roman" panose="02020603050405020304"/>
                    <a:cs typeface="Times New Roman" panose="02020603050405020304"/>
                    <a:sym typeface="Times New Roman" panose="02020603050405020304"/>
                  </a:rPr>
                  <a:t>Cần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tính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lượng</a:t>
                </a:r>
                <a:r>
                  <a:rPr lang="en-US" sz="1800" dirty="0">
                    <a:latin typeface="Times New Roman" panose="02020603050405020304"/>
                    <a:ea typeface="Times New Roman" panose="02020603050405020304"/>
                    <a:cs typeface="Times New Roman" panose="02020603050405020304"/>
                    <a:sym typeface="Times New Roman" panose="02020603050405020304"/>
                  </a:rPr>
                  <a:t>, chi </a:t>
                </a:r>
                <a:r>
                  <a:rPr lang="en-US" sz="1800" dirty="0" err="1">
                    <a:latin typeface="Times New Roman" panose="02020603050405020304"/>
                    <a:ea typeface="Times New Roman" panose="02020603050405020304"/>
                    <a:cs typeface="Times New Roman" panose="02020603050405020304"/>
                    <a:sym typeface="Times New Roman" panose="02020603050405020304"/>
                  </a:rPr>
                  <a:t>phí</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truyền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tải</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độ</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cân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bằng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tải</a:t>
                </a:r>
                <a:r>
                  <a:rPr lang="en-US" sz="1800" dirty="0">
                    <a:latin typeface="Times New Roman" panose="02020603050405020304"/>
                    <a:ea typeface="Times New Roman" panose="02020603050405020304"/>
                    <a:cs typeface="Times New Roman" panose="02020603050405020304"/>
                    <a:sym typeface="Times New Roman" panose="02020603050405020304"/>
                  </a:rPr>
                  <a:t> → </a:t>
                </a:r>
                <a14:m>
                  <m:oMath xmlns:m="http://schemas.openxmlformats.org/officeDocument/2006/math">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𝑂</m:t>
                    </m:r>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m:t>
                    </m:r>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𝑀</m:t>
                    </m:r>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 ⋅ </m:t>
                    </m:r>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𝑁</m:t>
                    </m:r>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m:t>
                    </m:r>
                  </m:oMath>
                </a14:m>
                <a:br>
                  <a:rPr lang="en-US" sz="1800" dirty="0">
                    <a:latin typeface="Times New Roman" panose="02020603050405020304"/>
                    <a:ea typeface="Times New Roman" panose="02020603050405020304"/>
                    <a:cs typeface="Times New Roman" panose="02020603050405020304"/>
                    <a:sym typeface="Times New Roman" panose="02020603050405020304"/>
                  </a:rPr>
                </a:br>
                <a:endParaRPr sz="1800" dirty="0">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115000"/>
                  </a:lnSpc>
                  <a:spcBef>
                    <a:spcPts val="0"/>
                  </a:spcBef>
                  <a:spcAft>
                    <a:spcPts val="0"/>
                  </a:spcAft>
                  <a:buSzPts val="1800"/>
                  <a:buChar char="●"/>
                </a:pPr>
                <a:r>
                  <a:rPr lang="en-US" sz="1800" dirty="0" err="1">
                    <a:latin typeface="Times New Roman" panose="02020603050405020304"/>
                    <a:ea typeface="Times New Roman" panose="02020603050405020304"/>
                    <a:cs typeface="Times New Roman" panose="02020603050405020304"/>
                    <a:sym typeface="Times New Roman" panose="02020603050405020304"/>
                  </a:rPr>
                  <a:t>Cập</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nhật</a:t>
                </a:r>
                <a:r>
                  <a:rPr lang="en-US" sz="1800" dirty="0">
                    <a:latin typeface="Times New Roman" panose="02020603050405020304"/>
                    <a:ea typeface="Times New Roman" panose="02020603050405020304"/>
                    <a:cs typeface="Times New Roman" panose="02020603050405020304"/>
                    <a:sym typeface="Times New Roman" panose="02020603050405020304"/>
                  </a:rPr>
                  <a:t> ma </a:t>
                </a:r>
                <a:r>
                  <a:rPr lang="en-US" sz="1800" dirty="0" err="1">
                    <a:latin typeface="Times New Roman" panose="02020603050405020304"/>
                    <a:ea typeface="Times New Roman" panose="02020603050405020304"/>
                    <a:cs typeface="Times New Roman" panose="02020603050405020304"/>
                    <a:sym typeface="Times New Roman" panose="02020603050405020304"/>
                  </a:rPr>
                  <a:t>trận</a:t>
                </a:r>
                <a:r>
                  <a:rPr lang="en-US" sz="1800" dirty="0">
                    <a:latin typeface="Times New Roman" panose="02020603050405020304"/>
                    <a:ea typeface="Times New Roman" panose="02020603050405020304"/>
                    <a:cs typeface="Times New Roman" panose="02020603050405020304"/>
                    <a:sym typeface="Times New Roman" panose="02020603050405020304"/>
                  </a:rPr>
                  <a:t> pheromone: Sau </a:t>
                </a:r>
                <a:r>
                  <a:rPr lang="en-US" sz="1800" dirty="0" err="1">
                    <a:latin typeface="Times New Roman" panose="02020603050405020304"/>
                    <a:ea typeface="Times New Roman" panose="02020603050405020304"/>
                    <a:cs typeface="Times New Roman" panose="02020603050405020304"/>
                    <a:sym typeface="Times New Roman" panose="02020603050405020304"/>
                  </a:rPr>
                  <a:t>mỗi</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vòng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lặp</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tất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cả</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các</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cạnh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được</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cập</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nhật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dựa</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trên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hành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trình</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của</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kiến</a:t>
                </a:r>
                <a:r>
                  <a:rPr lang="en-US" sz="1800" dirty="0">
                    <a:latin typeface="Times New Roman" panose="02020603050405020304"/>
                    <a:ea typeface="Times New Roman" panose="02020603050405020304"/>
                    <a:cs typeface="Times New Roman" panose="02020603050405020304"/>
                    <a:sym typeface="Times New Roman" panose="02020603050405020304"/>
                  </a:rPr>
                  <a:t> → </a:t>
                </a:r>
                <a14:m>
                  <m:oMath xmlns:m="http://schemas.openxmlformats.org/officeDocument/2006/math">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𝑂</m:t>
                    </m:r>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m:t>
                    </m:r>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𝑀</m:t>
                    </m:r>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 ⋅ </m:t>
                    </m:r>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𝑁</m:t>
                    </m:r>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m:t>
                    </m:r>
                  </m:oMath>
                </a14:m>
                <a:br>
                  <a:rPr lang="en-US" sz="1800" dirty="0">
                    <a:latin typeface="Times New Roman" panose="02020603050405020304"/>
                    <a:ea typeface="Times New Roman" panose="02020603050405020304"/>
                    <a:cs typeface="Times New Roman" panose="02020603050405020304"/>
                    <a:sym typeface="Times New Roman" panose="02020603050405020304"/>
                  </a:rPr>
                </a:b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200"/>
                  </a:spcBef>
                  <a:spcAft>
                    <a:spcPts val="0"/>
                  </a:spcAft>
                  <a:buClr>
                    <a:schemeClr val="dk1"/>
                  </a:buClr>
                  <a:buSzPts val="1100"/>
                  <a:buFont typeface="Arial" panose="020B0604020202020204"/>
                  <a:buNone/>
                </a:pPr>
                <a:r>
                  <a:rPr lang="en-US" sz="1800" dirty="0">
                    <a:latin typeface="Times New Roman" panose="02020603050405020304"/>
                    <a:ea typeface="Times New Roman" panose="02020603050405020304"/>
                    <a:cs typeface="Times New Roman" panose="02020603050405020304"/>
                    <a:sym typeface="Times New Roman" panose="02020603050405020304"/>
                  </a:rPr>
                  <a:t>2. </a:t>
                </a:r>
                <a:r>
                  <a:rPr lang="en-US" sz="1800" dirty="0" err="1">
                    <a:latin typeface="Times New Roman" panose="02020603050405020304"/>
                    <a:ea typeface="Times New Roman" panose="02020603050405020304"/>
                    <a:cs typeface="Times New Roman" panose="02020603050405020304"/>
                    <a:sym typeface="Times New Roman" panose="02020603050405020304"/>
                  </a:rPr>
                  <a:t>Độ</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phức</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tạp</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tổng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thể</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457200" lvl="0" indent="-342900" algn="l" rtl="0">
                  <a:lnSpc>
                    <a:spcPct val="115000"/>
                  </a:lnSpc>
                  <a:spcBef>
                    <a:spcPts val="1200"/>
                  </a:spcBef>
                  <a:spcAft>
                    <a:spcPts val="0"/>
                  </a:spcAft>
                  <a:buSzPts val="1800"/>
                  <a:buChar char="●"/>
                </a:pPr>
                <a:r>
                  <a:rPr lang="en-US" sz="1800" dirty="0" err="1">
                    <a:latin typeface="Times New Roman" panose="02020603050405020304"/>
                    <a:ea typeface="Times New Roman" panose="02020603050405020304"/>
                    <a:cs typeface="Times New Roman" panose="02020603050405020304"/>
                    <a:sym typeface="Times New Roman" panose="02020603050405020304"/>
                  </a:rPr>
                  <a:t>Với</a:t>
                </a:r>
                <a:r>
                  <a:rPr lang="en-US" sz="1800" dirty="0">
                    <a:latin typeface="Times New Roman" panose="02020603050405020304"/>
                    <a:ea typeface="Times New Roman" panose="02020603050405020304"/>
                    <a:cs typeface="Times New Roman" panose="02020603050405020304"/>
                    <a:sym typeface="Times New Roman" panose="02020603050405020304"/>
                  </a:rPr>
                  <a:t> </a:t>
                </a:r>
                <a14:m>
                  <m:oMath xmlns:m="http://schemas.openxmlformats.org/officeDocument/2006/math">
                    <m:sSub>
                      <m:sSubPr>
                        <m:ctrlPr>
                          <a:rPr lang="en-US" sz="1800" i="1" dirty="0" smtClean="0">
                            <a:latin typeface="Cambria Math" panose="02040503050406030204" pitchFamily="18" charset="0"/>
                            <a:cs typeface="Times New Roman" panose="02020603050405020304"/>
                            <a:sym typeface="Times New Roman" panose="02020603050405020304"/>
                          </a:rPr>
                        </m:ctrlPr>
                      </m:sSubPr>
                      <m:e>
                        <m:r>
                          <m:rPr>
                            <m:sty m:val="p"/>
                          </m:rPr>
                          <a:rPr lang="en-US" sz="1800" i="1" dirty="0">
                            <a:latin typeface="Cambria Math" panose="02040503050406030204" pitchFamily="18" charset="0"/>
                            <a:cs typeface="Times New Roman" panose="02020603050405020304"/>
                            <a:sym typeface="Times New Roman" panose="02020603050405020304"/>
                          </a:rPr>
                          <m:t>T</m:t>
                        </m:r>
                      </m:e>
                      <m:sub>
                        <m:r>
                          <m:rPr>
                            <m:sty m:val="p"/>
                          </m:rPr>
                          <a:rPr lang="en-US" sz="1800" i="1" dirty="0">
                            <a:latin typeface="Cambria Math" panose="02040503050406030204" pitchFamily="18" charset="0"/>
                            <a:cs typeface="Times New Roman" panose="02020603050405020304"/>
                            <a:sym typeface="Times New Roman" panose="02020603050405020304"/>
                          </a:rPr>
                          <m:t>max</m:t>
                        </m:r>
                      </m:sub>
                    </m:sSub>
                  </m:oMath>
                </a14:m>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số</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vòng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lặp</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3200400" lvl="0" indent="457200">
                  <a:lnSpc>
                    <a:spcPct val="115000"/>
                  </a:lnSpc>
                  <a:spcBef>
                    <a:spcPts val="1200"/>
                  </a:spcBef>
                  <a:buSzPts val="1100"/>
                  <a:buNone/>
                </a:pPr>
                <a14:m>
                  <m:oMathPara xmlns:m="http://schemas.openxmlformats.org/officeDocument/2006/math">
                    <m:oMathParaPr>
                      <m:jc m:val="centerGroup"/>
                    </m:oMathParaPr>
                    <m:oMath xmlns:m="http://schemas.openxmlformats.org/officeDocument/2006/math">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𝑂</m:t>
                      </m:r>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m:t>
                      </m:r>
                      <m:sSub>
                        <m:sSubPr>
                          <m:ctrlPr>
                            <a:rPr lang="en-US" sz="1800" i="1" dirty="0">
                              <a:latin typeface="Cambria Math" panose="02040503050406030204" pitchFamily="18" charset="0"/>
                              <a:cs typeface="Times New Roman" panose="02020603050405020304"/>
                              <a:sym typeface="Times New Roman" panose="02020603050405020304"/>
                            </a:rPr>
                          </m:ctrlPr>
                        </m:sSubPr>
                        <m:e>
                          <m:r>
                            <m:rPr>
                              <m:sty m:val="p"/>
                            </m:rPr>
                            <a:rPr lang="en-US" sz="1800" i="1" dirty="0">
                              <a:latin typeface="Cambria Math" panose="02040503050406030204" pitchFamily="18" charset="0"/>
                              <a:cs typeface="Times New Roman" panose="02020603050405020304"/>
                              <a:sym typeface="Times New Roman" panose="02020603050405020304"/>
                            </a:rPr>
                            <m:t>T</m:t>
                          </m:r>
                        </m:e>
                        <m:sub>
                          <m:r>
                            <m:rPr>
                              <m:sty m:val="p"/>
                            </m:rPr>
                            <a:rPr lang="en-US" sz="1800" i="1" dirty="0">
                              <a:latin typeface="Cambria Math" panose="02040503050406030204" pitchFamily="18" charset="0"/>
                              <a:cs typeface="Times New Roman" panose="02020603050405020304"/>
                              <a:sym typeface="Times New Roman" panose="02020603050405020304"/>
                            </a:rPr>
                            <m:t>max</m:t>
                          </m:r>
                        </m:sub>
                      </m:sSub>
                      <m:r>
                        <a:rPr 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m:t>
                      </m:r>
                      <m:r>
                        <a:rPr 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𝑀</m:t>
                      </m:r>
                      <m:r>
                        <a:rPr 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m:t>
                      </m:r>
                      <m:r>
                        <a:rPr 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𝑁</m:t>
                      </m:r>
                      <m:r>
                        <a:rPr lang="en-US" sz="1800" i="1" dirty="0">
                          <a:latin typeface="Cambria Math" panose="02040503050406030204" pitchFamily="18" charset="0"/>
                          <a:ea typeface="Times New Roman" panose="02020603050405020304"/>
                          <a:cs typeface="Times New Roman" panose="02020603050405020304"/>
                          <a:sym typeface="Times New Roman" panose="02020603050405020304"/>
                        </a:rPr>
                        <m:t>)</m:t>
                      </m:r>
                    </m:oMath>
                  </m:oMathPara>
                </a14:m>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0"/>
                  </a:spcBef>
                  <a:spcAft>
                    <a:spcPts val="0"/>
                  </a:spcAft>
                  <a:buClr>
                    <a:schemeClr val="dk1"/>
                  </a:buClr>
                  <a:buSzPts val="1100"/>
                  <a:buNone/>
                </a:pPr>
                <a:r>
                  <a:rPr lang="en-US" sz="1800" dirty="0">
                    <a:latin typeface="Times New Roman" panose="02020603050405020304"/>
                    <a:ea typeface="Times New Roman" panose="02020603050405020304"/>
                    <a:cs typeface="Times New Roman" panose="02020603050405020304"/>
                    <a:sym typeface="Times New Roman" panose="02020603050405020304"/>
                  </a:rPr>
                  <a:t>→ AC-ACO </a:t>
                </a:r>
                <a:r>
                  <a:rPr lang="en-US" sz="1800" dirty="0" err="1">
                    <a:latin typeface="Times New Roman" panose="02020603050405020304"/>
                    <a:ea typeface="Times New Roman" panose="02020603050405020304"/>
                    <a:cs typeface="Times New Roman" panose="02020603050405020304"/>
                    <a:sym typeface="Times New Roman" panose="02020603050405020304"/>
                  </a:rPr>
                  <a:t>duy</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trì</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đa</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thức</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theo</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quy</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mô</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mạng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nên</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khả</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thi</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cho</a:t>
                </a:r>
                <a:r>
                  <a:rPr lang="en-US" sz="1800" dirty="0">
                    <a:latin typeface="Times New Roman" panose="02020603050405020304"/>
                    <a:ea typeface="Times New Roman" panose="02020603050405020304"/>
                    <a:cs typeface="Times New Roman" panose="02020603050405020304"/>
                    <a:sym typeface="Times New Roman" panose="02020603050405020304"/>
                  </a:rPr>
                  <a:t> WSN </a:t>
                </a:r>
                <a:r>
                  <a:rPr lang="en-US" sz="1800" dirty="0" err="1">
                    <a:latin typeface="Times New Roman" panose="02020603050405020304"/>
                    <a:ea typeface="Times New Roman" panose="02020603050405020304"/>
                    <a:cs typeface="Times New Roman" panose="02020603050405020304"/>
                    <a:sym typeface="Times New Roman" panose="02020603050405020304"/>
                  </a:rPr>
                  <a:t>lớn</a:t>
                </a:r>
                <a:r>
                  <a:rPr lang="en-US" sz="1800" dirty="0">
                    <a:latin typeface="Times New Roman" panose="02020603050405020304"/>
                    <a:ea typeface="Times New Roman" panose="02020603050405020304"/>
                    <a:cs typeface="Times New Roman" panose="02020603050405020304"/>
                    <a:sym typeface="Times New Roman" panose="02020603050405020304"/>
                  </a:rPr>
                  <a:t>.</a:t>
                </a:r>
                <a:endParaRPr sz="1800" dirty="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dirty="0">
                  <a:latin typeface="Times New Roman" panose="02020603050405020304"/>
                  <a:ea typeface="Times New Roman" panose="02020603050405020304"/>
                  <a:cs typeface="Times New Roman" panose="02020603050405020304"/>
                  <a:sym typeface="Times New Roman" panose="02020603050405020304"/>
                </a:endParaRPr>
              </a:p>
            </p:txBody>
          </p:sp>
        </mc:Choice>
        <mc:Fallback xmlns="">
          <p:sp>
            <p:nvSpPr>
              <p:cNvPr id="310" name="Google Shape;310;p46"/>
              <p:cNvSpPr txBox="1">
                <a:spLocks noRot="1" noChangeAspect="1" noMove="1" noResize="1" noEditPoints="1" noAdjustHandles="1" noChangeArrowheads="1" noChangeShapeType="1" noTextEdit="1"/>
              </p:cNvSpPr>
              <p:nvPr>
                <p:ph type="body" idx="1"/>
              </p:nvPr>
            </p:nvSpPr>
            <p:spPr>
              <a:xfrm>
                <a:off x="234950" y="963168"/>
                <a:ext cx="8674100" cy="5132832"/>
              </a:xfrm>
              <a:prstGeom prst="rect">
                <a:avLst/>
              </a:prstGeom>
              <a:blipFill rotWithShape="1">
                <a:blip r:embed="rId3"/>
                <a:stretch>
                  <a:fillRect t="-10" r="-922" b="-5926"/>
                </a:stretch>
              </a:blipFill>
              <a:ln>
                <a:noFill/>
              </a:ln>
            </p:spPr>
            <p:txBody>
              <a:bodyPr/>
              <a:lstStyle/>
              <a:p>
                <a:r>
                  <a:rPr lang="en-US" altLang="en-US">
                    <a:noFill/>
                  </a:rPr>
                  <a:t> </a:t>
                </a:r>
              </a:p>
            </p:txBody>
          </p:sp>
        </mc:Fallback>
      </mc:AlternateContent>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7"/>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46</a:t>
            </a:fld>
            <a:endParaRPr lang="en-US"/>
          </a:p>
        </p:txBody>
      </p:sp>
      <p:sp>
        <p:nvSpPr>
          <p:cNvPr id="316" name="Google Shape;316;p47"/>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sym typeface="+mn-ea"/>
              </a:rPr>
              <a:t>3. </a:t>
            </a:r>
            <a:r>
              <a:rPr lang="vi-VN" altLang="en-US">
                <a:sym typeface="+mn-ea"/>
              </a:rPr>
              <a:t>P</a:t>
            </a:r>
            <a:r>
              <a:rPr lang="en-US">
                <a:sym typeface="+mn-ea"/>
              </a:rPr>
              <a:t>hương pháp</a:t>
            </a:r>
            <a:r>
              <a:rPr lang="vi-VN" altLang="en-US">
                <a:sym typeface="+mn-ea"/>
              </a:rPr>
              <a:t> đề xuất</a:t>
            </a:r>
            <a:r>
              <a:rPr lang="en-US">
                <a:sym typeface="+mn-ea"/>
              </a:rPr>
              <a:t> AC-ACO</a:t>
            </a:r>
            <a:br>
              <a:rPr lang="en-US">
                <a:sym typeface="+mn-ea"/>
              </a:rPr>
            </a:br>
            <a:endParaRPr lang="en-US"/>
          </a:p>
        </p:txBody>
      </p:sp>
      <mc:AlternateContent xmlns:mc="http://schemas.openxmlformats.org/markup-compatibility/2006" xmlns:a14="http://schemas.microsoft.com/office/drawing/2010/main">
        <mc:Choice Requires="a14">
          <p:graphicFrame>
            <p:nvGraphicFramePr>
              <p:cNvPr id="317" name="Google Shape;317;p47"/>
              <p:cNvGraphicFramePr/>
              <p:nvPr/>
            </p:nvGraphicFramePr>
            <p:xfrm>
              <a:off x="648150" y="1529175"/>
              <a:ext cx="7515000" cy="4171643"/>
            </p:xfrm>
            <a:graphic>
              <a:graphicData uri="http://schemas.openxmlformats.org/drawingml/2006/table">
                <a:tbl>
                  <a:tblPr>
                    <a:noFill/>
                    <a:tableStyleId>{2C94AA5D-8D03-4AD0-AC9E-A1A30640FED9}</a:tableStyleId>
                  </a:tblPr>
                  <a:tblGrid>
                    <a:gridCol w="1005775">
                      <a:extLst>
                        <a:ext uri="{9D8B030D-6E8A-4147-A177-3AD203B41FA5}">
                          <a16:colId xmlns:a16="http://schemas.microsoft.com/office/drawing/2014/main" val="20000"/>
                        </a:ext>
                      </a:extLst>
                    </a:gridCol>
                    <a:gridCol w="2074150">
                      <a:extLst>
                        <a:ext uri="{9D8B030D-6E8A-4147-A177-3AD203B41FA5}">
                          <a16:colId xmlns:a16="http://schemas.microsoft.com/office/drawing/2014/main" val="20001"/>
                        </a:ext>
                      </a:extLst>
                    </a:gridCol>
                    <a:gridCol w="4435075">
                      <a:extLst>
                        <a:ext uri="{9D8B030D-6E8A-4147-A177-3AD203B41FA5}">
                          <a16:colId xmlns:a16="http://schemas.microsoft.com/office/drawing/2014/main" val="20002"/>
                        </a:ext>
                      </a:extLst>
                    </a:gridCol>
                  </a:tblGrid>
                  <a:tr h="0">
                    <a:tc>
                      <a:txBody>
                        <a:bodyPr/>
                        <a:lstStyle/>
                        <a:p>
                          <a:pPr marL="0" lvl="0" indent="0" algn="ctr" rtl="0">
                            <a:lnSpc>
                              <a:spcPct val="115000"/>
                            </a:lnSpc>
                            <a:spcBef>
                              <a:spcPts val="0"/>
                            </a:spcBef>
                            <a:spcAft>
                              <a:spcPts val="0"/>
                            </a:spcAft>
                            <a:buNone/>
                          </a:pPr>
                          <a:r>
                            <a:rPr lang="en-US" sz="1800" b="1">
                              <a:latin typeface="Times New Roman" panose="02020603050405020304"/>
                              <a:ea typeface="Times New Roman" panose="02020603050405020304"/>
                              <a:cs typeface="Times New Roman" panose="02020603050405020304"/>
                              <a:sym typeface="Times New Roman" panose="02020603050405020304"/>
                            </a:rPr>
                            <a:t>Thuật toán</a:t>
                          </a:r>
                          <a:endParaRPr sz="1800" b="1">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800" b="1">
                              <a:latin typeface="Times New Roman" panose="02020603050405020304"/>
                              <a:ea typeface="Times New Roman" panose="02020603050405020304"/>
                              <a:cs typeface="Times New Roman" panose="02020603050405020304"/>
                              <a:sym typeface="Times New Roman" panose="02020603050405020304"/>
                            </a:rPr>
                            <a:t>Độ phức tạp</a:t>
                          </a:r>
                          <a:endParaRPr sz="1800" b="1">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800" b="1">
                              <a:latin typeface="Times New Roman" panose="02020603050405020304"/>
                              <a:ea typeface="Times New Roman" panose="02020603050405020304"/>
                              <a:cs typeface="Times New Roman" panose="02020603050405020304"/>
                              <a:sym typeface="Times New Roman" panose="02020603050405020304"/>
                            </a:rPr>
                            <a:t>Nhận xét</a:t>
                          </a:r>
                          <a:endParaRPr sz="1800" b="1">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209550">
                    <a:tc>
                      <a:txBody>
                        <a:bodyPr/>
                        <a:lstStyle/>
                        <a:p>
                          <a:pPr marL="0" lvl="0" indent="0" algn="l" rtl="0">
                            <a:spcBef>
                              <a:spcPts val="0"/>
                            </a:spcBef>
                            <a:spcAft>
                              <a:spcPts val="0"/>
                            </a:spcAft>
                            <a:buNone/>
                          </a:pPr>
                          <a:r>
                            <a:rPr lang="en-US" sz="1800" b="1">
                              <a:latin typeface="Times New Roman" panose="02020603050405020304"/>
                              <a:ea typeface="Times New Roman" panose="02020603050405020304"/>
                              <a:cs typeface="Times New Roman" panose="02020603050405020304"/>
                              <a:sym typeface="Times New Roman" panose="02020603050405020304"/>
                            </a:rPr>
                            <a:t>LEACH</a:t>
                          </a:r>
                          <a:endParaRPr sz="1800" b="1">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14:m>
                            <m:oMathPara xmlns:m="http://schemas.openxmlformats.org/officeDocument/2006/math">
                              <m:oMathParaPr>
                                <m:jc m:val="centerGroup"/>
                              </m:oMathParaPr>
                              <m:oMath xmlns:m="http://schemas.openxmlformats.org/officeDocument/2006/math">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𝑂</m:t>
                                </m:r>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m:t>
                                </m:r>
                                <m:sSub>
                                  <m:sSubPr>
                                    <m:ctrlPr>
                                      <a:rPr lang="en-US" sz="1800" i="1" dirty="0" smtClean="0">
                                        <a:latin typeface="Cambria Math" panose="02040503050406030204" pitchFamily="18" charset="0"/>
                                        <a:cs typeface="Times New Roman" panose="02020603050405020304"/>
                                        <a:sym typeface="Times New Roman" panose="02020603050405020304"/>
                                      </a:rPr>
                                    </m:ctrlPr>
                                  </m:sSubPr>
                                  <m:e>
                                    <m:r>
                                      <m:rPr>
                                        <m:sty m:val="p"/>
                                      </m:rPr>
                                      <a:rPr lang="en-US" sz="1800" i="1" dirty="0">
                                        <a:latin typeface="Cambria Math" panose="02040503050406030204" pitchFamily="18" charset="0"/>
                                        <a:cs typeface="Times New Roman" panose="02020603050405020304"/>
                                        <a:sym typeface="Times New Roman" panose="02020603050405020304"/>
                                      </a:rPr>
                                      <m:t>T</m:t>
                                    </m:r>
                                  </m:e>
                                  <m:sub>
                                    <m:r>
                                      <m:rPr>
                                        <m:sty m:val="p"/>
                                      </m:rPr>
                                      <a:rPr lang="en-US" sz="1800" i="1" dirty="0">
                                        <a:latin typeface="Cambria Math" panose="02040503050406030204" pitchFamily="18" charset="0"/>
                                        <a:cs typeface="Times New Roman" panose="02020603050405020304"/>
                                        <a:sym typeface="Times New Roman" panose="02020603050405020304"/>
                                      </a:rPr>
                                      <m:t>max</m:t>
                                    </m:r>
                                  </m:sub>
                                </m:sSub>
                                <m:r>
                                  <a:rPr 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m:t>
                                </m:r>
                                <m:r>
                                  <a:rPr 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𝑁</m:t>
                                </m:r>
                                <m:r>
                                  <a:rPr lang="en-US" sz="1800" i="1" dirty="0">
                                    <a:latin typeface="Cambria Math" panose="02040503050406030204" pitchFamily="18" charset="0"/>
                                    <a:ea typeface="Times New Roman" panose="02020603050405020304"/>
                                    <a:cs typeface="Times New Roman" panose="02020603050405020304"/>
                                    <a:sym typeface="Times New Roman" panose="02020603050405020304"/>
                                  </a:rPr>
                                  <m:t>)</m:t>
                                </m:r>
                              </m:oMath>
                            </m:oMathPara>
                          </a14:m>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800">
                              <a:latin typeface="Times New Roman" panose="02020603050405020304"/>
                              <a:ea typeface="Times New Roman" panose="02020603050405020304"/>
                              <a:cs typeface="Times New Roman" panose="02020603050405020304"/>
                              <a:sym typeface="Times New Roman" panose="02020603050405020304"/>
                            </a:rPr>
                            <a:t>Nhanh, nhưng hiệu quả thấp do chọn trưởng cụm ngẫu nhiên.</a:t>
                          </a:r>
                          <a:endParaRPr sz="180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09550">
                    <a:tc>
                      <a:txBody>
                        <a:bodyPr/>
                        <a:lstStyle/>
                        <a:p>
                          <a:pPr marL="0" lvl="0" indent="0" algn="l" rtl="0">
                            <a:spcBef>
                              <a:spcPts val="0"/>
                            </a:spcBef>
                            <a:spcAft>
                              <a:spcPts val="0"/>
                            </a:spcAft>
                            <a:buNone/>
                          </a:pPr>
                          <a:r>
                            <a:rPr lang="en-US" sz="1800" b="1">
                              <a:latin typeface="Times New Roman" panose="02020603050405020304"/>
                              <a:ea typeface="Times New Roman" panose="02020603050405020304"/>
                              <a:cs typeface="Times New Roman" panose="02020603050405020304"/>
                              <a:sym typeface="Times New Roman" panose="02020603050405020304"/>
                            </a:rPr>
                            <a:t>LEACH-C</a:t>
                          </a:r>
                          <a:endParaRPr sz="1800" b="1">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14:m>
                            <m:oMathPara xmlns:m="http://schemas.openxmlformats.org/officeDocument/2006/math">
                              <m:oMathParaPr>
                                <m:jc m:val="centerGroup"/>
                              </m:oMathParaPr>
                              <m:oMath xmlns:m="http://schemas.openxmlformats.org/officeDocument/2006/math">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𝑂</m:t>
                                </m:r>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m:t>
                                </m:r>
                                <m:sSub>
                                  <m:sSubPr>
                                    <m:ctrlPr>
                                      <a:rPr lang="en-US" sz="1800" i="1" dirty="0" smtClean="0">
                                        <a:latin typeface="Cambria Math" panose="02040503050406030204" pitchFamily="18" charset="0"/>
                                        <a:cs typeface="Times New Roman" panose="02020603050405020304"/>
                                        <a:sym typeface="Times New Roman" panose="02020603050405020304"/>
                                      </a:rPr>
                                    </m:ctrlPr>
                                  </m:sSubPr>
                                  <m:e>
                                    <m:r>
                                      <m:rPr>
                                        <m:sty m:val="p"/>
                                      </m:rPr>
                                      <a:rPr lang="en-US" sz="1800" i="1" dirty="0">
                                        <a:latin typeface="Cambria Math" panose="02040503050406030204" pitchFamily="18" charset="0"/>
                                        <a:cs typeface="Times New Roman" panose="02020603050405020304"/>
                                        <a:sym typeface="Times New Roman" panose="02020603050405020304"/>
                                      </a:rPr>
                                      <m:t>T</m:t>
                                    </m:r>
                                  </m:e>
                                  <m:sub>
                                    <m:r>
                                      <m:rPr>
                                        <m:sty m:val="p"/>
                                      </m:rPr>
                                      <a:rPr lang="en-US" sz="1800" i="1" dirty="0">
                                        <a:latin typeface="Cambria Math" panose="02040503050406030204" pitchFamily="18" charset="0"/>
                                        <a:cs typeface="Times New Roman" panose="02020603050405020304"/>
                                        <a:sym typeface="Times New Roman" panose="02020603050405020304"/>
                                      </a:rPr>
                                      <m:t>max</m:t>
                                    </m:r>
                                  </m:sub>
                                </m:sSub>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m:t>
                                </m:r>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𝑁</m:t>
                                </m:r>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^2)</m:t>
                                </m:r>
                              </m:oMath>
                            </m:oMathPara>
                          </a14:m>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800">
                              <a:latin typeface="Times New Roman" panose="02020603050405020304"/>
                              <a:ea typeface="Times New Roman" panose="02020603050405020304"/>
                              <a:cs typeface="Times New Roman" panose="02020603050405020304"/>
                              <a:sym typeface="Times New Roman" panose="02020603050405020304"/>
                            </a:rPr>
                            <a:t>Tốn kém hơn do phải tính toàn cục, khó mở rộng.</a:t>
                          </a:r>
                          <a:endParaRPr sz="180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09550">
                    <a:tc>
                      <a:txBody>
                        <a:bodyPr/>
                        <a:lstStyle/>
                        <a:p>
                          <a:pPr marL="0" lvl="0" indent="0" algn="l" rtl="0">
                            <a:spcBef>
                              <a:spcPts val="0"/>
                            </a:spcBef>
                            <a:spcAft>
                              <a:spcPts val="0"/>
                            </a:spcAft>
                            <a:buNone/>
                          </a:pPr>
                          <a:r>
                            <a:rPr lang="en-US" sz="1800" b="1">
                              <a:latin typeface="Times New Roman" panose="02020603050405020304"/>
                              <a:ea typeface="Times New Roman" panose="02020603050405020304"/>
                              <a:cs typeface="Times New Roman" panose="02020603050405020304"/>
                              <a:sym typeface="Times New Roman" panose="02020603050405020304"/>
                            </a:rPr>
                            <a:t>GA</a:t>
                          </a:r>
                          <a:endParaRPr sz="1800" b="1">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14:m>
                            <m:oMathPara xmlns:m="http://schemas.openxmlformats.org/officeDocument/2006/math">
                              <m:oMathParaPr>
                                <m:jc m:val="centerGroup"/>
                              </m:oMathParaPr>
                              <m:oMath xmlns:m="http://schemas.openxmlformats.org/officeDocument/2006/math">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𝑂</m:t>
                                </m:r>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m:t>
                                </m:r>
                                <m:sSub>
                                  <m:sSubPr>
                                    <m:ctrlPr>
                                      <a:rPr lang="en-US" sz="1800" i="1" dirty="0" smtClean="0">
                                        <a:latin typeface="Cambria Math" panose="02040503050406030204" pitchFamily="18" charset="0"/>
                                        <a:cs typeface="Times New Roman" panose="02020603050405020304"/>
                                        <a:sym typeface="Times New Roman" panose="02020603050405020304"/>
                                      </a:rPr>
                                    </m:ctrlPr>
                                  </m:sSubPr>
                                  <m:e>
                                    <m:r>
                                      <m:rPr>
                                        <m:sty m:val="p"/>
                                      </m:rPr>
                                      <a:rPr lang="en-US" sz="1800" i="1" dirty="0">
                                        <a:latin typeface="Cambria Math" panose="02040503050406030204" pitchFamily="18" charset="0"/>
                                        <a:cs typeface="Times New Roman" panose="02020603050405020304"/>
                                        <a:sym typeface="Times New Roman" panose="02020603050405020304"/>
                                      </a:rPr>
                                      <m:t>T</m:t>
                                    </m:r>
                                  </m:e>
                                  <m:sub>
                                    <m:r>
                                      <m:rPr>
                                        <m:sty m:val="p"/>
                                      </m:rPr>
                                      <a:rPr lang="en-US" sz="1800" i="1" dirty="0">
                                        <a:latin typeface="Cambria Math" panose="02040503050406030204" pitchFamily="18" charset="0"/>
                                        <a:cs typeface="Times New Roman" panose="02020603050405020304"/>
                                        <a:sym typeface="Times New Roman" panose="02020603050405020304"/>
                                      </a:rPr>
                                      <m:t>max</m:t>
                                    </m:r>
                                  </m:sub>
                                </m:sSub>
                                <m:r>
                                  <a:rPr 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m:t>
                                </m:r>
                                <m:r>
                                  <a:rPr 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𝑀</m:t>
                                </m:r>
                                <m:r>
                                  <a:rPr 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m:t>
                                </m:r>
                                <m:r>
                                  <a:rPr 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𝑁</m:t>
                                </m:r>
                                <m:r>
                                  <a:rPr lang="en-US" sz="1800" i="1" dirty="0">
                                    <a:latin typeface="Cambria Math" panose="02040503050406030204" pitchFamily="18" charset="0"/>
                                    <a:ea typeface="Times New Roman" panose="02020603050405020304"/>
                                    <a:cs typeface="Times New Roman" panose="02020603050405020304"/>
                                    <a:sym typeface="Times New Roman" panose="02020603050405020304"/>
                                  </a:rPr>
                                  <m:t>)</m:t>
                                </m:r>
                              </m:oMath>
                            </m:oMathPara>
                          </a14:m>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800">
                              <a:latin typeface="Times New Roman" panose="02020603050405020304"/>
                              <a:ea typeface="Times New Roman" panose="02020603050405020304"/>
                              <a:cs typeface="Times New Roman" panose="02020603050405020304"/>
                              <a:sym typeface="Times New Roman" panose="02020603050405020304"/>
                            </a:rPr>
                            <a:t>Giống AC-ACO, nhưng GA dễ hội tụ và kẹt cục bộ.</a:t>
                          </a:r>
                          <a:endParaRPr sz="180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209550">
                    <a:tc>
                      <a:txBody>
                        <a:bodyPr/>
                        <a:lstStyle/>
                        <a:p>
                          <a:pPr marL="0" lvl="0" indent="0" algn="l" rtl="0">
                            <a:spcBef>
                              <a:spcPts val="0"/>
                            </a:spcBef>
                            <a:spcAft>
                              <a:spcPts val="0"/>
                            </a:spcAft>
                            <a:buNone/>
                          </a:pPr>
                          <a:r>
                            <a:rPr lang="en-US" sz="1800" b="1">
                              <a:latin typeface="Times New Roman" panose="02020603050405020304"/>
                              <a:ea typeface="Times New Roman" panose="02020603050405020304"/>
                              <a:cs typeface="Times New Roman" panose="02020603050405020304"/>
                              <a:sym typeface="Times New Roman" panose="02020603050405020304"/>
                            </a:rPr>
                            <a:t>PSO</a:t>
                          </a:r>
                          <a:endParaRPr sz="1800" b="1">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14:m>
                            <m:oMathPara xmlns:m="http://schemas.openxmlformats.org/officeDocument/2006/math">
                              <m:oMathParaPr>
                                <m:jc m:val="centerGroup"/>
                              </m:oMathParaPr>
                              <m:oMath xmlns:m="http://schemas.openxmlformats.org/officeDocument/2006/math">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𝑂</m:t>
                                </m:r>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m:t>
                                </m:r>
                                <m:sSub>
                                  <m:sSubPr>
                                    <m:ctrlPr>
                                      <a:rPr lang="en-US" sz="1800" i="1" dirty="0" smtClean="0">
                                        <a:latin typeface="Cambria Math" panose="02040503050406030204" pitchFamily="18" charset="0"/>
                                        <a:cs typeface="Times New Roman" panose="02020603050405020304"/>
                                        <a:sym typeface="Times New Roman" panose="02020603050405020304"/>
                                      </a:rPr>
                                    </m:ctrlPr>
                                  </m:sSubPr>
                                  <m:e>
                                    <m:r>
                                      <m:rPr>
                                        <m:sty m:val="p"/>
                                      </m:rPr>
                                      <a:rPr lang="en-US" sz="1800" i="1" dirty="0">
                                        <a:latin typeface="Cambria Math" panose="02040503050406030204" pitchFamily="18" charset="0"/>
                                        <a:cs typeface="Times New Roman" panose="02020603050405020304"/>
                                        <a:sym typeface="Times New Roman" panose="02020603050405020304"/>
                                      </a:rPr>
                                      <m:t>T</m:t>
                                    </m:r>
                                  </m:e>
                                  <m:sub>
                                    <m:r>
                                      <m:rPr>
                                        <m:sty m:val="p"/>
                                      </m:rPr>
                                      <a:rPr lang="en-US" sz="1800" i="1" dirty="0">
                                        <a:latin typeface="Cambria Math" panose="02040503050406030204" pitchFamily="18" charset="0"/>
                                        <a:cs typeface="Times New Roman" panose="02020603050405020304"/>
                                        <a:sym typeface="Times New Roman" panose="02020603050405020304"/>
                                      </a:rPr>
                                      <m:t>max</m:t>
                                    </m:r>
                                  </m:sub>
                                </m:sSub>
                                <m:r>
                                  <a:rPr 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m:t>
                                </m:r>
                                <m:r>
                                  <a:rPr 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𝑀</m:t>
                                </m:r>
                                <m:r>
                                  <a:rPr 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m:t>
                                </m:r>
                                <m:r>
                                  <a:rPr 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𝑁</m:t>
                                </m:r>
                                <m:r>
                                  <a:rPr lang="en-US" sz="1800" i="1" dirty="0">
                                    <a:latin typeface="Cambria Math" panose="02040503050406030204" pitchFamily="18" charset="0"/>
                                    <a:ea typeface="Times New Roman" panose="02020603050405020304"/>
                                    <a:cs typeface="Times New Roman" panose="02020603050405020304"/>
                                    <a:sym typeface="Times New Roman" panose="02020603050405020304"/>
                                  </a:rPr>
                                  <m:t>)</m:t>
                                </m:r>
                              </m:oMath>
                            </m:oMathPara>
                          </a14:m>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800">
                              <a:latin typeface="Times New Roman" panose="02020603050405020304"/>
                              <a:ea typeface="Times New Roman" panose="02020603050405020304"/>
                              <a:cs typeface="Times New Roman" panose="02020603050405020304"/>
                              <a:sym typeface="Times New Roman" panose="02020603050405020304"/>
                            </a:rPr>
                            <a:t>Tương tự GA, phụ thuộc nhiều vào tham số.</a:t>
                          </a:r>
                          <a:endParaRPr sz="180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209550">
                    <a:tc>
                      <a:txBody>
                        <a:bodyPr/>
                        <a:lstStyle/>
                        <a:p>
                          <a:pPr marL="0" lvl="0" indent="0" algn="l" rtl="0">
                            <a:spcBef>
                              <a:spcPts val="0"/>
                            </a:spcBef>
                            <a:spcAft>
                              <a:spcPts val="0"/>
                            </a:spcAft>
                            <a:buNone/>
                          </a:pPr>
                          <a:r>
                            <a:rPr lang="en-US" sz="1800" b="1">
                              <a:latin typeface="Times New Roman" panose="02020603050405020304"/>
                              <a:ea typeface="Times New Roman" panose="02020603050405020304"/>
                              <a:cs typeface="Times New Roman" panose="02020603050405020304"/>
                              <a:sym typeface="Times New Roman" panose="02020603050405020304"/>
                            </a:rPr>
                            <a:t>AC-ACO</a:t>
                          </a:r>
                          <a:endParaRPr sz="1800" b="1">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14:m>
                            <m:oMathPara xmlns:m="http://schemas.openxmlformats.org/officeDocument/2006/math">
                              <m:oMathParaPr>
                                <m:jc m:val="centerGroup"/>
                              </m:oMathParaPr>
                              <m:oMath xmlns:m="http://schemas.openxmlformats.org/officeDocument/2006/math">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𝑂</m:t>
                                </m:r>
                                <m:r>
                                  <a:rPr lang="en-US" sz="1800" i="1" dirty="0" smtClean="0">
                                    <a:latin typeface="Cambria Math" panose="02040503050406030204" pitchFamily="18" charset="0"/>
                                    <a:ea typeface="Times New Roman" panose="02020603050405020304"/>
                                    <a:cs typeface="Times New Roman" panose="02020603050405020304"/>
                                    <a:sym typeface="Times New Roman" panose="02020603050405020304"/>
                                  </a:rPr>
                                  <m:t>(</m:t>
                                </m:r>
                                <m:sSub>
                                  <m:sSubPr>
                                    <m:ctrlPr>
                                      <a:rPr lang="en-US" sz="1800" i="1" dirty="0" smtClean="0">
                                        <a:latin typeface="Cambria Math" panose="02040503050406030204" pitchFamily="18" charset="0"/>
                                        <a:cs typeface="Times New Roman" panose="02020603050405020304"/>
                                        <a:sym typeface="Times New Roman" panose="02020603050405020304"/>
                                      </a:rPr>
                                    </m:ctrlPr>
                                  </m:sSubPr>
                                  <m:e>
                                    <m:r>
                                      <m:rPr>
                                        <m:sty m:val="p"/>
                                      </m:rPr>
                                      <a:rPr lang="en-US" sz="1800" i="1" dirty="0">
                                        <a:latin typeface="Cambria Math" panose="02040503050406030204" pitchFamily="18" charset="0"/>
                                        <a:cs typeface="Times New Roman" panose="02020603050405020304"/>
                                        <a:sym typeface="Times New Roman" panose="02020603050405020304"/>
                                      </a:rPr>
                                      <m:t>T</m:t>
                                    </m:r>
                                  </m:e>
                                  <m:sub>
                                    <m:r>
                                      <m:rPr>
                                        <m:sty m:val="p"/>
                                      </m:rPr>
                                      <a:rPr lang="en-US" sz="1800" i="1" dirty="0">
                                        <a:latin typeface="Cambria Math" panose="02040503050406030204" pitchFamily="18" charset="0"/>
                                        <a:cs typeface="Times New Roman" panose="02020603050405020304"/>
                                        <a:sym typeface="Times New Roman" panose="02020603050405020304"/>
                                      </a:rPr>
                                      <m:t>max</m:t>
                                    </m:r>
                                  </m:sub>
                                </m:sSub>
                                <m:r>
                                  <a:rPr 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m:t>
                                </m:r>
                                <m:r>
                                  <a:rPr 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𝑀</m:t>
                                </m:r>
                                <m:r>
                                  <a:rPr 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m:t>
                                </m:r>
                                <m:r>
                                  <a:rPr lang="en-US" sz="1800" i="1" dirty="0" err="1">
                                    <a:latin typeface="Cambria Math" panose="02040503050406030204" pitchFamily="18" charset="0"/>
                                    <a:ea typeface="Times New Roman" panose="02020603050405020304"/>
                                    <a:cs typeface="Times New Roman" panose="02020603050405020304"/>
                                    <a:sym typeface="Times New Roman" panose="02020603050405020304"/>
                                  </a:rPr>
                                  <m:t>𝑁</m:t>
                                </m:r>
                                <m:r>
                                  <a:rPr lang="en-US" sz="1800" i="1" dirty="0">
                                    <a:latin typeface="Cambria Math" panose="02040503050406030204" pitchFamily="18" charset="0"/>
                                    <a:ea typeface="Times New Roman" panose="02020603050405020304"/>
                                    <a:cs typeface="Times New Roman" panose="02020603050405020304"/>
                                    <a:sym typeface="Times New Roman" panose="02020603050405020304"/>
                                  </a:rPr>
                                  <m:t>)</m:t>
                                </m:r>
                              </m:oMath>
                            </m:oMathPara>
                          </a14:m>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1800" dirty="0" err="1">
                              <a:latin typeface="Times New Roman" panose="02020603050405020304"/>
                              <a:ea typeface="Times New Roman" panose="02020603050405020304"/>
                              <a:cs typeface="Times New Roman" panose="02020603050405020304"/>
                              <a:sym typeface="Times New Roman" panose="02020603050405020304"/>
                            </a:rPr>
                            <a:t>Khả</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thoát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tối</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ưu</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cục</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bộ</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tốt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hơn</a:t>
                          </a:r>
                          <a:r>
                            <a:rPr lang="en-US" sz="1800" dirty="0">
                              <a:latin typeface="Times New Roman" panose="02020603050405020304"/>
                              <a:ea typeface="Times New Roman" panose="02020603050405020304"/>
                              <a:cs typeface="Times New Roman" panose="02020603050405020304"/>
                              <a:sym typeface="Times New Roman" panose="02020603050405020304"/>
                            </a:rPr>
                            <a:t> GA/PSO.</a:t>
                          </a:r>
                          <a:endParaRPr sz="18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mc:Choice>
        <mc:Fallback xmlns="">
          <p:graphicFrame>
            <p:nvGraphicFramePr>
              <p:cNvPr id="317" name="Google Shape;317;p47"/>
              <p:cNvGraphicFramePr/>
              <p:nvPr/>
            </p:nvGraphicFramePr>
            <p:xfrm>
              <a:off x="648150" y="1529175"/>
              <a:ext cx="7515000" cy="4171643"/>
            </p:xfrm>
            <a:graphic>
              <a:graphicData uri="http://schemas.openxmlformats.org/drawingml/2006/table">
                <a:tbl>
                  <a:tblPr>
                    <a:noFill/>
                    <a:tableStyleId>{2C94AA5D-8D03-4AD0-AC9E-A1A30640FED9}</a:tableStyleId>
                  </a:tblPr>
                  <a:tblGrid>
                    <a:gridCol w="1005775"/>
                    <a:gridCol w="2074150"/>
                    <a:gridCol w="4435075"/>
                  </a:tblGrid>
                  <a:tr h="0">
                    <a:tc>
                      <a:txBody>
                        <a:bodyPr/>
                        <a:lstStyle/>
                        <a:p>
                          <a:pPr marL="0" lvl="0" indent="0" algn="ctr" rtl="0">
                            <a:lnSpc>
                              <a:spcPct val="115000"/>
                            </a:lnSpc>
                            <a:spcBef>
                              <a:spcPts val="0"/>
                            </a:spcBef>
                            <a:spcAft>
                              <a:spcPts val="0"/>
                            </a:spcAft>
                            <a:buNone/>
                          </a:pPr>
                          <a:r>
                            <a:rPr lang="en-US" sz="1800" b="1">
                              <a:latin typeface="Times New Roman" panose="02020603050405020304"/>
                              <a:ea typeface="Times New Roman" panose="02020603050405020304"/>
                              <a:cs typeface="Times New Roman" panose="02020603050405020304"/>
                              <a:sym typeface="Times New Roman" panose="02020603050405020304"/>
                            </a:rPr>
                            <a:t>Thuật toán</a:t>
                          </a:r>
                          <a:endParaRPr sz="1800" b="1">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800" b="1">
                              <a:latin typeface="Times New Roman" panose="02020603050405020304"/>
                              <a:ea typeface="Times New Roman" panose="02020603050405020304"/>
                              <a:cs typeface="Times New Roman" panose="02020603050405020304"/>
                              <a:sym typeface="Times New Roman" panose="02020603050405020304"/>
                            </a:rPr>
                            <a:t>Độ phức tạp</a:t>
                          </a:r>
                          <a:endParaRPr sz="1800" b="1">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800" b="1">
                              <a:latin typeface="Times New Roman" panose="02020603050405020304"/>
                              <a:ea typeface="Times New Roman" panose="02020603050405020304"/>
                              <a:cs typeface="Times New Roman" panose="02020603050405020304"/>
                              <a:sym typeface="Times New Roman" panose="02020603050405020304"/>
                            </a:rPr>
                            <a:t>Nhận xét</a:t>
                          </a:r>
                          <a:endParaRPr sz="1800" b="1">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r>
                  <a:tr h="731520">
                    <a:tc>
                      <a:txBody>
                        <a:bodyPr/>
                        <a:lstStyle/>
                        <a:p>
                          <a:pPr marL="0" lvl="0" indent="0" algn="l" rtl="0">
                            <a:spcBef>
                              <a:spcPts val="0"/>
                            </a:spcBef>
                            <a:spcAft>
                              <a:spcPts val="0"/>
                            </a:spcAft>
                            <a:buNone/>
                          </a:pPr>
                          <a:r>
                            <a:rPr lang="en-US" sz="1800" b="1">
                              <a:latin typeface="Times New Roman" panose="02020603050405020304"/>
                              <a:ea typeface="Times New Roman" panose="02020603050405020304"/>
                              <a:cs typeface="Times New Roman" panose="02020603050405020304"/>
                              <a:sym typeface="Times New Roman" panose="02020603050405020304"/>
                            </a:rPr>
                            <a:t>LEACH</a:t>
                          </a:r>
                          <a:endParaRPr sz="1800" b="1">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endParaRPr lang="en-US"/>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blipFill>
                          <a:blip r:embed="rId3"/>
                        </a:blipFill>
                      </a:tcPr>
                    </a:tc>
                    <a:tc>
                      <a:txBody>
                        <a:bodyPr/>
                        <a:lstStyle/>
                        <a:p>
                          <a:pPr marL="0" lvl="0" indent="0" algn="l" rtl="0">
                            <a:spcBef>
                              <a:spcPts val="0"/>
                            </a:spcBef>
                            <a:spcAft>
                              <a:spcPts val="0"/>
                            </a:spcAft>
                            <a:buNone/>
                          </a:pPr>
                          <a:r>
                            <a:rPr lang="en-US" sz="1800">
                              <a:latin typeface="Times New Roman" panose="02020603050405020304"/>
                              <a:ea typeface="Times New Roman" panose="02020603050405020304"/>
                              <a:cs typeface="Times New Roman" panose="02020603050405020304"/>
                              <a:sym typeface="Times New Roman" panose="02020603050405020304"/>
                            </a:rPr>
                            <a:t>Nhanh, nhưng hiệu quả thấp do chọn trưởng cụm ngẫu nhiên.</a:t>
                          </a:r>
                          <a:endParaRPr sz="180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r>
                  <a:tr h="731520">
                    <a:tc>
                      <a:txBody>
                        <a:bodyPr/>
                        <a:lstStyle/>
                        <a:p>
                          <a:pPr marL="0" lvl="0" indent="0" algn="l" rtl="0">
                            <a:spcBef>
                              <a:spcPts val="0"/>
                            </a:spcBef>
                            <a:spcAft>
                              <a:spcPts val="0"/>
                            </a:spcAft>
                            <a:buNone/>
                          </a:pPr>
                          <a:r>
                            <a:rPr lang="en-US" sz="1800" b="1">
                              <a:latin typeface="Times New Roman" panose="02020603050405020304"/>
                              <a:ea typeface="Times New Roman" panose="02020603050405020304"/>
                              <a:cs typeface="Times New Roman" panose="02020603050405020304"/>
                              <a:sym typeface="Times New Roman" panose="02020603050405020304"/>
                            </a:rPr>
                            <a:t>LEACH-C</a:t>
                          </a:r>
                          <a:endParaRPr sz="1800" b="1">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endParaRPr lang="en-US"/>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blipFill>
                          <a:blip r:embed="rId3"/>
                        </a:blipFill>
                      </a:tcPr>
                    </a:tc>
                    <a:tc>
                      <a:txBody>
                        <a:bodyPr/>
                        <a:lstStyle/>
                        <a:p>
                          <a:pPr marL="0" lvl="0" indent="0" algn="l" rtl="0">
                            <a:spcBef>
                              <a:spcPts val="0"/>
                            </a:spcBef>
                            <a:spcAft>
                              <a:spcPts val="0"/>
                            </a:spcAft>
                            <a:buNone/>
                          </a:pPr>
                          <a:r>
                            <a:rPr lang="en-US" sz="1800">
                              <a:latin typeface="Times New Roman" panose="02020603050405020304"/>
                              <a:ea typeface="Times New Roman" panose="02020603050405020304"/>
                              <a:cs typeface="Times New Roman" panose="02020603050405020304"/>
                              <a:sym typeface="Times New Roman" panose="02020603050405020304"/>
                            </a:rPr>
                            <a:t>Tốn kém hơn do phải tính toàn cục, khó mở rộng.</a:t>
                          </a:r>
                          <a:endParaRPr sz="180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r>
                  <a:tr h="731520">
                    <a:tc>
                      <a:txBody>
                        <a:bodyPr/>
                        <a:lstStyle/>
                        <a:p>
                          <a:pPr marL="0" lvl="0" indent="0" algn="l" rtl="0">
                            <a:spcBef>
                              <a:spcPts val="0"/>
                            </a:spcBef>
                            <a:spcAft>
                              <a:spcPts val="0"/>
                            </a:spcAft>
                            <a:buNone/>
                          </a:pPr>
                          <a:r>
                            <a:rPr lang="en-US" sz="1800" b="1">
                              <a:latin typeface="Times New Roman" panose="02020603050405020304"/>
                              <a:ea typeface="Times New Roman" panose="02020603050405020304"/>
                              <a:cs typeface="Times New Roman" panose="02020603050405020304"/>
                              <a:sym typeface="Times New Roman" panose="02020603050405020304"/>
                            </a:rPr>
                            <a:t>GA</a:t>
                          </a:r>
                          <a:endParaRPr sz="1800" b="1">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endParaRPr lang="en-US"/>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blipFill>
                          <a:blip r:embed="rId3"/>
                        </a:blipFill>
                      </a:tcPr>
                    </a:tc>
                    <a:tc>
                      <a:txBody>
                        <a:bodyPr/>
                        <a:lstStyle/>
                        <a:p>
                          <a:pPr marL="0" lvl="0" indent="0" algn="l" rtl="0">
                            <a:spcBef>
                              <a:spcPts val="0"/>
                            </a:spcBef>
                            <a:spcAft>
                              <a:spcPts val="0"/>
                            </a:spcAft>
                            <a:buNone/>
                          </a:pPr>
                          <a:r>
                            <a:rPr lang="en-US" sz="1800">
                              <a:latin typeface="Times New Roman" panose="02020603050405020304"/>
                              <a:ea typeface="Times New Roman" panose="02020603050405020304"/>
                              <a:cs typeface="Times New Roman" panose="02020603050405020304"/>
                              <a:sym typeface="Times New Roman" panose="02020603050405020304"/>
                            </a:rPr>
                            <a:t>Giống AC-ACO, nhưng GA dễ hội tụ và kẹt cục bộ.</a:t>
                          </a:r>
                          <a:endParaRPr sz="180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r>
                  <a:tr h="457200">
                    <a:tc>
                      <a:txBody>
                        <a:bodyPr/>
                        <a:lstStyle/>
                        <a:p>
                          <a:pPr marL="0" lvl="0" indent="0" algn="l" rtl="0">
                            <a:spcBef>
                              <a:spcPts val="0"/>
                            </a:spcBef>
                            <a:spcAft>
                              <a:spcPts val="0"/>
                            </a:spcAft>
                            <a:buNone/>
                          </a:pPr>
                          <a:r>
                            <a:rPr lang="en-US" sz="1800" b="1">
                              <a:latin typeface="Times New Roman" panose="02020603050405020304"/>
                              <a:ea typeface="Times New Roman" panose="02020603050405020304"/>
                              <a:cs typeface="Times New Roman" panose="02020603050405020304"/>
                              <a:sym typeface="Times New Roman" panose="02020603050405020304"/>
                            </a:rPr>
                            <a:t>PSO</a:t>
                          </a:r>
                          <a:endParaRPr sz="1800" b="1">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endParaRPr lang="en-US"/>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blipFill>
                          <a:blip r:embed="rId3"/>
                        </a:blipFill>
                      </a:tcPr>
                    </a:tc>
                    <a:tc>
                      <a:txBody>
                        <a:bodyPr/>
                        <a:lstStyle/>
                        <a:p>
                          <a:pPr marL="0" lvl="0" indent="0" algn="l" rtl="0">
                            <a:spcBef>
                              <a:spcPts val="0"/>
                            </a:spcBef>
                            <a:spcAft>
                              <a:spcPts val="0"/>
                            </a:spcAft>
                            <a:buNone/>
                          </a:pPr>
                          <a:r>
                            <a:rPr lang="en-US" sz="1800">
                              <a:latin typeface="Times New Roman" panose="02020603050405020304"/>
                              <a:ea typeface="Times New Roman" panose="02020603050405020304"/>
                              <a:cs typeface="Times New Roman" panose="02020603050405020304"/>
                              <a:sym typeface="Times New Roman" panose="02020603050405020304"/>
                            </a:rPr>
                            <a:t>Tương tự GA, phụ thuộc nhiều vào tham số.</a:t>
                          </a:r>
                          <a:endParaRPr sz="180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r>
                  <a:tr h="731520">
                    <a:tc>
                      <a:txBody>
                        <a:bodyPr/>
                        <a:lstStyle/>
                        <a:p>
                          <a:pPr marL="0" lvl="0" indent="0" algn="l" rtl="0">
                            <a:spcBef>
                              <a:spcPts val="0"/>
                            </a:spcBef>
                            <a:spcAft>
                              <a:spcPts val="0"/>
                            </a:spcAft>
                            <a:buNone/>
                          </a:pPr>
                          <a:r>
                            <a:rPr lang="en-US" sz="1800" b="1">
                              <a:latin typeface="Times New Roman" panose="02020603050405020304"/>
                              <a:ea typeface="Times New Roman" panose="02020603050405020304"/>
                              <a:cs typeface="Times New Roman" panose="02020603050405020304"/>
                              <a:sym typeface="Times New Roman" panose="02020603050405020304"/>
                            </a:rPr>
                            <a:t>AC-ACO</a:t>
                          </a:r>
                          <a:endParaRPr sz="1800" b="1">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endParaRPr lang="en-US"/>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blipFill>
                          <a:blip r:embed="rId3"/>
                        </a:blipFill>
                      </a:tcPr>
                    </a:tc>
                    <a:tc>
                      <a:txBody>
                        <a:bodyPr/>
                        <a:lstStyle/>
                        <a:p>
                          <a:pPr marL="0" lvl="0" indent="0" algn="l" rtl="0">
                            <a:spcBef>
                              <a:spcPts val="0"/>
                            </a:spcBef>
                            <a:spcAft>
                              <a:spcPts val="0"/>
                            </a:spcAft>
                            <a:buNone/>
                          </a:pPr>
                          <a:r>
                            <a:rPr lang="en-US" sz="1800" dirty="0" err="1">
                              <a:latin typeface="Times New Roman" panose="02020603050405020304"/>
                              <a:ea typeface="Times New Roman" panose="02020603050405020304"/>
                              <a:cs typeface="Times New Roman" panose="02020603050405020304"/>
                              <a:sym typeface="Times New Roman" panose="02020603050405020304"/>
                            </a:rPr>
                            <a:t>Khả</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năng</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thoát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tối</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ưu</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cục</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bộ</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tốt</a:t>
                          </a:r>
                          <a:r>
                            <a:rPr lang="en-US" sz="1800" dirty="0">
                              <a:latin typeface="Times New Roman" panose="02020603050405020304"/>
                              <a:ea typeface="Times New Roman" panose="02020603050405020304"/>
                              <a:cs typeface="Times New Roman" panose="02020603050405020304"/>
                              <a:sym typeface="Times New Roman" panose="02020603050405020304"/>
                            </a:rPr>
                            <a:t> </a:t>
                          </a:r>
                          <a:r>
                            <a:rPr lang="en-US" sz="1800" dirty="0" err="1">
                              <a:latin typeface="Times New Roman" panose="02020603050405020304"/>
                              <a:ea typeface="Times New Roman" panose="02020603050405020304"/>
                              <a:cs typeface="Times New Roman" panose="02020603050405020304"/>
                              <a:sym typeface="Times New Roman" panose="02020603050405020304"/>
                            </a:rPr>
                            <a:t>hơn</a:t>
                          </a:r>
                          <a:r>
                            <a:rPr lang="en-US" sz="1800" dirty="0">
                              <a:latin typeface="Times New Roman" panose="02020603050405020304"/>
                              <a:ea typeface="Times New Roman" panose="02020603050405020304"/>
                              <a:cs typeface="Times New Roman" panose="02020603050405020304"/>
                              <a:sym typeface="Times New Roman" panose="02020603050405020304"/>
                            </a:rPr>
                            <a:t> GA/PSO.</a:t>
                          </a:r>
                          <a:endParaRPr sz="1800" dirty="0">
                            <a:latin typeface="Times New Roman" panose="02020603050405020304"/>
                            <a:ea typeface="Times New Roman" panose="02020603050405020304"/>
                            <a:cs typeface="Times New Roman" panose="02020603050405020304"/>
                            <a:sym typeface="Times New Roman" panose="02020603050405020304"/>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r>
                </a:tbl>
              </a:graphicData>
            </a:graphic>
          </p:graphicFrame>
        </mc:Fallback>
      </mc:AlternateContent>
      <p:sp>
        <p:nvSpPr>
          <p:cNvPr id="318" name="Google Shape;318;p47"/>
          <p:cNvSpPr txBox="1"/>
          <p:nvPr/>
        </p:nvSpPr>
        <p:spPr>
          <a:xfrm>
            <a:off x="648150" y="701475"/>
            <a:ext cx="4721700" cy="8277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1200"/>
              </a:spcAft>
              <a:buNone/>
            </a:pPr>
            <a:r>
              <a:rPr lang="en-US" sz="1800" b="1">
                <a:latin typeface="Times New Roman" panose="02020603050405020304"/>
                <a:ea typeface="Times New Roman" panose="02020603050405020304"/>
                <a:cs typeface="Times New Roman" panose="02020603050405020304"/>
                <a:sym typeface="Times New Roman" panose="02020603050405020304"/>
              </a:rPr>
              <a:t>So sánh với các thuật toán khác</a:t>
            </a:r>
            <a:endParaRPr sz="1800" b="1">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4. Thí nghiệm &amp; phân tích</a:t>
            </a:r>
            <a:endParaRPr lang="en-US"/>
          </a:p>
        </p:txBody>
      </p:sp>
      <p:sp>
        <p:nvSpPr>
          <p:cNvPr id="3" name="Text Placeholder 2"/>
          <p:cNvSpPr>
            <a:spLocks noGrp="1"/>
          </p:cNvSpPr>
          <p:nvPr>
            <p:ph type="body" idx="1"/>
          </p:nvPr>
        </p:nvSpPr>
        <p:spPr/>
        <p:txBody>
          <a:bodyPr/>
          <a:lstStyle/>
          <a:p>
            <a:pPr marL="50800" indent="0">
              <a:buNone/>
            </a:pPr>
            <a:r>
              <a:rPr lang="vi-VN" altLang="en-US"/>
              <a:t>Tham số thực nghiệm</a:t>
            </a:r>
          </a:p>
          <a:p>
            <a:pPr marL="50800" indent="0">
              <a:buNone/>
            </a:pPr>
            <a:endParaRPr lang="vi-VN" altLang="en-US"/>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47</a:t>
            </a:fld>
            <a:endParaRPr lang="en-US"/>
          </a:p>
        </p:txBody>
      </p:sp>
      <p:graphicFrame>
        <p:nvGraphicFramePr>
          <p:cNvPr id="5" name="Table 4"/>
          <p:cNvGraphicFramePr/>
          <p:nvPr/>
        </p:nvGraphicFramePr>
        <p:xfrm>
          <a:off x="640080" y="1706880"/>
          <a:ext cx="7863840" cy="4450080"/>
        </p:xfrm>
        <a:graphic>
          <a:graphicData uri="http://schemas.openxmlformats.org/drawingml/2006/table">
            <a:tbl>
              <a:tblPr/>
              <a:tblGrid>
                <a:gridCol w="39319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0">
                <a:tc>
                  <a:txBody>
                    <a:bodyPr/>
                    <a:lstStyle/>
                    <a:p>
                      <a:r>
                        <a:rPr lang="en-US" altLang="zh-CN" sz="2000"/>
                        <a:t>Parameter</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lang="en-US" altLang="zh-CN" sz="2000"/>
                        <a:t>Value</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0"/>
                  </a:ext>
                </a:extLst>
              </a:tr>
              <a:tr h="0">
                <a:tc>
                  <a:txBody>
                    <a:bodyPr/>
                    <a:lstStyle/>
                    <a:p>
                      <a:r>
                        <a:rPr lang="en-US" altLang="zh-CN" sz="1600"/>
                        <a:t>MAC protocol</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lang="en-US" altLang="zh-CN" sz="1600"/>
                        <a:t>IEEE 802.15.4</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1"/>
                  </a:ext>
                </a:extLst>
              </a:tr>
              <a:tr h="0">
                <a:tc>
                  <a:txBody>
                    <a:bodyPr/>
                    <a:lstStyle/>
                    <a:p>
                      <a:r>
                        <a:rPr lang="en-US" altLang="zh-CN" sz="1600"/>
                        <a:t>Deployment area</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lang="en-US" altLang="zh-CN" sz="1600"/>
                        <a:t>250 × 250 m²</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2"/>
                  </a:ext>
                </a:extLst>
              </a:tr>
              <a:tr h="0">
                <a:tc>
                  <a:txBody>
                    <a:bodyPr/>
                    <a:lstStyle/>
                    <a:p>
                      <a:r>
                        <a:rPr lang="en-US" altLang="zh-CN" sz="1600"/>
                        <a:t>Number of sensor nodes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lang="vi-VN" altLang="en-US" sz="1600"/>
                        <a:t>1</a:t>
                      </a:r>
                      <a:r>
                        <a:rPr lang="en-US" altLang="zh-CN" sz="1600"/>
                        <a:t>00</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3"/>
                  </a:ext>
                </a:extLst>
              </a:tr>
              <a:tr h="0">
                <a:tc>
                  <a:txBody>
                    <a:bodyPr/>
                    <a:lstStyle/>
                    <a:p>
                      <a:r>
                        <a:rPr lang="en-US" altLang="zh-CN" sz="1600"/>
                        <a:t>Communication radius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lang="en-US" altLang="zh-CN" sz="1600"/>
                        <a:t>20 m</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4"/>
                  </a:ext>
                </a:extLst>
              </a:tr>
              <a:tr h="0">
                <a:tc>
                  <a:txBody>
                    <a:bodyPr/>
                    <a:lstStyle/>
                    <a:p>
                      <a:r>
                        <a:rPr lang="en-US" altLang="zh-CN" sz="1600"/>
                        <a:t>Base station location</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lang="en-US" altLang="zh-CN" sz="1600"/>
                        <a:t>(125, 125)</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5"/>
                  </a:ext>
                </a:extLst>
              </a:tr>
              <a:tr h="0">
                <a:tc>
                  <a:txBody>
                    <a:bodyPr/>
                    <a:lstStyle/>
                    <a:p>
                      <a:r>
                        <a:rPr lang="en-US" altLang="zh-CN" sz="1600"/>
                        <a:t>Packet length</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lang="en-US" altLang="zh-CN" sz="1600"/>
                        <a:t>2000 bits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6"/>
                  </a:ext>
                </a:extLst>
              </a:tr>
              <a:tr h="0">
                <a:tc>
                  <a:txBody>
                    <a:bodyPr/>
                    <a:lstStyle/>
                    <a:p>
                      <a:r>
                        <a:rPr lang="en-US" altLang="zh-CN" sz="1600"/>
                        <a:t>Control packet length</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lang="en-US" altLang="zh-CN" sz="1600"/>
                        <a:t>100 bits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7"/>
                  </a:ext>
                </a:extLst>
              </a:tr>
              <a:tr h="0">
                <a:tc>
                  <a:txBody>
                    <a:bodyPr/>
                    <a:lstStyle/>
                    <a:p>
                      <a:r>
                        <a:rPr lang="en-US" altLang="zh-CN" sz="1600"/>
                        <a:t>Maximum rounds (Tmax)</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lang="en-US" altLang="zh-CN" sz="1600"/>
                        <a:t>2500</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8"/>
                  </a:ext>
                </a:extLst>
              </a:tr>
              <a:tr h="0">
                <a:tc>
                  <a:txBody>
                    <a:bodyPr/>
                    <a:lstStyle/>
                    <a:p>
                      <a:r>
                        <a:rPr lang="en-US" altLang="zh-CN" sz="1600"/>
                        <a:t>Electronic energy (Eelec)</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lang="en-US" altLang="zh-CN" sz="1600"/>
                        <a:t>50 nJ/bit</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9"/>
                  </a:ext>
                </a:extLst>
              </a:tr>
              <a:tr h="0">
                <a:tc>
                  <a:txBody>
                    <a:bodyPr/>
                    <a:lstStyle/>
                    <a:p>
                      <a:r>
                        <a:rPr lang="en-US" altLang="zh-CN" sz="1600"/>
                        <a:t>Initial energy</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lang="en-US" altLang="zh-CN" sz="1600"/>
                        <a:t>0.6 J</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10"/>
                  </a:ext>
                </a:extLst>
              </a:tr>
              <a:tr h="0">
                <a:tc>
                  <a:txBody>
                    <a:bodyPr/>
                    <a:lstStyle/>
                    <a:p>
                      <a:r>
                        <a:rPr lang="en-US" altLang="zh-CN" sz="1600"/>
                        <a:t>Proportion of CHs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lang="en-US" altLang="zh-CN" sz="1600"/>
                        <a:t>0.1</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11"/>
                  </a:ext>
                </a:extLst>
              </a:tr>
              <a:tr h="0">
                <a:tc>
                  <a:txBody>
                    <a:bodyPr/>
                    <a:lstStyle/>
                    <a:p>
                      <a:r>
                        <a:rPr lang="en-US" altLang="zh-CN" sz="1600"/>
                        <a:t>ρ</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lang="en-US" altLang="zh-CN" sz="1600"/>
                        <a:t>0.2</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12"/>
                  </a:ext>
                </a:extLst>
              </a:tr>
              <a:tr h="0">
                <a:tc>
                  <a:txBody>
                    <a:bodyPr/>
                    <a:lstStyle/>
                    <a:p>
                      <a:r>
                        <a:rPr lang="en-US" altLang="zh-CN" sz="1600"/>
                        <a:t>α</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lang="en-US" altLang="zh-CN" sz="1600"/>
                        <a:t>1</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13"/>
                  </a:ext>
                </a:extLst>
              </a:tr>
              <a:tr h="0">
                <a:tc>
                  <a:txBody>
                    <a:bodyPr/>
                    <a:lstStyle/>
                    <a:p>
                      <a:r>
                        <a:rPr lang="en-US" altLang="zh-CN" sz="1600"/>
                        <a:t>β</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lang="en-US" altLang="zh-CN" sz="1600"/>
                        <a:t>3</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14"/>
                  </a:ext>
                </a:extLst>
              </a:tr>
              <a:tr h="0">
                <a:tc>
                  <a:txBody>
                    <a:bodyPr/>
                    <a:lstStyle/>
                    <a:p>
                      <a:r>
                        <a:rPr lang="en-US" altLang="zh-CN" sz="1600"/>
                        <a:t>γ</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lang="en-US" altLang="zh-CN" sz="1600"/>
                        <a:t>0.1</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15"/>
                  </a:ext>
                </a:extLst>
              </a:tr>
              <a:tr h="0">
                <a:tc>
                  <a:txBody>
                    <a:bodyPr/>
                    <a:lstStyle/>
                    <a:p>
                      <a:r>
                        <a:rPr lang="en-US" altLang="zh-CN" sz="1600"/>
                        <a:t>τ0</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lang="en-US" altLang="zh-CN" sz="1600"/>
                        <a:t>1</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16"/>
                  </a:ext>
                </a:extLst>
              </a:tr>
              <a:tr h="0">
                <a:tc>
                  <a:txBody>
                    <a:bodyPr/>
                    <a:lstStyle/>
                    <a:p>
                      <a:r>
                        <a:rPr lang="en-US" altLang="zh-CN" sz="1600"/>
                        <a:t>r</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lang="en-US" altLang="zh-CN" sz="1600"/>
                        <a:t>3.58</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17"/>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4. Thí nghiệm &amp; phân tích</a:t>
            </a:r>
            <a:endParaRPr lang="en-US"/>
          </a:p>
        </p:txBody>
      </p:sp>
      <p:sp>
        <p:nvSpPr>
          <p:cNvPr id="3" name="Text Placeholder 2"/>
          <p:cNvSpPr>
            <a:spLocks noGrp="1"/>
          </p:cNvSpPr>
          <p:nvPr>
            <p:ph type="body" idx="1"/>
          </p:nvPr>
        </p:nvSpPr>
        <p:spPr/>
        <p:txBody>
          <a:bodyPr/>
          <a:lstStyle/>
          <a:p>
            <a:pPr marL="50800" indent="0">
              <a:buNone/>
            </a:pPr>
            <a:r>
              <a:rPr lang="en-US" altLang="en-US"/>
              <a:t>Genetic Algorithm for Cluster Head Selection</a:t>
            </a:r>
          </a:p>
          <a:p>
            <a:pPr marL="50800" indent="0">
              <a:buNone/>
            </a:pPr>
            <a:r>
              <a:rPr lang="en-US" altLang="en-US" sz="1800" b="1"/>
              <a:t>Input</a:t>
            </a:r>
          </a:p>
          <a:p>
            <a:r>
              <a:rPr lang="en-US" altLang="en-US" sz="1800"/>
              <a:t>Tập node còn sống tại round </a:t>
            </a:r>
            <a:r>
              <a:rPr lang="vi-VN" altLang="en-US" sz="1800"/>
              <a:t>, </a:t>
            </a:r>
          </a:p>
          <a:p>
            <a:r>
              <a:rPr lang="en-US" altLang="en-US" sz="1800"/>
              <a:t>Số cá thể P, số thế hệ G</a:t>
            </a:r>
          </a:p>
          <a:p>
            <a:r>
              <a:rPr lang="en-US" altLang="en-US" sz="1800"/>
              <a:t>Xác suất lai ghép </a:t>
            </a:r>
            <a:r>
              <a:rPr lang="vi-VN" altLang="en-US" sz="1800"/>
              <a:t>p_c,</a:t>
            </a:r>
            <a:r>
              <a:rPr lang="en-US" altLang="en-US" sz="1800"/>
              <a:t> đột biến</a:t>
            </a:r>
            <a:r>
              <a:rPr lang="vi-VN" altLang="en-US" sz="1800"/>
              <a:t> p_</a:t>
            </a:r>
            <a:r>
              <a:rPr lang="zh-CN" altLang="en-US" sz="1800"/>
              <a:t>𝑚</a:t>
            </a:r>
            <a:r>
              <a:rPr lang="en-US" altLang="en-US" sz="1800"/>
              <a:t>​</a:t>
            </a:r>
          </a:p>
          <a:p>
            <a:endParaRPr lang="en-US" altLang="en-US" sz="1800"/>
          </a:p>
          <a:p>
            <a:pPr marL="50800" indent="0">
              <a:buNone/>
            </a:pPr>
            <a:endParaRPr lang="en-US" altLang="en-US" sz="180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48</a:t>
            </a:fld>
            <a:endParaRPr lang="en-US"/>
          </a:p>
        </p:txBody>
      </p:sp>
      <p:pic>
        <p:nvPicPr>
          <p:cNvPr id="8" name="Picture 7"/>
          <p:cNvPicPr/>
          <p:nvPr/>
        </p:nvPicPr>
        <p:blipFill>
          <a:blip r:embed="rId2"/>
          <a:stretch>
            <a:fillRect/>
          </a:stretch>
        </p:blipFill>
        <p:spPr>
          <a:xfrm>
            <a:off x="4499293" y="1772603"/>
            <a:ext cx="4124325" cy="2409825"/>
          </a:xfrm>
          <a:prstGeom prst="rect">
            <a:avLst/>
          </a:prstGeom>
        </p:spPr>
      </p:pic>
      <p:sp>
        <p:nvSpPr>
          <p:cNvPr id="9" name="Text Box 8"/>
          <p:cNvSpPr txBox="1"/>
          <p:nvPr/>
        </p:nvSpPr>
        <p:spPr>
          <a:xfrm>
            <a:off x="323850" y="2997200"/>
            <a:ext cx="3941445" cy="1826895"/>
          </a:xfrm>
          <a:prstGeom prst="rect">
            <a:avLst/>
          </a:prstGeom>
        </p:spPr>
        <p:txBody>
          <a:bodyPr>
            <a:noAutofit/>
          </a:bodyPr>
          <a:lstStyle/>
          <a:p>
            <a:pPr>
              <a:lnSpc>
                <a:spcPct val="120000"/>
              </a:lnSpc>
              <a:spcAft>
                <a:spcPct val="0"/>
              </a:spcAft>
            </a:pPr>
            <a:r>
              <a:rPr lang="en-US" altLang="zh-CN" sz="1800" b="1"/>
              <a:t>GA Procedure</a:t>
            </a:r>
          </a:p>
          <a:p>
            <a:pPr>
              <a:lnSpc>
                <a:spcPct val="120000"/>
              </a:lnSpc>
              <a:buAutoNum type="arabicPeriod"/>
            </a:pPr>
            <a:r>
              <a:rPr lang="en-US" altLang="zh-CN" sz="1600"/>
              <a:t>Khởi tạo quần thể ngẫu nhiên</a:t>
            </a:r>
          </a:p>
          <a:p>
            <a:pPr>
              <a:lnSpc>
                <a:spcPct val="120000"/>
              </a:lnSpc>
              <a:buAutoNum type="arabicPeriod"/>
            </a:pPr>
            <a:r>
              <a:rPr lang="en-US" altLang="zh-CN" sz="1600"/>
              <a:t>Đánh giá fitness từng cá thể</a:t>
            </a:r>
          </a:p>
          <a:p>
            <a:pPr>
              <a:lnSpc>
                <a:spcPct val="120000"/>
              </a:lnSpc>
              <a:buAutoNum type="arabicPeriod"/>
            </a:pPr>
            <a:r>
              <a:rPr lang="en-US" altLang="zh-CN" sz="1600"/>
              <a:t>Chọn lọc → Lai ghép → Đột biến</a:t>
            </a:r>
          </a:p>
          <a:p>
            <a:pPr>
              <a:lnSpc>
                <a:spcPct val="120000"/>
              </a:lnSpc>
              <a:buAutoNum type="arabicPeriod"/>
            </a:pPr>
            <a:r>
              <a:rPr lang="en-US" altLang="zh-CN" sz="1600"/>
              <a:t>Giữ elite, tạo thế hệ mới</a:t>
            </a:r>
          </a:p>
          <a:p>
            <a:pPr>
              <a:lnSpc>
                <a:spcPct val="120000"/>
              </a:lnSpc>
              <a:buAutoNum type="arabicPeriod"/>
            </a:pPr>
            <a:r>
              <a:rPr lang="en-US" altLang="zh-CN" sz="1600"/>
              <a:t>Lặp GGG thế hệ</a:t>
            </a:r>
          </a:p>
        </p:txBody>
      </p:sp>
      <p:sp>
        <p:nvSpPr>
          <p:cNvPr id="10" name="Text Box 9"/>
          <p:cNvSpPr txBox="1"/>
          <p:nvPr/>
        </p:nvSpPr>
        <p:spPr>
          <a:xfrm>
            <a:off x="395605" y="5085080"/>
            <a:ext cx="5080000" cy="953135"/>
          </a:xfrm>
          <a:prstGeom prst="rect">
            <a:avLst/>
          </a:prstGeom>
        </p:spPr>
        <p:txBody>
          <a:bodyPr>
            <a:spAutoFit/>
          </a:bodyPr>
          <a:lstStyle/>
          <a:p>
            <a:pPr>
              <a:spcAft>
                <a:spcPct val="0"/>
              </a:spcAft>
            </a:pPr>
            <a:r>
              <a:rPr lang="en-US" altLang="zh-CN" sz="1800" b="1"/>
              <a:t>Output</a:t>
            </a:r>
          </a:p>
          <a:p>
            <a:pPr>
              <a:spcAft>
                <a:spcPct val="0"/>
              </a:spcAft>
            </a:pPr>
            <a:endParaRPr lang="en-US" altLang="zh-CN" sz="2200" b="1"/>
          </a:p>
          <a:p>
            <a:r>
              <a:rPr lang="en-US" altLang="zh-CN" sz="1600"/>
              <a:t>→ Tập Cluster Head tối ưu cho round hiện tại</a:t>
            </a:r>
          </a:p>
        </p:txBody>
      </p:sp>
      <p:pic>
        <p:nvPicPr>
          <p:cNvPr id="11" name="Picture 10"/>
          <p:cNvPicPr>
            <a:picLocks noChangeAspect="1"/>
          </p:cNvPicPr>
          <p:nvPr/>
        </p:nvPicPr>
        <p:blipFill>
          <a:blip r:embed="rId3"/>
          <a:stretch>
            <a:fillRect/>
          </a:stretch>
        </p:blipFill>
        <p:spPr>
          <a:xfrm>
            <a:off x="2123440" y="5229225"/>
            <a:ext cx="2057400" cy="4191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Shape 322"/>
        <p:cNvGrpSpPr/>
        <p:nvPr/>
      </p:nvGrpSpPr>
      <p:grpSpPr>
        <a:xfrm>
          <a:off x="0" y="0"/>
          <a:ext cx="0" cy="0"/>
          <a:chOff x="0" y="0"/>
          <a:chExt cx="0" cy="0"/>
        </a:xfrm>
      </p:grpSpPr>
      <p:sp>
        <p:nvSpPr>
          <p:cNvPr id="323" name="Google Shape;323;p48"/>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49</a:t>
            </a:fld>
            <a:endParaRPr lang="en-US"/>
          </a:p>
        </p:txBody>
      </p:sp>
      <p:sp>
        <p:nvSpPr>
          <p:cNvPr id="324" name="Google Shape;324;p48"/>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t>4. Thí nghiệm &amp; phân tích</a:t>
            </a:r>
          </a:p>
        </p:txBody>
      </p:sp>
      <p:sp>
        <p:nvSpPr>
          <p:cNvPr id="325" name="Google Shape;325;p48"/>
          <p:cNvSpPr txBox="1">
            <a:spLocks noGrp="1"/>
          </p:cNvSpPr>
          <p:nvPr>
            <p:ph type="body" idx="1"/>
          </p:nvPr>
        </p:nvSpPr>
        <p:spPr>
          <a:xfrm>
            <a:off x="234950" y="963168"/>
            <a:ext cx="8674100" cy="513283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Kết quả Thử nghiệm (1/2)</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Hiệu suất Năng lượng và Tuổi thọ Mạng:</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Tổng năng lượng tiêu thụ: AC-ACO cho thấy mức tiêu thụ năng lượng thấp hơn đáng kể so với các thuật toán khác, đặc biệt trong các vòng đầu.</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Năng lượng trung bình còn lại: Tốc độ suy giảm năng lượng của AC-ACO chậm hơn đáng kể.</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p:txBody>
      </p:sp>
      <p:pic>
        <p:nvPicPr>
          <p:cNvPr id="326" name="Google Shape;326;p48"/>
          <p:cNvPicPr preferRelativeResize="0"/>
          <p:nvPr/>
        </p:nvPicPr>
        <p:blipFill>
          <a:blip r:embed="rId3"/>
          <a:stretch>
            <a:fillRect/>
          </a:stretch>
        </p:blipFill>
        <p:spPr>
          <a:xfrm>
            <a:off x="500300" y="1614575"/>
            <a:ext cx="4459525" cy="2641450"/>
          </a:xfrm>
          <a:prstGeom prst="rect">
            <a:avLst/>
          </a:prstGeom>
          <a:noFill/>
          <a:ln>
            <a:noFill/>
          </a:ln>
        </p:spPr>
      </p:pic>
      <p:pic>
        <p:nvPicPr>
          <p:cNvPr id="327" name="Google Shape;327;p48"/>
          <p:cNvPicPr preferRelativeResize="0"/>
          <p:nvPr/>
        </p:nvPicPr>
        <p:blipFill>
          <a:blip r:embed="rId4"/>
          <a:stretch>
            <a:fillRect/>
          </a:stretch>
        </p:blipFill>
        <p:spPr>
          <a:xfrm>
            <a:off x="4582025" y="1614575"/>
            <a:ext cx="4255661" cy="2641451"/>
          </a:xfrm>
          <a:prstGeom prst="rect">
            <a:avLst/>
          </a:prstGeom>
          <a:noFill/>
          <a:ln>
            <a:noFill/>
          </a:ln>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Shape 331"/>
        <p:cNvGrpSpPr/>
        <p:nvPr/>
      </p:nvGrpSpPr>
      <p:grpSpPr>
        <a:xfrm>
          <a:off x="0" y="0"/>
          <a:ext cx="0" cy="0"/>
          <a:chOff x="0" y="0"/>
          <a:chExt cx="0" cy="0"/>
        </a:xfrm>
      </p:grpSpPr>
      <p:sp>
        <p:nvSpPr>
          <p:cNvPr id="332" name="Google Shape;332;p49"/>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50</a:t>
            </a:fld>
            <a:endParaRPr lang="en-US"/>
          </a:p>
        </p:txBody>
      </p:sp>
      <p:sp>
        <p:nvSpPr>
          <p:cNvPr id="333" name="Google Shape;333;p49"/>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t>4. Thí nghiệm &amp; phân tích</a:t>
            </a:r>
          </a:p>
        </p:txBody>
      </p:sp>
      <p:sp>
        <p:nvSpPr>
          <p:cNvPr id="334" name="Google Shape;334;p49"/>
          <p:cNvSpPr txBox="1">
            <a:spLocks noGrp="1"/>
          </p:cNvSpPr>
          <p:nvPr>
            <p:ph type="body" idx="1"/>
          </p:nvPr>
        </p:nvSpPr>
        <p:spPr>
          <a:xfrm>
            <a:off x="234950" y="963168"/>
            <a:ext cx="8674100" cy="5132832"/>
          </a:xfrm>
          <a:prstGeom prst="rect">
            <a:avLst/>
          </a:prstGeom>
          <a:noFill/>
          <a:ln>
            <a:noFill/>
          </a:ln>
        </p:spPr>
        <p:txBody>
          <a:bodyPr spcFirstLastPara="1" wrap="square" lIns="91425" tIns="45700" rIns="91425" bIns="45700" anchor="t" anchorCtr="0">
            <a:noAutofit/>
          </a:bodyPr>
          <a:lstStyle/>
          <a:p>
            <a:pPr marL="0" lvl="0" indent="0" algn="l" rtl="0">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Số nút còn sống: AC-ACO duy trì tỷ lệ nút sống cao trong suốt quá trình thử nghiệm, kéo dài tuổi thọ mạng hiệu quả.</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 Ví dụ: Tại vòng 1500, AC-ACO còn 33% nút sống, trong khi thuật toán tốt thứ hai (LEACH-C) chỉ còn 12%.</a:t>
            </a:r>
            <a:endParaRPr sz="1800">
              <a:latin typeface="Times New Roman" panose="02020603050405020304"/>
              <a:ea typeface="Times New Roman" panose="02020603050405020304"/>
              <a:cs typeface="Times New Roman" panose="02020603050405020304"/>
              <a:sym typeface="Times New Roman" panose="02020603050405020304"/>
            </a:endParaRPr>
          </a:p>
        </p:txBody>
      </p:sp>
      <p:pic>
        <p:nvPicPr>
          <p:cNvPr id="335" name="Google Shape;335;p49"/>
          <p:cNvPicPr preferRelativeResize="0"/>
          <p:nvPr/>
        </p:nvPicPr>
        <p:blipFill>
          <a:blip r:embed="rId3"/>
          <a:stretch>
            <a:fillRect/>
          </a:stretch>
        </p:blipFill>
        <p:spPr>
          <a:xfrm>
            <a:off x="1393190" y="892175"/>
            <a:ext cx="6304280" cy="3727450"/>
          </a:xfrm>
          <a:prstGeom prst="rect">
            <a:avLst/>
          </a:prstGeom>
          <a:noFill/>
          <a:ln>
            <a:noFill/>
          </a:ln>
        </p:spPr>
      </p:pic>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Shape 339"/>
        <p:cNvGrpSpPr/>
        <p:nvPr/>
      </p:nvGrpSpPr>
      <p:grpSpPr>
        <a:xfrm>
          <a:off x="0" y="0"/>
          <a:ext cx="0" cy="0"/>
          <a:chOff x="0" y="0"/>
          <a:chExt cx="0" cy="0"/>
        </a:xfrm>
      </p:grpSpPr>
      <p:sp>
        <p:nvSpPr>
          <p:cNvPr id="340" name="Google Shape;340;p50"/>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51</a:t>
            </a:fld>
            <a:endParaRPr lang="en-US"/>
          </a:p>
        </p:txBody>
      </p:sp>
      <p:sp>
        <p:nvSpPr>
          <p:cNvPr id="341" name="Google Shape;341;p50"/>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t>4. Thí nghiệm &amp; phân tích</a:t>
            </a:r>
          </a:p>
        </p:txBody>
      </p:sp>
      <p:sp>
        <p:nvSpPr>
          <p:cNvPr id="342" name="Google Shape;342;p50"/>
          <p:cNvSpPr txBox="1">
            <a:spLocks noGrp="1"/>
          </p:cNvSpPr>
          <p:nvPr>
            <p:ph type="body" idx="1"/>
          </p:nvPr>
        </p:nvSpPr>
        <p:spPr>
          <a:xfrm>
            <a:off x="234950" y="963168"/>
            <a:ext cx="8674200" cy="51327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Kết quả Thử nghiệm (2/2)</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Độ tin cậy Truyền dữ liệu:</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Tỷ lệ gửi dữ liệu thành công (DDR): AC-ACO thể hiện ưu thế vượt trội, duy trì tỷ lệ gửi dữ liệu cao ngay cả ở các vòng lặp sau.</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Điều này cho thấy khả năng của thuật toán trong việc đảm bảo giao tiếp mạng đáng tin cậy, đặc biệt quan trọng trong các môi trường WSN bị hạn chế về tài nguyên.</a:t>
            </a:r>
            <a:endParaRPr sz="1800">
              <a:latin typeface="Times New Roman" panose="02020603050405020304"/>
              <a:ea typeface="Times New Roman" panose="02020603050405020304"/>
              <a:cs typeface="Times New Roman" panose="02020603050405020304"/>
              <a:sym typeface="Times New Roman" panose="02020603050405020304"/>
            </a:endParaRPr>
          </a:p>
        </p:txBody>
      </p:sp>
      <p:pic>
        <p:nvPicPr>
          <p:cNvPr id="343" name="Google Shape;343;p50"/>
          <p:cNvPicPr preferRelativeResize="0"/>
          <p:nvPr/>
        </p:nvPicPr>
        <p:blipFill>
          <a:blip r:embed="rId3"/>
          <a:stretch>
            <a:fillRect/>
          </a:stretch>
        </p:blipFill>
        <p:spPr>
          <a:xfrm>
            <a:off x="3855085" y="836295"/>
            <a:ext cx="4765040" cy="3409950"/>
          </a:xfrm>
          <a:prstGeom prst="rect">
            <a:avLst/>
          </a:prstGeom>
          <a:noFill/>
          <a:ln>
            <a:noFill/>
          </a:ln>
        </p:spPr>
      </p:pic>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4. Thí nghiệm &amp; phân tích</a:t>
            </a:r>
            <a:endParaRPr lang="en-US"/>
          </a:p>
        </p:txBody>
      </p:sp>
      <p:sp>
        <p:nvSpPr>
          <p:cNvPr id="3" name="Text Placeholder 2"/>
          <p:cNvSpPr>
            <a:spLocks noGrp="1"/>
          </p:cNvSpPr>
          <p:nvPr>
            <p:ph type="body" idx="1"/>
          </p:nvPr>
        </p:nvSpPr>
        <p:spPr/>
        <p:txBody>
          <a:bodyPr/>
          <a:lstStyle/>
          <a:p>
            <a:r>
              <a:rPr lang="vi-VN" altLang="en-US"/>
              <a:t>Kịch bản thử nghiệm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52</a:t>
            </a:fld>
            <a:endParaRPr lang="en-US"/>
          </a:p>
        </p:txBody>
      </p:sp>
      <p:pic>
        <p:nvPicPr>
          <p:cNvPr id="5" name="Picture 4"/>
          <p:cNvPicPr/>
          <p:nvPr/>
        </p:nvPicPr>
        <p:blipFill>
          <a:blip r:embed="rId2"/>
          <a:stretch>
            <a:fillRect/>
          </a:stretch>
        </p:blipFill>
        <p:spPr>
          <a:xfrm>
            <a:off x="234950" y="1844675"/>
            <a:ext cx="8674100" cy="329311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4. Thí nghiệm &amp; phân tích</a:t>
            </a:r>
            <a:endParaRPr lang="en-US"/>
          </a:p>
        </p:txBody>
      </p:sp>
      <p:sp>
        <p:nvSpPr>
          <p:cNvPr id="3" name="Text Placeholder 2"/>
          <p:cNvSpPr>
            <a:spLocks noGrp="1"/>
          </p:cNvSpPr>
          <p:nvPr>
            <p:ph type="body" idx="1"/>
          </p:nvPr>
        </p:nvSpPr>
        <p:spPr/>
        <p:txBody>
          <a:bodyPr/>
          <a:lstStyle/>
          <a:p>
            <a:r>
              <a:rPr lang="vi-VN" altLang="en-US"/>
              <a:t>Kịch bản thử nghiệm </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53</a:t>
            </a:fld>
            <a:endParaRPr lang="en-US"/>
          </a:p>
        </p:txBody>
      </p:sp>
      <p:pic>
        <p:nvPicPr>
          <p:cNvPr id="6" name="Picture 5"/>
          <p:cNvPicPr/>
          <p:nvPr/>
        </p:nvPicPr>
        <p:blipFill>
          <a:blip r:embed="rId2"/>
          <a:stretch>
            <a:fillRect/>
          </a:stretch>
        </p:blipFill>
        <p:spPr>
          <a:xfrm>
            <a:off x="683260" y="1701165"/>
            <a:ext cx="3961130" cy="3764280"/>
          </a:xfrm>
          <a:prstGeom prst="rect">
            <a:avLst/>
          </a:prstGeom>
        </p:spPr>
      </p:pic>
      <p:pic>
        <p:nvPicPr>
          <p:cNvPr id="7" name="Picture 6"/>
          <p:cNvPicPr/>
          <p:nvPr/>
        </p:nvPicPr>
        <p:blipFill>
          <a:blip r:embed="rId3"/>
          <a:stretch>
            <a:fillRect/>
          </a:stretch>
        </p:blipFill>
        <p:spPr>
          <a:xfrm>
            <a:off x="4868545" y="1844675"/>
            <a:ext cx="3942715" cy="368744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4. Thí nghiệm &amp; phân tích</a:t>
            </a:r>
            <a:endParaRPr lang="en-US"/>
          </a:p>
        </p:txBody>
      </p:sp>
      <p:sp>
        <p:nvSpPr>
          <p:cNvPr id="3" name="Text Placeholder 2"/>
          <p:cNvSpPr>
            <a:spLocks noGrp="1"/>
          </p:cNvSpPr>
          <p:nvPr>
            <p:ph type="body" idx="1"/>
          </p:nvPr>
        </p:nvSpPr>
        <p:spPr>
          <a:xfrm>
            <a:off x="234950" y="734060"/>
            <a:ext cx="8674100" cy="5361940"/>
          </a:xfrm>
        </p:spPr>
        <p:txBody>
          <a:bodyPr/>
          <a:lstStyle/>
          <a:p>
            <a:pPr marL="50800" indent="0">
              <a:buNone/>
            </a:pPr>
            <a:r>
              <a:rPr lang="en-US" altLang="en-US" sz="2400"/>
              <a:t>UNIFORM RANDOM</a:t>
            </a:r>
          </a:p>
          <a:p>
            <a:pPr marL="50800" indent="0">
              <a:buNone/>
            </a:pPr>
            <a:endParaRPr lang="en-US" altLang="en-US" sz="2400"/>
          </a:p>
          <a:p>
            <a:pPr marL="50800" indent="0">
              <a:buNone/>
            </a:pPr>
            <a:endParaRPr lang="en-US" altLang="en-US" sz="2400"/>
          </a:p>
          <a:p>
            <a:pPr marL="50800" indent="0">
              <a:buNone/>
            </a:pPr>
            <a:endParaRPr lang="en-US" altLang="en-US" sz="2400"/>
          </a:p>
          <a:p>
            <a:pPr marL="50800" indent="0">
              <a:buNone/>
            </a:pPr>
            <a:r>
              <a:rPr lang="en-US" altLang="en-US" sz="2400"/>
              <a:t>CORNER BIASED</a:t>
            </a:r>
          </a:p>
          <a:p>
            <a:pPr marL="50800" indent="0">
              <a:buNone/>
            </a:pPr>
            <a:endParaRPr lang="en-US" altLang="en-US" sz="2400"/>
          </a:p>
          <a:p>
            <a:pPr marL="50800" indent="0">
              <a:buNone/>
            </a:pPr>
            <a:endParaRPr lang="en-US" altLang="en-US" sz="2400"/>
          </a:p>
          <a:p>
            <a:pPr marL="50800" indent="0">
              <a:buNone/>
            </a:pPr>
            <a:endParaRPr lang="en-US" altLang="en-US" sz="2400"/>
          </a:p>
          <a:p>
            <a:pPr marL="50800" indent="0">
              <a:buNone/>
            </a:pPr>
            <a:r>
              <a:rPr lang="en-US" altLang="en-US" sz="2400"/>
              <a:t>CLUSTERED</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54</a:t>
            </a:fld>
            <a:endParaRPr lang="en-US"/>
          </a:p>
        </p:txBody>
      </p:sp>
      <p:graphicFrame>
        <p:nvGraphicFramePr>
          <p:cNvPr id="8" name="Table 7"/>
          <p:cNvGraphicFramePr/>
          <p:nvPr>
            <p:custDataLst>
              <p:tags r:id="rId1"/>
            </p:custDataLst>
          </p:nvPr>
        </p:nvGraphicFramePr>
        <p:xfrm>
          <a:off x="539115" y="1179830"/>
          <a:ext cx="7861300" cy="1257300"/>
        </p:xfrm>
        <a:graphic>
          <a:graphicData uri="http://schemas.openxmlformats.org/drawingml/2006/table">
            <a:tbl>
              <a:tblPr/>
              <a:tblGrid>
                <a:gridCol w="1572260">
                  <a:extLst>
                    <a:ext uri="{9D8B030D-6E8A-4147-A177-3AD203B41FA5}">
                      <a16:colId xmlns:a16="http://schemas.microsoft.com/office/drawing/2014/main" val="20000"/>
                    </a:ext>
                  </a:extLst>
                </a:gridCol>
                <a:gridCol w="1572260">
                  <a:extLst>
                    <a:ext uri="{9D8B030D-6E8A-4147-A177-3AD203B41FA5}">
                      <a16:colId xmlns:a16="http://schemas.microsoft.com/office/drawing/2014/main" val="20001"/>
                    </a:ext>
                  </a:extLst>
                </a:gridCol>
                <a:gridCol w="1572260">
                  <a:extLst>
                    <a:ext uri="{9D8B030D-6E8A-4147-A177-3AD203B41FA5}">
                      <a16:colId xmlns:a16="http://schemas.microsoft.com/office/drawing/2014/main" val="20002"/>
                    </a:ext>
                  </a:extLst>
                </a:gridCol>
                <a:gridCol w="1572260">
                  <a:extLst>
                    <a:ext uri="{9D8B030D-6E8A-4147-A177-3AD203B41FA5}">
                      <a16:colId xmlns:a16="http://schemas.microsoft.com/office/drawing/2014/main" val="20003"/>
                    </a:ext>
                  </a:extLst>
                </a:gridCol>
                <a:gridCol w="1572260">
                  <a:extLst>
                    <a:ext uri="{9D8B030D-6E8A-4147-A177-3AD203B41FA5}">
                      <a16:colId xmlns:a16="http://schemas.microsoft.com/office/drawing/2014/main" val="20004"/>
                    </a:ext>
                  </a:extLst>
                </a:gridCol>
              </a:tblGrid>
              <a:tr h="251460">
                <a:tc>
                  <a:txBody>
                    <a:bodyPr/>
                    <a:lstStyle/>
                    <a:p>
                      <a:pPr algn="ctr"/>
                      <a:r>
                        <a:rPr lang="en-US" altLang="zh-CN" sz="1100"/>
                        <a:t>Nodes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Best FND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Best LND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Best Energy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Best Final Alive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0"/>
                  </a:ext>
                </a:extLst>
              </a:tr>
              <a:tr h="251460">
                <a:tc>
                  <a:txBody>
                    <a:bodyPr/>
                    <a:lstStyle/>
                    <a:p>
                      <a:pPr algn="ctr"/>
                      <a:r>
                        <a:rPr lang="en-US" altLang="zh-CN" sz="1100"/>
                        <a:t>50</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1"/>
                  </a:ext>
                </a:extLst>
              </a:tr>
              <a:tr h="251460">
                <a:tc>
                  <a:txBody>
                    <a:bodyPr/>
                    <a:lstStyle/>
                    <a:p>
                      <a:pPr algn="ctr"/>
                      <a:r>
                        <a:rPr lang="en-US" altLang="zh-CN" sz="1100"/>
                        <a:t>100</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AC-ACO(new)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2"/>
                  </a:ext>
                </a:extLst>
              </a:tr>
              <a:tr h="251460">
                <a:tc>
                  <a:txBody>
                    <a:bodyPr/>
                    <a:lstStyle/>
                    <a:p>
                      <a:pPr algn="ctr"/>
                      <a:r>
                        <a:rPr lang="en-US" altLang="zh-CN" sz="1100"/>
                        <a:t>150</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AC-ACO(old)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AC-ACO(old)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3"/>
                  </a:ext>
                </a:extLst>
              </a:tr>
              <a:tr h="251460">
                <a:tc>
                  <a:txBody>
                    <a:bodyPr/>
                    <a:lstStyle/>
                    <a:p>
                      <a:pPr algn="ctr"/>
                      <a:r>
                        <a:rPr lang="en-US" altLang="zh-CN" sz="1100"/>
                        <a:t>200</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GA(old)</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4"/>
                  </a:ext>
                </a:extLst>
              </a:tr>
            </a:tbl>
          </a:graphicData>
        </a:graphic>
      </p:graphicFrame>
      <p:graphicFrame>
        <p:nvGraphicFramePr>
          <p:cNvPr id="9" name="Table 8"/>
          <p:cNvGraphicFramePr/>
          <p:nvPr>
            <p:custDataLst>
              <p:tags r:id="rId2"/>
            </p:custDataLst>
          </p:nvPr>
        </p:nvGraphicFramePr>
        <p:xfrm>
          <a:off x="539115" y="3024505"/>
          <a:ext cx="7861300" cy="1365250"/>
        </p:xfrm>
        <a:graphic>
          <a:graphicData uri="http://schemas.openxmlformats.org/drawingml/2006/table">
            <a:tbl>
              <a:tblPr/>
              <a:tblGrid>
                <a:gridCol w="1572260">
                  <a:extLst>
                    <a:ext uri="{9D8B030D-6E8A-4147-A177-3AD203B41FA5}">
                      <a16:colId xmlns:a16="http://schemas.microsoft.com/office/drawing/2014/main" val="20000"/>
                    </a:ext>
                  </a:extLst>
                </a:gridCol>
                <a:gridCol w="1572260">
                  <a:extLst>
                    <a:ext uri="{9D8B030D-6E8A-4147-A177-3AD203B41FA5}">
                      <a16:colId xmlns:a16="http://schemas.microsoft.com/office/drawing/2014/main" val="20001"/>
                    </a:ext>
                  </a:extLst>
                </a:gridCol>
                <a:gridCol w="1572260">
                  <a:extLst>
                    <a:ext uri="{9D8B030D-6E8A-4147-A177-3AD203B41FA5}">
                      <a16:colId xmlns:a16="http://schemas.microsoft.com/office/drawing/2014/main" val="20002"/>
                    </a:ext>
                  </a:extLst>
                </a:gridCol>
                <a:gridCol w="1572260">
                  <a:extLst>
                    <a:ext uri="{9D8B030D-6E8A-4147-A177-3AD203B41FA5}">
                      <a16:colId xmlns:a16="http://schemas.microsoft.com/office/drawing/2014/main" val="20003"/>
                    </a:ext>
                  </a:extLst>
                </a:gridCol>
                <a:gridCol w="1572260">
                  <a:extLst>
                    <a:ext uri="{9D8B030D-6E8A-4147-A177-3AD203B41FA5}">
                      <a16:colId xmlns:a16="http://schemas.microsoft.com/office/drawing/2014/main" val="20004"/>
                    </a:ext>
                  </a:extLst>
                </a:gridCol>
              </a:tblGrid>
              <a:tr h="273050">
                <a:tc>
                  <a:txBody>
                    <a:bodyPr/>
                    <a:lstStyle/>
                    <a:p>
                      <a:pPr algn="ctr"/>
                      <a:r>
                        <a:rPr lang="en-US" altLang="zh-CN" sz="1100"/>
                        <a:t>Nodes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Best FND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Best LND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Best Energy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Best Final Alive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0"/>
                  </a:ext>
                </a:extLst>
              </a:tr>
              <a:tr h="273050">
                <a:tc>
                  <a:txBody>
                    <a:bodyPr/>
                    <a:lstStyle/>
                    <a:p>
                      <a:pPr algn="ctr"/>
                      <a:r>
                        <a:rPr lang="en-US" altLang="zh-CN" sz="1100"/>
                        <a:t>50</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1"/>
                  </a:ext>
                </a:extLst>
              </a:tr>
              <a:tr h="273050">
                <a:tc>
                  <a:txBody>
                    <a:bodyPr/>
                    <a:lstStyle/>
                    <a:p>
                      <a:pPr algn="ctr"/>
                      <a:r>
                        <a:rPr lang="en-US" altLang="zh-CN" sz="1100"/>
                        <a:t>100</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AC-ACO(new)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2"/>
                  </a:ext>
                </a:extLst>
              </a:tr>
              <a:tr h="273050">
                <a:tc>
                  <a:txBody>
                    <a:bodyPr/>
                    <a:lstStyle/>
                    <a:p>
                      <a:pPr algn="ctr"/>
                      <a:r>
                        <a:rPr lang="en-US" altLang="zh-CN" sz="1100"/>
                        <a:t>150</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AC-ACO(new)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3"/>
                  </a:ext>
                </a:extLst>
              </a:tr>
              <a:tr h="273050">
                <a:tc>
                  <a:txBody>
                    <a:bodyPr/>
                    <a:lstStyle/>
                    <a:p>
                      <a:pPr algn="ctr"/>
                      <a:r>
                        <a:rPr lang="en-US" altLang="zh-CN" sz="1100"/>
                        <a:t>200</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AC-ACO(new)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4"/>
                  </a:ext>
                </a:extLst>
              </a:tr>
            </a:tbl>
          </a:graphicData>
        </a:graphic>
      </p:graphicFrame>
      <p:graphicFrame>
        <p:nvGraphicFramePr>
          <p:cNvPr id="10" name="Table 9"/>
          <p:cNvGraphicFramePr/>
          <p:nvPr>
            <p:custDataLst>
              <p:tags r:id="rId3"/>
            </p:custDataLst>
          </p:nvPr>
        </p:nvGraphicFramePr>
        <p:xfrm>
          <a:off x="539750" y="4946015"/>
          <a:ext cx="7861300" cy="1231265"/>
        </p:xfrm>
        <a:graphic>
          <a:graphicData uri="http://schemas.openxmlformats.org/drawingml/2006/table">
            <a:tbl>
              <a:tblPr/>
              <a:tblGrid>
                <a:gridCol w="1572260">
                  <a:extLst>
                    <a:ext uri="{9D8B030D-6E8A-4147-A177-3AD203B41FA5}">
                      <a16:colId xmlns:a16="http://schemas.microsoft.com/office/drawing/2014/main" val="20000"/>
                    </a:ext>
                  </a:extLst>
                </a:gridCol>
                <a:gridCol w="1572260">
                  <a:extLst>
                    <a:ext uri="{9D8B030D-6E8A-4147-A177-3AD203B41FA5}">
                      <a16:colId xmlns:a16="http://schemas.microsoft.com/office/drawing/2014/main" val="20001"/>
                    </a:ext>
                  </a:extLst>
                </a:gridCol>
                <a:gridCol w="1572260">
                  <a:extLst>
                    <a:ext uri="{9D8B030D-6E8A-4147-A177-3AD203B41FA5}">
                      <a16:colId xmlns:a16="http://schemas.microsoft.com/office/drawing/2014/main" val="20002"/>
                    </a:ext>
                  </a:extLst>
                </a:gridCol>
                <a:gridCol w="1572260">
                  <a:extLst>
                    <a:ext uri="{9D8B030D-6E8A-4147-A177-3AD203B41FA5}">
                      <a16:colId xmlns:a16="http://schemas.microsoft.com/office/drawing/2014/main" val="20003"/>
                    </a:ext>
                  </a:extLst>
                </a:gridCol>
                <a:gridCol w="1572260">
                  <a:extLst>
                    <a:ext uri="{9D8B030D-6E8A-4147-A177-3AD203B41FA5}">
                      <a16:colId xmlns:a16="http://schemas.microsoft.com/office/drawing/2014/main" val="20004"/>
                    </a:ext>
                  </a:extLst>
                </a:gridCol>
              </a:tblGrid>
              <a:tr h="271145">
                <a:tc>
                  <a:txBody>
                    <a:bodyPr/>
                    <a:lstStyle/>
                    <a:p>
                      <a:pPr algn="ctr"/>
                      <a:r>
                        <a:rPr lang="en-US" altLang="zh-CN" sz="1100"/>
                        <a:t>Nodes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Best FND</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Best LND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Best Energy (J)</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Best Final Alive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0"/>
                  </a:ext>
                </a:extLst>
              </a:tr>
              <a:tr h="240030">
                <a:tc>
                  <a:txBody>
                    <a:bodyPr/>
                    <a:lstStyle/>
                    <a:p>
                      <a:pPr algn="ctr"/>
                      <a:r>
                        <a:rPr lang="en-US" altLang="zh-CN" sz="1100"/>
                        <a:t>50</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1"/>
                  </a:ext>
                </a:extLst>
              </a:tr>
              <a:tr h="240030">
                <a:tc>
                  <a:txBody>
                    <a:bodyPr/>
                    <a:lstStyle/>
                    <a:p>
                      <a:pPr algn="ctr"/>
                      <a:r>
                        <a:rPr lang="en-US" altLang="zh-CN" sz="1100"/>
                        <a:t>100</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AC-ACO(new)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2"/>
                  </a:ext>
                </a:extLst>
              </a:tr>
              <a:tr h="240030">
                <a:tc>
                  <a:txBody>
                    <a:bodyPr/>
                    <a:lstStyle/>
                    <a:p>
                      <a:pPr algn="ctr"/>
                      <a:r>
                        <a:rPr lang="en-US" altLang="zh-CN" sz="1100"/>
                        <a:t>150</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AC-ACO(old)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3"/>
                  </a:ext>
                </a:extLst>
              </a:tr>
              <a:tr h="240030">
                <a:tc>
                  <a:txBody>
                    <a:bodyPr/>
                    <a:lstStyle/>
                    <a:p>
                      <a:pPr algn="ctr"/>
                      <a:r>
                        <a:rPr lang="en-US" altLang="zh-CN" sz="1100"/>
                        <a:t>200</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GA(old)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100"/>
                        <a:t>GA(new)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4. Thí nghiệm &amp; phân tích</a:t>
            </a:r>
            <a:br>
              <a:rPr lang="en-US" altLang="en-US"/>
            </a:br>
            <a:endParaRPr lang="en-US" altLang="en-US"/>
          </a:p>
        </p:txBody>
      </p:sp>
      <p:sp>
        <p:nvSpPr>
          <p:cNvPr id="3" name="Text Placeholder 2"/>
          <p:cNvSpPr>
            <a:spLocks noGrp="1"/>
          </p:cNvSpPr>
          <p:nvPr>
            <p:ph type="body" idx="1"/>
          </p:nvPr>
        </p:nvSpPr>
        <p:spPr/>
        <p:txBody>
          <a:bodyPr/>
          <a:lstStyle/>
          <a:p>
            <a:pPr marL="50800" indent="0">
              <a:buNone/>
            </a:pPr>
            <a:r>
              <a:rPr lang="vi-VN" altLang="en-US" sz="2000"/>
              <a:t>Thử nghiệm với 100 node,  50 lời giải ứng cử viên</a:t>
            </a:r>
            <a:endParaRPr lang="en-US" altLang="en-US" sz="2000"/>
          </a:p>
          <a:p>
            <a:pPr marL="50800" indent="0">
              <a:buNone/>
            </a:pPr>
            <a:endParaRPr lang="en-US" altLang="en-US" sz="200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55</a:t>
            </a:fld>
            <a:endParaRPr lang="en-US"/>
          </a:p>
        </p:txBody>
      </p:sp>
      <p:graphicFrame>
        <p:nvGraphicFramePr>
          <p:cNvPr id="5" name="Table 4"/>
          <p:cNvGraphicFramePr/>
          <p:nvPr>
            <p:custDataLst>
              <p:tags r:id="rId1"/>
            </p:custDataLst>
          </p:nvPr>
        </p:nvGraphicFramePr>
        <p:xfrm>
          <a:off x="179705" y="1579245"/>
          <a:ext cx="8853170" cy="3822700"/>
        </p:xfrm>
        <a:graphic>
          <a:graphicData uri="http://schemas.openxmlformats.org/drawingml/2006/table">
            <a:tbl>
              <a:tblPr/>
              <a:tblGrid>
                <a:gridCol w="1288415">
                  <a:extLst>
                    <a:ext uri="{9D8B030D-6E8A-4147-A177-3AD203B41FA5}">
                      <a16:colId xmlns:a16="http://schemas.microsoft.com/office/drawing/2014/main" val="20000"/>
                    </a:ext>
                  </a:extLst>
                </a:gridCol>
                <a:gridCol w="1217295">
                  <a:extLst>
                    <a:ext uri="{9D8B030D-6E8A-4147-A177-3AD203B41FA5}">
                      <a16:colId xmlns:a16="http://schemas.microsoft.com/office/drawing/2014/main" val="20001"/>
                    </a:ext>
                  </a:extLst>
                </a:gridCol>
                <a:gridCol w="1288415">
                  <a:extLst>
                    <a:ext uri="{9D8B030D-6E8A-4147-A177-3AD203B41FA5}">
                      <a16:colId xmlns:a16="http://schemas.microsoft.com/office/drawing/2014/main" val="20002"/>
                    </a:ext>
                  </a:extLst>
                </a:gridCol>
                <a:gridCol w="1311910">
                  <a:extLst>
                    <a:ext uri="{9D8B030D-6E8A-4147-A177-3AD203B41FA5}">
                      <a16:colId xmlns:a16="http://schemas.microsoft.com/office/drawing/2014/main" val="20003"/>
                    </a:ext>
                  </a:extLst>
                </a:gridCol>
                <a:gridCol w="1217930">
                  <a:extLst>
                    <a:ext uri="{9D8B030D-6E8A-4147-A177-3AD203B41FA5}">
                      <a16:colId xmlns:a16="http://schemas.microsoft.com/office/drawing/2014/main" val="20004"/>
                    </a:ext>
                  </a:extLst>
                </a:gridCol>
                <a:gridCol w="1264285">
                  <a:extLst>
                    <a:ext uri="{9D8B030D-6E8A-4147-A177-3AD203B41FA5}">
                      <a16:colId xmlns:a16="http://schemas.microsoft.com/office/drawing/2014/main" val="20005"/>
                    </a:ext>
                  </a:extLst>
                </a:gridCol>
                <a:gridCol w="1264920">
                  <a:extLst>
                    <a:ext uri="{9D8B030D-6E8A-4147-A177-3AD203B41FA5}">
                      <a16:colId xmlns:a16="http://schemas.microsoft.com/office/drawing/2014/main" val="20006"/>
                    </a:ext>
                  </a:extLst>
                </a:gridCol>
              </a:tblGrid>
              <a:tr h="764540">
                <a:tc>
                  <a:txBody>
                    <a:bodyPr/>
                    <a:lstStyle/>
                    <a:p>
                      <a:r>
                        <a:rPr lang="en-US" altLang="zh-CN" sz="1400"/>
                        <a:t>Metric</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lang="en-US" altLang="zh-CN" sz="1400"/>
                        <a:t>GA (old)</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lang="en-US" altLang="zh-CN" sz="1400"/>
                        <a:t>GA (new)</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lang="en-US" altLang="zh-CN" sz="1400"/>
                        <a:t>AC-ACO (old)</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lang="en-US" altLang="zh-CN" sz="1400"/>
                        <a:t>AC-ACO (new)</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lang="en-US" altLang="zh-CN" sz="1400"/>
                        <a:t>Basic ACO (old)</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r>
                        <a:rPr lang="en-US" altLang="zh-CN" sz="1400"/>
                        <a:t>Basic ACO (new)</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0"/>
                  </a:ext>
                </a:extLst>
              </a:tr>
              <a:tr h="764540">
                <a:tc>
                  <a:txBody>
                    <a:bodyPr/>
                    <a:lstStyle/>
                    <a:p>
                      <a:r>
                        <a:rPr lang="en-US" altLang="zh-CN" sz="1400"/>
                        <a:t>FND (First Node Dies)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400"/>
                        <a:t>321</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400"/>
                        <a:t>703</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400"/>
                        <a:t>527</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400"/>
                        <a:t>879</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400"/>
                        <a:t>157</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400"/>
                        <a:t>299</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1"/>
                  </a:ext>
                </a:extLst>
              </a:tr>
              <a:tr h="764540">
                <a:tc>
                  <a:txBody>
                    <a:bodyPr/>
                    <a:lstStyle/>
                    <a:p>
                      <a:r>
                        <a:rPr lang="en-US" altLang="zh-CN" sz="1400"/>
                        <a:t>LND (Last Node Dies)</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400"/>
                        <a:t>1680</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400"/>
                        <a:t>3499</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400"/>
                        <a:t>2077</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400"/>
                        <a:t>2288</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400"/>
                        <a:t>1594</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400"/>
                        <a:t>1769</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2"/>
                  </a:ext>
                </a:extLst>
              </a:tr>
              <a:tr h="764540">
                <a:tc>
                  <a:txBody>
                    <a:bodyPr/>
                    <a:lstStyle/>
                    <a:p>
                      <a:r>
                        <a:rPr lang="en-US" altLang="zh-CN" sz="1400"/>
                        <a:t>Total Energy (J)</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400"/>
                        <a:t>60.07</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400"/>
                        <a:t>57.13</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400"/>
                        <a:t>60.03</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400"/>
                        <a:t>60.00</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400"/>
                        <a:t>60.08</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400"/>
                        <a:t>59.83</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3"/>
                  </a:ext>
                </a:extLst>
              </a:tr>
              <a:tr h="764540">
                <a:tc>
                  <a:txBody>
                    <a:bodyPr/>
                    <a:lstStyle/>
                    <a:p>
                      <a:r>
                        <a:rPr lang="en-US" altLang="zh-CN" sz="1400"/>
                        <a:t>Final Alive Nodes (%)</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400"/>
                        <a:t>4.0</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400"/>
                        <a:t>26.0</a:t>
                      </a:r>
                      <a:r>
                        <a:rPr lang="vi-VN" altLang="en-US" sz="1400"/>
                        <a:t> </a:t>
                      </a:r>
                    </a:p>
                    <a:p>
                      <a:pPr algn="ctr"/>
                      <a:r>
                        <a:rPr lang="vi-VN" altLang="en-US" sz="1400"/>
                        <a:t>(3500 round)</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400"/>
                        <a:t>5.0</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400"/>
                        <a:t>5.0</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400"/>
                        <a:t>4.0</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lstStyle/>
                    <a:p>
                      <a:pPr algn="ctr"/>
                      <a:r>
                        <a:rPr lang="en-US" altLang="zh-CN" sz="1400"/>
                        <a:t>4.0</a:t>
                      </a:r>
                    </a:p>
                  </a:txBody>
                  <a:tcPr marL="0" marR="0" marT="0" marB="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50"/>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56</a:t>
            </a:fld>
            <a:endParaRPr lang="en-US"/>
          </a:p>
        </p:txBody>
      </p:sp>
      <p:sp>
        <p:nvSpPr>
          <p:cNvPr id="341" name="Google Shape;341;p50"/>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t>4. Thí nghiệm &amp; phân tích</a:t>
            </a:r>
          </a:p>
        </p:txBody>
      </p:sp>
      <p:sp>
        <p:nvSpPr>
          <p:cNvPr id="342" name="Google Shape;342;p50"/>
          <p:cNvSpPr txBox="1">
            <a:spLocks noGrp="1"/>
          </p:cNvSpPr>
          <p:nvPr>
            <p:ph type="body" idx="1"/>
          </p:nvPr>
        </p:nvSpPr>
        <p:spPr>
          <a:xfrm>
            <a:off x="234950" y="963168"/>
            <a:ext cx="8674200" cy="51327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Kết quả Th</a:t>
            </a:r>
            <a:r>
              <a:rPr lang="vi-VN" altLang="en-US" sz="1800">
                <a:latin typeface="Times New Roman" panose="02020603050405020304"/>
                <a:ea typeface="Times New Roman" panose="02020603050405020304"/>
                <a:cs typeface="Times New Roman" panose="02020603050405020304"/>
                <a:sym typeface="Times New Roman" panose="02020603050405020304"/>
              </a:rPr>
              <a:t>ực</a:t>
            </a:r>
            <a:r>
              <a:rPr lang="en-US" sz="1800">
                <a:latin typeface="Times New Roman" panose="02020603050405020304"/>
                <a:ea typeface="Times New Roman" panose="02020603050405020304"/>
                <a:cs typeface="Times New Roman" panose="02020603050405020304"/>
                <a:sym typeface="Times New Roman" panose="02020603050405020304"/>
              </a:rPr>
              <a:t> nghiệm </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lang="en-US" altLang="en-US" sz="1800">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4" name="Table 3"/>
          <p:cNvGraphicFramePr/>
          <p:nvPr>
            <p:custDataLst>
              <p:tags r:id="rId1"/>
            </p:custDataLst>
          </p:nvPr>
        </p:nvGraphicFramePr>
        <p:xfrm>
          <a:off x="467360" y="4437380"/>
          <a:ext cx="5615305" cy="2441952"/>
        </p:xfrm>
        <a:graphic>
          <a:graphicData uri="http://schemas.openxmlformats.org/drawingml/2006/table">
            <a:tbl>
              <a:tblPr/>
              <a:tblGrid>
                <a:gridCol w="5615305">
                  <a:extLst>
                    <a:ext uri="{9D8B030D-6E8A-4147-A177-3AD203B41FA5}">
                      <a16:colId xmlns:a16="http://schemas.microsoft.com/office/drawing/2014/main" val="20000"/>
                    </a:ext>
                  </a:extLst>
                </a:gridCol>
              </a:tblGrid>
              <a:tr h="1432560">
                <a:tc>
                  <a:txBody>
                    <a:bodyPr/>
                    <a:lstStyle/>
                    <a:p>
                      <a:pPr marL="0" indent="0" algn="l" fontAlgn="base">
                        <a:lnSpc>
                          <a:spcPts val="1200"/>
                        </a:lnSpc>
                        <a:spcBef>
                          <a:spcPct val="0"/>
                        </a:spcBef>
                        <a:spcAft>
                          <a:spcPct val="0"/>
                        </a:spcAft>
                      </a:pPr>
                      <a:endParaRPr lang="en-US" altLang="en-US" sz="1800" b="0" i="0">
                        <a:solidFill>
                          <a:srgbClr val="202124"/>
                        </a:solidFill>
                        <a:latin typeface="Times New Roman" panose="02020603050405020304" charset="0"/>
                        <a:ea typeface="Inter"/>
                        <a:cs typeface="Times New Roman" panose="02020603050405020304" charset="0"/>
                      </a:endParaRPr>
                    </a:p>
                    <a:p>
                      <a:pPr marL="0" indent="0" algn="l" fontAlgn="base">
                        <a:lnSpc>
                          <a:spcPts val="1200"/>
                        </a:lnSpc>
                        <a:spcBef>
                          <a:spcPct val="0"/>
                        </a:spcBef>
                        <a:spcAft>
                          <a:spcPct val="0"/>
                        </a:spcAft>
                      </a:pPr>
                      <a:r>
                        <a:rPr lang="en-US" altLang="en-US" sz="1800" b="0" i="0">
                          <a:solidFill>
                            <a:srgbClr val="202124"/>
                          </a:solidFill>
                          <a:latin typeface="Times New Roman" panose="02020603050405020304" charset="0"/>
                          <a:ea typeface="Inter"/>
                          <a:cs typeface="Times New Roman" panose="02020603050405020304" charset="0"/>
                        </a:rPr>
                        <a:t>Uniform Random:</a:t>
                      </a:r>
                    </a:p>
                    <a:p>
                      <a:pPr marL="0" indent="0" algn="l" fontAlgn="base">
                        <a:lnSpc>
                          <a:spcPts val="1200"/>
                        </a:lnSpc>
                        <a:spcBef>
                          <a:spcPct val="0"/>
                        </a:spcBef>
                        <a:spcAft>
                          <a:spcPct val="0"/>
                        </a:spcAft>
                      </a:pPr>
                      <a:endParaRPr lang="en-US" altLang="en-US" sz="1800" b="0" i="0">
                        <a:solidFill>
                          <a:srgbClr val="202124"/>
                        </a:solidFill>
                        <a:latin typeface="Times New Roman" panose="02020603050405020304" charset="0"/>
                        <a:ea typeface="Inter"/>
                        <a:cs typeface="Times New Roman" panose="02020603050405020304" charset="0"/>
                      </a:endParaRPr>
                    </a:p>
                    <a:p>
                      <a:pPr marL="0" indent="0" algn="l" fontAlgn="base">
                        <a:lnSpc>
                          <a:spcPts val="1200"/>
                        </a:lnSpc>
                        <a:spcBef>
                          <a:spcPct val="0"/>
                        </a:spcBef>
                        <a:spcAft>
                          <a:spcPct val="0"/>
                        </a:spcAft>
                      </a:pPr>
                      <a:r>
                        <a:rPr lang="en-US" altLang="en-US" sz="1800" b="0" i="0">
                          <a:solidFill>
                            <a:srgbClr val="202124"/>
                          </a:solidFill>
                          <a:latin typeface="Times New Roman" panose="02020603050405020304" charset="0"/>
                          <a:ea typeface="Inter"/>
                          <a:cs typeface="Times New Roman" panose="02020603050405020304" charset="0"/>
                        </a:rPr>
                        <a:t>  • Best FND (Stability): AC-ACO(new) - Round 879</a:t>
                      </a:r>
                    </a:p>
                    <a:p>
                      <a:pPr marL="0" indent="0" algn="l" fontAlgn="base">
                        <a:lnSpc>
                          <a:spcPts val="1200"/>
                        </a:lnSpc>
                        <a:spcBef>
                          <a:spcPct val="0"/>
                        </a:spcBef>
                        <a:spcAft>
                          <a:spcPct val="0"/>
                        </a:spcAft>
                      </a:pPr>
                      <a:endParaRPr lang="en-US" altLang="en-US" sz="1800" b="0" i="0">
                        <a:solidFill>
                          <a:srgbClr val="202124"/>
                        </a:solidFill>
                        <a:latin typeface="Times New Roman" panose="02020603050405020304" charset="0"/>
                        <a:ea typeface="Inter"/>
                        <a:cs typeface="Times New Roman" panose="02020603050405020304" charset="0"/>
                      </a:endParaRPr>
                    </a:p>
                    <a:p>
                      <a:pPr marL="0" indent="0" algn="l" fontAlgn="base">
                        <a:lnSpc>
                          <a:spcPts val="1200"/>
                        </a:lnSpc>
                        <a:spcBef>
                          <a:spcPct val="0"/>
                        </a:spcBef>
                        <a:spcAft>
                          <a:spcPct val="0"/>
                        </a:spcAft>
                      </a:pPr>
                      <a:r>
                        <a:rPr lang="en-US" altLang="en-US" sz="1800" b="0" i="0">
                          <a:solidFill>
                            <a:srgbClr val="202124"/>
                          </a:solidFill>
                          <a:latin typeface="Times New Roman" panose="02020603050405020304" charset="0"/>
                          <a:ea typeface="Inter"/>
                          <a:cs typeface="Times New Roman" panose="02020603050405020304" charset="0"/>
                        </a:rPr>
                        <a:t>  • Best Energy Efficiency: GA(new) </a:t>
                      </a:r>
                    </a:p>
                    <a:p>
                      <a:pPr marL="0" indent="0" algn="l" fontAlgn="base">
                        <a:lnSpc>
                          <a:spcPts val="1200"/>
                        </a:lnSpc>
                        <a:spcBef>
                          <a:spcPct val="0"/>
                        </a:spcBef>
                        <a:spcAft>
                          <a:spcPct val="0"/>
                        </a:spcAft>
                      </a:pPr>
                      <a:endParaRPr lang="en-US" altLang="en-US" sz="1800" b="0" i="0">
                        <a:solidFill>
                          <a:srgbClr val="202124"/>
                        </a:solidFill>
                        <a:latin typeface="Times New Roman" panose="02020603050405020304" charset="0"/>
                        <a:ea typeface="Inter"/>
                        <a:cs typeface="Times New Roman" panose="02020603050405020304" charset="0"/>
                      </a:endParaRPr>
                    </a:p>
                    <a:p>
                      <a:pPr marL="0" indent="0" algn="l" fontAlgn="base">
                        <a:lnSpc>
                          <a:spcPts val="1200"/>
                        </a:lnSpc>
                        <a:spcBef>
                          <a:spcPct val="0"/>
                        </a:spcBef>
                        <a:spcAft>
                          <a:spcPct val="0"/>
                        </a:spcAft>
                      </a:pPr>
                      <a:r>
                        <a:rPr lang="en-US" altLang="en-US" sz="1800" b="0" i="0">
                          <a:solidFill>
                            <a:srgbClr val="202124"/>
                          </a:solidFill>
                          <a:latin typeface="Times New Roman" panose="02020603050405020304" charset="0"/>
                          <a:ea typeface="Inter"/>
                          <a:cs typeface="Times New Roman" panose="02020603050405020304" charset="0"/>
                        </a:rPr>
                        <a:t>  • Best Avg Fitness: GA(new)</a:t>
                      </a:r>
                    </a:p>
                    <a:p>
                      <a:pPr marL="0" indent="0" algn="l" fontAlgn="base">
                        <a:lnSpc>
                          <a:spcPts val="1200"/>
                        </a:lnSpc>
                        <a:spcBef>
                          <a:spcPct val="0"/>
                        </a:spcBef>
                        <a:spcAft>
                          <a:spcPct val="0"/>
                        </a:spcAft>
                      </a:pPr>
                      <a:endParaRPr lang="en-US" altLang="en-US" sz="1800" b="0" i="0">
                        <a:solidFill>
                          <a:srgbClr val="202124"/>
                        </a:solidFill>
                        <a:latin typeface="Times New Roman" panose="02020603050405020304" charset="0"/>
                        <a:ea typeface="Inter"/>
                        <a:cs typeface="Times New Roman" panose="02020603050405020304" charset="0"/>
                      </a:endParaRPr>
                    </a:p>
                    <a:p>
                      <a:pPr marL="0" indent="0" algn="l" fontAlgn="base">
                        <a:lnSpc>
                          <a:spcPts val="1200"/>
                        </a:lnSpc>
                        <a:spcBef>
                          <a:spcPct val="0"/>
                        </a:spcBef>
                        <a:spcAft>
                          <a:spcPct val="0"/>
                        </a:spcAft>
                      </a:pPr>
                      <a:r>
                        <a:rPr lang="en-US" altLang="en-US" sz="1800" b="0" i="0">
                          <a:solidFill>
                            <a:srgbClr val="202124"/>
                          </a:solidFill>
                          <a:latin typeface="Times New Roman" panose="02020603050405020304" charset="0"/>
                          <a:ea typeface="Inter"/>
                          <a:cs typeface="Times New Roman" panose="02020603050405020304" charset="0"/>
                        </a:rPr>
                        <a:t>  • Best Final Alive %: GA(new)</a:t>
                      </a:r>
                      <a:r>
                        <a:rPr lang="vi-VN" altLang="en-US" sz="1800" b="0" i="0">
                          <a:solidFill>
                            <a:srgbClr val="202124"/>
                          </a:solidFill>
                          <a:latin typeface="Times New Roman" panose="02020603050405020304" charset="0"/>
                          <a:ea typeface="Inter"/>
                          <a:cs typeface="Times New Roman" panose="02020603050405020304" charset="0"/>
                        </a:rPr>
                        <a:t> 26.0 tại 3500 round</a:t>
                      </a:r>
                      <a:endParaRPr lang="en-US" altLang="en-US" sz="1800" b="0" i="0">
                        <a:solidFill>
                          <a:srgbClr val="202124"/>
                        </a:solidFill>
                        <a:latin typeface="Times New Roman" panose="02020603050405020304" charset="0"/>
                        <a:ea typeface="Inter"/>
                        <a:cs typeface="Times New Roman" panose="02020603050405020304" charset="0"/>
                      </a:endParaRPr>
                    </a:p>
                    <a:p>
                      <a:pPr marL="0" indent="0" algn="l" fontAlgn="base">
                        <a:lnSpc>
                          <a:spcPts val="1200"/>
                        </a:lnSpc>
                        <a:spcBef>
                          <a:spcPct val="0"/>
                        </a:spcBef>
                        <a:spcAft>
                          <a:spcPct val="0"/>
                        </a:spcAft>
                      </a:pPr>
                      <a:endParaRPr lang="en-US" altLang="en-US" sz="1800" b="0" i="0">
                        <a:solidFill>
                          <a:srgbClr val="202124"/>
                        </a:solidFill>
                        <a:latin typeface="Times New Roman" panose="02020603050405020304" charset="0"/>
                        <a:ea typeface="Inter"/>
                        <a:cs typeface="Times New Roman" panose="02020603050405020304" charset="0"/>
                      </a:endParaRPr>
                    </a:p>
                  </a:txBody>
                  <a:tcPr marL="122237" marR="122237" marT="30797" marB="30797">
                    <a:lnL>
                      <a:noFill/>
                    </a:lnL>
                    <a:lnR>
                      <a:noFill/>
                    </a:lnR>
                    <a:lnT>
                      <a:noFill/>
                    </a:lnT>
                    <a:lnB>
                      <a:noFill/>
                    </a:lnB>
                    <a:noFill/>
                  </a:tcPr>
                </a:tc>
                <a:extLst>
                  <a:ext uri="{0D108BD9-81ED-4DB2-BD59-A6C34878D82A}">
                    <a16:rowId xmlns:a16="http://schemas.microsoft.com/office/drawing/2014/main" val="10000"/>
                  </a:ext>
                </a:extLst>
              </a:tr>
              <a:tr h="213360">
                <a:tc>
                  <a:txBody>
                    <a:bodyPr/>
                    <a:lstStyle/>
                    <a:p>
                      <a:pPr marL="0" indent="0" algn="l" fontAlgn="base">
                        <a:lnSpc>
                          <a:spcPts val="1200"/>
                        </a:lnSpc>
                        <a:spcBef>
                          <a:spcPct val="0"/>
                        </a:spcBef>
                        <a:spcAft>
                          <a:spcPct val="0"/>
                        </a:spcAft>
                      </a:pPr>
                      <a:endParaRPr lang="en-US" altLang="zh-CN" sz="1800" b="0" i="0">
                        <a:solidFill>
                          <a:srgbClr val="202124"/>
                        </a:solidFill>
                        <a:latin typeface="Times New Roman" panose="02020603050405020304" charset="0"/>
                        <a:ea typeface="Inter"/>
                        <a:cs typeface="Times New Roman" panose="02020603050405020304" charset="0"/>
                      </a:endParaRPr>
                    </a:p>
                  </a:txBody>
                  <a:tcPr marL="122237" marR="122237" marT="30797" marB="30797">
                    <a:lnL>
                      <a:noFill/>
                    </a:lnL>
                    <a:lnR>
                      <a:noFill/>
                    </a:lnR>
                    <a:lnT>
                      <a:noFill/>
                    </a:lnT>
                    <a:lnB>
                      <a:noFill/>
                    </a:lnB>
                    <a:noFill/>
                  </a:tcPr>
                </a:tc>
                <a:extLst>
                  <a:ext uri="{0D108BD9-81ED-4DB2-BD59-A6C34878D82A}">
                    <a16:rowId xmlns:a16="http://schemas.microsoft.com/office/drawing/2014/main" val="10001"/>
                  </a:ext>
                </a:extLst>
              </a:tr>
              <a:tr h="213360">
                <a:tc>
                  <a:txBody>
                    <a:bodyPr/>
                    <a:lstStyle/>
                    <a:p>
                      <a:pPr marL="0" indent="0" algn="l" fontAlgn="base">
                        <a:lnSpc>
                          <a:spcPts val="1200"/>
                        </a:lnSpc>
                        <a:spcBef>
                          <a:spcPct val="0"/>
                        </a:spcBef>
                        <a:spcAft>
                          <a:spcPct val="0"/>
                        </a:spcAft>
                      </a:pPr>
                      <a:endParaRPr lang="en-US" altLang="zh-CN" sz="1800" b="0" i="0">
                        <a:solidFill>
                          <a:srgbClr val="202124"/>
                        </a:solidFill>
                        <a:latin typeface="Times New Roman" panose="02020603050405020304" charset="0"/>
                        <a:ea typeface="Inter"/>
                        <a:cs typeface="Times New Roman" panose="02020603050405020304" charset="0"/>
                      </a:endParaRPr>
                    </a:p>
                  </a:txBody>
                  <a:tcPr marL="122237" marR="122237" marT="30797" marB="30797">
                    <a:lnL>
                      <a:noFill/>
                    </a:lnL>
                    <a:lnR>
                      <a:noFill/>
                    </a:lnR>
                    <a:lnT>
                      <a:noFill/>
                    </a:lnT>
                    <a:lnB>
                      <a:noFill/>
                    </a:lnB>
                    <a:noFill/>
                  </a:tcPr>
                </a:tc>
                <a:extLst>
                  <a:ext uri="{0D108BD9-81ED-4DB2-BD59-A6C34878D82A}">
                    <a16:rowId xmlns:a16="http://schemas.microsoft.com/office/drawing/2014/main" val="10002"/>
                  </a:ext>
                </a:extLst>
              </a:tr>
              <a:tr h="213360">
                <a:tc>
                  <a:txBody>
                    <a:bodyPr/>
                    <a:lstStyle/>
                    <a:p>
                      <a:pPr marL="0" indent="0" algn="l" fontAlgn="base">
                        <a:lnSpc>
                          <a:spcPts val="1200"/>
                        </a:lnSpc>
                        <a:spcBef>
                          <a:spcPct val="0"/>
                        </a:spcBef>
                        <a:spcAft>
                          <a:spcPct val="0"/>
                        </a:spcAft>
                      </a:pPr>
                      <a:endParaRPr lang="en-US" altLang="zh-CN" sz="1800" b="0" i="0">
                        <a:solidFill>
                          <a:srgbClr val="202124"/>
                        </a:solidFill>
                        <a:latin typeface="Times New Roman" panose="02020603050405020304" charset="0"/>
                        <a:ea typeface="Inter"/>
                        <a:cs typeface="Times New Roman" panose="02020603050405020304" charset="0"/>
                      </a:endParaRPr>
                    </a:p>
                  </a:txBody>
                  <a:tcPr marL="122237" marR="122237" marT="30797" marB="30797">
                    <a:lnL>
                      <a:noFill/>
                    </a:lnL>
                    <a:lnR>
                      <a:noFill/>
                    </a:lnR>
                    <a:lnT>
                      <a:noFill/>
                    </a:lnT>
                    <a:lnB>
                      <a:noFill/>
                    </a:lnB>
                    <a:noFill/>
                  </a:tcPr>
                </a:tc>
                <a:extLst>
                  <a:ext uri="{0D108BD9-81ED-4DB2-BD59-A6C34878D82A}">
                    <a16:rowId xmlns:a16="http://schemas.microsoft.com/office/drawing/2014/main" val="10003"/>
                  </a:ext>
                </a:extLst>
              </a:tr>
            </a:tbl>
          </a:graphicData>
        </a:graphic>
      </p:graphicFrame>
      <p:pic>
        <p:nvPicPr>
          <p:cNvPr id="3" name="Picture 2" descr="multi_scenario_comparison"/>
          <p:cNvPicPr>
            <a:picLocks noChangeAspect="1"/>
          </p:cNvPicPr>
          <p:nvPr/>
        </p:nvPicPr>
        <p:blipFill>
          <a:blip r:embed="rId4"/>
          <a:stretch>
            <a:fillRect/>
          </a:stretch>
        </p:blipFill>
        <p:spPr>
          <a:xfrm>
            <a:off x="178435" y="1268730"/>
            <a:ext cx="8823325" cy="252857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4. Thí nghiệm &amp; phân tích</a:t>
            </a:r>
            <a:endParaRPr lang="en-US"/>
          </a:p>
        </p:txBody>
      </p:sp>
      <p:sp>
        <p:nvSpPr>
          <p:cNvPr id="3" name="Text Placeholder 2"/>
          <p:cNvSpPr>
            <a:spLocks noGrp="1"/>
          </p:cNvSpPr>
          <p:nvPr>
            <p:ph type="body" idx="1"/>
          </p:nvPr>
        </p:nvSpPr>
        <p:spPr/>
        <p:txBody>
          <a:bodyPr/>
          <a:lstStyle/>
          <a:p>
            <a:pPr marL="50800" indent="0">
              <a:buNone/>
            </a:pPr>
            <a:endParaRPr lang="en-US"/>
          </a:p>
          <a:p>
            <a:pPr marL="50800" indent="0">
              <a:buNone/>
            </a:pPr>
            <a:endParaRPr lang="en-US"/>
          </a:p>
          <a:p>
            <a:pPr marL="50800" indent="0">
              <a:buNone/>
            </a:pPr>
            <a:endParaRPr lang="en-US"/>
          </a:p>
          <a:p>
            <a:pPr marL="50800" indent="0">
              <a:buNone/>
            </a:pPr>
            <a:endParaRPr lang="en-US"/>
          </a:p>
          <a:p>
            <a:pPr marL="50800" indent="0">
              <a:buNone/>
            </a:pPr>
            <a:endParaRPr lang="en-US"/>
          </a:p>
          <a:p>
            <a:pPr marL="50800" indent="0">
              <a:buNone/>
            </a:pPr>
            <a:endParaRPr lang="en-US"/>
          </a:p>
          <a:p>
            <a:pPr marL="50800" indent="0">
              <a:buNone/>
            </a:pPr>
            <a:r>
              <a:rPr lang="en-US" altLang="en-US" sz="1600"/>
              <a:t>GA (new) duy trì năng lượng trung bình của node cao hơn và giảm chậm hơn theo thời gian, cho thấy khả năng cân bằng năng lượng và kéo dài tuổi thọ mạng tốt nhất.</a:t>
            </a:r>
          </a:p>
          <a:p>
            <a:pPr marL="50800" indent="0">
              <a:buNone/>
            </a:pPr>
            <a:endParaRPr lang="en-US" altLang="en-US" sz="1600"/>
          </a:p>
          <a:p>
            <a:pPr marL="50800" indent="0">
              <a:buNone/>
            </a:pPr>
            <a:r>
              <a:rPr lang="en-US" altLang="en-US" sz="1600"/>
              <a:t>AC-ACO (new) cải thiện so với phiên bản cũ nhưng vẫn suy giảm năng lượng nhanh hơn GA (new), phản ánh hạn chế trong tối ưu toàn cục dài hạn.</a:t>
            </a:r>
          </a:p>
          <a:p>
            <a:pPr marL="50800" indent="0">
              <a:buNone/>
            </a:pPr>
            <a:endParaRPr lang="en-US" altLang="en-US" sz="1600"/>
          </a:p>
          <a:p>
            <a:pPr marL="50800" indent="0">
              <a:buNone/>
            </a:pPr>
            <a:r>
              <a:rPr lang="en-US" altLang="en-US" sz="1600"/>
              <a:t>Basic ACO có năng lượng giảm nhanh và số cụm (CHs) giảm sớm, chứng tỏ phân bố tải kém, dẫn đến nhiều node chết sớm.</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57</a:t>
            </a:fld>
            <a:endParaRPr lang="en-US"/>
          </a:p>
        </p:txBody>
      </p:sp>
      <p:pic>
        <p:nvPicPr>
          <p:cNvPr id="5" name="Picture 4"/>
          <p:cNvPicPr/>
          <p:nvPr/>
        </p:nvPicPr>
        <p:blipFill>
          <a:blip r:embed="rId2"/>
          <a:stretch>
            <a:fillRect/>
          </a:stretch>
        </p:blipFill>
        <p:spPr>
          <a:xfrm>
            <a:off x="251460" y="836295"/>
            <a:ext cx="8390255" cy="275082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4. Thí nghiệm &amp; phân tích</a:t>
            </a:r>
            <a:endParaRPr lang="en-US"/>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58</a:t>
            </a:fld>
            <a:endParaRPr lang="en-US"/>
          </a:p>
        </p:txBody>
      </p:sp>
      <p:pic>
        <p:nvPicPr>
          <p:cNvPr id="5" name="Picture 4"/>
          <p:cNvPicPr/>
          <p:nvPr/>
        </p:nvPicPr>
        <p:blipFill>
          <a:blip r:embed="rId2"/>
          <a:stretch>
            <a:fillRect/>
          </a:stretch>
        </p:blipFill>
        <p:spPr>
          <a:xfrm>
            <a:off x="1188720" y="1176020"/>
            <a:ext cx="6766560" cy="505968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51"/>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59</a:t>
            </a:fld>
            <a:endParaRPr lang="en-US"/>
          </a:p>
        </p:txBody>
      </p:sp>
      <p:sp>
        <p:nvSpPr>
          <p:cNvPr id="349" name="Google Shape;349;p51"/>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t>5. Kết luận &amp; hướng phát triển</a:t>
            </a:r>
          </a:p>
        </p:txBody>
      </p:sp>
      <p:sp>
        <p:nvSpPr>
          <p:cNvPr id="350" name="Google Shape;350;p51"/>
          <p:cNvSpPr txBox="1">
            <a:spLocks noGrp="1"/>
          </p:cNvSpPr>
          <p:nvPr>
            <p:ph type="body" idx="1"/>
          </p:nvPr>
        </p:nvSpPr>
        <p:spPr>
          <a:xfrm>
            <a:off x="234950" y="1331050"/>
            <a:ext cx="8674200" cy="47649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Kết luận:</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AC-ACO là một thuật toán gom cụm hiệu quả, giải quyết các vấn đề quan trọng về hiệu suất năng lượng và tuổi thọ mạng trong WSN.</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Bằng cách tích hợp ACO với chiến lược hỗn loạn thích ứng, AC-ACO vượt trội hơn các thuật toán kinh điển như LEACH, PSO, GA, và ACO về các chỉ số hiệu suất chính.</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Thuật toán đạt được sự cân bằng đa mục tiêu giữa tiêu thụ năng lượng, cân bằng tải và tuổi thọ mạng.</a:t>
            </a:r>
            <a:endParaRPr sz="18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52"/>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60</a:t>
            </a:fld>
            <a:endParaRPr lang="en-US"/>
          </a:p>
        </p:txBody>
      </p:sp>
      <p:sp>
        <p:nvSpPr>
          <p:cNvPr id="356" name="Google Shape;356;p52"/>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t>5. Kết luận &amp; hướng phát triển</a:t>
            </a:r>
          </a:p>
        </p:txBody>
      </p:sp>
      <p:sp>
        <p:nvSpPr>
          <p:cNvPr id="357" name="Google Shape;357;p52"/>
          <p:cNvSpPr txBox="1">
            <a:spLocks noGrp="1"/>
          </p:cNvSpPr>
          <p:nvPr>
            <p:ph type="body" idx="1"/>
          </p:nvPr>
        </p:nvSpPr>
        <p:spPr>
          <a:xfrm>
            <a:off x="234950" y="1380625"/>
            <a:ext cx="8674200" cy="4715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Hướng phát triển Tương lai:</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Tích hợp kỹ thuật học tăng cường sâu để nâng cao khả năng phản ứng thời gian thực.</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Khám phá một khung tối ưu hóa hỗn loạn phân tán để giảm mức tiêu thụ tài nguyên.</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 Mở rộng AC-ACO cho các kịch bản tối ưu hóa đa mục tiêu (năng lượng, bảo mật, chất lượng dịch vụ).</a:t>
            </a: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lang="en-US" sz="18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53"/>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61</a:t>
            </a:fld>
            <a:endParaRPr lang="en-US"/>
          </a:p>
        </p:txBody>
      </p:sp>
      <p:sp>
        <p:nvSpPr>
          <p:cNvPr id="363" name="Google Shape;363;p53"/>
          <p:cNvSpPr txBox="1"/>
          <p:nvPr/>
        </p:nvSpPr>
        <p:spPr>
          <a:xfrm>
            <a:off x="4181094" y="3021991"/>
            <a:ext cx="4197975" cy="81401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C00000"/>
              </a:buClr>
              <a:buSzPts val="4800"/>
              <a:buFont typeface="Lato" panose="020F0502020204030203"/>
              <a:buNone/>
            </a:pPr>
            <a:r>
              <a:rPr lang="en-US" sz="4800" b="1">
                <a:solidFill>
                  <a:srgbClr val="C00000"/>
                </a:solidFill>
                <a:latin typeface="Lato" panose="020F0502020204030203"/>
                <a:ea typeface="Lato" panose="020F0502020204030203"/>
                <a:cs typeface="Lato" panose="020F0502020204030203"/>
                <a:sym typeface="Lato" panose="020F0502020204030203"/>
              </a:rPr>
              <a:t>THANK YOU !</a:t>
            </a:r>
            <a:endParaRPr sz="4800" b="1">
              <a:solidFill>
                <a:srgbClr val="C00000"/>
              </a:solidFill>
              <a:latin typeface="Lato" panose="020F0502020204030203"/>
              <a:ea typeface="Lato" panose="020F0502020204030203"/>
              <a:cs typeface="Lato" panose="020F0502020204030203"/>
              <a:sym typeface="Lato" panose="020F0502020204030203"/>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50"/>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62</a:t>
            </a:fld>
            <a:endParaRPr lang="en-US"/>
          </a:p>
        </p:txBody>
      </p:sp>
      <p:sp>
        <p:nvSpPr>
          <p:cNvPr id="341" name="Google Shape;341;p50"/>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panose="020F0502020204030203"/>
              <a:buNone/>
            </a:pPr>
            <a:r>
              <a:rPr lang="en-US"/>
              <a:t>4. Thí nghiệm &amp; phân tích</a:t>
            </a:r>
          </a:p>
        </p:txBody>
      </p:sp>
      <p:sp>
        <p:nvSpPr>
          <p:cNvPr id="342" name="Google Shape;342;p50"/>
          <p:cNvSpPr txBox="1">
            <a:spLocks noGrp="1"/>
          </p:cNvSpPr>
          <p:nvPr>
            <p:ph type="body" idx="1"/>
          </p:nvPr>
        </p:nvSpPr>
        <p:spPr>
          <a:xfrm>
            <a:off x="234950" y="963168"/>
            <a:ext cx="8674200" cy="51327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sz="1800">
                <a:latin typeface="Times New Roman" panose="02020603050405020304"/>
                <a:ea typeface="Times New Roman" panose="02020603050405020304"/>
                <a:cs typeface="Times New Roman" panose="02020603050405020304"/>
                <a:sym typeface="Times New Roman" panose="02020603050405020304"/>
              </a:rPr>
              <a:t>Kết quả Th</a:t>
            </a:r>
            <a:r>
              <a:rPr lang="vi-VN" altLang="en-US" sz="1800">
                <a:latin typeface="Times New Roman" panose="02020603050405020304"/>
                <a:ea typeface="Times New Roman" panose="02020603050405020304"/>
                <a:cs typeface="Times New Roman" panose="02020603050405020304"/>
                <a:sym typeface="Times New Roman" panose="02020603050405020304"/>
              </a:rPr>
              <a:t>ực</a:t>
            </a:r>
            <a:r>
              <a:rPr lang="en-US" sz="1800">
                <a:latin typeface="Times New Roman" panose="02020603050405020304"/>
                <a:ea typeface="Times New Roman" panose="02020603050405020304"/>
                <a:cs typeface="Times New Roman" panose="02020603050405020304"/>
                <a:sym typeface="Times New Roman" panose="02020603050405020304"/>
              </a:rPr>
              <a:t> nghiệm </a:t>
            </a: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endParaRPr sz="180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1800"/>
              <a:buNone/>
            </a:pPr>
            <a:r>
              <a:rPr lang="en-US" altLang="en-US" sz="1800">
                <a:latin typeface="Times New Roman" panose="02020603050405020304"/>
                <a:ea typeface="Times New Roman" panose="02020603050405020304"/>
                <a:cs typeface="Times New Roman" panose="02020603050405020304"/>
                <a:sym typeface="Times New Roman" panose="02020603050405020304"/>
              </a:rPr>
              <a:t>Uniform Random:</a:t>
            </a:r>
          </a:p>
          <a:p>
            <a:pPr marL="0" lvl="0" indent="0" algn="l" rtl="0">
              <a:lnSpc>
                <a:spcPct val="90000"/>
              </a:lnSpc>
              <a:spcBef>
                <a:spcPts val="1000"/>
              </a:spcBef>
              <a:spcAft>
                <a:spcPts val="0"/>
              </a:spcAft>
              <a:buClr>
                <a:schemeClr val="dk1"/>
              </a:buClr>
              <a:buSzPts val="1800"/>
              <a:buNone/>
            </a:pPr>
            <a:r>
              <a:rPr lang="en-US" altLang="en-US" sz="1800">
                <a:latin typeface="Times New Roman" panose="02020603050405020304"/>
                <a:ea typeface="Times New Roman" panose="02020603050405020304"/>
                <a:cs typeface="Times New Roman" panose="02020603050405020304"/>
                <a:sym typeface="Times New Roman" panose="02020603050405020304"/>
              </a:rPr>
              <a:t>  • Best FND (Stability): AC-ACO - Round 651</a:t>
            </a:r>
          </a:p>
          <a:p>
            <a:pPr marL="0" lvl="0" indent="0" algn="l" rtl="0">
              <a:lnSpc>
                <a:spcPct val="90000"/>
              </a:lnSpc>
              <a:spcBef>
                <a:spcPts val="1000"/>
              </a:spcBef>
              <a:spcAft>
                <a:spcPts val="0"/>
              </a:spcAft>
              <a:buClr>
                <a:schemeClr val="dk1"/>
              </a:buClr>
              <a:buSzPts val="1800"/>
              <a:buNone/>
            </a:pPr>
            <a:r>
              <a:rPr lang="en-US" altLang="en-US" sz="1800">
                <a:latin typeface="Times New Roman" panose="02020603050405020304"/>
                <a:ea typeface="Times New Roman" panose="02020603050405020304"/>
                <a:cs typeface="Times New Roman" panose="02020603050405020304"/>
                <a:sym typeface="Times New Roman" panose="02020603050405020304"/>
              </a:rPr>
              <a:t>  • Best Energy Efficiency: AC-ACO - 60.03 J</a:t>
            </a:r>
          </a:p>
          <a:p>
            <a:pPr marL="0" lvl="0" indent="0" algn="l" rtl="0">
              <a:lnSpc>
                <a:spcPct val="90000"/>
              </a:lnSpc>
              <a:spcBef>
                <a:spcPts val="1000"/>
              </a:spcBef>
              <a:spcAft>
                <a:spcPts val="0"/>
              </a:spcAft>
              <a:buClr>
                <a:schemeClr val="dk1"/>
              </a:buClr>
              <a:buSzPts val="1800"/>
              <a:buNone/>
            </a:pPr>
            <a:r>
              <a:rPr lang="en-US" altLang="en-US" sz="1800">
                <a:latin typeface="Times New Roman" panose="02020603050405020304"/>
                <a:ea typeface="Times New Roman" panose="02020603050405020304"/>
                <a:cs typeface="Times New Roman" panose="02020603050405020304"/>
                <a:sym typeface="Times New Roman" panose="02020603050405020304"/>
              </a:rPr>
              <a:t>  • Best Avg Fitness: GA - 0.5937</a:t>
            </a:r>
          </a:p>
        </p:txBody>
      </p:sp>
      <p:pic>
        <p:nvPicPr>
          <p:cNvPr id="2" name="Picture 1"/>
          <p:cNvPicPr>
            <a:picLocks noChangeAspect="1"/>
          </p:cNvPicPr>
          <p:nvPr/>
        </p:nvPicPr>
        <p:blipFill>
          <a:blip r:embed="rId3"/>
          <a:stretch>
            <a:fillRect/>
          </a:stretch>
        </p:blipFill>
        <p:spPr>
          <a:xfrm>
            <a:off x="637540" y="1303020"/>
            <a:ext cx="8237220" cy="246634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499*76"/>
  <p:tag name="TABLE_ENDDRAG_RECT" val="48*314*499*76"/>
</p:tagLst>
</file>

<file path=ppt/tags/tag2.xml><?xml version="1.0" encoding="utf-8"?>
<p:tagLst xmlns:p="http://schemas.openxmlformats.org/presentationml/2006/main">
  <p:tag name="TABLE_ENDDRAG_ORIGIN_RECT" val="499*76"/>
  <p:tag name="TABLE_ENDDRAG_RECT" val="48*314*499*76"/>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662*219"/>
  <p:tag name="TABLE_ENDDRAG_RECT" val="31*236*662*219"/>
</p:tagLst>
</file>

<file path=ppt/tags/tag4.xml><?xml version="1.0" encoding="utf-8"?>
<p:tagLst xmlns:a="http://schemas.openxmlformats.org/drawingml/2006/main" xmlns:r="http://schemas.openxmlformats.org/officeDocument/2006/relationships" xmlns:p="http://schemas.openxmlformats.org/presentationml/2006/main">
  <p:tag name="TABLE_ENDDRAG_ORIGIN_RECT" val="619*98"/>
  <p:tag name="TABLE_ENDDRAG_RECT" val="42*102*619*98"/>
</p:tagLst>
</file>

<file path=ppt/tags/tag5.xml><?xml version="1.0" encoding="utf-8"?>
<p:tagLst xmlns:a="http://schemas.openxmlformats.org/drawingml/2006/main" xmlns:r="http://schemas.openxmlformats.org/officeDocument/2006/relationships" xmlns:p="http://schemas.openxmlformats.org/presentationml/2006/main">
  <p:tag name="TABLE_ENDDRAG_ORIGIN_RECT" val="619*107"/>
  <p:tag name="TABLE_ENDDRAG_RECT" val="50*214*619*107"/>
</p:tagLst>
</file>

<file path=ppt/tags/tag6.xml><?xml version="1.0" encoding="utf-8"?>
<p:tagLst xmlns:a="http://schemas.openxmlformats.org/drawingml/2006/main" xmlns:r="http://schemas.openxmlformats.org/officeDocument/2006/relationships" xmlns:p="http://schemas.openxmlformats.org/presentationml/2006/main">
  <p:tag name="TABLE_ENDDRAG_ORIGIN_RECT" val="619*94"/>
  <p:tag name="TABLE_ENDDRAG_RECT" val="42*391*619*94"/>
</p:tagLst>
</file>

<file path=ppt/tags/tag7.xml><?xml version="1.0" encoding="utf-8"?>
<p:tagLst xmlns:a="http://schemas.openxmlformats.org/drawingml/2006/main" xmlns:r="http://schemas.openxmlformats.org/officeDocument/2006/relationships" xmlns:p="http://schemas.openxmlformats.org/presentationml/2006/main">
  <p:tag name="TABLE_ENDDRAG_ORIGIN_RECT" val="697*301"/>
  <p:tag name="TABLE_ENDDRAG_RECT" val="11*124*697*301"/>
</p:tagLst>
</file>

<file path=ppt/tags/tag8.xml><?xml version="1.0" encoding="utf-8"?>
<p:tagLst xmlns:a="http://schemas.openxmlformats.org/drawingml/2006/main" xmlns:r="http://schemas.openxmlformats.org/officeDocument/2006/relationships" xmlns:p="http://schemas.openxmlformats.org/presentationml/2006/main">
  <p:tag name="TABLE_ENDDRAG_ORIGIN_RECT" val="442*100"/>
  <p:tag name="TABLE_ENDDRAG_RECT" val="36*349*442*100"/>
</p:tagLst>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s:customData xmlns="http://www.wps.cn/officeDocument/2013/wpsCustomData" xmlns:s="http://www.wps.cn/officeDocument/2013/wpsCustomData">
  <extobjs>
    <extobj name="2384804F-3998-4D57-9195-F3826E402611-1">
      <extobjdata type="2384804F-3998-4D57-9195-F3826E402611" data="ewoJIkltZ1NldHRpbmdKc29uIiA6ICJ7XCJoZWlnaHRcIjoxNS4xNzg1NzE0Mjg1NzE0MjcsXCJ3aWR0aFwiOjM0LjgyMTQyODU3MTQyODU3fSIsCgkiTGF0ZXgiIDogIkVfe2VsZWN9IiwKCSJMYXRleEltZ0Jhc2U2NCIgOiAiUEhOMlp5QjRiV3h1Y3owaWFIUjBjRG92TDNkM2R5NTNNeTV2Y21jdk1qQXdNQzl6ZG1jaUlIZHBaSFJvUFNJMExqVXhPR1Y0SWlCb1pXbG5hSFE5SWpFdU9EazFaWGdpSUhKdmJHVTlJbWx0WnlJZ1ptOWpkWE5oWW14bFBTSm1ZV3h6WlNJZ2RtbGxkMEp2ZUQwaU1DQXROamd3SURFNU9UWXVPU0E0TXpjdU9DSWdlRzFzYm5NNmVHeHBibXM5SW1oMGRIQTZMeTkzZDNjdWR6TXViM0puTHpFNU9Ua3ZlR3hwYm1zaUlHRnlhV0V0YUdsa1pHVnVQU0owY25WbElpQnpkSGxzWlQwaWRtVnlkR2xqWVd3dFlXeHBaMjQ2SUMwd0xqTTFOMlY0T3lCdFlYZ3RkMmxrZEdnNklEazRKVHNpUGp4a1pXWnpQanh3WVhSb0lHbGtQU0pOU2xndE1UTXRWRVZZTFVrdE1VUTBNemdpSUdROUlrMDBPVElnTWpFelVUUTNNaUF5TVRNZ05EY3lJREl5TmxFME56SWdNak13SURRM055QXlOVEJVTkRneUlESTROVkUwT0RJZ016RTJJRFEyTVNBek1qTlVNelkwSURNek1FZ3pNVEpSTXpFeElETXlPQ0F5TnpjZ01Ua3lWREkwTXlBMU1sRXlORE1nTkRnZ01qVTBJRFE0VkRNek5DQTBObEUwTWpnZ05EWWdORFU0SURRNFZEVXhPQ0EyTVZFMU5qY2dOemNnTlRrNUlERXhOMVEyTnpBZ01qUTRVVFk0TUNBeU56QWdOamd6SURJM01sRTJPVEFnTWpjMElEWTVPQ0F5TnpSUk56RTRJREkzTkNBM01UZ2dNall4VVRZeE15QTNJRFl3T0NBeVVUWXdOU0F3SURNeU1pQXdTREV6TTFFek1TQXdJRE14SURFeFVUTXhJREV6SURNMElESTFVVE00SURReElEUXlJRFF6VkRZMUlEUTJVVGt5SURRMklERXlOU0EwT1ZFeE16a2dOVElnTVRRMElEWXhVVEUwTmlBMk5pQXlNVFVnTXpReVZESTROU0EyTWpKUk1qZzFJRFl5T1NBeU9ERWdOakk1VVRJM015QTJNeklnTWpJNElEWXpORWd4T1RkUk1Ua3hJRFkwTUNBeE9URWdOalF5VkRFNU15QTJOVGxSTVRrM0lEWTNOaUF5TURNZ05qZ3dTRGMxTjFFM05qUWdOamMySURjMk5DQTJOamxSTnpZMElEWTJOQ0EzTlRFZ05UVTNWRGN6TnlBME5EZFJOek0xSURRME1DQTNNVGNnTkRRd1NEY3dOVkUyT1RnZ05EUTFJRFk1T0NBME5UTk1OekF4SURRM05sRTNNRFFnTlRBd0lEY3dOQ0ExTWpoUk56QTBJRFUxT0NBMk9UY2dOVGM0VkRZM09DQTJNRGxVTmpReklEWXlOVlExT1RZZ05qTXlWRFV6TWlBMk16UklORGcxVVRNNU55QTJNek1nTXpreUlEWXpNVkV6T0RnZ05qSTVJRE00TmlBMk1qSlJNemcxSURZeE9TQXpOVFVnTkRrNVZETXlOQ0F6TnpkUk16UTNJRE0zTmlBek56SWdNemMyU0RNNU9GRTBOalFnTXpjMklEUTRPU0F6T1RGVU5UTTBJRFEzTWxFMU16Z2dORGc0SURVME1DQTBPVEJVTlRVM0lEUTVNMUUxTmpJZ05Ea3pJRFUyTlNBME9UTlVOVGN3SURRNU1sUTFOeklnTkRreFZEVTNOQ0EwT0RkVU5UYzNJRFE0TTB3MU5EUWdNelV4VVRVeE1TQXlNVGdnTlRBNElESXhObEUxTURVZ01qRXpJRFE1TWlBeU1UTmFJaTgrUEhCaGRHZ2dhV1E5SWsxS1dDMHhNeTFVUlZndFNTMHhSRFExTWlJZ1pEMGlUVE01SURFMk9GRXpPU0F5TWpVZ05UZ2dNamN5VkRFd055QXpOVEJVTVRjMElEUXdNbFF5TkRRZ05ETXpWRE13TnlBME5ESklNekV3VVRNMU5TQTBORElnTXpnNElEUXlNRlEwTWpFZ016VTFVVFF5TVNBeU5qVWdNekV3SURJek4xRXlOakVnTWpJMElERTNOaUF5TWpOUk1UTTVJREl5TXlBeE16Z2dNakl4VVRFek9DQXlNVGtnTVRNeUlERTRObFF4TWpVZ01USTRVVEV5TlNBNE1TQXhORFlnTlRSVU1qQTVJREkyVkRNd01pQTBOVlF6T1RRZ01URXhVVFF3TXlBeE1qRWdOREEySURFeU1WRTBNVEFnTVRJeElEUXhPU0F4TVRKVU5ESTVJRGs0VkRReU1DQTRNbFF6T1RBZ05UVlVNelEwSURJMFZESTRNU0F0TVZReU1EVWdMVEV4VVRFeU5pQXRNVEVnT0RNZ05ESlVNemtnTVRZNFdrMHpOek1nTXpVelVUTTJOeUEwTURVZ016QTFJRFF3TlZFeU56SWdOREExSURJME5DQXpPVEZVTVRrNUlETTFOMVF4TnpBZ016RTJWREUxTkNBeU9EQlVNVFE1SURJMk1WRXhORGtnTWpZd0lERTJPU0F5TmpCUk1qZ3lJREkyTUNBek1qY2dNamcwVkRNM015QXpOVE5hSWk4K1BIQmhkR2dnYVdROUlrMUtXQzB4TXkxVVJWZ3RTUzB4UkRRMU9TSWdaRDBpVFRFeE55QTFPVkV4TVRjZ01qWWdNVFF5SURJMlVURTNPU0F5TmlBeU1EVWdNVE14VVRJeE1TQXhOVEVnTWpFMUlERTFNbEV5TVRjZ01UVXpJREl5TlNBeE5UTklNakk1VVRJek9DQXhOVE1nTWpReElERTFNMVF5TkRZZ01UVXhWREkwT0NBeE5EUlJNalEzSURFek9DQXlORFVnTVRJNFZESXpOQ0E1TUZReU1UUWdORE5VTVRneklEWlVNVE0zSUMweE1WRXhNREVnTFRFeElEY3dJREV4VkRNNElEZzFVVE00SURrM0lETTVJREV3TWt3eE1EUWdNell3VVRFMk55QTJNVFVnTVRZM0lEWXlNMUV4TmpjZ05qSTJJREUyTmlBMk1qaFVNVFl5SURZek1sUXhOVGNnTmpNMFZERTBPU0EyTXpWVU1UUXhJRFl6TmxReE16SWdOak0zVkRFeU1pQTJNemRSTVRFeUlEWXpOeUF4TURrZ05qTTNWREV3TVNBMk16aFVPVFVnTmpReFZEazBJRFkwTjFFNU5DQTJORGtnT1RZZ05qWXhVVEV3TVNBMk9EQWdNVEEzSURZNE1sUXhOemtnTmpnNFVURTVOQ0EyT0RrZ01qRXpJRFk1TUZReU5ETWdOamt6VkRJMU5DQTJPVFJSTWpZMklEWTVOQ0F5TmpZZ05qZzJVVEkyTmlBMk56VWdNVGt6SURNNE5sUXhNVGdnT0ROUk1URTRJRGd4SURFeE9DQTNOVlF4TVRjZ05qVldOVGxhSWk4K1BIQmhkR2dnYVdROUlrMUtXQzB4TXkxVVJWZ3RTUzB4UkRRMU1DSWdaRDBpVFRNMElERTFPVkV6TkNBeU5qZ2dNVEl3SURNMU5WUXpNRFlnTkRReVVUTTJNaUEwTkRJZ016azBJRFF4T0ZRME1qY2dNelUxVVRReU55QXpNallnTkRBNElETXdObFF6TmpBZ01qZzFVVE0wTVNBeU9EVWdNek13SURJNU5WUXpNVGtnTXpJMVZETXpNQ0F6TlRsVU16VXlJRE00TUZRek5qWWdNemcyU0RNMk4xRXpOamNnTXpnNElETTJNU0F6T1RKVU16UXdJRFF3TUZRek1EWWdOREEwVVRJM05pQTBNRFFnTWpRNUlETTVNRkV5TWpnZ016Z3hJREl3TmlBek5UbFJNVFl5SURNeE5TQXhORElnTWpNMVZERXlNU0F4TVRsUk1USXhJRGN6SURFME55QTFNRkV4TmprZ01qWWdNakExSURJMlNESXdPVkV6TWpFZ01qWWdNemswSURFeE1WRTBNRE1nTVRJeElEUXdOaUF4TWpGUk5ERXdJREV5TVNBME1Ua2dNVEV5VkRReU9TQTVPRlEwTWpBZ09ETlVNemt4SURVMVZETTBOaUF5TlZReU9ESWdNRlF5TURJZ0xURXhVVEV5TnlBdE1URWdPREVnTXpkVU16UWdNVFU1V2lJdlBqd3ZaR1ZtY3o0OFp5QnpkSEp2YTJVOUltTjFjbkpsYm5SRGIyeHZjaUlnWm1sc2JEMGlZM1Z5Y21WdWRFTnZiRzl5SWlCemRISnZhMlV0ZDJsa2RHZzlJakFpSUhSeVlXNXpabTl5YlQwaWMyTmhiR1VvTVN3dE1Ta2lQanhuSUdSaGRHRXRiVzFzTFc1dlpHVTlJbTFoZEdnaVBqeG5JR1JoZEdFdGJXMXNMVzV2WkdVOUltMXpkV0lpUGp4bklHUmhkR0V0Ylcxc0xXNXZaR1U5SW0xcElqNDhkWE5sSUdSaGRHRXRZejBpTVVRME16Z2lJSGhzYVc1ck9taHlaV1k5SWlOTlNsZ3RNVE10VkVWWUxVa3RNVVEwTXpnaUx6NDhMMmMrUEdjZ1pHRjBZUzF0Yld3dGJtOWtaVDBpVkdWWVFYUnZiU0lnZEhKaGJuTm1iM0p0UFNKMGNtRnVjMnhoZEdVb056Y3hMQzB4TlRBcElITmpZV3hsS0RBdU56QTNLU0lnWkdGMFlTMXRhbmd0ZEdWNFkyeGhjM005SWs5U1JDSStQR2NnWkdGMFlTMXRiV3d0Ym05a1pUMGliV2tpUGp4MWMyVWdaR0YwWVMxalBTSXhSRFExTWlJZ2VHeHBibXM2YUhKbFpqMGlJMDFLV0MweE15MVVSVmd0U1MweFJEUTFNaUl2UGp3dlp6NDhaeUJrWVhSaExXMXRiQzF1YjJSbFBTSnRhU0lnZEhKaGJuTm1iM0p0UFNKMGNtRnVjMnhoZEdVb05EWTJMREFwSWo0OGRYTmxJR1JoZEdFdFl6MGlNVVEwTlRraUlIaHNhVzVyT21oeVpXWTlJaU5OU2xndE1UTXRWRVZZTFVrdE1VUTBOVGtpTHo0OEwyYytQR2NnWkdGMFlTMXRiV3d0Ym05a1pUMGliV2tpSUhSeVlXNXpabTl5YlQwaWRISmhibk5zWVhSbEtEYzJOQ3d3S1NJK1BIVnpaU0JrWVhSaExXTTlJakZFTkRVeUlpQjRiR2x1YXpwb2NtVm1QU0lqVFVwWUxURXpMVlJGV0MxSkxURkVORFV5SWk4K1BDOW5QanhuSUdSaGRHRXRiVzFzTFc1dlpHVTlJbTFwSWlCMGNtRnVjMlp2Y20wOUluUnlZVzV6YkdGMFpTZ3hNak13TERBcElqNDhkWE5sSUdSaGRHRXRZejBpTVVRME5UQWlJSGhzYVc1ck9taHlaV1k5SWlOTlNsZ3RNVE10VkVWWUxVa3RNVVEwTlRBaUx6NDhMMmMrUEM5blBqd3ZaejQ4TDJjK1BDOW5Qand2YzNablBnPT0iLAoJIlJlYWxWaWV3U2l6ZUpzb24iIDogIntcImhlaWdodFwiOjI5MixcIndpZHRoXCI6Njk2fSIKfQo="/>
    </extobj>
    <extobj name="2384804F-3998-4D57-9195-F3826E402611-2">
      <extobjdata type="2384804F-3998-4D57-9195-F3826E402611" data="ewoJIkltZ1NldHRpbmdKc29uIiA6ICJ7XCJoZWlnaHRcIjoxNS4xNzg1NzE0Mjg1NzE0MjcsXCJ3aWR0aFwiOjE2Ljk2NDI4NTcxNDI4NTcxfSIsCgkiTGF0ZXgiIDogIiBkXzAgXHQiLAoJIkxhdGV4SW1nQmFzZTY0IiA6ICJQSE4yWnlCNGJXeHVjejBpYUhSMGNEb3ZMM2QzZHk1M015NXZjbWN2TWpBd01DOXpkbWNpSUhkcFpIUm9QU0l5TGpFMk5HVjRJaUJvWldsbmFIUTlJakV1T1RRMVpYZ2lJSEp2YkdVOUltbHRaeUlnWm05amRYTmhZbXhsUFNKbVlXeHpaU0lnZG1sbGQwSnZlRDBpTUNBdE5qazBJRGsxTmk0MklEZzFPUzQySWlCNGJXeHVjenA0YkdsdWF6MGlhSFIwY0RvdkwzZDNkeTUzTXk1dmNtY3ZNVGs1T1M5NGJHbHVheUlnWVhKcFlTMW9hV1JrWlc0OUluUnlkV1VpSUhOMGVXeGxQU0oyWlhKMGFXTmhiQzFoYkdsbmJqb2dMVEF1TXpjMVpYZzdJRzFoZUMxM2FXUjBhRG9nT1RnbE95SStQR1JsWm5NK1BIQmhkR2dnYVdROUlrMUtXQzB5TFZSRldDMUpMVEZFTkRVeElpQmtQU0pOTXpZMklEWTRNMUV6TmpjZ05qZ3pJRFF6T0NBMk9EaFVOVEV4SURZNU5GRTFNak1nTmprMElEVXlNeUEyT0RaUk5USXpJRFkzT1NBME5UQWdNemcwVkRNM05TQTRNMVF6TnpRZ05qaFJNemMwSURJMklEUXdNaUF5TmxFME1URWdNamNnTkRJeUlETTFVVFEwTXlBMU5TQTBOak1nTVRNeFVUUTJPU0F4TlRFZ05EY3pJREUxTWxFME56VWdNVFV6SURRNE15QXhOVE5JTkRnM1NEUTVNVkUxTURZZ01UVXpJRFV3TmlBeE5EVlJOVEEySURFME1DQTFNRE1nTVRJNVVUUTVNQ0EzT1NBME56TWdORGhVTkRRMUlEaFVOREUzSUMwNFVUUXdPU0F0TVRBZ016a3pJQzB4TUZFek5Ua2dMVEV3SURNek5pQTFWRE13TmlBek5rd3pNREFnTlRGUk1qazVJRFV5SURJNU5pQTFNRkV5T1RRZ05EZ2dNamt5SURRMlVUSXpNeUF0TVRBZ01UY3lJQzB4TUZFeE1UY2dMVEV3SURjMUlETXdWRE16SURFMU4xRXpNeUF5TURVZ05UTWdNalUxVkRFd01TQXpOREZSTVRRNElETTVPQ0F4T1RVZ05ESXdWREk0TUNBME5ESlJNek0ySURRME1pQXpOalFnTkRBd1VUTTJPU0F6T1RRZ016WTVJRE01TmxFek56QWdOREF3SURNNU5pQTFNRFZVTkRJMElEWXhObEUwTWpRZ05qSTVJRFF4TnlBMk16SlVNemM0SURZek4wZ3pOVGRSTXpVeElEWTBNeUF6TlRFZ05qUTFWRE0xTXlBMk5qUlJNelU0SURZNE15QXpOallnTmpneldrMHpOVElnTXpJMlVUTXlPU0EwTURVZ01qYzNJRFF3TlZFeU5ESWdOREExSURJeE1DQXpOelJVTVRZd0lESTVNMUV4TXpFZ01qRTBJREV4T1NBeE1qbFJNVEU1SURFeU5pQXhNVGtnTVRFNFZERXhPQ0F4TURaUk1URTRJRFl4SURFek5pQTBORlF4TnprZ01qWlJNak16SURJMklESTVNQ0E1T0V3eU9UZ2dNVEE1VERNMU1pQXpNalphSWk4K1BIQmhkR2dnYVdROUlrMUtXQzB5TFZSRldDMU9MVE13SWlCa1BTSk5PVFlnTlRnMVVURTFNaUEyTmpZZ01qUTVJRFkyTmxFeU9UY2dOalkySURNME5TQTJOREJVTkRJeklEVTBPRkUwTmpBZ05EWTFJRFEyTUNBek1qQlJORFl3SURFMk5TQTBNVGNnT0ROUk16azNJRFF4SURNMk1pQXhObFF6TURFZ0xURTFWREkxTUNBdE1qSlJNakkwSUMweU1pQXhPVGdnTFRFMlZERXpOeUF4TmxRNE1pQTRNMUV6T1NBeE5qVWdNemtnTXpJd1VUTTVJRFE1TkNBNU5pQTFPRFZhVFRNeU1TQTFPVGRSTWpreElEWXlPU0F5TlRBZ05qSTVVVEl3T0NBMk1qa2dNVGM0SURVNU4xRXhOVE1nTlRjeElERTBOU0ExTWpWVU1UTTNJRE16TTFFeE16Y2dNVGMxSURFME5TQXhNalZVTVRneElEUTJVVEl3T1NBeE5pQXlOVEFnTVRaUk1qa3dJREUySURNeE9DQTBObEV6TkRjZ056WWdNelUwSURFek1GUXpOaklnTXpNelVUTTJNaUEwTnpnZ016VTBJRFV5TkZRek1qRWdOVGszV2lJdlBqd3ZaR1ZtY3o0OFp5QnpkSEp2YTJVOUltTjFjbkpsYm5SRGIyeHZjaUlnWm1sc2JEMGlZM1Z5Y21WdWRFTnZiRzl5SWlCemRISnZhMlV0ZDJsa2RHZzlJakFpSUhSeVlXNXpabTl5YlQwaWMyTmhiR1VvTVN3dE1Ta2lQanhuSUdSaGRHRXRiVzFzTFc1dlpHVTlJbTFoZEdnaVBqeG5JR1JoZEdFdGJXMXNMVzV2WkdVOUltMXpkV0lpUGp4bklHUmhkR0V0Ylcxc0xXNXZaR1U5SW0xcElqNDhkWE5sSUdSaGRHRXRZejBpTVVRME5URWlJSGhzYVc1ck9taHlaV1k5SWlOTlNsZ3RNaTFVUlZndFNTMHhSRFExTVNJdlBqd3ZaejQ4WnlCa1lYUmhMVzF0YkMxdWIyUmxQU0p0YmlJZ2RISmhibk5tYjNKdFBTSjBjbUZ1YzJ4aGRHVW9OVFV6TEMweE5UQXBJSE5qWVd4bEtEQXVOekEzS1NJK1BIVnpaU0JrWVhSaExXTTlJak13SWlCNGJHbHVhenBvY21WbVBTSWpUVXBZTFRJdFZFVllMVTR0TXpBaUx6NDhMMmMrUEM5blBqd3ZaejQ4TDJjK1BDOXpkbWMrIiwKCSJSZWFsVmlld1NpemVKc29uIiA6ICJ7XCJoZWlnaHRcIjozMDUsXCJ3aWR0aFwiOjMzOX0iCn0K"/>
    </extobj>
  </extobjs>
</s:customData>
</file>

<file path=customXml/itemProps1.xml><?xml version="1.0" encoding="utf-8"?>
<ds:datastoreItem xmlns:ds="http://schemas.openxmlformats.org/officeDocument/2006/customXml" ds:itemID="{EF5A5B55-A5A4-E64F-A059-D9777FCACA2F}">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152</TotalTime>
  <Words>7026</Words>
  <Application>Microsoft Macintosh PowerPoint</Application>
  <PresentationFormat>On-screen Show (4:3)</PresentationFormat>
  <Paragraphs>904</Paragraphs>
  <Slides>62</Slides>
  <Notes>54</Notes>
  <HiddenSlides>9</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62</vt:i4>
      </vt:variant>
    </vt:vector>
  </HeadingPairs>
  <TitlesOfParts>
    <vt:vector size="69" baseType="lpstr">
      <vt:lpstr>Lato</vt:lpstr>
      <vt:lpstr>Times New Roman</vt:lpstr>
      <vt:lpstr>Calibri</vt:lpstr>
      <vt:lpstr>Cambria Math</vt:lpstr>
      <vt:lpstr>Arial</vt:lpstr>
      <vt:lpstr>Office Theme</vt:lpstr>
      <vt:lpstr>Equation.KSEE3</vt:lpstr>
      <vt:lpstr>2.  Giải pháp hiện tại và Hạn chế</vt:lpstr>
      <vt:lpstr>PowerPoint Presentation</vt:lpstr>
      <vt:lpstr>PowerPoint Presentation</vt:lpstr>
      <vt:lpstr>PowerPoint Presentation</vt:lpstr>
      <vt:lpstr>Nội dung </vt:lpstr>
      <vt:lpstr>Động cơ nghiên cứu</vt:lpstr>
      <vt:lpstr>Động cơ nghiên cứu</vt:lpstr>
      <vt:lpstr>1. Động cơ nghiên cứu</vt:lpstr>
      <vt:lpstr>1. Động cơ nghiên cứu</vt:lpstr>
      <vt:lpstr>1. Động cơ nghiên cứu</vt:lpstr>
      <vt:lpstr>Động cơ nghiên cứu</vt:lpstr>
      <vt:lpstr>Động cơ nghiên cứu </vt:lpstr>
      <vt:lpstr>1. Động cơ nghiên cứu </vt:lpstr>
      <vt:lpstr>1. Động cơ nghiên cứu </vt:lpstr>
      <vt:lpstr>1. Động cơ nghiên cứu </vt:lpstr>
      <vt:lpstr>2. Cơ sở lý thuyết &amp; phát biểu bài toán</vt:lpstr>
      <vt:lpstr>2. Cơ sở lý thuyết &amp; phát biểu bài toán</vt:lpstr>
      <vt:lpstr>2. Cơ sở lý thuyết &amp; phát biểu bài toán</vt:lpstr>
      <vt:lpstr>2. Cơ sở lý thuyết &amp; phát biểu bài toán</vt:lpstr>
      <vt:lpstr>2. Cơ sở lý thuyết &amp; phát biểu bài toán</vt:lpstr>
      <vt:lpstr>2. Cơ sở lý thuyết &amp; phát biểu bài toán</vt:lpstr>
      <vt:lpstr>2. Cơ sở lý thuyết &amp; phát biểu bài toán</vt:lpstr>
      <vt:lpstr>2. Cơ sở lý thuyết &amp; phát biểu bài toán</vt:lpstr>
      <vt:lpstr>2. Cơ sở lý thuyết &amp; phát biểu bài toán</vt:lpstr>
      <vt:lpstr>2. Cơ sở lý thuyết &amp; phát biểu bài toán</vt:lpstr>
      <vt:lpstr>2. Cơ sở lý thuyết &amp; phát biểu bài toán</vt:lpstr>
      <vt:lpstr>3. Phương pháp đề xuất AC-ACO </vt:lpstr>
      <vt:lpstr>3. Phương pháp đề xuất AC-ACO </vt:lpstr>
      <vt:lpstr>3. Phương pháp đề xuất AC-ACO </vt:lpstr>
      <vt:lpstr>3. Phương pháp đề xuất AC-ACO </vt:lpstr>
      <vt:lpstr>3. Phương pháp đề xuất AC-ACO </vt:lpstr>
      <vt:lpstr>3. Phương pháp đề xuất AC-ACO </vt:lpstr>
      <vt:lpstr>3. Phương pháp đề xuất AC-ACO </vt:lpstr>
      <vt:lpstr>3. Phương pháp đề xuất AC-ACO </vt:lpstr>
      <vt:lpstr>3. Phương pháp đề xuất AC-ACO </vt:lpstr>
      <vt:lpstr>3. Phương pháp đề xuất AC-ACO </vt:lpstr>
      <vt:lpstr>3. Phương pháp đề xuất AC-ACO </vt:lpstr>
      <vt:lpstr>3. Phương pháp đề xuất AC-ACO </vt:lpstr>
      <vt:lpstr>3. Phương pháp đề xuất AC-ACO </vt:lpstr>
      <vt:lpstr>3. Phương pháp đề xuất AC-ACO </vt:lpstr>
      <vt:lpstr>3. Phương pháp đề xuất AC-ACO </vt:lpstr>
      <vt:lpstr>3. Phương pháp đề xuất AC-ACO </vt:lpstr>
      <vt:lpstr>3. Phương pháp đề xuất AC-ACO </vt:lpstr>
      <vt:lpstr>3. Phương pháp đề xuất AC-ACO </vt:lpstr>
      <vt:lpstr>3. Phương pháp đề xuất AC-ACO </vt:lpstr>
      <vt:lpstr>3. Phương pháp đề xuất AC-ACO </vt:lpstr>
      <vt:lpstr>4. Thí nghiệm &amp; phân tích</vt:lpstr>
      <vt:lpstr>4. Thí nghiệm &amp; phân tích</vt:lpstr>
      <vt:lpstr>4. Thí nghiệm &amp; phân tích</vt:lpstr>
      <vt:lpstr>4. Thí nghiệm &amp; phân tích</vt:lpstr>
      <vt:lpstr>4. Thí nghiệm &amp; phân tích</vt:lpstr>
      <vt:lpstr>4. Thí nghiệm &amp; phân tích</vt:lpstr>
      <vt:lpstr>4. Thí nghiệm &amp; phân tích</vt:lpstr>
      <vt:lpstr>4. Thí nghiệm &amp; phân tích</vt:lpstr>
      <vt:lpstr>4. Thí nghiệm &amp; phân tích </vt:lpstr>
      <vt:lpstr>4. Thí nghiệm &amp; phân tích</vt:lpstr>
      <vt:lpstr>4. Thí nghiệm &amp; phân tích</vt:lpstr>
      <vt:lpstr>4. Thí nghiệm &amp; phân tích</vt:lpstr>
      <vt:lpstr>5. Kết luận &amp; hướng phát triển</vt:lpstr>
      <vt:lpstr>5. Kết luận &amp; hướng phát triển</vt:lpstr>
      <vt:lpstr>PowerPoint Presentation</vt:lpstr>
      <vt:lpstr>4. Thí nghiệm &amp; phân tích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  Giải pháp hiện tại và Hạn chế</dc:title>
  <dc:creator/>
  <cp:lastModifiedBy>MacOS</cp:lastModifiedBy>
  <cp:revision>38</cp:revision>
  <dcterms:created xsi:type="dcterms:W3CDTF">2025-10-05T18:41:00Z</dcterms:created>
  <dcterms:modified xsi:type="dcterms:W3CDTF">2026-01-29T15:14:53Z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9AE98D5B6E614C9E9F234E84482866AA_12</vt:lpwstr>
  </property>
  <property fmtid="{D5CDD505-2E9C-101B-9397-08002B2CF9AE}" pid="3" name="KSOProductBuildVer">
    <vt:lpwstr>1033-12.2.0.23196</vt:lpwstr>
  </property>
</Properties>
</file>